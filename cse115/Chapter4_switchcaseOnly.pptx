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608" r:id="rId1"/>
  </p:sldMasterIdLst>
  <p:notesMasterIdLst>
    <p:notesMasterId r:id="rId46"/>
  </p:notesMasterIdLst>
  <p:handoutMasterIdLst>
    <p:handoutMasterId r:id="rId47"/>
  </p:handoutMasterIdLst>
  <p:sldIdLst>
    <p:sldId id="256" r:id="rId2"/>
    <p:sldId id="327" r:id="rId3"/>
    <p:sldId id="453" r:id="rId4"/>
    <p:sldId id="594" r:id="rId5"/>
    <p:sldId id="456" r:id="rId6"/>
    <p:sldId id="539" r:id="rId7"/>
    <p:sldId id="583" r:id="rId8"/>
    <p:sldId id="584" r:id="rId9"/>
    <p:sldId id="592" r:id="rId10"/>
    <p:sldId id="590" r:id="rId11"/>
    <p:sldId id="593" r:id="rId12"/>
    <p:sldId id="556" r:id="rId13"/>
    <p:sldId id="563" r:id="rId14"/>
    <p:sldId id="571" r:id="rId15"/>
    <p:sldId id="559" r:id="rId16"/>
    <p:sldId id="561" r:id="rId17"/>
    <p:sldId id="576" r:id="rId18"/>
    <p:sldId id="580" r:id="rId19"/>
    <p:sldId id="575" r:id="rId20"/>
    <p:sldId id="573" r:id="rId21"/>
    <p:sldId id="574" r:id="rId22"/>
    <p:sldId id="510" r:id="rId23"/>
    <p:sldId id="513" r:id="rId24"/>
    <p:sldId id="514" r:id="rId25"/>
    <p:sldId id="577" r:id="rId26"/>
    <p:sldId id="599" r:id="rId27"/>
    <p:sldId id="578" r:id="rId28"/>
    <p:sldId id="516" r:id="rId29"/>
    <p:sldId id="572" r:id="rId30"/>
    <p:sldId id="531" r:id="rId31"/>
    <p:sldId id="532" r:id="rId32"/>
    <p:sldId id="519" r:id="rId33"/>
    <p:sldId id="562" r:id="rId34"/>
    <p:sldId id="587" r:id="rId35"/>
    <p:sldId id="588" r:id="rId36"/>
    <p:sldId id="585" r:id="rId37"/>
    <p:sldId id="598" r:id="rId38"/>
    <p:sldId id="541" r:id="rId39"/>
    <p:sldId id="586" r:id="rId40"/>
    <p:sldId id="595" r:id="rId41"/>
    <p:sldId id="597" r:id="rId42"/>
    <p:sldId id="451" r:id="rId43"/>
    <p:sldId id="589" r:id="rId44"/>
    <p:sldId id="308" r:id="rId45"/>
  </p:sldIdLst>
  <p:sldSz cx="9144000" cy="6858000" type="screen4x3"/>
  <p:notesSz cx="68834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1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800000"/>
    <a:srgbClr val="FFFFCC"/>
    <a:srgbClr val="CCFFCC"/>
    <a:srgbClr val="CCFFFF"/>
    <a:srgbClr val="00FFFF"/>
    <a:srgbClr val="9933FF"/>
    <a:srgbClr val="FF0000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4" autoAdjust="0"/>
    <p:restoredTop sz="85622" autoAdjust="0"/>
  </p:normalViewPr>
  <p:slideViewPr>
    <p:cSldViewPr snapToGrid="0">
      <p:cViewPr varScale="1">
        <p:scale>
          <a:sx n="66" d="100"/>
          <a:sy n="66" d="100"/>
        </p:scale>
        <p:origin x="10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2742" y="-84"/>
      </p:cViewPr>
      <p:guideLst>
        <p:guide orient="horz" pos="3121"/>
        <p:guide pos="2168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GB" smtClean="0"/>
              <a:t>CSE 115 Programming Methodology</a:t>
            </a:r>
            <a:endParaRPr lang="en-GB" dirty="0"/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8850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941070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30F5E621-A1A4-4D1B-8A9D-FC687687F1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6848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lang="en-GB" sz="14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4608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5200" y="742950"/>
            <a:ext cx="4954588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703763"/>
            <a:ext cx="5045075" cy="44592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8850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41070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8850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553FC6DC-3043-4BC7-A5B9-2433022FA7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98900" y="0"/>
            <a:ext cx="2982913" cy="495300"/>
          </a:xfrm>
          <a:prstGeom prst="rect">
            <a:avLst/>
          </a:prstGeom>
        </p:spPr>
        <p:txBody>
          <a:bodyPr vert="horz" wrap="square" lIns="92098" tIns="46049" rIns="92098" bIns="4604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7B9A8F4-E215-4166-94FF-3FE1DFA62C39}" type="datetimeFigureOut">
              <a:rPr lang="en-US"/>
              <a:pPr>
                <a:defRPr/>
              </a:pPr>
              <a:t>10/18/20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7183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dirty="0"/>
          </a:p>
        </p:txBody>
      </p:sp>
      <p:sp>
        <p:nvSpPr>
          <p:cNvPr id="471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dirty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SG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SG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C20C93-D718-45B7-94E8-A5D232FB9CEB}" type="slidenum">
              <a:rPr lang="en-GB" smtClean="0"/>
              <a:pPr/>
              <a:t>6</a:t>
            </a:fld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C20C93-D718-45B7-94E8-A5D232FB9CEB}" type="slidenum">
              <a:rPr lang="en-GB" smtClean="0"/>
              <a:pPr/>
              <a:t>7</a:t>
            </a:fld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C20C93-D718-45B7-94E8-A5D232FB9CEB}" type="slidenum">
              <a:rPr lang="en-GB" smtClean="0"/>
              <a:pPr/>
              <a:t>8</a:t>
            </a:fld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C20C93-D718-45B7-94E8-A5D232FB9CEB}" type="slidenum">
              <a:rPr lang="en-GB" smtClean="0"/>
              <a:pPr/>
              <a:t>9</a:t>
            </a:fld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107485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87CEEC-3C94-4BDA-BF79-C961E5D7F8EC}" type="slidenum">
              <a:rPr lang="en-GB" smtClean="0"/>
              <a:pPr/>
              <a:t>12</a:t>
            </a:fld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5CE365-AEDF-47B2-9C63-9881AC95C65E}" type="slidenum">
              <a:rPr lang="en-GB" smtClean="0"/>
              <a:pPr/>
              <a:t>13</a:t>
            </a:fld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5CE365-AEDF-47B2-9C63-9881AC95C65E}" type="slidenum">
              <a:rPr lang="en-GB" smtClean="0"/>
              <a:pPr/>
              <a:t>14</a:t>
            </a:fld>
            <a:endParaRPr lang="en-GB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F425C1-1237-4FD1-A2F4-3BB1652C4F0C}" type="slidenum">
              <a:rPr lang="en-GB" smtClean="0"/>
              <a:pPr/>
              <a:t>15</a:t>
            </a:fld>
            <a:endParaRPr lang="en-GB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CB311-3347-42CF-856E-51CCC5CC5F78}" type="slidenum">
              <a:rPr lang="en-GB" smtClean="0"/>
              <a:pPr/>
              <a:t>16</a:t>
            </a:fld>
            <a:endParaRPr lang="en-GB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CB311-3347-42CF-856E-51CCC5CC5F78}" type="slidenum">
              <a:rPr lang="en-GB" smtClean="0"/>
              <a:pPr/>
              <a:t>17</a:t>
            </a:fld>
            <a:endParaRPr lang="en-GB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7822" indent="-227822">
              <a:buFont typeface="Calibri" pitchFamily="34" charset="0"/>
              <a:buNone/>
            </a:pPr>
            <a:endParaRPr lang="en-SG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58145"/>
            <a:fld id="{2AEF5E9F-49EB-4504-8370-9D3E9D113AB5}" type="slidenum">
              <a:rPr lang="en-GB" smtClean="0"/>
              <a:pPr defTabSz="958145"/>
              <a:t>18</a:t>
            </a:fld>
            <a:endParaRPr lang="en-GB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+mj-lt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CB311-3347-42CF-856E-51CCC5CC5F78}" type="slidenum">
              <a:rPr lang="en-GB" smtClean="0"/>
              <a:pPr/>
              <a:t>19</a:t>
            </a:fld>
            <a:endParaRPr lang="en-GB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CB311-3347-42CF-856E-51CCC5CC5F78}" type="slidenum">
              <a:rPr lang="en-GB" smtClean="0"/>
              <a:pPr/>
              <a:t>20</a:t>
            </a:fld>
            <a:endParaRPr lang="en-GB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CB311-3347-42CF-856E-51CCC5CC5F78}" type="slidenum">
              <a:rPr lang="en-GB" smtClean="0"/>
              <a:pPr/>
              <a:t>21</a:t>
            </a:fld>
            <a:endParaRPr lang="en-GB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29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857" tIns="46929" rIns="93857" bIns="46929"/>
          <a:lstStyle/>
          <a:p>
            <a:pPr defTabSz="938213"/>
            <a:r>
              <a:rPr lang="en-US" sz="1200">
                <a:latin typeface="Times New Roman" pitchFamily="18" charset="0"/>
              </a:rPr>
              <a:t>Intro to OOP with Java, C. Thomas Wu</a:t>
            </a:r>
          </a:p>
        </p:txBody>
      </p:sp>
      <p:sp>
        <p:nvSpPr>
          <p:cNvPr id="59395" name="Rectangle 6"/>
          <p:cNvSpPr txBox="1">
            <a:spLocks noGrp="1" noChangeArrowheads="1"/>
          </p:cNvSpPr>
          <p:nvPr/>
        </p:nvSpPr>
        <p:spPr bwMode="auto">
          <a:xfrm>
            <a:off x="0" y="9410700"/>
            <a:ext cx="29829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857" tIns="46929" rIns="93857" bIns="46929" anchor="b"/>
          <a:lstStyle/>
          <a:p>
            <a:pPr defTabSz="938213"/>
            <a:r>
              <a:rPr lang="en-US" sz="1200">
                <a:latin typeface="Times New Roman" pitchFamily="18" charset="0"/>
              </a:rPr>
              <a:t>©The McGraw-Hill Companies, Inc.</a:t>
            </a:r>
          </a:p>
        </p:txBody>
      </p:sp>
      <p:sp>
        <p:nvSpPr>
          <p:cNvPr id="59396" name="Rectangle 7"/>
          <p:cNvSpPr txBox="1">
            <a:spLocks noGrp="1" noChangeArrowheads="1"/>
          </p:cNvSpPr>
          <p:nvPr/>
        </p:nvSpPr>
        <p:spPr bwMode="auto">
          <a:xfrm>
            <a:off x="3900488" y="9410700"/>
            <a:ext cx="29829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857" tIns="46929" rIns="93857" bIns="46929" anchor="b"/>
          <a:lstStyle/>
          <a:p>
            <a:pPr algn="r" defTabSz="938213"/>
            <a:fld id="{49619155-0CE6-4DB8-B3BE-027CC393AEFA}" type="slidenum">
              <a:rPr lang="en-US" sz="1200">
                <a:latin typeface="Times New Roman" pitchFamily="18" charset="0"/>
              </a:rPr>
              <a:pPr algn="r" defTabSz="938213"/>
              <a:t>22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6788" y="742950"/>
            <a:ext cx="4953000" cy="3714750"/>
          </a:xfrm>
          <a:solidFill>
            <a:srgbClr val="FFFFFF"/>
          </a:solidFill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705350"/>
            <a:ext cx="5048250" cy="4457700"/>
          </a:xfrm>
          <a:solidFill>
            <a:schemeClr val="bg1"/>
          </a:solidFill>
          <a:ln w="9525"/>
        </p:spPr>
        <p:txBody>
          <a:bodyPr lIns="93849" tIns="46925" rIns="93849" bIns="46925"/>
          <a:lstStyle/>
          <a:p>
            <a:pPr eaLnBrk="1" hangingPunct="1"/>
            <a:endParaRPr lang="en-US" altLang="ja-JP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miter lim="800000"/>
            <a:headEnd type="none" w="sm" len="sm"/>
            <a:tailEnd type="none" w="sm" len="sm"/>
          </a:ln>
        </p:spPr>
        <p:txBody>
          <a:bodyPr lIns="95899" tIns="47949" rIns="95899" bIns="47949"/>
          <a:lstStyle/>
          <a:p>
            <a:pPr defTabSz="959358" eaLnBrk="0" hangingPunct="0">
              <a:defRPr/>
            </a:pPr>
            <a:r>
              <a:rPr lang="en-GB" sz="1400">
                <a:latin typeface="+mj-lt"/>
              </a:rPr>
              <a:t>CS1010 Programming Methodology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SG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miter lim="800000"/>
            <a:headEnd type="none" w="sm" len="sm"/>
            <a:tailEnd type="none" w="sm" len="sm"/>
          </a:ln>
        </p:spPr>
        <p:txBody>
          <a:bodyPr lIns="95899" tIns="47949" rIns="95899" bIns="47949"/>
          <a:lstStyle/>
          <a:p>
            <a:pPr defTabSz="959358" eaLnBrk="0" hangingPunct="0">
              <a:defRPr/>
            </a:pPr>
            <a:r>
              <a:rPr lang="en-GB" sz="1400">
                <a:latin typeface="+mj-lt"/>
              </a:rPr>
              <a:t>CS1010 Programming Methodology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</a:pPr>
            <a:endParaRPr lang="en-SG" b="0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miter lim="800000"/>
            <a:headEnd type="none" w="sm" len="sm"/>
            <a:tailEnd type="none" w="sm" len="sm"/>
          </a:ln>
        </p:spPr>
        <p:txBody>
          <a:bodyPr lIns="95899" tIns="47949" rIns="95899" bIns="47949"/>
          <a:lstStyle/>
          <a:p>
            <a:pPr defTabSz="959358" eaLnBrk="0" hangingPunct="0">
              <a:defRPr/>
            </a:pPr>
            <a:r>
              <a:rPr lang="en-GB" sz="1400">
                <a:latin typeface="+mj-lt"/>
              </a:rPr>
              <a:t>CS1010 Programming Methodology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SG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miter lim="800000"/>
            <a:headEnd type="none" w="sm" len="sm"/>
            <a:tailEnd type="none" w="sm" len="sm"/>
          </a:ln>
        </p:spPr>
        <p:txBody>
          <a:bodyPr lIns="95899" tIns="47949" rIns="95899" bIns="47949"/>
          <a:lstStyle/>
          <a:p>
            <a:pPr defTabSz="959358" eaLnBrk="0" hangingPunct="0">
              <a:defRPr/>
            </a:pPr>
            <a:r>
              <a:rPr lang="en-GB" sz="1400">
                <a:latin typeface="+mj-lt"/>
              </a:rPr>
              <a:t>CS1010 Programming Methodology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6634214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miter lim="800000"/>
            <a:headEnd type="none" w="sm" len="sm"/>
            <a:tailEnd type="none" w="sm" len="sm"/>
          </a:ln>
        </p:spPr>
        <p:txBody>
          <a:bodyPr lIns="95899" tIns="47949" rIns="95899" bIns="47949"/>
          <a:lstStyle/>
          <a:p>
            <a:pPr defTabSz="959358" eaLnBrk="0" hangingPunct="0">
              <a:defRPr/>
            </a:pPr>
            <a:r>
              <a:rPr lang="en-GB" sz="1400">
                <a:latin typeface="+mj-lt"/>
              </a:rPr>
              <a:t>CS1010 Programming Methodology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SG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95894" tIns="47946" rIns="95894" bIns="47946"/>
          <a:lstStyle/>
          <a:p>
            <a:pPr defTabSz="957263" eaLnBrk="0" hangingPunct="0"/>
            <a:r>
              <a:rPr lang="en-GB" sz="1400">
                <a:latin typeface="Calibri" pitchFamily="34" charset="0"/>
              </a:rPr>
              <a:t>CS1101 Programming Methodology</a:t>
            </a: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5200" y="742950"/>
            <a:ext cx="4953000" cy="3714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 lIns="95894" tIns="47946" rIns="95894" bIns="47946"/>
          <a:lstStyle/>
          <a:p>
            <a:pPr marL="227013" indent="-227013">
              <a:defRPr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84500" cy="4953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95894" tIns="47946" rIns="95894" bIns="47946"/>
          <a:lstStyle/>
          <a:p>
            <a:pPr defTabSz="957263" eaLnBrk="0" hangingPunct="0"/>
            <a:r>
              <a:rPr lang="en-GB" sz="1400">
                <a:latin typeface="Calibri" pitchFamily="34" charset="0"/>
              </a:rPr>
              <a:t>CS1101 Programming Methodology</a:t>
            </a: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5200" y="742950"/>
            <a:ext cx="4953000" cy="3714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 lIns="95894" tIns="47946" rIns="95894" bIns="47946"/>
          <a:lstStyle/>
          <a:p>
            <a:pPr marL="227013" indent="-227013">
              <a:defRPr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5200" y="742950"/>
            <a:ext cx="4953000" cy="371475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b="0" dirty="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5200" y="742950"/>
            <a:ext cx="4953000" cy="371475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>
              <a:buFont typeface="Calibri" pitchFamily="34" charset="0"/>
              <a:buNone/>
            </a:pPr>
            <a:endParaRPr lang="en-SG" dirty="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900488" y="9410700"/>
            <a:ext cx="29829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034" tIns="47517" rIns="95034" bIns="47517" anchor="b"/>
          <a:lstStyle/>
          <a:p>
            <a:pPr algn="r" defTabSz="950913"/>
            <a:fld id="{531EE4CD-65EB-4E10-99C3-56E21BA0C2A3}" type="slidenum">
              <a:rPr lang="en-US" sz="1200">
                <a:latin typeface="Tahoma" pitchFamily="34" charset="0"/>
              </a:rPr>
              <a:pPr algn="r" defTabSz="950913"/>
              <a:t>32</a:t>
            </a:fld>
            <a:endParaRPr lang="en-US" sz="1200">
              <a:latin typeface="Tahoma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5200" y="742950"/>
            <a:ext cx="4953000" cy="37147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705350"/>
            <a:ext cx="5048250" cy="4457700"/>
          </a:xfrm>
          <a:noFill/>
          <a:ln w="9525"/>
        </p:spPr>
        <p:txBody>
          <a:bodyPr lIns="95034" tIns="47517" rIns="95034" bIns="47517"/>
          <a:lstStyle/>
          <a:p>
            <a:pPr marL="228600" indent="-228600" eaLnBrk="1" hangingPunct="1">
              <a:buFont typeface="Calibri" pitchFamily="34" charset="0"/>
              <a:buNone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>
              <a:tabLst>
                <a:tab pos="361950" algn="l"/>
                <a:tab pos="714375" algn="l"/>
                <a:tab pos="1076325" algn="l"/>
                <a:tab pos="1438275" algn="l"/>
                <a:tab pos="1790700" algn="l"/>
              </a:tabLst>
            </a:pPr>
            <a:endParaRPr lang="en-SG" dirty="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FE897E-4132-412E-8678-B133EA017C46}" type="slidenum">
              <a:rPr lang="en-GB" smtClean="0"/>
              <a:pPr/>
              <a:t>38</a:t>
            </a:fld>
            <a:endParaRPr lang="en-GB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SG" smtClean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CSE 115 Programming Methodology</a:t>
            </a:r>
            <a:endParaRPr lang="en-US"/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FE897E-4132-412E-8678-B133EA017C46}" type="slidenum">
              <a:rPr lang="en-GB" smtClean="0"/>
              <a:pPr/>
              <a:t>41</a:t>
            </a:fld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281258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CSE 115 Programming Methodology</a:t>
            </a:r>
            <a:endParaRPr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30188" indent="-230188" eaLnBrk="1" hangingPunct="1"/>
            <a:endParaRPr lang="en-SG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CSE 115 Programming Methodology</a:t>
            </a:r>
            <a:endParaRPr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SG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C9BD76E8-DA2C-492A-9495-E832E6B319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A7E5F3B8-B941-4C0D-BD38-F33C9B9B9D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FE89B32A-6336-44F2-95CD-47B9980236F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DA32AA06-678B-4605-B3D9-51DCEB916A3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E4A89602-BE3E-4487-BD8C-04B637084F2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6772BF5C-B808-44F9-9503-DEBEF4A96FA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6C21B926-4367-4ECE-851A-364E9C8914C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C6E56419-E43D-4C43-A4D0-5844785A8AC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B3207DA6-E6A9-43F8-955F-710B32B6416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F2224FE6-CDC8-4385-AA8E-0B2F2874A39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Week4 - </a:t>
            </a:r>
            <a:fld id="{4C24833A-7045-4F24-9582-87AB9CF8884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smtClean="0"/>
              <a:t>Week4 - </a:t>
            </a:r>
            <a:fld id="{75819E46-37F5-4F4B-AADA-F71A981955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10" r:id="rId2"/>
    <p:sldLayoutId id="2147484611" r:id="rId3"/>
    <p:sldLayoutId id="2147484612" r:id="rId4"/>
    <p:sldLayoutId id="2147484613" r:id="rId5"/>
    <p:sldLayoutId id="2147484614" r:id="rId6"/>
    <p:sldLayoutId id="2147484615" r:id="rId7"/>
    <p:sldLayoutId id="2147484616" r:id="rId8"/>
    <p:sldLayoutId id="2147484617" r:id="rId9"/>
    <p:sldLayoutId id="2147484618" r:id="rId10"/>
    <p:sldLayoutId id="2147484619" r:id="rId11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2270760"/>
            <a:ext cx="8153400" cy="1066800"/>
          </a:xfrm>
        </p:spPr>
        <p:txBody>
          <a:bodyPr/>
          <a:lstStyle/>
          <a:p>
            <a:pPr eaLnBrk="1" hangingPunct="1"/>
            <a:r>
              <a:rPr lang="en-GB" sz="2900" b="1" dirty="0" smtClean="0"/>
              <a:t> Programming Methodology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466725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Week 4: Selection Statements 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430338"/>
            <a:ext cx="7620000" cy="4495800"/>
          </a:xfrm>
        </p:spPr>
        <p:txBody>
          <a:bodyPr/>
          <a:lstStyle/>
          <a:p>
            <a:pPr eaLnBrk="1" hangingPunct="1">
              <a:buSzPct val="120000"/>
              <a:buFont typeface="Wingdings" pitchFamily="2" charset="2"/>
              <a:buNone/>
            </a:pPr>
            <a:r>
              <a:rPr lang="en-GB" sz="2400" dirty="0" smtClean="0">
                <a:solidFill>
                  <a:srgbClr val="C00000"/>
                </a:solidFill>
              </a:rPr>
              <a:t>Objectives:</a:t>
            </a:r>
          </a:p>
          <a:p>
            <a:pPr lvl="1" eaLnBrk="1" hangingPunct="1">
              <a:buClrTx/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Using relational and logical operators</a:t>
            </a:r>
          </a:p>
          <a:p>
            <a:pPr lvl="1" eaLnBrk="1" hangingPunct="1">
              <a:buClrTx/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Using selection statements in a program</a:t>
            </a:r>
          </a:p>
          <a:p>
            <a:pPr lvl="1" eaLnBrk="1" hangingPunct="1">
              <a:buClrTx/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Formulating complex selection structures to solve decision problems.</a:t>
            </a:r>
          </a:p>
          <a:p>
            <a:pPr eaLnBrk="1" hangingPunct="1">
              <a:buSzPct val="120000"/>
              <a:buFont typeface="Wingdings" pitchFamily="2" charset="2"/>
              <a:buChar char="§"/>
            </a:pPr>
            <a:endParaRPr lang="en-GB" sz="2400" dirty="0" smtClean="0">
              <a:solidFill>
                <a:srgbClr val="0000FF"/>
              </a:solidFill>
            </a:endParaRPr>
          </a:p>
          <a:p>
            <a:pPr eaLnBrk="1" hangingPunct="1">
              <a:buSzPct val="120000"/>
              <a:buFont typeface="Wingdings" pitchFamily="2" charset="2"/>
              <a:buNone/>
            </a:pPr>
            <a:r>
              <a:rPr lang="en-GB" sz="2400" dirty="0" smtClean="0">
                <a:solidFill>
                  <a:srgbClr val="C00000"/>
                </a:solidFill>
              </a:rPr>
              <a:t>Reference: </a:t>
            </a:r>
          </a:p>
          <a:p>
            <a:pPr lvl="1" eaLnBrk="1" hangingPunct="1">
              <a:buClrTx/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Chapter 4 Lessons 4.1 – 4.6, Beginning Decision Making</a:t>
            </a:r>
          </a:p>
        </p:txBody>
      </p:sp>
      <p:sp>
        <p:nvSpPr>
          <p:cNvPr id="15364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/>
              <a:t>Week4 - </a:t>
            </a:r>
            <a:fld id="{A5438DD8-9484-4E79-8DDB-78717AF0A0A7}" type="slidenum">
              <a:rPr lang="en-US" sz="1000"/>
              <a:pPr algn="r"/>
              <a:t>2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11175" y="474663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Week 4: Outline (1/2)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57213" y="1301675"/>
            <a:ext cx="7885112" cy="4857825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ClrTx/>
              <a:buSzPct val="100000"/>
              <a:buFont typeface="Wingdings" pitchFamily="2" charset="2"/>
              <a:buAutoNum type="arabicPeriod"/>
            </a:pPr>
            <a:r>
              <a:rPr lang="en-GB" sz="2000" dirty="0" smtClean="0">
                <a:solidFill>
                  <a:srgbClr val="0000FF"/>
                </a:solidFill>
              </a:rPr>
              <a:t>Week 3 Exercises</a:t>
            </a:r>
          </a:p>
          <a:p>
            <a:pPr marL="457200" indent="-457200" eaLnBrk="1" hangingPunct="1">
              <a:spcBef>
                <a:spcPts val="600"/>
              </a:spcBef>
              <a:buClrTx/>
              <a:buSzPct val="100000"/>
              <a:buFont typeface="Wingdings" pitchFamily="2" charset="2"/>
              <a:buAutoNum type="arabicPeriod"/>
            </a:pPr>
            <a:r>
              <a:rPr lang="en-GB" sz="2000" dirty="0" smtClean="0">
                <a:solidFill>
                  <a:srgbClr val="C00000"/>
                </a:solidFill>
              </a:rPr>
              <a:t>Sequential </a:t>
            </a:r>
            <a:r>
              <a:rPr lang="en-GB" sz="2000" dirty="0" err="1" smtClean="0">
                <a:solidFill>
                  <a:srgbClr val="C00000"/>
                </a:solidFill>
              </a:rPr>
              <a:t>vs</a:t>
            </a:r>
            <a:r>
              <a:rPr lang="en-GB" sz="2000" dirty="0" smtClean="0">
                <a:solidFill>
                  <a:srgbClr val="C00000"/>
                </a:solidFill>
              </a:rPr>
              <a:t> non-sequential control flow</a:t>
            </a:r>
          </a:p>
          <a:p>
            <a:pPr marL="457200" indent="-457200" eaLnBrk="1" hangingPunct="1">
              <a:spcBef>
                <a:spcPts val="600"/>
              </a:spcBef>
              <a:buClrTx/>
              <a:buSzPct val="100000"/>
              <a:buFont typeface="Wingdings" pitchFamily="2" charset="2"/>
              <a:buAutoNum type="arabicPeriod"/>
            </a:pPr>
            <a:r>
              <a:rPr lang="en-GB" sz="2000" dirty="0" smtClean="0">
                <a:solidFill>
                  <a:srgbClr val="0000FF"/>
                </a:solidFill>
              </a:rPr>
              <a:t>Selection Structures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3.1</a:t>
            </a:r>
            <a:r>
              <a:rPr lang="en-GB" sz="1600" i="1" dirty="0" smtClean="0"/>
              <a:t>	if </a:t>
            </a:r>
            <a:r>
              <a:rPr lang="en-GB" sz="1600" dirty="0" smtClean="0"/>
              <a:t>and </a:t>
            </a:r>
            <a:r>
              <a:rPr lang="en-GB" sz="1600" i="1" dirty="0" smtClean="0"/>
              <a:t>if-else</a:t>
            </a:r>
            <a:r>
              <a:rPr lang="en-GB" sz="1600" dirty="0" smtClean="0"/>
              <a:t> Statements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3.2	Conditions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3.3	Truth Values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3.4	Logical Operators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3.5	Evaluation of Boolean Expressions</a:t>
            </a:r>
          </a:p>
          <a:p>
            <a:pPr marL="914400" lvl="1" indent="-400050" eaLnBrk="1" hangingPunct="1">
              <a:spcBef>
                <a:spcPts val="0"/>
              </a:spcBef>
              <a:buClrTx/>
              <a:buSzPct val="100000"/>
              <a:buNone/>
            </a:pPr>
            <a:r>
              <a:rPr lang="en-GB" sz="1600" dirty="0" smtClean="0"/>
              <a:t>3.6	Short-Circuit Evaluation</a:t>
            </a:r>
          </a:p>
          <a:p>
            <a:pPr marL="457200" indent="-457200" eaLnBrk="1" hangingPunct="1">
              <a:spcBef>
                <a:spcPts val="600"/>
              </a:spcBef>
              <a:buClrTx/>
              <a:buSzPct val="100000"/>
              <a:buFont typeface="Wingdings" pitchFamily="2" charset="2"/>
              <a:buAutoNum type="arabicPeriod"/>
            </a:pPr>
            <a:r>
              <a:rPr lang="en-GB" sz="2000" dirty="0" smtClean="0">
                <a:solidFill>
                  <a:srgbClr val="C00000"/>
                </a:solidFill>
              </a:rPr>
              <a:t>Indentation Style</a:t>
            </a:r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5438DD8-9484-4E79-8DDB-78717AF0A0A7}" type="slidenum">
              <a:rPr lang="en-US" sz="1000"/>
              <a:pPr algn="r"/>
              <a:t>3</a:t>
            </a:fld>
            <a:endParaRPr lang="en-US" sz="10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6067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566738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3. Selection Structures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835025" y="1587501"/>
            <a:ext cx="7948613" cy="1933466"/>
          </a:xfrm>
        </p:spPr>
        <p:txBody>
          <a:bodyPr/>
          <a:lstStyle/>
          <a:p>
            <a:pPr marL="361950" indent="-361950" eaLnBrk="1" hangingPunct="1">
              <a:buSzPct val="80000"/>
            </a:pPr>
            <a:r>
              <a:rPr lang="en-GB" sz="2800" dirty="0" smtClean="0"/>
              <a:t>C provides two control structures that allow you to select a group of statements to be executed or skipped when certain conditions are met.</a:t>
            </a:r>
            <a:endParaRPr lang="en-GB" sz="2000" dirty="0" smtClean="0"/>
          </a:p>
          <a:p>
            <a:pPr marL="361950" indent="-36195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1946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pic>
        <p:nvPicPr>
          <p:cNvPr id="19461" name="Picture 6" descr="23573-Clipart-Illustration-Of-A-Confused-Navy-Blue-Business-Man-With-A-Questionmark-Over-His-Head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0018" y="4367605"/>
            <a:ext cx="1687120" cy="168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5438DD8-9484-4E79-8DDB-78717AF0A0A7}" type="slidenum">
              <a:rPr lang="en-US" sz="1000"/>
              <a:pPr algn="r"/>
              <a:t>5</a:t>
            </a:fld>
            <a:endParaRPr lang="en-US" sz="1000"/>
          </a:p>
        </p:txBody>
      </p:sp>
      <p:sp>
        <p:nvSpPr>
          <p:cNvPr id="7" name="Rectangle 6"/>
          <p:cNvSpPr/>
          <p:nvPr/>
        </p:nvSpPr>
        <p:spPr>
          <a:xfrm>
            <a:off x="881155" y="3534894"/>
            <a:ext cx="37240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if … else…</a:t>
            </a:r>
            <a:endParaRPr lang="en-US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06494" y="4580673"/>
            <a:ext cx="2339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switch</a:t>
            </a:r>
            <a:endParaRPr lang="en-US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89013"/>
          </a:xfrm>
        </p:spPr>
        <p:txBody>
          <a:bodyPr/>
          <a:lstStyle/>
          <a:p>
            <a:pPr>
              <a:tabLst>
                <a:tab pos="990600" algn="l"/>
              </a:tabLst>
            </a:pP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3.1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and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if-else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Statements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30388"/>
            <a:ext cx="8229600" cy="490537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SG" sz="2400" i="1" dirty="0" smtClean="0">
                <a:solidFill>
                  <a:srgbClr val="0000FF"/>
                </a:solidFill>
              </a:rPr>
              <a:t>if</a:t>
            </a:r>
            <a:r>
              <a:rPr lang="en-SG" sz="2400" dirty="0" smtClean="0">
                <a:solidFill>
                  <a:srgbClr val="0000FF"/>
                </a:solidFill>
              </a:rPr>
              <a:t> </a:t>
            </a:r>
            <a:r>
              <a:rPr lang="en-SG" sz="2400" dirty="0" smtClean="0"/>
              <a:t>statement</a:t>
            </a:r>
          </a:p>
        </p:txBody>
      </p:sp>
      <p:sp>
        <p:nvSpPr>
          <p:cNvPr id="20493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048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7D5FD680-0C38-4C26-80B0-11BE4AE36D6A}" type="slidenum">
              <a:rPr lang="en-US" sz="1000"/>
              <a:pPr algn="r"/>
              <a:t>6</a:t>
            </a:fld>
            <a:endParaRPr lang="en-US" sz="1000"/>
          </a:p>
        </p:txBody>
      </p:sp>
      <p:sp>
        <p:nvSpPr>
          <p:cNvPr id="264199" name="Text Box 7"/>
          <p:cNvSpPr txBox="1">
            <a:spLocks noChangeArrowheads="1"/>
          </p:cNvSpPr>
          <p:nvPr/>
        </p:nvSpPr>
        <p:spPr bwMode="auto">
          <a:xfrm>
            <a:off x="2878138" y="1576004"/>
            <a:ext cx="3429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006600"/>
                </a:solidFill>
              </a:rPr>
              <a:t>How are conditions specified </a:t>
            </a:r>
            <a:r>
              <a:rPr lang="en-US" dirty="0">
                <a:solidFill>
                  <a:srgbClr val="006600"/>
                </a:solidFill>
              </a:rPr>
              <a:t>and how </a:t>
            </a:r>
            <a:r>
              <a:rPr lang="en-US" dirty="0" smtClean="0">
                <a:solidFill>
                  <a:srgbClr val="006600"/>
                </a:solidFill>
              </a:rPr>
              <a:t>are they evaluated</a:t>
            </a:r>
            <a:r>
              <a:rPr lang="en-US" dirty="0">
                <a:solidFill>
                  <a:srgbClr val="006600"/>
                </a:solidFill>
              </a:rPr>
              <a:t>?</a:t>
            </a:r>
            <a:endParaRPr lang="en-SG" dirty="0">
              <a:solidFill>
                <a:srgbClr val="0066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950" y="2476500"/>
            <a:ext cx="6470650" cy="922338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188913" lvl="1"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condition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)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88913" lvl="1"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/* Execute </a:t>
            </a:r>
            <a:r>
              <a:rPr lang="en-SG" b="1" dirty="0" smtClean="0">
                <a:latin typeface="Courier New" pitchFamily="49" charset="0"/>
                <a:cs typeface="Courier New" pitchFamily="49" charset="0"/>
              </a:rPr>
              <a:t>these statements if TRUE */ 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  <a:p>
            <a:pPr marL="188913" lvl="1"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264200" name="Line 8"/>
          <p:cNvSpPr>
            <a:spLocks noChangeShapeType="1"/>
          </p:cNvSpPr>
          <p:nvPr/>
        </p:nvSpPr>
        <p:spPr bwMode="auto">
          <a:xfrm flipH="1">
            <a:off x="2971800" y="2232025"/>
            <a:ext cx="457200" cy="34925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6818313" y="820738"/>
            <a:ext cx="1787525" cy="1573212"/>
            <a:chOff x="6817659" y="820273"/>
            <a:chExt cx="1788459" cy="1573303"/>
          </a:xfrm>
        </p:grpSpPr>
        <p:sp>
          <p:nvSpPr>
            <p:cNvPr id="12" name="Flowchart: Decision 11"/>
            <p:cNvSpPr/>
            <p:nvPr/>
          </p:nvSpPr>
          <p:spPr bwMode="auto">
            <a:xfrm>
              <a:off x="7476815" y="1196532"/>
              <a:ext cx="1129303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20511" name="Straight Arrow Connector 13"/>
            <p:cNvCxnSpPr>
              <a:cxnSpLocks noChangeShapeType="1"/>
              <a:endCxn id="12" idx="0"/>
            </p:cNvCxnSpPr>
            <p:nvPr/>
          </p:nvCxnSpPr>
          <p:spPr bwMode="auto">
            <a:xfrm rot="5400000">
              <a:off x="7853086" y="1008530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0512" name="TextBox 16"/>
            <p:cNvSpPr txBox="1">
              <a:spLocks noChangeArrowheads="1"/>
            </p:cNvSpPr>
            <p:nvPr/>
          </p:nvSpPr>
          <p:spPr bwMode="auto">
            <a:xfrm>
              <a:off x="7691719" y="1290918"/>
              <a:ext cx="7126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/>
                <a:t>cond?</a:t>
              </a:r>
              <a:endParaRPr lang="en-SG" sz="1200" i="1"/>
            </a:p>
          </p:txBody>
        </p:sp>
        <p:cxnSp>
          <p:nvCxnSpPr>
            <p:cNvPr id="20513" name="Straight Connector 19"/>
            <p:cNvCxnSpPr>
              <a:cxnSpLocks noChangeShapeType="1"/>
              <a:stCxn id="12" idx="1"/>
            </p:cNvCxnSpPr>
            <p:nvPr/>
          </p:nvCxnSpPr>
          <p:spPr bwMode="auto">
            <a:xfrm rot="10800000">
              <a:off x="7207625" y="1438836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514" name="Straight Arrow Connector 21"/>
            <p:cNvCxnSpPr>
              <a:cxnSpLocks noChangeShapeType="1"/>
            </p:cNvCxnSpPr>
            <p:nvPr/>
          </p:nvCxnSpPr>
          <p:spPr bwMode="auto">
            <a:xfrm rot="5400000">
              <a:off x="7100047" y="1532964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3" name="Flowchart: Process 22"/>
            <p:cNvSpPr/>
            <p:nvPr/>
          </p:nvSpPr>
          <p:spPr bwMode="auto">
            <a:xfrm>
              <a:off x="6817659" y="1653758"/>
              <a:ext cx="752868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20516" name="TextBox 24"/>
            <p:cNvSpPr txBox="1">
              <a:spLocks noChangeArrowheads="1"/>
            </p:cNvSpPr>
            <p:nvPr/>
          </p:nvSpPr>
          <p:spPr bwMode="auto">
            <a:xfrm>
              <a:off x="7091084" y="1147482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 smtClean="0"/>
                <a:t>true</a:t>
              </a:r>
              <a:endParaRPr lang="en-SG" sz="1200" i="1" dirty="0"/>
            </a:p>
          </p:txBody>
        </p:sp>
        <p:sp>
          <p:nvSpPr>
            <p:cNvPr id="20517" name="TextBox 25"/>
            <p:cNvSpPr txBox="1">
              <a:spLocks noChangeArrowheads="1"/>
            </p:cNvSpPr>
            <p:nvPr/>
          </p:nvSpPr>
          <p:spPr bwMode="auto">
            <a:xfrm>
              <a:off x="7956177" y="1716741"/>
              <a:ext cx="59371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 smtClean="0"/>
                <a:t>false</a:t>
              </a:r>
              <a:endParaRPr lang="en-SG" sz="1200" i="1" dirty="0"/>
            </a:p>
          </p:txBody>
        </p:sp>
        <p:cxnSp>
          <p:nvCxnSpPr>
            <p:cNvPr id="20518" name="Straight Arrow Connector 27"/>
            <p:cNvCxnSpPr>
              <a:cxnSpLocks noChangeShapeType="1"/>
              <a:stCxn id="12" idx="2"/>
            </p:cNvCxnSpPr>
            <p:nvPr/>
          </p:nvCxnSpPr>
          <p:spPr bwMode="auto">
            <a:xfrm rot="5400000">
              <a:off x="7684995" y="2037229"/>
              <a:ext cx="699246" cy="1344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0519" name="Straight Connector 29"/>
            <p:cNvCxnSpPr>
              <a:cxnSpLocks noChangeShapeType="1"/>
              <a:stCxn id="23" idx="2"/>
            </p:cNvCxnSpPr>
            <p:nvPr/>
          </p:nvCxnSpPr>
          <p:spPr bwMode="auto">
            <a:xfrm rot="5400000">
              <a:off x="7113495" y="2070847"/>
              <a:ext cx="161364" cy="1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520" name="Straight Arrow Connector 31"/>
            <p:cNvCxnSpPr>
              <a:cxnSpLocks noChangeShapeType="1"/>
            </p:cNvCxnSpPr>
            <p:nvPr/>
          </p:nvCxnSpPr>
          <p:spPr bwMode="auto">
            <a:xfrm>
              <a:off x="7194177" y="2138082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" y="4248150"/>
            <a:ext cx="7355821" cy="129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441960" y="3689668"/>
            <a:ext cx="8229600" cy="490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SG" i="1" dirty="0" smtClean="0">
                <a:solidFill>
                  <a:srgbClr val="0000FF"/>
                </a:solidFill>
              </a:rPr>
              <a:t>Example</a:t>
            </a:r>
            <a:endParaRPr lang="en-SG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420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89013"/>
          </a:xfrm>
        </p:spPr>
        <p:txBody>
          <a:bodyPr/>
          <a:lstStyle/>
          <a:p>
            <a:pPr>
              <a:tabLst>
                <a:tab pos="990600" algn="l"/>
              </a:tabLst>
            </a:pP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3.1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and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if-else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Statements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0493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048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7D5FD680-0C38-4C26-80B0-11BE4AE36D6A}" type="slidenum">
              <a:rPr lang="en-US" sz="1000"/>
              <a:pPr algn="r"/>
              <a:t>7</a:t>
            </a:fld>
            <a:endParaRPr lang="en-US" sz="100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2412835"/>
            <a:ext cx="82296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i="1" kern="0" dirty="0">
                <a:solidFill>
                  <a:srgbClr val="0000FF"/>
                </a:solidFill>
                <a:latin typeface="+mn-lt"/>
                <a:cs typeface="+mn-cs"/>
              </a:rPr>
              <a:t>if-else</a:t>
            </a:r>
            <a:r>
              <a:rPr lang="en-US" sz="2400" i="1" kern="0" dirty="0">
                <a:latin typeface="+mn-lt"/>
                <a:cs typeface="+mn-cs"/>
              </a:rPr>
              <a:t> </a:t>
            </a:r>
            <a:r>
              <a:rPr lang="en-US" sz="2400" kern="0" dirty="0">
                <a:latin typeface="+mn-lt"/>
                <a:cs typeface="+mn-cs"/>
              </a:rPr>
              <a:t>statement</a:t>
            </a:r>
            <a:endParaRPr lang="en-SG" sz="2400" kern="0" dirty="0">
              <a:latin typeface="+mn-lt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6950" y="2981160"/>
            <a:ext cx="6470650" cy="14351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condition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)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/* Execute these statements if TRUE  */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/* Execute these statements if FALSE */ 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6445250" y="1468273"/>
            <a:ext cx="2411413" cy="1573212"/>
            <a:chOff x="6445623" y="3191438"/>
            <a:chExt cx="2411506" cy="1573303"/>
          </a:xfrm>
        </p:grpSpPr>
        <p:sp>
          <p:nvSpPr>
            <p:cNvPr id="33" name="Flowchart: Decision 32"/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20495" name="Straight Arrow Connector 33"/>
            <p:cNvCxnSpPr>
              <a:cxnSpLocks noChangeShapeType="1"/>
              <a:endCxn id="33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0496" name="TextBox 34"/>
            <p:cNvSpPr txBox="1">
              <a:spLocks noChangeArrowheads="1"/>
            </p:cNvSpPr>
            <p:nvPr/>
          </p:nvSpPr>
          <p:spPr bwMode="auto">
            <a:xfrm>
              <a:off x="7319683" y="3662083"/>
              <a:ext cx="7126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/>
                <a:t>cond?</a:t>
              </a:r>
              <a:endParaRPr lang="en-SG" sz="1200" i="1"/>
            </a:p>
          </p:txBody>
        </p:sp>
        <p:cxnSp>
          <p:nvCxnSpPr>
            <p:cNvPr id="20497" name="Straight Connector 35"/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498" name="Straight Arrow Connector 36"/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8" name="Flowchart: Process 37"/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20500" name="TextBox 38"/>
            <p:cNvSpPr txBox="1">
              <a:spLocks noChangeArrowheads="1"/>
            </p:cNvSpPr>
            <p:nvPr/>
          </p:nvSpPr>
          <p:spPr bwMode="auto">
            <a:xfrm>
              <a:off x="6719047" y="357243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 smtClean="0"/>
                <a:t>true</a:t>
              </a:r>
              <a:endParaRPr lang="en-SG" sz="1200" i="1" dirty="0"/>
            </a:p>
          </p:txBody>
        </p:sp>
        <p:sp>
          <p:nvSpPr>
            <p:cNvPr id="20501" name="TextBox 39"/>
            <p:cNvSpPr txBox="1">
              <a:spLocks noChangeArrowheads="1"/>
            </p:cNvSpPr>
            <p:nvPr/>
          </p:nvSpPr>
          <p:spPr bwMode="auto">
            <a:xfrm>
              <a:off x="8095129" y="3563471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 smtClean="0"/>
                <a:t>false</a:t>
              </a:r>
              <a:endParaRPr lang="en-SG" sz="1200" i="1" dirty="0"/>
            </a:p>
          </p:txBody>
        </p:sp>
        <p:cxnSp>
          <p:nvCxnSpPr>
            <p:cNvPr id="20502" name="Straight Arrow Connector 40"/>
            <p:cNvCxnSpPr>
              <a:cxnSpLocks noChangeShapeType="1"/>
              <a:stCxn id="33" idx="2"/>
            </p:cNvCxnSpPr>
            <p:nvPr/>
          </p:nvCxnSpPr>
          <p:spPr bwMode="auto">
            <a:xfrm rot="5400000">
              <a:off x="7312959" y="4408394"/>
              <a:ext cx="699246" cy="1344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0503" name="Straight Connector 41"/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504" name="Straight Arrow Connector 42"/>
            <p:cNvCxnSpPr>
              <a:cxnSpLocks noChangeShapeType="1"/>
            </p:cNvCxnSpPr>
            <p:nvPr/>
          </p:nvCxnSpPr>
          <p:spPr bwMode="auto">
            <a:xfrm>
              <a:off x="6822141" y="4509247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0505" name="Straight Connector 43"/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506" name="Straight Arrow Connector 47"/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49" name="Flowchart: Process 48"/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20508" name="Straight Connector 49"/>
            <p:cNvCxnSpPr>
              <a:cxnSpLocks noChangeShapeType="1"/>
            </p:cNvCxnSpPr>
            <p:nvPr/>
          </p:nvCxnSpPr>
          <p:spPr bwMode="auto">
            <a:xfrm rot="5400000">
              <a:off x="8390965" y="4450977"/>
              <a:ext cx="17929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509" name="Straight Arrow Connector 51"/>
            <p:cNvCxnSpPr>
              <a:cxnSpLocks noChangeShapeType="1"/>
            </p:cNvCxnSpPr>
            <p:nvPr/>
          </p:nvCxnSpPr>
          <p:spPr bwMode="auto">
            <a:xfrm rot="10800000">
              <a:off x="7664824" y="4531659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1" name="TextBox 40"/>
          <p:cNvSpPr txBox="1"/>
          <p:nvPr/>
        </p:nvSpPr>
        <p:spPr>
          <a:xfrm>
            <a:off x="285750" y="1741640"/>
            <a:ext cx="4183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Braces { } optional only if there is one statement in the block.</a:t>
            </a:r>
            <a:endParaRPr lang="en-SG" dirty="0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59" y="4965054"/>
            <a:ext cx="4531742" cy="1498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285750" y="4451185"/>
            <a:ext cx="8229600" cy="490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SG" i="1" dirty="0" smtClean="0">
                <a:solidFill>
                  <a:srgbClr val="0000FF"/>
                </a:solidFill>
              </a:rPr>
              <a:t>Example</a:t>
            </a:r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735346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89013"/>
          </a:xfrm>
        </p:spPr>
        <p:txBody>
          <a:bodyPr/>
          <a:lstStyle/>
          <a:p>
            <a:pPr>
              <a:tabLst>
                <a:tab pos="990600" algn="l"/>
              </a:tabLst>
            </a:pP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3.1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and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if-else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Statements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0493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048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7D5FD680-0C38-4C26-80B0-11BE4AE36D6A}" type="slidenum">
              <a:rPr lang="en-US" sz="1000"/>
              <a:pPr algn="r"/>
              <a:t>8</a:t>
            </a:fld>
            <a:endParaRPr lang="en-US" sz="1000"/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" y="1310640"/>
            <a:ext cx="830496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463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89013"/>
          </a:xfrm>
        </p:spPr>
        <p:txBody>
          <a:bodyPr/>
          <a:lstStyle/>
          <a:p>
            <a:pPr>
              <a:tabLst>
                <a:tab pos="990600" algn="l"/>
              </a:tabLst>
            </a:pPr>
            <a:r>
              <a:rPr lang="en-US" dirty="0" smtClean="0">
                <a:solidFill>
                  <a:srgbClr val="9933FF"/>
                </a:solidFill>
                <a:latin typeface="Garamond" pitchFamily="18" charset="0"/>
              </a:rPr>
              <a:t>The conditions can be fancy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0493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048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7D5FD680-0C38-4C26-80B0-11BE4AE36D6A}" type="slidenum">
              <a:rPr lang="en-US" sz="1000"/>
              <a:pPr algn="r"/>
              <a:t>9</a:t>
            </a:fld>
            <a:endParaRPr lang="en-US" sz="100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85750" y="1554673"/>
            <a:ext cx="82296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i="1" kern="0" dirty="0">
                <a:solidFill>
                  <a:srgbClr val="0000FF"/>
                </a:solidFill>
                <a:latin typeface="+mn-lt"/>
                <a:cs typeface="+mn-cs"/>
              </a:rPr>
              <a:t>if-else</a:t>
            </a:r>
            <a:r>
              <a:rPr lang="en-US" sz="2400" i="1" kern="0" dirty="0">
                <a:latin typeface="+mn-lt"/>
                <a:cs typeface="+mn-cs"/>
              </a:rPr>
              <a:t> </a:t>
            </a:r>
            <a:r>
              <a:rPr lang="en-US" sz="2400" kern="0" dirty="0">
                <a:latin typeface="+mn-lt"/>
                <a:cs typeface="+mn-cs"/>
              </a:rPr>
              <a:t>statement</a:t>
            </a:r>
            <a:endParaRPr lang="en-SG" sz="2400" kern="0" dirty="0">
              <a:latin typeface="+mn-lt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5500" y="2122998"/>
            <a:ext cx="6470650" cy="14351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condition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)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/* Execute these statements if TRUE  */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/* Execute these statements if FALSE */  </a:t>
            </a:r>
          </a:p>
          <a:p>
            <a:pPr marL="176213"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285750" y="3985512"/>
            <a:ext cx="8229600" cy="490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SG" i="1" dirty="0" smtClean="0">
                <a:solidFill>
                  <a:srgbClr val="0000FF"/>
                </a:solidFill>
              </a:rPr>
              <a:t>Example</a:t>
            </a:r>
            <a:endParaRPr lang="en-SG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903288" y="4575526"/>
            <a:ext cx="62007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dirty="0" smtClean="0"/>
              <a:t>f((x&lt;60) &amp;&amp; (x&gt;50))</a:t>
            </a:r>
          </a:p>
          <a:p>
            <a:r>
              <a:rPr lang="en-US" dirty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(”study harder for a better grade);</a:t>
            </a:r>
          </a:p>
          <a:p>
            <a:r>
              <a:rPr lang="en-US" dirty="0" smtClean="0"/>
              <a:t>else</a:t>
            </a:r>
          </a:p>
          <a:p>
            <a:r>
              <a:rPr lang="en-US" dirty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(“No comments now!”);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92445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you can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Grade &gt;60, pass otherwise, fail</a:t>
            </a:r>
          </a:p>
          <a:p>
            <a:r>
              <a:rPr lang="en-US" dirty="0" smtClean="0"/>
              <a:t>Time&gt;6:00 PM, study. Otherwise, have fun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0921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349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3.2 Condition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graphicFrame>
        <p:nvGraphicFramePr>
          <p:cNvPr id="7" name="Group 44"/>
          <p:cNvGraphicFramePr>
            <a:graphicFrameLocks noGrp="1"/>
          </p:cNvGraphicFramePr>
          <p:nvPr>
            <p:ph idx="1"/>
          </p:nvPr>
        </p:nvGraphicFramePr>
        <p:xfrm>
          <a:off x="1425575" y="3560763"/>
          <a:ext cx="6051176" cy="2560320"/>
        </p:xfrm>
        <a:graphic>
          <a:graphicData uri="http://schemas.openxmlformats.org/drawingml/2006/table">
            <a:tbl>
              <a:tblPr/>
              <a:tblGrid>
                <a:gridCol w="2521323"/>
                <a:gridCol w="3529853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Relational Operator</a:t>
                      </a:r>
                      <a:endParaRPr kumimoji="0" lang="en-SG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Interpretation</a:t>
                      </a:r>
                      <a:endParaRPr kumimoji="0" lang="en-SG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&lt;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less than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&lt;=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less than or equal to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&gt;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greater than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&gt;=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greater than or equal to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==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equal to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!=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 not equal to</a:t>
                      </a:r>
                      <a:endParaRPr kumimoji="0" lang="en-SG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535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(AY2012/2013 Semester 1)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6213"/>
            <a:ext cx="8397875" cy="21685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SG" sz="2400" dirty="0" smtClean="0"/>
              <a:t>A </a:t>
            </a:r>
            <a:r>
              <a:rPr lang="en-SG" sz="2400" dirty="0" smtClean="0">
                <a:solidFill>
                  <a:srgbClr val="0000FF"/>
                </a:solidFill>
              </a:rPr>
              <a:t>condition</a:t>
            </a:r>
            <a:r>
              <a:rPr lang="en-SG" sz="2400" dirty="0" smtClean="0"/>
              <a:t> is an expression evaluated to </a:t>
            </a:r>
            <a:r>
              <a:rPr lang="en-SG" sz="2400" i="1" u="sng" dirty="0" smtClean="0"/>
              <a:t>true</a:t>
            </a:r>
            <a:r>
              <a:rPr lang="en-SG" sz="2400" dirty="0" smtClean="0"/>
              <a:t> or </a:t>
            </a:r>
            <a:r>
              <a:rPr lang="en-SG" sz="2400" i="1" u="sng" dirty="0" smtClean="0"/>
              <a:t>false</a:t>
            </a:r>
            <a:r>
              <a:rPr lang="en-SG" sz="24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en-SG" sz="2400" dirty="0" smtClean="0"/>
              <a:t>It is composed of expressions combined with relational operators.</a:t>
            </a:r>
          </a:p>
          <a:p>
            <a:pPr>
              <a:spcBef>
                <a:spcPts val="600"/>
              </a:spcBef>
            </a:pPr>
            <a:r>
              <a:rPr lang="en-SG" sz="2400" dirty="0" smtClean="0">
                <a:solidFill>
                  <a:srgbClr val="C00000"/>
                </a:solidFill>
              </a:rPr>
              <a:t>Relational operators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Examples: ( a &lt;= 10 ), ( count &gt; max ), ( value != -9 )</a:t>
            </a:r>
            <a:endParaRPr lang="en-SG" sz="2000" dirty="0" smtClean="0"/>
          </a:p>
        </p:txBody>
      </p:sp>
      <p:sp>
        <p:nvSpPr>
          <p:cNvPr id="2150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58AB5C1-9513-4D67-AA11-F7F89D2750A0}" type="slidenum">
              <a:rPr lang="en-US" sz="1000"/>
              <a:pPr algn="r"/>
              <a:t>12</a:t>
            </a:fld>
            <a:endParaRPr lang="en-US" sz="10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3.3 Truth Values (1/2)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52425" y="1408386"/>
            <a:ext cx="8229600" cy="477968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SG" sz="2400" dirty="0" smtClean="0"/>
              <a:t>Boolean values: true / false.</a:t>
            </a:r>
          </a:p>
          <a:p>
            <a:pPr>
              <a:spcBef>
                <a:spcPts val="600"/>
              </a:spcBef>
            </a:pPr>
            <a:r>
              <a:rPr lang="en-SG" sz="2400" dirty="0" smtClean="0"/>
              <a:t>There is </a:t>
            </a:r>
            <a:r>
              <a:rPr lang="en-SG" sz="2400" u="sng" dirty="0" smtClean="0"/>
              <a:t>no</a:t>
            </a:r>
            <a:r>
              <a:rPr lang="en-SG" sz="2400" dirty="0" smtClean="0"/>
              <a:t> </a:t>
            </a:r>
            <a:r>
              <a:rPr lang="en-SG" sz="2400" dirty="0" err="1" smtClean="0"/>
              <a:t>boolean</a:t>
            </a:r>
            <a:r>
              <a:rPr lang="en-SG" sz="2400" dirty="0" smtClean="0"/>
              <a:t> type in ANSI C. Instead, we use integers: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solidFill>
                  <a:srgbClr val="C00000"/>
                </a:solidFill>
              </a:rPr>
              <a:t>0</a:t>
            </a:r>
            <a:r>
              <a:rPr lang="en-US" sz="2000" dirty="0" smtClean="0"/>
              <a:t> to represent </a:t>
            </a:r>
            <a:r>
              <a:rPr lang="en-US" sz="2000" dirty="0" smtClean="0">
                <a:solidFill>
                  <a:srgbClr val="C00000"/>
                </a:solidFill>
              </a:rPr>
              <a:t>false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solidFill>
                  <a:srgbClr val="C00000"/>
                </a:solidFill>
              </a:rPr>
              <a:t>Any other value </a:t>
            </a:r>
            <a:r>
              <a:rPr lang="en-US" sz="2000" dirty="0" smtClean="0"/>
              <a:t>to represent </a:t>
            </a:r>
            <a:r>
              <a:rPr lang="en-US" sz="2000" dirty="0" smtClean="0">
                <a:solidFill>
                  <a:srgbClr val="C00000"/>
                </a:solidFill>
              </a:rPr>
              <a:t>true </a:t>
            </a:r>
            <a:r>
              <a:rPr lang="en-US" sz="2000" dirty="0" smtClean="0"/>
              <a:t>(1 is used as the representative value for true in output)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Example:</a:t>
            </a:r>
            <a:endParaRPr lang="en-SG" sz="2400" dirty="0" smtClean="0"/>
          </a:p>
          <a:p>
            <a:pPr>
              <a:spcBef>
                <a:spcPts val="600"/>
              </a:spcBef>
            </a:pPr>
            <a:endParaRPr lang="en-SG" sz="2400" dirty="0" smtClean="0"/>
          </a:p>
        </p:txBody>
      </p:sp>
      <p:sp>
        <p:nvSpPr>
          <p:cNvPr id="22535" name="Footer Placeholder 10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2532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BABEF51E-A0C3-4AF5-B9DF-AEC2D65DAA0C}" type="slidenum">
              <a:rPr lang="en-US" sz="1000"/>
              <a:pPr algn="r"/>
              <a:t>13</a:t>
            </a:fld>
            <a:endParaRPr lang="en-US" sz="100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000125" y="4045582"/>
            <a:ext cx="5137916" cy="1432881"/>
            <a:chOff x="1000125" y="4045582"/>
            <a:chExt cx="5137916" cy="1432881"/>
          </a:xfrm>
        </p:grpSpPr>
        <p:sp>
          <p:nvSpPr>
            <p:cNvPr id="7" name="TextBox 6"/>
            <p:cNvSpPr txBox="1"/>
            <p:nvPr/>
          </p:nvSpPr>
          <p:spPr>
            <a:xfrm>
              <a:off x="1000125" y="4278313"/>
              <a:ext cx="4848225" cy="12001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a = (2 &gt; 3);</a:t>
              </a:r>
            </a:p>
            <a:p>
              <a:pPr>
                <a:defRPr/>
              </a:pPr>
              <a:r>
                <a:rPr lang="en-US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b = (3 &gt; 2);</a:t>
              </a:r>
            </a:p>
            <a:p>
              <a:pPr>
                <a:defRPr/>
              </a:pPr>
              <a:endParaRPr lang="en-US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defRPr/>
              </a:pP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"a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b =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a, b);</a:t>
              </a:r>
              <a:endParaRPr lang="en-SG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68060" y="4045582"/>
              <a:ext cx="2569981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Week4_TruthValues.c</a:t>
              </a:r>
              <a:endParaRPr lang="en-SG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3.3 Truth Values (1/2)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52425" y="1408386"/>
            <a:ext cx="8229600" cy="477968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SG" sz="2400" dirty="0" smtClean="0"/>
              <a:t>Be careful of the value returned/evaluated by a relational operation.</a:t>
            </a:r>
          </a:p>
          <a:p>
            <a:pPr>
              <a:spcBef>
                <a:spcPts val="600"/>
              </a:spcBef>
            </a:pPr>
            <a:r>
              <a:rPr lang="en-SG" sz="2400" dirty="0" smtClean="0"/>
              <a:t>Since the values 0 and 1 are the returned values for false and true respectively, we can have codes like these:</a:t>
            </a:r>
          </a:p>
          <a:p>
            <a:pPr lvl="1">
              <a:spcBef>
                <a:spcPts val="600"/>
              </a:spcBef>
              <a:buNone/>
              <a:tabLst>
                <a:tab pos="4003675" algn="l"/>
              </a:tabLst>
            </a:pPr>
            <a:r>
              <a:rPr lang="en-SG" sz="2000" dirty="0" err="1" smtClean="0"/>
              <a:t>int</a:t>
            </a:r>
            <a:r>
              <a:rPr lang="en-SG" sz="2000" dirty="0" smtClean="0"/>
              <a:t> a = 12 + (5 &gt;= 2);  	</a:t>
            </a:r>
            <a:r>
              <a:rPr lang="en-SG" sz="2000" dirty="0" smtClean="0">
                <a:solidFill>
                  <a:srgbClr val="006600"/>
                </a:solidFill>
              </a:rPr>
              <a:t>// 13 assigned to a</a:t>
            </a:r>
          </a:p>
          <a:p>
            <a:pPr lvl="1">
              <a:spcBef>
                <a:spcPts val="600"/>
              </a:spcBef>
              <a:buNone/>
              <a:tabLst>
                <a:tab pos="4003675" algn="l"/>
              </a:tabLst>
            </a:pPr>
            <a:r>
              <a:rPr lang="en-SG" sz="2000" dirty="0" err="1" smtClean="0"/>
              <a:t>int</a:t>
            </a:r>
            <a:r>
              <a:rPr lang="en-SG" sz="2000" dirty="0" smtClean="0"/>
              <a:t> b = (4 &gt; 5) &lt; (3 &gt; 2) * 6; 	</a:t>
            </a:r>
            <a:r>
              <a:rPr lang="en-SG" sz="2000" dirty="0" smtClean="0">
                <a:solidFill>
                  <a:srgbClr val="006600"/>
                </a:solidFill>
              </a:rPr>
              <a:t>// 1 assigned to b </a:t>
            </a:r>
          </a:p>
          <a:p>
            <a:pPr lvl="1">
              <a:spcBef>
                <a:spcPts val="600"/>
              </a:spcBef>
              <a:buNone/>
              <a:tabLst>
                <a:tab pos="4003675" algn="l"/>
              </a:tabLst>
            </a:pPr>
            <a:r>
              <a:rPr lang="en-SG" sz="2000" dirty="0" err="1" smtClean="0"/>
              <a:t>int</a:t>
            </a:r>
            <a:r>
              <a:rPr lang="en-SG" sz="2000" dirty="0" smtClean="0"/>
              <a:t> c = ( (4 &gt; 5) &lt; (3 &gt; 2) ) * 6; 	</a:t>
            </a:r>
            <a:r>
              <a:rPr lang="en-SG" sz="2000" dirty="0" smtClean="0">
                <a:solidFill>
                  <a:srgbClr val="006600"/>
                </a:solidFill>
              </a:rPr>
              <a:t>// 6 assigned to c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You are certainly not encouraged to write such convoluted codes!</a:t>
            </a:r>
            <a:endParaRPr lang="en-SG" sz="2000" dirty="0" smtClean="0">
              <a:solidFill>
                <a:srgbClr val="006600"/>
              </a:solidFill>
            </a:endParaRPr>
          </a:p>
        </p:txBody>
      </p:sp>
      <p:sp>
        <p:nvSpPr>
          <p:cNvPr id="22535" name="Footer Placeholder 10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2532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BABEF51E-A0C3-4AF5-B9DF-AEC2D65DAA0C}" type="slidenum">
              <a:rPr lang="en-US" sz="1000"/>
              <a:pPr algn="r"/>
              <a:t>14</a:t>
            </a:fld>
            <a:endParaRPr lang="en-US" sz="1000"/>
          </a:p>
        </p:txBody>
      </p:sp>
      <p:pic>
        <p:nvPicPr>
          <p:cNvPr id="12" name="Picture 11" descr="alert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79431" y="687879"/>
            <a:ext cx="681094" cy="68109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04875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3.4 Logical Operators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graphicFrame>
        <p:nvGraphicFramePr>
          <p:cNvPr id="294956" name="Group 44"/>
          <p:cNvGraphicFramePr>
            <a:graphicFrameLocks noGrp="1"/>
          </p:cNvGraphicFramePr>
          <p:nvPr>
            <p:ph idx="1"/>
          </p:nvPr>
        </p:nvGraphicFramePr>
        <p:xfrm>
          <a:off x="1462033" y="4246563"/>
          <a:ext cx="4638675" cy="1676400"/>
        </p:xfrm>
        <a:graphic>
          <a:graphicData uri="http://schemas.openxmlformats.org/drawingml/2006/table">
            <a:tbl>
              <a:tblPr/>
              <a:tblGrid>
                <a:gridCol w="742950"/>
                <a:gridCol w="742950"/>
                <a:gridCol w="908050"/>
                <a:gridCol w="1122363"/>
                <a:gridCol w="1122362"/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kumimoji="0" lang="en-SG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&amp;&amp;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||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!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595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435100"/>
            <a:ext cx="8296275" cy="289401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C00000"/>
                </a:solidFill>
              </a:rPr>
              <a:t>Complex conditions</a:t>
            </a:r>
            <a:r>
              <a:rPr lang="en-US" sz="2000" dirty="0" smtClean="0"/>
              <a:t>: combine two or more </a:t>
            </a:r>
            <a:r>
              <a:rPr lang="en-US" sz="2000" dirty="0" err="1" smtClean="0"/>
              <a:t>boolean</a:t>
            </a:r>
            <a:r>
              <a:rPr lang="en-US" sz="2000" dirty="0" smtClean="0"/>
              <a:t> expressions.</a:t>
            </a:r>
          </a:p>
          <a:p>
            <a:r>
              <a:rPr lang="en-US" sz="2000" dirty="0" smtClean="0"/>
              <a:t>Examples:</a:t>
            </a:r>
          </a:p>
          <a:p>
            <a:pPr lvl="1">
              <a:spcBef>
                <a:spcPts val="600"/>
              </a:spcBef>
            </a:pPr>
            <a:r>
              <a:rPr lang="en-US" sz="1800" dirty="0" smtClean="0"/>
              <a:t>If temperature is greater than 40C </a:t>
            </a:r>
            <a:r>
              <a:rPr lang="en-US" sz="1800" dirty="0" smtClean="0">
                <a:solidFill>
                  <a:srgbClr val="0000FF"/>
                </a:solidFill>
              </a:rPr>
              <a:t>or</a:t>
            </a:r>
            <a:r>
              <a:rPr lang="en-US" sz="1800" dirty="0" smtClean="0"/>
              <a:t> blood pressure is greater than 200, go to A&amp;E immediately.</a:t>
            </a:r>
          </a:p>
          <a:p>
            <a:pPr lvl="1">
              <a:spcBef>
                <a:spcPts val="600"/>
              </a:spcBef>
            </a:pPr>
            <a:r>
              <a:rPr lang="en-US" sz="1800" dirty="0" smtClean="0"/>
              <a:t>If all the three subject scores (English, </a:t>
            </a:r>
            <a:r>
              <a:rPr lang="en-US" sz="1800" dirty="0" err="1" smtClean="0"/>
              <a:t>Maths</a:t>
            </a:r>
            <a:r>
              <a:rPr lang="en-US" sz="1800" dirty="0" smtClean="0"/>
              <a:t> </a:t>
            </a:r>
            <a:r>
              <a:rPr lang="en-US" sz="1800" dirty="0" smtClean="0">
                <a:solidFill>
                  <a:srgbClr val="0000FF"/>
                </a:solidFill>
              </a:rPr>
              <a:t>and</a:t>
            </a:r>
            <a:r>
              <a:rPr lang="en-US" sz="1800" dirty="0" smtClean="0"/>
              <a:t> Science) are greater than 85 </a:t>
            </a:r>
            <a:r>
              <a:rPr lang="en-US" sz="1800" dirty="0" smtClean="0">
                <a:solidFill>
                  <a:srgbClr val="0000FF"/>
                </a:solidFill>
              </a:rPr>
              <a:t>and</a:t>
            </a:r>
            <a:r>
              <a:rPr lang="en-US" sz="1800" dirty="0" smtClean="0"/>
              <a:t> mother tongue score is at least 80, recommend taking Higher Mother Tongue. </a:t>
            </a:r>
          </a:p>
          <a:p>
            <a:pPr>
              <a:spcBef>
                <a:spcPts val="600"/>
              </a:spcBef>
            </a:pPr>
            <a:r>
              <a:rPr lang="en-US" sz="2000" dirty="0" smtClean="0">
                <a:solidFill>
                  <a:srgbClr val="C00000"/>
                </a:solidFill>
              </a:rPr>
              <a:t>Logical operators </a:t>
            </a:r>
            <a:r>
              <a:rPr lang="en-US" sz="2000" dirty="0" smtClean="0"/>
              <a:t>are needed: </a:t>
            </a:r>
            <a:r>
              <a:rPr lang="en-US" sz="2000" dirty="0" smtClean="0">
                <a:solidFill>
                  <a:srgbClr val="C00000"/>
                </a:solidFill>
              </a:rPr>
              <a:t>&amp;&amp;</a:t>
            </a:r>
            <a:r>
              <a:rPr lang="en-US" sz="2000" dirty="0" smtClean="0"/>
              <a:t> (and), </a:t>
            </a:r>
            <a:r>
              <a:rPr lang="en-US" sz="2000" dirty="0" smtClean="0">
                <a:solidFill>
                  <a:srgbClr val="C00000"/>
                </a:solidFill>
              </a:rPr>
              <a:t>||</a:t>
            </a:r>
            <a:r>
              <a:rPr lang="en-US" sz="2000" dirty="0" smtClean="0"/>
              <a:t> (or), </a:t>
            </a:r>
            <a:r>
              <a:rPr lang="en-US" sz="2000" dirty="0" smtClean="0">
                <a:solidFill>
                  <a:srgbClr val="C00000"/>
                </a:solidFill>
              </a:rPr>
              <a:t>!</a:t>
            </a:r>
            <a:r>
              <a:rPr lang="en-US" sz="2000" dirty="0" smtClean="0"/>
              <a:t> (not).</a:t>
            </a:r>
          </a:p>
          <a:p>
            <a:pPr>
              <a:buFont typeface="Wingdings" pitchFamily="2" charset="2"/>
              <a:buNone/>
            </a:pPr>
            <a:endParaRPr lang="en-SG" sz="2000" dirty="0" smtClean="0"/>
          </a:p>
        </p:txBody>
      </p:sp>
      <p:sp>
        <p:nvSpPr>
          <p:cNvPr id="2359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6B9666B4-51BA-46D5-8D48-6AE7E05ED216}" type="slidenum">
              <a:rPr lang="en-US" sz="1000"/>
              <a:pPr algn="r"/>
              <a:t>15</a:t>
            </a:fld>
            <a:endParaRPr lang="en-US" sz="1000"/>
          </a:p>
        </p:txBody>
      </p:sp>
      <p:sp>
        <p:nvSpPr>
          <p:cNvPr id="7" name="TextBox 6"/>
          <p:cNvSpPr txBox="1"/>
          <p:nvPr/>
        </p:nvSpPr>
        <p:spPr>
          <a:xfrm>
            <a:off x="6369269" y="4761186"/>
            <a:ext cx="2606566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/>
              <a:t>Note: There are </a:t>
            </a:r>
            <a:r>
              <a:rPr lang="en-US" sz="1600" dirty="0" smtClean="0">
                <a:solidFill>
                  <a:srgbClr val="0000FF"/>
                </a:solidFill>
              </a:rPr>
              <a:t>bitwise operators</a:t>
            </a:r>
            <a:r>
              <a:rPr lang="en-US" sz="1600" dirty="0" smtClean="0"/>
              <a:t> such as </a:t>
            </a:r>
            <a:r>
              <a:rPr lang="en-US" sz="1600" dirty="0" smtClean="0">
                <a:solidFill>
                  <a:srgbClr val="C00000"/>
                </a:solidFill>
              </a:rPr>
              <a:t>&amp;</a:t>
            </a:r>
            <a:r>
              <a:rPr lang="en-US" sz="1600" dirty="0" smtClean="0"/>
              <a:t> , </a:t>
            </a:r>
            <a:r>
              <a:rPr lang="en-US" sz="1600" dirty="0" smtClean="0">
                <a:solidFill>
                  <a:srgbClr val="C00000"/>
                </a:solidFill>
              </a:rPr>
              <a:t>|</a:t>
            </a:r>
            <a:r>
              <a:rPr lang="en-US" sz="1600" dirty="0" smtClean="0"/>
              <a:t> and </a:t>
            </a:r>
            <a:r>
              <a:rPr lang="en-US" sz="1600" dirty="0" smtClean="0">
                <a:solidFill>
                  <a:srgbClr val="C00000"/>
                </a:solidFill>
              </a:rPr>
              <a:t>^</a:t>
            </a:r>
            <a:r>
              <a:rPr lang="en-US" sz="1600" dirty="0" smtClean="0"/>
              <a:t>, but we are </a:t>
            </a:r>
            <a:r>
              <a:rPr lang="en-US" sz="1600" u="sng" dirty="0" smtClean="0"/>
              <a:t>not</a:t>
            </a:r>
            <a:r>
              <a:rPr lang="en-US" sz="1600" dirty="0" smtClean="0"/>
              <a:t> covering these in CS1010.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3600" dirty="0" smtClean="0">
                <a:solidFill>
                  <a:srgbClr val="9933FF"/>
                </a:solidFill>
                <a:latin typeface="Garamond" pitchFamily="18" charset="0"/>
              </a:rPr>
              <a:t>3.5 Evaluation of Boolean Expressions (1/2)</a:t>
            </a:r>
            <a:endParaRPr lang="en-SG" sz="36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30350"/>
            <a:ext cx="8229600" cy="1755775"/>
          </a:xfrm>
        </p:spPr>
        <p:txBody>
          <a:bodyPr/>
          <a:lstStyle/>
          <a:p>
            <a:r>
              <a:rPr lang="en-US" sz="2400" dirty="0" smtClean="0"/>
              <a:t>The evaluation of a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expression proceeds according to the </a:t>
            </a:r>
            <a:r>
              <a:rPr lang="en-US" sz="2400" dirty="0" smtClean="0">
                <a:solidFill>
                  <a:srgbClr val="C00000"/>
                </a:solidFill>
              </a:rPr>
              <a:t>precedence</a:t>
            </a:r>
            <a:r>
              <a:rPr lang="en-US" sz="2400" dirty="0" smtClean="0"/>
              <a:t> and </a:t>
            </a:r>
            <a:r>
              <a:rPr lang="en-US" sz="2400" dirty="0" err="1" smtClean="0">
                <a:solidFill>
                  <a:srgbClr val="C00000"/>
                </a:solidFill>
              </a:rPr>
              <a:t>associativity</a:t>
            </a:r>
            <a:r>
              <a:rPr lang="en-US" sz="2400" dirty="0" smtClean="0"/>
              <a:t> of the operators.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Example #1: What is the value of </a:t>
            </a:r>
            <a:r>
              <a:rPr lang="en-US" sz="2400" dirty="0" smtClean="0">
                <a:solidFill>
                  <a:srgbClr val="0000FF"/>
                </a:solidFill>
              </a:rPr>
              <a:t>x</a:t>
            </a:r>
            <a:r>
              <a:rPr lang="en-US" sz="2400" dirty="0" smtClean="0"/>
              <a:t>?</a:t>
            </a:r>
          </a:p>
        </p:txBody>
      </p:sp>
      <p:sp>
        <p:nvSpPr>
          <p:cNvPr id="24587" name="Footer Placeholder 1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458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3689A59-9979-45FB-8233-6EA1F3C52EBE}" type="slidenum">
              <a:rPr lang="en-US" sz="1000"/>
              <a:pPr algn="r"/>
              <a:t>16</a:t>
            </a:fld>
            <a:endParaRPr lang="en-US" sz="100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4603750"/>
            <a:ext cx="82296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kern="0" dirty="0">
                <a:latin typeface="+mn-lt"/>
                <a:cs typeface="+mn-cs"/>
              </a:rPr>
              <a:t>Example #2: What is the value of </a:t>
            </a:r>
            <a:r>
              <a:rPr lang="en-US" sz="2400" kern="0" dirty="0">
                <a:solidFill>
                  <a:srgbClr val="0000FF"/>
                </a:solidFill>
                <a:latin typeface="+mn-lt"/>
                <a:cs typeface="+mn-cs"/>
              </a:rPr>
              <a:t>x</a:t>
            </a:r>
            <a:r>
              <a:rPr lang="en-US" sz="2400" kern="0" dirty="0">
                <a:latin typeface="+mn-lt"/>
                <a:cs typeface="+mn-c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057" y="3338513"/>
            <a:ext cx="4710113" cy="646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x, a = 4, b = -2, c = 0;</a:t>
            </a:r>
          </a:p>
          <a:p>
            <a:pPr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x = (a &gt; b &amp;&amp; b &gt; c || a == b);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5057" y="5170488"/>
            <a:ext cx="4143375" cy="3698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x = ((a &gt; b) &amp;&amp; !(b &gt; c));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58931" y="3373438"/>
            <a:ext cx="3227414" cy="40011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/>
              <a:t>gcc</a:t>
            </a:r>
            <a:r>
              <a:rPr lang="en-US" sz="2000" dirty="0"/>
              <a:t> issues warning (why?)</a:t>
            </a:r>
            <a:endParaRPr lang="en-SG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544005" y="5947955"/>
            <a:ext cx="3295195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See Week4_EvalBoolean.c</a:t>
            </a:r>
            <a:endParaRPr lang="en-SG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3600" dirty="0" smtClean="0">
                <a:solidFill>
                  <a:srgbClr val="9933FF"/>
                </a:solidFill>
                <a:latin typeface="Garamond" pitchFamily="18" charset="0"/>
              </a:rPr>
              <a:t>3.5 Evaluation of Boolean Expressions (2/2)</a:t>
            </a:r>
            <a:endParaRPr lang="en-SG" sz="36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93191"/>
            <a:ext cx="8229600" cy="629920"/>
          </a:xfrm>
        </p:spPr>
        <p:txBody>
          <a:bodyPr/>
          <a:lstStyle/>
          <a:p>
            <a:r>
              <a:rPr lang="en-US" sz="2400" dirty="0" smtClean="0"/>
              <a:t>Lesson 4.5 Precedence of Logical Operators </a:t>
            </a:r>
            <a:r>
              <a:rPr lang="en-US" sz="2000" dirty="0" smtClean="0"/>
              <a:t>(pg 142-143)</a:t>
            </a:r>
          </a:p>
        </p:txBody>
      </p:sp>
      <p:sp>
        <p:nvSpPr>
          <p:cNvPr id="24587" name="Footer Placeholder 1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458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3689A59-9979-45FB-8233-6EA1F3C52EBE}" type="slidenum">
              <a:rPr lang="en-US" sz="1000"/>
              <a:pPr algn="r"/>
              <a:t>17</a:t>
            </a:fld>
            <a:endParaRPr lang="en-US" sz="10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78" y="1957070"/>
          <a:ext cx="7772402" cy="4066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398"/>
                <a:gridCol w="2460812"/>
                <a:gridCol w="1672142"/>
                <a:gridCol w="1543050"/>
              </a:tblGrid>
              <a:tr h="350940"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Associativity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Precedence</a:t>
                      </a:r>
                      <a:endParaRPr lang="en-SG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()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Parentheses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 (highest)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++, --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Post-increment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++,</a:t>
                      </a:r>
                      <a:r>
                        <a:rPr lang="en-US" sz="1600" baseline="0" dirty="0" smtClean="0"/>
                        <a:t> --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Pre-increment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 to L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!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Logical NOT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+, -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Positive, negative sign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*,</a:t>
                      </a:r>
                      <a:r>
                        <a:rPr lang="en-US" sz="1600" baseline="0" dirty="0" smtClean="0"/>
                        <a:t> /, %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Multiplication, division, mod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+,</a:t>
                      </a:r>
                      <a:r>
                        <a:rPr lang="en-US" sz="1600" baseline="0" dirty="0" smtClean="0"/>
                        <a:t> -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Addition, subtraction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</a:t>
                      </a:r>
                      <a:r>
                        <a:rPr lang="en-US" sz="1600" baseline="0" dirty="0" smtClean="0"/>
                        <a:t>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==, &gt;=, &lt;=, &gt;, &lt;,</a:t>
                      </a:r>
                      <a:r>
                        <a:rPr lang="en-US" sz="1600" baseline="0" dirty="0" smtClean="0"/>
                        <a:t> !=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Relational operator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&amp;&amp;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Logical AND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SG" sz="1600" dirty="0"/>
                    </a:p>
                  </a:txBody>
                  <a:tcPr/>
                </a:tc>
              </a:tr>
              <a:tr h="3216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||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Logical OR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 to R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SG" sz="1600" dirty="0"/>
                    </a:p>
                  </a:txBody>
                  <a:tcPr/>
                </a:tc>
              </a:tr>
              <a:tr h="3484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=, +=, -=, *=, /=, %=</a:t>
                      </a:r>
                      <a:endParaRPr lang="en-SG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Assignment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 to L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 (lowest)</a:t>
                      </a:r>
                      <a:endParaRPr lang="en-SG" sz="16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1062318" y="6037729"/>
            <a:ext cx="5325035" cy="457199"/>
            <a:chOff x="1062318" y="6037729"/>
            <a:chExt cx="5325035" cy="457199"/>
          </a:xfrm>
        </p:grpSpPr>
        <p:sp>
          <p:nvSpPr>
            <p:cNvPr id="9" name="Line Callout 2 (Accent Bar) 8"/>
            <p:cNvSpPr/>
            <p:nvPr/>
          </p:nvSpPr>
          <p:spPr bwMode="auto">
            <a:xfrm>
              <a:off x="3119717" y="6172199"/>
              <a:ext cx="3267636" cy="322729"/>
            </a:xfrm>
            <a:prstGeom prst="accent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44643"/>
                <a:gd name="adj6" fmla="val -28404"/>
              </a:avLst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dirty="0" smtClean="0"/>
                <a:t>Note error in reference book.</a:t>
              </a:r>
              <a:endParaRPr lang="en-SG" dirty="0"/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1062318" y="6037729"/>
              <a:ext cx="1600200" cy="0"/>
            </a:xfrm>
            <a:prstGeom prst="line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3.6 Short-circuit Evaluation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30350"/>
            <a:ext cx="8229600" cy="588963"/>
          </a:xfrm>
        </p:spPr>
        <p:txBody>
          <a:bodyPr/>
          <a:lstStyle/>
          <a:p>
            <a:r>
              <a:rPr lang="en-US" sz="2400" dirty="0" smtClean="0"/>
              <a:t>Does the following code give an error if </a:t>
            </a:r>
            <a:r>
              <a:rPr lang="en-US" sz="2400" dirty="0" smtClean="0">
                <a:solidFill>
                  <a:srgbClr val="800000"/>
                </a:solidFill>
                <a:latin typeface="Lucida Console" pitchFamily="49" charset="0"/>
              </a:rPr>
              <a:t>a</a:t>
            </a:r>
            <a:r>
              <a:rPr lang="en-US" sz="2400" dirty="0" smtClean="0"/>
              <a:t> is zero?</a:t>
            </a:r>
          </a:p>
        </p:txBody>
      </p:sp>
      <p:sp>
        <p:nvSpPr>
          <p:cNvPr id="25604" name="Footer Placeholder 6"/>
          <p:cNvSpPr txBox="1">
            <a:spLocks noGrp="1"/>
          </p:cNvSpPr>
          <p:nvPr/>
        </p:nvSpPr>
        <p:spPr bwMode="auto">
          <a:xfrm>
            <a:off x="457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sz="1000" dirty="0" smtClean="0"/>
              <a:t>CS1010 (AY2011/2 Semester 1)</a:t>
            </a:r>
          </a:p>
        </p:txBody>
      </p:sp>
      <p:sp>
        <p:nvSpPr>
          <p:cNvPr id="2560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9A321CAD-87B2-4A3A-82FA-1F9479B94577}" type="slidenum">
              <a:rPr lang="en-US" sz="1000"/>
              <a:pPr algn="r"/>
              <a:t>18</a:t>
            </a:fld>
            <a:endParaRPr lang="en-US" sz="1000"/>
          </a:p>
        </p:txBody>
      </p:sp>
      <p:sp>
        <p:nvSpPr>
          <p:cNvPr id="9" name="TextBox 8"/>
          <p:cNvSpPr txBox="1"/>
          <p:nvPr/>
        </p:nvSpPr>
        <p:spPr>
          <a:xfrm>
            <a:off x="1009650" y="2076450"/>
            <a:ext cx="4710113" cy="6461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Lucida Console" pitchFamily="49" charset="0"/>
                <a:cs typeface="Courier New" pitchFamily="49" charset="0"/>
              </a:rPr>
              <a:t>if ((a != 0) &amp;&amp; (b/a &gt; 3))</a:t>
            </a:r>
          </a:p>
          <a:p>
            <a:pPr>
              <a:defRPr/>
            </a:pPr>
            <a:r>
              <a:rPr lang="en-US" dirty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US" dirty="0">
                <a:latin typeface="Lucida Console" pitchFamily="49" charset="0"/>
                <a:cs typeface="Courier New" pitchFamily="49" charset="0"/>
              </a:rPr>
              <a:t>(. . .);</a:t>
            </a:r>
            <a:endParaRPr lang="en-SG" dirty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57200" y="3062288"/>
            <a:ext cx="8229600" cy="3038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400" kern="0" dirty="0">
                <a:solidFill>
                  <a:srgbClr val="0000FF"/>
                </a:solidFill>
                <a:latin typeface="+mn-lt"/>
                <a:cs typeface="+mn-cs"/>
              </a:rPr>
              <a:t>Short-circuit evaluation </a:t>
            </a:r>
            <a:r>
              <a:rPr lang="en-US" sz="2400" kern="0" dirty="0" smtClean="0">
                <a:latin typeface="+mn-lt"/>
                <a:cs typeface="+mn-cs"/>
              </a:rPr>
              <a:t>uses </a:t>
            </a:r>
            <a:r>
              <a:rPr lang="en-US" sz="2400" kern="0" dirty="0">
                <a:latin typeface="+mn-lt"/>
                <a:cs typeface="+mn-cs"/>
              </a:rPr>
              <a:t>the following facts: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rgbClr val="C00000"/>
                </a:solidFill>
                <a:latin typeface="+mn-lt"/>
                <a:cs typeface="+mn-cs"/>
              </a:rPr>
              <a:t>expr1 || expr2 </a:t>
            </a:r>
            <a:r>
              <a:rPr lang="en-US" sz="2000" kern="0" dirty="0">
                <a:latin typeface="+mn-lt"/>
                <a:cs typeface="+mn-cs"/>
              </a:rPr>
              <a:t>: If </a:t>
            </a:r>
            <a:r>
              <a:rPr lang="en-US" sz="2000" u="sng" kern="0" dirty="0">
                <a:latin typeface="+mn-lt"/>
                <a:cs typeface="+mn-cs"/>
              </a:rPr>
              <a:t>expr1 is true</a:t>
            </a:r>
            <a:r>
              <a:rPr lang="en-US" sz="2000" kern="0" dirty="0">
                <a:latin typeface="+mn-lt"/>
                <a:cs typeface="+mn-cs"/>
              </a:rPr>
              <a:t>, skip evaluating expr2, as the result will always be true</a:t>
            </a:r>
            <a:r>
              <a:rPr lang="en-US" sz="2000" kern="0" dirty="0" smtClean="0">
                <a:latin typeface="+mn-lt"/>
                <a:cs typeface="+mn-cs"/>
              </a:rPr>
              <a:t>.</a:t>
            </a:r>
            <a:br>
              <a:rPr lang="en-US" sz="2000" kern="0" dirty="0" smtClean="0">
                <a:latin typeface="+mn-lt"/>
                <a:cs typeface="+mn-cs"/>
              </a:rPr>
            </a:br>
            <a:endParaRPr lang="en-US" sz="2000" kern="0" dirty="0">
              <a:latin typeface="+mn-lt"/>
              <a:cs typeface="+mn-cs"/>
            </a:endParaRPr>
          </a:p>
          <a:p>
            <a:pPr marL="800100" lvl="1" indent="-342900" eaLnBrk="0" hangingPunct="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kern="0" dirty="0">
                <a:solidFill>
                  <a:srgbClr val="C00000"/>
                </a:solidFill>
                <a:latin typeface="+mn-lt"/>
                <a:cs typeface="+mn-cs"/>
              </a:rPr>
              <a:t>expr1 &amp;&amp; expr2</a:t>
            </a:r>
            <a:r>
              <a:rPr lang="en-US" sz="2000" kern="0" dirty="0">
                <a:latin typeface="+mn-lt"/>
                <a:cs typeface="+mn-cs"/>
              </a:rPr>
              <a:t>: If </a:t>
            </a:r>
            <a:r>
              <a:rPr lang="en-US" sz="2000" u="sng" kern="0" dirty="0">
                <a:latin typeface="+mn-lt"/>
                <a:cs typeface="+mn-cs"/>
              </a:rPr>
              <a:t>expr1 is false</a:t>
            </a:r>
            <a:r>
              <a:rPr lang="en-US" sz="2000" kern="0" dirty="0">
                <a:latin typeface="+mn-lt"/>
                <a:cs typeface="+mn-cs"/>
              </a:rPr>
              <a:t>, skip evaluating expr2, as the result will always be false</a:t>
            </a:r>
            <a:r>
              <a:rPr lang="en-US" sz="2000" kern="0" dirty="0" smtClean="0">
                <a:latin typeface="+mn-lt"/>
                <a:cs typeface="+mn-cs"/>
              </a:rPr>
              <a:t>.</a:t>
            </a:r>
          </a:p>
          <a:p>
            <a:pPr marL="800100" lvl="1" indent="-342900" eaLnBrk="0" hangingPunct="0">
              <a:spcBef>
                <a:spcPts val="600"/>
              </a:spcBef>
              <a:buClr>
                <a:schemeClr val="bg2"/>
              </a:buClr>
              <a:buSzPct val="75000"/>
              <a:defRPr/>
            </a:pPr>
            <a:r>
              <a:rPr lang="en-US" sz="2000" b="1" kern="0" dirty="0" smtClean="0">
                <a:latin typeface="Courier New" pitchFamily="49" charset="0"/>
                <a:cs typeface="Courier New" pitchFamily="49" charset="0"/>
              </a:rPr>
              <a:t>	</a:t>
            </a:r>
            <a:endParaRPr lang="en-US" sz="2000" kern="0" dirty="0">
              <a:latin typeface="+mn-lt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 bwMode="auto">
          <a:xfrm>
            <a:off x="5097780" y="1474470"/>
            <a:ext cx="0" cy="4789170"/>
          </a:xfrm>
          <a:prstGeom prst="line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4. Indentation Style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30351"/>
            <a:ext cx="2411730" cy="527050"/>
          </a:xfrm>
        </p:spPr>
        <p:txBody>
          <a:bodyPr/>
          <a:lstStyle/>
          <a:p>
            <a:r>
              <a:rPr lang="en-US" sz="2400" dirty="0" smtClean="0"/>
              <a:t>Acceptable</a:t>
            </a:r>
          </a:p>
        </p:txBody>
      </p:sp>
      <p:sp>
        <p:nvSpPr>
          <p:cNvPr id="24587" name="Footer Placeholder 1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458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3689A59-9979-45FB-8233-6EA1F3C52EBE}" type="slidenum">
              <a:rPr lang="en-US" sz="1000"/>
              <a:pPr algn="r"/>
              <a:t>19</a:t>
            </a:fld>
            <a:endParaRPr lang="en-US" sz="1000"/>
          </a:p>
        </p:txBody>
      </p:sp>
      <p:sp>
        <p:nvSpPr>
          <p:cNvPr id="16" name="TextBox 15"/>
          <p:cNvSpPr txBox="1"/>
          <p:nvPr/>
        </p:nvSpPr>
        <p:spPr>
          <a:xfrm>
            <a:off x="755037" y="2149793"/>
            <a:ext cx="1828143" cy="175432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cond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 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387" y="2130743"/>
            <a:ext cx="1938633" cy="230832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cond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else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557" y="4073843"/>
            <a:ext cx="1858623" cy="1477328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cond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 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 </a:t>
            </a: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5227320" y="1530351"/>
            <a:ext cx="3025140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US" sz="2400" kern="0" dirty="0" smtClean="0">
                <a:latin typeface="+mn-lt"/>
                <a:cs typeface="+mn-cs"/>
              </a:rPr>
              <a:t>Not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acceptable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0710" y="2107883"/>
            <a:ext cx="2125980" cy="230832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cond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statements;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else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statements; 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0710" y="4569143"/>
            <a:ext cx="2084070" cy="1200329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cond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 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 }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else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{</a:t>
            </a:r>
          </a:p>
          <a:p>
            <a:pPr>
              <a:tabLst>
                <a:tab pos="263525" algn="l"/>
                <a:tab pos="536575" algn="l"/>
              </a:tabLst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statements;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9430" y="3234690"/>
            <a:ext cx="181737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Arial" pitchFamily="34" charset="0"/>
                <a:cs typeface="Arial" pitchFamily="34" charset="0"/>
              </a:rPr>
              <a:t>No indentation!</a:t>
            </a:r>
            <a:endParaRPr lang="en-SG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7258050" y="4869180"/>
            <a:ext cx="160020" cy="331470"/>
          </a:xfrm>
          <a:prstGeom prst="ellipse">
            <a:avLst/>
          </a:prstGeom>
          <a:noFill/>
          <a:ln w="190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9" name="Oval 28"/>
          <p:cNvSpPr/>
          <p:nvPr/>
        </p:nvSpPr>
        <p:spPr bwMode="auto">
          <a:xfrm>
            <a:off x="7250430" y="5433060"/>
            <a:ext cx="160020" cy="331470"/>
          </a:xfrm>
          <a:prstGeom prst="ellipse">
            <a:avLst/>
          </a:prstGeom>
          <a:noFill/>
          <a:ln w="19050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46170" y="5558790"/>
            <a:ext cx="2209800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Arial" pitchFamily="34" charset="0"/>
                <a:cs typeface="Arial" pitchFamily="34" charset="0"/>
              </a:rPr>
              <a:t>Closing braces not aligned with if/else keyword.</a:t>
            </a:r>
            <a:endParaRPr lang="en-SG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5. Quiz (1/2)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30350"/>
            <a:ext cx="8229600" cy="881380"/>
          </a:xfrm>
        </p:spPr>
        <p:txBody>
          <a:bodyPr/>
          <a:lstStyle/>
          <a:p>
            <a:r>
              <a:rPr lang="en-US" sz="2400" dirty="0" smtClean="0"/>
              <a:t>Match  each condition in (A) to its equivalent condition in (B). Assume that </a:t>
            </a:r>
            <a:r>
              <a:rPr lang="en-US" sz="2400" dirty="0" smtClean="0">
                <a:solidFill>
                  <a:srgbClr val="800000"/>
                </a:solidFill>
                <a:latin typeface="Lucida Console" pitchFamily="49" charset="0"/>
              </a:rPr>
              <a:t>a</a:t>
            </a:r>
            <a:r>
              <a:rPr lang="en-US" sz="2400" dirty="0" smtClean="0"/>
              <a:t> is an </a:t>
            </a:r>
            <a:r>
              <a:rPr lang="en-US" sz="2400" dirty="0" err="1" smtClean="0"/>
              <a:t>int</a:t>
            </a:r>
            <a:r>
              <a:rPr lang="en-US" sz="2400" dirty="0" smtClean="0"/>
              <a:t> variable.</a:t>
            </a:r>
          </a:p>
        </p:txBody>
      </p:sp>
      <p:sp>
        <p:nvSpPr>
          <p:cNvPr id="24587" name="Footer Placeholder 1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458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3689A59-9979-45FB-8233-6EA1F3C52EBE}" type="slidenum">
              <a:rPr lang="en-US" sz="1000"/>
              <a:pPr algn="r"/>
              <a:t>20</a:t>
            </a:fld>
            <a:endParaRPr lang="en-US" sz="100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84885" y="2377440"/>
            <a:ext cx="7341870" cy="2961680"/>
            <a:chOff x="984885" y="2514600"/>
            <a:chExt cx="7341870" cy="2961680"/>
          </a:xfrm>
        </p:grpSpPr>
        <p:sp>
          <p:nvSpPr>
            <p:cNvPr id="7" name="TextBox 6"/>
            <p:cNvSpPr txBox="1"/>
            <p:nvPr/>
          </p:nvSpPr>
          <p:spPr>
            <a:xfrm>
              <a:off x="1607820" y="2514600"/>
              <a:ext cx="1074420" cy="46166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A</a:t>
              </a:r>
              <a:endParaRPr lang="en-SG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9400" y="2541270"/>
              <a:ext cx="1074420" cy="46166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B</a:t>
              </a:r>
              <a:endParaRPr lang="en-SG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84885" y="3307080"/>
              <a:ext cx="2320290" cy="92333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Lucida Console" pitchFamily="49" charset="0"/>
                </a:rPr>
                <a:t>if (a == 0) {</a:t>
              </a:r>
            </a:p>
            <a:p>
              <a:pPr>
                <a:tabLst>
                  <a:tab pos="263525" algn="l"/>
                </a:tabLst>
              </a:pPr>
              <a:r>
                <a:rPr lang="en-US" dirty="0" smtClean="0">
                  <a:latin typeface="Lucida Console" pitchFamily="49" charset="0"/>
                </a:rPr>
                <a:t>	…</a:t>
              </a:r>
            </a:p>
            <a:p>
              <a:r>
                <a:rPr lang="en-US" dirty="0" smtClean="0">
                  <a:latin typeface="Lucida Console" pitchFamily="49" charset="0"/>
                </a:rPr>
                <a:t>}</a:t>
              </a:r>
              <a:endParaRPr lang="en-SG" dirty="0">
                <a:latin typeface="Lucida Console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4885" y="4552950"/>
              <a:ext cx="2320290" cy="923330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Lucida Console" pitchFamily="49" charset="0"/>
                </a:rPr>
                <a:t>if (a != 0) {</a:t>
              </a:r>
            </a:p>
            <a:p>
              <a:pPr>
                <a:tabLst>
                  <a:tab pos="263525" algn="l"/>
                </a:tabLst>
              </a:pPr>
              <a:r>
                <a:rPr lang="en-US" dirty="0" smtClean="0">
                  <a:latin typeface="Lucida Console" pitchFamily="49" charset="0"/>
                </a:rPr>
                <a:t>	…</a:t>
              </a:r>
            </a:p>
            <a:p>
              <a:r>
                <a:rPr lang="en-US" dirty="0" smtClean="0">
                  <a:latin typeface="Lucida Console" pitchFamily="49" charset="0"/>
                </a:rPr>
                <a:t>}</a:t>
              </a:r>
              <a:endParaRPr lang="en-SG" dirty="0">
                <a:latin typeface="Lucida Console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06465" y="3307080"/>
              <a:ext cx="2320290" cy="923330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Lucida Console" pitchFamily="49" charset="0"/>
                </a:rPr>
                <a:t>if (a) {</a:t>
              </a:r>
            </a:p>
            <a:p>
              <a:pPr>
                <a:tabLst>
                  <a:tab pos="263525" algn="l"/>
                </a:tabLst>
              </a:pPr>
              <a:r>
                <a:rPr lang="en-US" dirty="0" smtClean="0">
                  <a:latin typeface="Lucida Console" pitchFamily="49" charset="0"/>
                </a:rPr>
                <a:t>	…</a:t>
              </a:r>
            </a:p>
            <a:p>
              <a:r>
                <a:rPr lang="en-US" dirty="0" smtClean="0">
                  <a:latin typeface="Lucida Console" pitchFamily="49" charset="0"/>
                </a:rPr>
                <a:t>}</a:t>
              </a:r>
              <a:endParaRPr lang="en-SG" dirty="0">
                <a:latin typeface="Lucida Console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06465" y="4552950"/>
              <a:ext cx="2320290" cy="923330"/>
            </a:xfrm>
            <a:prstGeom prst="rect">
              <a:avLst/>
            </a:prstGeom>
            <a:solidFill>
              <a:srgbClr val="CCFFFF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Lucida Console" pitchFamily="49" charset="0"/>
                </a:rPr>
                <a:t>if (!a) {</a:t>
              </a:r>
            </a:p>
            <a:p>
              <a:pPr>
                <a:tabLst>
                  <a:tab pos="263525" algn="l"/>
                </a:tabLst>
              </a:pPr>
              <a:r>
                <a:rPr lang="en-US" dirty="0" smtClean="0">
                  <a:latin typeface="Lucida Console" pitchFamily="49" charset="0"/>
                </a:rPr>
                <a:t>	…</a:t>
              </a:r>
            </a:p>
            <a:p>
              <a:r>
                <a:rPr lang="en-US" dirty="0" smtClean="0">
                  <a:latin typeface="Lucida Console" pitchFamily="49" charset="0"/>
                </a:rPr>
                <a:t>}</a:t>
              </a:r>
              <a:endParaRPr lang="en-SG" dirty="0">
                <a:latin typeface="Lucida Console" pitchFamily="49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509010" y="3688735"/>
              <a:ext cx="171450" cy="160020"/>
            </a:xfrm>
            <a:prstGeom prst="rect">
              <a:avLst/>
            </a:prstGeom>
            <a:solidFill>
              <a:schemeClr val="tx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509010" y="4934605"/>
              <a:ext cx="171450" cy="160020"/>
            </a:xfrm>
            <a:prstGeom prst="rect">
              <a:avLst/>
            </a:prstGeom>
            <a:solidFill>
              <a:schemeClr val="tx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5513070" y="3688735"/>
              <a:ext cx="171450" cy="160020"/>
            </a:xfrm>
            <a:prstGeom prst="rect">
              <a:avLst/>
            </a:prstGeom>
            <a:solidFill>
              <a:schemeClr val="tx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5513070" y="4934605"/>
              <a:ext cx="171450" cy="160020"/>
            </a:xfrm>
            <a:prstGeom prst="rect">
              <a:avLst/>
            </a:prstGeom>
            <a:solidFill>
              <a:schemeClr val="tx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15290" y="5477510"/>
            <a:ext cx="8229600" cy="881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Codes in (B) are very frequently encountered in C programming.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They are not considered convoluted.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0965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5. Quiz (2/2)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6050"/>
            <a:ext cx="8229600" cy="675640"/>
          </a:xfrm>
        </p:spPr>
        <p:txBody>
          <a:bodyPr/>
          <a:lstStyle/>
          <a:p>
            <a:r>
              <a:rPr lang="en-US" sz="2400" dirty="0" smtClean="0"/>
              <a:t>What is the output of the following code?</a:t>
            </a:r>
          </a:p>
        </p:txBody>
      </p:sp>
      <p:sp>
        <p:nvSpPr>
          <p:cNvPr id="24587" name="Footer Placeholder 1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458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43689A59-9979-45FB-8233-6EA1F3C52EBE}" type="slidenum">
              <a:rPr lang="en-US" sz="1000"/>
              <a:pPr algn="r"/>
              <a:t>21</a:t>
            </a:fld>
            <a:endParaRPr lang="en-US" sz="100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710" y="1988820"/>
            <a:ext cx="3840480" cy="132343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446088" algn="l"/>
                <a:tab pos="811213" algn="l"/>
                <a:tab pos="116522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if (x &lt;= y)</a:t>
            </a:r>
          </a:p>
          <a:p>
            <a:pPr>
              <a:tabLst>
                <a:tab pos="446088" algn="l"/>
                <a:tab pos="811213" algn="l"/>
                <a:tab pos="116522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Lucida Console" pitchFamily="49" charset="0"/>
              </a:rPr>
              <a:t>printf</a:t>
            </a: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("Line 1\n");</a:t>
            </a:r>
          </a:p>
          <a:p>
            <a:pPr>
              <a:tabLst>
                <a:tab pos="446088" algn="l"/>
                <a:tab pos="811213" algn="l"/>
                <a:tab pos="116522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Lucida Console" pitchFamily="49" charset="0"/>
              </a:rPr>
              <a:t>printf</a:t>
            </a: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("Line 2\n");</a:t>
            </a:r>
          </a:p>
          <a:p>
            <a:pPr>
              <a:tabLst>
                <a:tab pos="446088" algn="l"/>
                <a:tab pos="811213" algn="l"/>
                <a:tab pos="1165225" algn="l"/>
              </a:tabLst>
            </a:pP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sz="2000" dirty="0" err="1" smtClean="0">
                <a:solidFill>
                  <a:schemeClr val="tx1"/>
                </a:solidFill>
                <a:latin typeface="Lucida Console" pitchFamily="49" charset="0"/>
              </a:rPr>
              <a:t>printf</a:t>
            </a:r>
            <a:r>
              <a:rPr lang="en-US" sz="2000" dirty="0" smtClean="0">
                <a:solidFill>
                  <a:schemeClr val="tx1"/>
                </a:solidFill>
                <a:latin typeface="Lucida Console" pitchFamily="49" charset="0"/>
              </a:rPr>
              <a:t>("Line 3\n");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3759200"/>
            <a:ext cx="8229600" cy="191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Assuming that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a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b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variables, is the following condition correct? Why?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Lucida Console" pitchFamily="49" charset="0"/>
                <a:ea typeface="+mn-ea"/>
                <a:cs typeface="+mn-cs"/>
              </a:rPr>
              <a:t>if (a &gt; b &gt; c)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it is wrong, how can you correct it?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452438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</a:rPr>
              <a:t>6. Demo #1: Hi-Lo Game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14325" y="1524000"/>
            <a:ext cx="8229600" cy="47625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 smtClean="0"/>
              <a:t>User to guess a secret jackpot number (between 1 and 10).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Program responses according to whether user’s guess is smaller than, larger than, or equal to the jackpot.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Analysis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Inputs: jackpot number, your guess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Outputs: appropriate messages (“too high”, “too low”, etc.)</a:t>
            </a:r>
          </a:p>
        </p:txBody>
      </p:sp>
      <p:sp>
        <p:nvSpPr>
          <p:cNvPr id="25605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560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9DD26505-5BE9-4BDE-9D0A-787C1F48FB18}" type="slidenum">
              <a:rPr lang="en-US" sz="1000"/>
              <a:pPr algn="r"/>
              <a:t>22</a:t>
            </a:fld>
            <a:endParaRPr lang="en-US" sz="100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718" y="39243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  <a:cs typeface="Courier New" pitchFamily="49" charset="0"/>
              </a:rPr>
              <a:t>6. Demo #1: Hi-Lo Game (version 1)</a:t>
            </a:r>
            <a:endParaRPr lang="en-GB" sz="4000" dirty="0" smtClean="0">
              <a:solidFill>
                <a:srgbClr val="9933FF"/>
              </a:solidFill>
              <a:latin typeface="Garamond" pitchFamily="18" charset="0"/>
              <a:ea typeface="MS PGothic" pitchFamily="34" charset="-128"/>
              <a:cs typeface="Courier New" pitchFamily="49" charset="0"/>
            </a:endParaRPr>
          </a:p>
        </p:txBody>
      </p:sp>
      <p:sp>
        <p:nvSpPr>
          <p:cNvPr id="27653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7651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ECD4B378-68B2-4BCA-8230-D1B8DA4B4B8E}" type="slidenum">
              <a:rPr lang="en-US" sz="1000"/>
              <a:pPr algn="r"/>
              <a:t>23</a:t>
            </a:fld>
            <a:endParaRPr lang="en-US" sz="1000"/>
          </a:p>
        </p:txBody>
      </p:sp>
      <p:grpSp>
        <p:nvGrpSpPr>
          <p:cNvPr id="9" name="Group 8"/>
          <p:cNvGrpSpPr/>
          <p:nvPr/>
        </p:nvGrpSpPr>
        <p:grpSpPr>
          <a:xfrm>
            <a:off x="860260" y="1345053"/>
            <a:ext cx="7725015" cy="4572214"/>
            <a:chOff x="848830" y="1260850"/>
            <a:chExt cx="7725015" cy="4354712"/>
          </a:xfrm>
        </p:grpSpPr>
        <p:sp>
          <p:nvSpPr>
            <p:cNvPr id="8" name="TextBox 7"/>
            <p:cNvSpPr txBox="1"/>
            <p:nvPr/>
          </p:nvSpPr>
          <p:spPr>
            <a:xfrm>
              <a:off x="848830" y="1423724"/>
              <a:ext cx="7606680" cy="4191838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fr-FR" sz="1400" b="1" dirty="0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fr-FR" sz="1400" b="1" dirty="0" err="1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Hi-Lo</a:t>
              </a:r>
              <a:r>
                <a:rPr lang="fr-FR" sz="1400" b="1" dirty="0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 Game version 1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fr-FR" sz="1400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fr-FR" sz="1400" b="1" dirty="0" err="1" smtClean="0">
                  <a:latin typeface="Courier New" pitchFamily="49" charset="0"/>
                  <a:cs typeface="Courier New" pitchFamily="49" charset="0"/>
                </a:rPr>
                <a:t>guess</a:t>
              </a: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jackpot =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8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"Guess the jackpot number between 1 and 10!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"Please type your guess: 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scanf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, &amp;guess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(guess &lt; jackpot)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"Sorry, your guess is too low.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(guess &gt; jackpot)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"Sorry, your guess is too high.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(guess == jackpot)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"You hit the JACKPOT!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SG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79285" y="1260850"/>
              <a:ext cx="2194560" cy="351763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Week4_HiLo_v1.c</a:t>
              </a:r>
              <a:endParaRPr lang="en-SG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674620" y="5200650"/>
            <a:ext cx="6000750" cy="1277273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54013" indent="-354013"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/>
              <a:t>Jackpot is fixed to 8! No fun. We need random number (you’ll learn that in discussion session.)</a:t>
            </a:r>
          </a:p>
          <a:p>
            <a:pPr marL="354013" indent="-354013"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/>
              <a:t>Can we change the 3 ‘if’ statements into a single nested ‘if-else’ statement?</a:t>
            </a:r>
            <a:endParaRPr lang="en-S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392113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  <a:cs typeface="Courier New" pitchFamily="49" charset="0"/>
              </a:rPr>
              <a:t>6. Demo #1: Hi-Lo Game (version 2)</a:t>
            </a:r>
            <a:endParaRPr lang="en-GB" sz="4000" b="1" dirty="0" smtClean="0">
              <a:ea typeface="MS PGothic" pitchFamily="34" charset="-128"/>
              <a:cs typeface="Courier New" pitchFamily="49" charset="0"/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867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49D5A10-7222-4D5E-AC45-208E4465397C}" type="slidenum">
              <a:rPr lang="en-US" sz="1000"/>
              <a:pPr algn="r"/>
              <a:t>24</a:t>
            </a:fld>
            <a:endParaRPr lang="en-US" sz="1000"/>
          </a:p>
        </p:txBody>
      </p:sp>
      <p:grpSp>
        <p:nvGrpSpPr>
          <p:cNvPr id="6" name="Group 5"/>
          <p:cNvGrpSpPr/>
          <p:nvPr/>
        </p:nvGrpSpPr>
        <p:grpSpPr>
          <a:xfrm>
            <a:off x="837400" y="1338016"/>
            <a:ext cx="7725015" cy="4759506"/>
            <a:chOff x="848830" y="1280866"/>
            <a:chExt cx="7725015" cy="4759506"/>
          </a:xfrm>
        </p:grpSpPr>
        <p:sp>
          <p:nvSpPr>
            <p:cNvPr id="7" name="TextBox 6"/>
            <p:cNvSpPr txBox="1"/>
            <p:nvPr/>
          </p:nvSpPr>
          <p:spPr>
            <a:xfrm>
              <a:off x="848830" y="1423724"/>
              <a:ext cx="7606680" cy="4616648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fr-FR" sz="1400" b="1" dirty="0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</a:t>
              </a:r>
              <a:r>
                <a:rPr lang="fr-FR" sz="1400" b="1" dirty="0" err="1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Hi-Lo</a:t>
              </a:r>
              <a:r>
                <a:rPr lang="fr-FR" sz="1400" b="1" dirty="0" smtClean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 Game version 2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fr-FR" sz="1400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fr-FR" sz="1400" b="1" dirty="0" err="1" smtClean="0">
                  <a:latin typeface="Courier New" pitchFamily="49" charset="0"/>
                  <a:cs typeface="Courier New" pitchFamily="49" charset="0"/>
                </a:rPr>
                <a:t>guess</a:t>
              </a:r>
              <a:r>
                <a:rPr lang="fr-FR" sz="1400" b="1" dirty="0" smtClean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jackpot =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8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"Guess the jackpot number between 1 and 10!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"Please type your guess: 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scanf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, &amp;guess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(guess &lt; jackpot)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"Sorry, your guess is too low.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else if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(guess &gt; jackpot)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"Sorry, your guess is too high.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else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"You hit the JACKPOT!</a:t>
              </a:r>
              <a:r>
                <a:rPr lang="en-US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47663" algn="l"/>
                  <a:tab pos="682625" algn="l"/>
                  <a:tab pos="1087438" algn="l"/>
                  <a:tab pos="1377950" algn="l"/>
                  <a:tab pos="1712913" algn="l"/>
                </a:tabLst>
              </a:pPr>
              <a:r>
                <a:rPr lang="en-US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SG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9285" y="1280866"/>
              <a:ext cx="2194560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Week4_HiLo_v2.c</a:t>
              </a:r>
              <a:endParaRPr lang="en-SG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674620" y="5623560"/>
            <a:ext cx="6000750" cy="646331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54013" indent="-354013"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 smtClean="0"/>
              <a:t>Is this single nested ‘if-else’ statement better than 3 ‘if’ statements? Why?</a:t>
            </a:r>
            <a:endParaRPr lang="en-S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392113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  <a:cs typeface="Courier New" pitchFamily="49" charset="0"/>
              </a:rPr>
              <a:t>7. Indentation Style Again (1/2)</a:t>
            </a:r>
            <a:endParaRPr lang="en-GB" sz="4000" b="1" dirty="0" smtClean="0">
              <a:ea typeface="MS PGothic" pitchFamily="34" charset="-128"/>
              <a:cs typeface="Courier New" pitchFamily="49" charset="0"/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867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49D5A10-7222-4D5E-AC45-208E4465397C}" type="slidenum">
              <a:rPr lang="en-US" sz="1000"/>
              <a:pPr algn="r"/>
              <a:t>25</a:t>
            </a:fld>
            <a:endParaRPr lang="en-US" sz="100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4325" y="1245870"/>
            <a:ext cx="82296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Week4_HiLo_v2.c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shows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simple case of a frequently encountered selection structure: </a:t>
            </a:r>
            <a:r>
              <a:rPr kumimoji="0" lang="en-US" sz="2400" b="0" i="1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if-else-if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392113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  <a:cs typeface="Courier New" pitchFamily="49" charset="0"/>
              </a:rPr>
              <a:t>7. Indentation Style Again (1/2)</a:t>
            </a:r>
            <a:endParaRPr lang="en-GB" sz="4000" b="1" dirty="0" smtClean="0">
              <a:ea typeface="MS PGothic" pitchFamily="34" charset="-128"/>
              <a:cs typeface="Courier New" pitchFamily="49" charset="0"/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867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49D5A10-7222-4D5E-AC45-208E4465397C}" type="slidenum">
              <a:rPr lang="en-US" sz="1000"/>
              <a:pPr algn="r"/>
              <a:t>26</a:t>
            </a:fld>
            <a:endParaRPr lang="en-US" sz="1000"/>
          </a:p>
        </p:txBody>
      </p:sp>
      <p:sp>
        <p:nvSpPr>
          <p:cNvPr id="11" name="TextBox 10"/>
          <p:cNvSpPr txBox="1"/>
          <p:nvPr/>
        </p:nvSpPr>
        <p:spPr>
          <a:xfrm>
            <a:off x="460210" y="2731770"/>
            <a:ext cx="4260380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marks is an </a:t>
            </a:r>
            <a:r>
              <a:rPr lang="en-US" sz="16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variable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(marks &gt;= 90)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A\n");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75)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B\n");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60)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C\n");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50)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D\n");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else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F\n");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4474845" y="3067050"/>
            <a:ext cx="413429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This follows the indentation guideline, but for such cases the code tends to be long and skew to the right.</a:t>
            </a:r>
          </a:p>
        </p:txBody>
      </p:sp>
    </p:spTree>
    <p:extLst>
      <p:ext uri="{BB962C8B-B14F-4D97-AF65-F5344CB8AC3E}">
        <p14:creationId xmlns:p14="http://schemas.microsoft.com/office/powerpoint/2010/main" val="19673629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392113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ja-JP" sz="4000" dirty="0" smtClean="0">
                <a:solidFill>
                  <a:srgbClr val="9933FF"/>
                </a:solidFill>
                <a:latin typeface="Garamond" pitchFamily="18" charset="0"/>
                <a:ea typeface="MS PGothic" pitchFamily="34" charset="-128"/>
                <a:cs typeface="Courier New" pitchFamily="49" charset="0"/>
              </a:rPr>
              <a:t>7. Indentation Style Again (2/2)</a:t>
            </a:r>
            <a:endParaRPr lang="en-GB" sz="4000" b="1" dirty="0" smtClean="0">
              <a:ea typeface="MS PGothic" pitchFamily="34" charset="-128"/>
              <a:cs typeface="Courier New" pitchFamily="49" charset="0"/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867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A49D5A10-7222-4D5E-AC45-208E4465397C}" type="slidenum">
              <a:rPr lang="en-US" sz="1000"/>
              <a:pPr algn="r"/>
              <a:t>27</a:t>
            </a:fld>
            <a:endParaRPr lang="en-US" sz="100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4325" y="1245870"/>
            <a:ext cx="8229600" cy="902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Alternative (and preferred) indentation style for the </a:t>
            </a:r>
            <a:r>
              <a:rPr kumimoji="0" lang="en-US" sz="2400" b="0" i="1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if-else-if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structure is shown on the right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0210" y="2731770"/>
            <a:ext cx="4260380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marks is an </a:t>
            </a:r>
            <a:r>
              <a:rPr lang="en-US" sz="16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variable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(marks &gt;= 90)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A\n");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75)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B\n");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60)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C\n");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else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50)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D\n");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else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F\n");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6480" y="2731770"/>
            <a:ext cx="3837470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marks is an </a:t>
            </a:r>
            <a:r>
              <a:rPr lang="en-US" sz="16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variable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(marks &gt;= 90)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A\n");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75)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B\n");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60)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C\n");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(marks &gt;= 50)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D\n");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("Grade F\n");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2" y="415925"/>
            <a:ext cx="8222298" cy="871538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Exercise #1: Leap Year (1/2)</a:t>
            </a:r>
            <a:endParaRPr lang="en-GB" sz="24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9701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600075" y="1482725"/>
            <a:ext cx="7908925" cy="480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Problem: </a:t>
            </a:r>
            <a:r>
              <a:rPr lang="en-US" sz="2400" dirty="0"/>
              <a:t>Write a </a:t>
            </a:r>
            <a:r>
              <a:rPr lang="en-US" sz="2400" dirty="0" smtClean="0"/>
              <a:t>modular program </a:t>
            </a:r>
            <a:r>
              <a:rPr lang="en-US" sz="2400" dirty="0">
                <a:solidFill>
                  <a:srgbClr val="0000FF"/>
                </a:solidFill>
              </a:rPr>
              <a:t>Week4_LeapYear.c</a:t>
            </a:r>
            <a:r>
              <a:rPr lang="en-US" sz="2400" dirty="0"/>
              <a:t> to determine whether </a:t>
            </a:r>
            <a:r>
              <a:rPr lang="en-US" sz="2400" dirty="0" smtClean="0"/>
              <a:t>a year is </a:t>
            </a:r>
            <a:r>
              <a:rPr lang="en-US" sz="2400" dirty="0"/>
              <a:t>a leap year</a:t>
            </a:r>
            <a:r>
              <a:rPr lang="en-US" sz="2400" dirty="0" smtClean="0"/>
              <a:t>. 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000" dirty="0" smtClean="0"/>
              <a:t>It should have a function </a:t>
            </a:r>
            <a:r>
              <a:rPr lang="en-US" sz="2000" dirty="0" err="1" smtClean="0">
                <a:solidFill>
                  <a:srgbClr val="0000FF"/>
                </a:solidFill>
              </a:rPr>
              <a:t>int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err="1" smtClean="0">
                <a:solidFill>
                  <a:srgbClr val="0000FF"/>
                </a:solidFill>
              </a:rPr>
              <a:t>isLeapYear</a:t>
            </a:r>
            <a:r>
              <a:rPr lang="en-US" sz="2000" dirty="0" smtClean="0">
                <a:solidFill>
                  <a:srgbClr val="0000FF"/>
                </a:solidFill>
              </a:rPr>
              <a:t>(</a:t>
            </a:r>
            <a:r>
              <a:rPr lang="en-US" sz="2000" dirty="0" err="1" smtClean="0">
                <a:solidFill>
                  <a:srgbClr val="0000FF"/>
                </a:solidFill>
              </a:rPr>
              <a:t>int</a:t>
            </a:r>
            <a:r>
              <a:rPr lang="en-US" sz="2000" dirty="0" smtClean="0">
                <a:solidFill>
                  <a:srgbClr val="0000FF"/>
                </a:solidFill>
              </a:rPr>
              <a:t>) </a:t>
            </a:r>
            <a:r>
              <a:rPr lang="en-US" sz="2000" dirty="0" smtClean="0"/>
              <a:t>with the year as the parameter and returns 1 (true) if it is a leap year, or 0 (false) otherwise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Analysis: </a:t>
            </a:r>
          </a:p>
          <a:p>
            <a:pPr marL="800100" lvl="1" indent="-34290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/>
              <a:t>Input: a </a:t>
            </a:r>
            <a:r>
              <a:rPr lang="en-US" sz="2000" dirty="0" smtClean="0"/>
              <a:t>4-digit positive integer</a:t>
            </a:r>
            <a:endParaRPr lang="en-US" sz="2000" dirty="0"/>
          </a:p>
          <a:p>
            <a:pPr marL="800100" lvl="1" indent="-34290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/>
              <a:t>Output: “</a:t>
            </a:r>
            <a:r>
              <a:rPr lang="en-US" sz="2000" dirty="0" err="1"/>
              <a:t>xxxx</a:t>
            </a:r>
            <a:r>
              <a:rPr lang="en-US" sz="2000" dirty="0"/>
              <a:t> is a leap year” or “</a:t>
            </a:r>
            <a:r>
              <a:rPr lang="en-US" sz="2000" dirty="0" err="1"/>
              <a:t>xxxx</a:t>
            </a:r>
            <a:r>
              <a:rPr lang="en-US" sz="2000" dirty="0"/>
              <a:t> is not a leap year</a:t>
            </a:r>
            <a:r>
              <a:rPr lang="en-US" sz="2000" dirty="0" smtClean="0"/>
              <a:t>” where </a:t>
            </a:r>
            <a:r>
              <a:rPr lang="en-US" sz="2000" dirty="0" err="1" smtClean="0"/>
              <a:t>xxxx</a:t>
            </a:r>
            <a:r>
              <a:rPr lang="en-US" sz="2000" dirty="0" smtClean="0"/>
              <a:t> is the year</a:t>
            </a: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Design:</a:t>
            </a:r>
          </a:p>
          <a:p>
            <a:pPr marL="800100" lvl="1" indent="-34290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Year </a:t>
            </a:r>
            <a:r>
              <a:rPr lang="en-US" sz="2000" dirty="0">
                <a:solidFill>
                  <a:srgbClr val="800000"/>
                </a:solidFill>
              </a:rPr>
              <a:t>is a leap year if </a:t>
            </a:r>
            <a:r>
              <a:rPr lang="en-US" sz="2000" dirty="0" smtClean="0">
                <a:solidFill>
                  <a:srgbClr val="800000"/>
                </a:solidFill>
              </a:rPr>
              <a:t>it is </a:t>
            </a:r>
            <a:r>
              <a:rPr lang="en-US" sz="2000" dirty="0">
                <a:solidFill>
                  <a:srgbClr val="800000"/>
                </a:solidFill>
              </a:rPr>
              <a:t>divisible by 4 but not by 100; or …</a:t>
            </a:r>
          </a:p>
          <a:p>
            <a:pPr marL="800100" lvl="1" indent="-342900"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It is </a:t>
            </a:r>
            <a:r>
              <a:rPr lang="en-US" sz="2000" dirty="0">
                <a:solidFill>
                  <a:srgbClr val="800000"/>
                </a:solidFill>
              </a:rPr>
              <a:t>divisible by 400</a:t>
            </a:r>
          </a:p>
        </p:txBody>
      </p:sp>
      <p:sp>
        <p:nvSpPr>
          <p:cNvPr id="2970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B6F58C22-2636-49B7-8C7D-EBC304C2CDF2}" type="slidenum">
              <a:rPr lang="en-US" sz="1000"/>
              <a:pPr algn="r"/>
              <a:t>28</a:t>
            </a:fld>
            <a:endParaRPr lang="en-US" sz="10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2" y="415925"/>
            <a:ext cx="8222298" cy="871538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Exercise #1: Leap Year (2/2)</a:t>
            </a:r>
            <a:endParaRPr lang="en-GB" sz="24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9701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600075" y="1482725"/>
            <a:ext cx="7908925" cy="465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>
                <a:solidFill>
                  <a:srgbClr val="0000FF"/>
                </a:solidFill>
              </a:rPr>
              <a:t>Are these leap years?</a:t>
            </a: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/>
              <a:t>1997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2002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/>
              <a:t>1996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2000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/>
              <a:t>1900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2100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/>
              <a:t>2400</a:t>
            </a:r>
          </a:p>
          <a:p>
            <a:pPr marL="800100" lvl="1" indent="-342900">
              <a:spcBef>
                <a:spcPts val="12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rgbClr val="800000"/>
                </a:solidFill>
              </a:rPr>
              <a:t>2300</a:t>
            </a:r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endParaRPr lang="en-US" sz="2000" dirty="0" smtClean="0">
              <a:solidFill>
                <a:srgbClr val="800000"/>
              </a:solidFill>
            </a:endParaRPr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endParaRPr lang="en-US" sz="2000" dirty="0" smtClean="0">
              <a:solidFill>
                <a:srgbClr val="800000"/>
              </a:solidFill>
            </a:endParaRPr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endParaRPr lang="en-US" sz="2000" dirty="0" smtClean="0">
              <a:solidFill>
                <a:srgbClr val="800000"/>
              </a:solidFill>
            </a:endParaRPr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75000"/>
              <a:buFont typeface="Wingdings" pitchFamily="2" charset="2"/>
              <a:buChar char="q"/>
            </a:pPr>
            <a:endParaRPr lang="en-US" sz="2000" dirty="0">
              <a:solidFill>
                <a:srgbClr val="800000"/>
              </a:solidFill>
            </a:endParaRPr>
          </a:p>
        </p:txBody>
      </p:sp>
      <p:sp>
        <p:nvSpPr>
          <p:cNvPr id="2970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B6F58C22-2636-49B7-8C7D-EBC304C2CDF2}" type="slidenum">
              <a:rPr lang="en-US" sz="1000"/>
              <a:pPr algn="r"/>
              <a:t>29</a:t>
            </a:fld>
            <a:endParaRPr lang="en-US" sz="10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3388" y="527050"/>
            <a:ext cx="8382000" cy="838200"/>
          </a:xfrm>
        </p:spPr>
        <p:txBody>
          <a:bodyPr/>
          <a:lstStyle/>
          <a:p>
            <a:r>
              <a:rPr lang="en-GB" sz="3600" dirty="0" smtClean="0">
                <a:solidFill>
                  <a:srgbClr val="9933FF"/>
                </a:solidFill>
                <a:latin typeface="Garamond" pitchFamily="18" charset="0"/>
              </a:rPr>
              <a:t>9. Demo #2: Maximum of 3 Numbers (1/2)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439738" y="1493838"/>
            <a:ext cx="7932737" cy="1135062"/>
          </a:xfrm>
        </p:spPr>
        <p:txBody>
          <a:bodyPr/>
          <a:lstStyle/>
          <a:p>
            <a:pPr>
              <a:spcBef>
                <a:spcPts val="1200"/>
              </a:spcBef>
              <a:buSzPct val="120000"/>
              <a:buFont typeface="Wingdings" pitchFamily="2" charset="2"/>
              <a:buChar char="§"/>
            </a:pPr>
            <a:r>
              <a:rPr lang="en-GB" sz="2400" dirty="0" smtClean="0"/>
              <a:t>Problem: Find the maximum among 3 integer values.</a:t>
            </a:r>
          </a:p>
          <a:p>
            <a:pPr>
              <a:spcBef>
                <a:spcPts val="1200"/>
              </a:spcBef>
              <a:buSzPct val="120000"/>
              <a:buFont typeface="Wingdings" pitchFamily="2" charset="2"/>
              <a:buChar char="§"/>
            </a:pPr>
            <a:r>
              <a:rPr lang="en-GB" sz="2400" dirty="0" smtClean="0"/>
              <a:t>Version #1</a:t>
            </a:r>
            <a:endParaRPr lang="en-GB" sz="2200" dirty="0" smtClean="0"/>
          </a:p>
        </p:txBody>
      </p:sp>
      <p:sp>
        <p:nvSpPr>
          <p:cNvPr id="31749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3174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C615695D-4036-4B1E-81EA-96A8CCC734B1}" type="slidenum">
              <a:rPr lang="en-US" sz="1000"/>
              <a:pPr algn="r"/>
              <a:t>30</a:t>
            </a:fld>
            <a:endParaRPr lang="en-US" sz="1000"/>
          </a:p>
        </p:txBody>
      </p:sp>
      <p:grpSp>
        <p:nvGrpSpPr>
          <p:cNvPr id="10" name="Group 9"/>
          <p:cNvGrpSpPr/>
          <p:nvPr/>
        </p:nvGrpSpPr>
        <p:grpSpPr>
          <a:xfrm>
            <a:off x="1371600" y="2229556"/>
            <a:ext cx="6400801" cy="3181657"/>
            <a:chOff x="1371600" y="2526736"/>
            <a:chExt cx="6400801" cy="3181657"/>
          </a:xfrm>
        </p:grpSpPr>
        <p:sp>
          <p:nvSpPr>
            <p:cNvPr id="6" name="TextBox 5"/>
            <p:cNvSpPr txBox="1"/>
            <p:nvPr/>
          </p:nvSpPr>
          <p:spPr>
            <a:xfrm>
              <a:off x="1371600" y="2846071"/>
              <a:ext cx="6275070" cy="286232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getMax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num1, 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num2, 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num3)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max = </a:t>
              </a:r>
              <a:r>
                <a:rPr lang="en-US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if 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((num1 &gt; num2) &amp;&amp; (num1 &gt; num3))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num1;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if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((num2 &gt; num1) &amp;&amp; (num2 &gt; num3))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num2;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if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((num3 &gt; num1) &amp;&amp; (num3 &gt; num2))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num3;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max;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86351" y="2526736"/>
              <a:ext cx="2686050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Week4_FindMax_v1.c</a:t>
              </a:r>
              <a:endParaRPr lang="en-SG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737610" y="4720590"/>
            <a:ext cx="5040630" cy="1400383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63525" indent="-26352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 smtClean="0">
                <a:solidFill>
                  <a:srgbClr val="0000FF"/>
                </a:solidFill>
              </a:rPr>
              <a:t>Spot the </a:t>
            </a:r>
            <a:r>
              <a:rPr lang="en-US" sz="2000" i="1" dirty="0" smtClean="0">
                <a:solidFill>
                  <a:srgbClr val="C00000"/>
                </a:solidFill>
              </a:rPr>
              <a:t>error.</a:t>
            </a:r>
          </a:p>
          <a:p>
            <a:pPr marL="263525" indent="-26352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 smtClean="0">
                <a:solidFill>
                  <a:srgbClr val="0000FF"/>
                </a:solidFill>
              </a:rPr>
              <a:t>After correcting the error, can we change the 3 independent ‘if’ statement to a nested ‘if-else’ statement?</a:t>
            </a:r>
            <a:endParaRPr lang="en-SG" sz="2000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8"/>
          <p:cNvSpPr>
            <a:spLocks noGrp="1" noChangeArrowheads="1"/>
          </p:cNvSpPr>
          <p:nvPr>
            <p:ph type="title"/>
          </p:nvPr>
        </p:nvSpPr>
        <p:spPr>
          <a:xfrm>
            <a:off x="425450" y="558800"/>
            <a:ext cx="8382000" cy="714375"/>
          </a:xfrm>
          <a:noFill/>
        </p:spPr>
        <p:txBody>
          <a:bodyPr/>
          <a:lstStyle/>
          <a:p>
            <a:r>
              <a:rPr lang="en-GB" sz="3600" dirty="0" smtClean="0">
                <a:solidFill>
                  <a:srgbClr val="9933FF"/>
                </a:solidFill>
                <a:latin typeface="Garamond" pitchFamily="18" charset="0"/>
              </a:rPr>
              <a:t>9. Demo #2: Maximum of 3 Numbers (2/2)</a:t>
            </a:r>
            <a:endParaRPr lang="en-GB" sz="3600" b="1" dirty="0" smtClean="0"/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542925" y="1504950"/>
            <a:ext cx="8001000" cy="632460"/>
          </a:xfrm>
        </p:spPr>
        <p:txBody>
          <a:bodyPr/>
          <a:lstStyle/>
          <a:p>
            <a:pPr>
              <a:spcBef>
                <a:spcPts val="600"/>
              </a:spcBef>
              <a:buSzPct val="120000"/>
              <a:buFont typeface="Wingdings" pitchFamily="2" charset="2"/>
              <a:buChar char="§"/>
            </a:pPr>
            <a:r>
              <a:rPr lang="en-GB" sz="2400" dirty="0" smtClean="0"/>
              <a:t>Another version:</a:t>
            </a:r>
          </a:p>
        </p:txBody>
      </p:sp>
      <p:sp>
        <p:nvSpPr>
          <p:cNvPr id="32773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32771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/>
              <a:t>Week4 - </a:t>
            </a:r>
            <a:fld id="{29BFF267-BF84-44DC-9449-33C080173F91}" type="slidenum">
              <a:rPr lang="en-US" sz="1000"/>
              <a:pPr algn="r"/>
              <a:t>31</a:t>
            </a:fld>
            <a:endParaRPr lang="en-US" sz="1000" dirty="0"/>
          </a:p>
        </p:txBody>
      </p:sp>
      <p:grpSp>
        <p:nvGrpSpPr>
          <p:cNvPr id="6" name="Group 5"/>
          <p:cNvGrpSpPr/>
          <p:nvPr/>
        </p:nvGrpSpPr>
        <p:grpSpPr>
          <a:xfrm>
            <a:off x="1463040" y="2092396"/>
            <a:ext cx="6469381" cy="3181657"/>
            <a:chOff x="1062990" y="2526736"/>
            <a:chExt cx="6469381" cy="3181657"/>
          </a:xfrm>
        </p:grpSpPr>
        <p:sp>
          <p:nvSpPr>
            <p:cNvPr id="7" name="TextBox 6"/>
            <p:cNvSpPr txBox="1"/>
            <p:nvPr/>
          </p:nvSpPr>
          <p:spPr>
            <a:xfrm>
              <a:off x="1062990" y="2846071"/>
              <a:ext cx="6297930" cy="286232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getMax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num1, 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num2, 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num3) {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max = </a:t>
              </a:r>
              <a:r>
                <a:rPr lang="en-US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if 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(num1 &gt; max)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num1;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else if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(num2 &gt; max)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num2;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	else if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(num3 &gt; max)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	max = num3;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 max;</a:t>
              </a:r>
            </a:p>
            <a:p>
              <a:pPr>
                <a:tabLst>
                  <a:tab pos="354013" algn="l"/>
                  <a:tab pos="720725" algn="l"/>
                  <a:tab pos="1074738" algn="l"/>
                </a:tabLst>
              </a:pPr>
              <a:r>
                <a:rPr lang="en-US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1" y="2526736"/>
              <a:ext cx="2686050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Week4_FindMax_v2.c</a:t>
              </a:r>
              <a:endParaRPr lang="en-SG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360670" y="4526280"/>
            <a:ext cx="2857500" cy="40011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63525" indent="-26352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i="1" dirty="0" smtClean="0">
                <a:solidFill>
                  <a:srgbClr val="C00000"/>
                </a:solidFill>
              </a:rPr>
              <a:t>Spot the error.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476250" y="1527175"/>
            <a:ext cx="8477250" cy="12573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2400" dirty="0" smtClean="0"/>
              <a:t>The code fragments below contain some very common errors. One is caught by the compiler but the other is not (which make it very hard to detect). </a:t>
            </a:r>
            <a:r>
              <a:rPr lang="en-US" sz="2400" dirty="0" smtClean="0">
                <a:solidFill>
                  <a:srgbClr val="C00000"/>
                </a:solidFill>
              </a:rPr>
              <a:t>Spot the errors.</a:t>
            </a:r>
            <a:endParaRPr lang="en-US" sz="2400" b="1" dirty="0" smtClean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33799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34988" y="485775"/>
            <a:ext cx="81534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10. Very </a:t>
            </a:r>
            <a:r>
              <a:rPr lang="en-GB" sz="4000" dirty="0">
                <a:solidFill>
                  <a:srgbClr val="9933FF"/>
                </a:solidFill>
                <a:latin typeface="Garamond" pitchFamily="18" charset="0"/>
              </a:rPr>
              <a:t>Common Errors</a:t>
            </a:r>
          </a:p>
        </p:txBody>
      </p:sp>
      <p:sp>
        <p:nvSpPr>
          <p:cNvPr id="3379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9601E3B6-8C6F-4DCC-9CDA-AE9568BC4786}" type="slidenum">
              <a:rPr lang="en-US" sz="1000"/>
              <a:pPr algn="r"/>
              <a:t>32</a:t>
            </a:fld>
            <a:endParaRPr lang="en-US" sz="1000"/>
          </a:p>
        </p:txBody>
      </p:sp>
      <p:sp>
        <p:nvSpPr>
          <p:cNvPr id="6" name="TextBox 5"/>
          <p:cNvSpPr txBox="1"/>
          <p:nvPr/>
        </p:nvSpPr>
        <p:spPr>
          <a:xfrm>
            <a:off x="1268413" y="2874963"/>
            <a:ext cx="6402387" cy="12001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 = 3;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(a &gt; 10);</a:t>
            </a:r>
          </a:p>
          <a:p>
            <a:pPr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("a is larger than 10\n");</a:t>
            </a:r>
          </a:p>
          <a:p>
            <a:pPr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("Next line\n”);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8413" y="4295775"/>
            <a:ext cx="6402387" cy="1754188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 = 3;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(a &gt; 10);</a:t>
            </a:r>
          </a:p>
          <a:p>
            <a:pPr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("a is larger than 10\n");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("a is not larger than 10\n");</a:t>
            </a:r>
          </a:p>
          <a:p>
            <a:pPr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("Next line\n”);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55625" y="485775"/>
            <a:ext cx="8120063" cy="91440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11. Nested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 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and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if-else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Statements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4480"/>
            <a:ext cx="8229600" cy="3433445"/>
          </a:xfrm>
        </p:spPr>
        <p:txBody>
          <a:bodyPr/>
          <a:lstStyle/>
          <a:p>
            <a:r>
              <a:rPr lang="en-US" sz="2400" dirty="0" smtClean="0">
                <a:solidFill>
                  <a:srgbClr val="0000FF"/>
                </a:solidFill>
              </a:rPr>
              <a:t>Nested </a:t>
            </a:r>
            <a:r>
              <a:rPr lang="en-US" sz="2400" i="1" dirty="0" smtClean="0">
                <a:solidFill>
                  <a:srgbClr val="0000FF"/>
                </a:solidFill>
              </a:rPr>
              <a:t>if</a:t>
            </a:r>
            <a:r>
              <a:rPr lang="en-US" sz="2400" dirty="0" smtClean="0">
                <a:solidFill>
                  <a:srgbClr val="0000FF"/>
                </a:solidFill>
              </a:rPr>
              <a:t> (</a:t>
            </a:r>
            <a:r>
              <a:rPr lang="en-US" sz="2400" i="1" dirty="0" smtClean="0">
                <a:solidFill>
                  <a:srgbClr val="0000FF"/>
                </a:solidFill>
              </a:rPr>
              <a:t>if-else</a:t>
            </a:r>
            <a:r>
              <a:rPr lang="en-US" sz="2400" dirty="0" smtClean="0">
                <a:solidFill>
                  <a:srgbClr val="0000FF"/>
                </a:solidFill>
              </a:rPr>
              <a:t>) structures </a:t>
            </a:r>
            <a:r>
              <a:rPr lang="en-US" sz="2400" dirty="0" smtClean="0"/>
              <a:t>refer to the containment of an </a:t>
            </a:r>
            <a:r>
              <a:rPr lang="en-US" sz="2400" i="1" dirty="0" smtClean="0"/>
              <a:t>if</a:t>
            </a:r>
            <a:r>
              <a:rPr lang="en-US" sz="2400" dirty="0" smtClean="0"/>
              <a:t> (</a:t>
            </a:r>
            <a:r>
              <a:rPr lang="en-US" sz="2400" i="1" dirty="0" smtClean="0"/>
              <a:t>if-else</a:t>
            </a:r>
            <a:r>
              <a:rPr lang="en-US" sz="2400" dirty="0" smtClean="0"/>
              <a:t>) structure within another </a:t>
            </a:r>
            <a:r>
              <a:rPr lang="en-US" sz="2400" i="1" dirty="0" smtClean="0"/>
              <a:t>if</a:t>
            </a:r>
            <a:r>
              <a:rPr lang="en-US" sz="2400" dirty="0" smtClean="0"/>
              <a:t> (</a:t>
            </a:r>
            <a:r>
              <a:rPr lang="en-US" sz="2400" i="1" dirty="0" smtClean="0"/>
              <a:t>if-else</a:t>
            </a:r>
            <a:r>
              <a:rPr lang="en-US" sz="2400" dirty="0" smtClean="0"/>
              <a:t>) structure.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For example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If it is a weekday, you will be in school from 8 am to 6 pm, do revision from 6 pm to 12 midnight, and sleep from 12 midnight to 8 am.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/>
              <a:t>If it is a weekend, then you will sleep from 12 midnight to 10 am and have fun from 10 am to 12 midnight.</a:t>
            </a:r>
          </a:p>
        </p:txBody>
      </p:sp>
      <p:sp>
        <p:nvSpPr>
          <p:cNvPr id="30726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3072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83FC3CC7-F851-49B2-A8EA-D127204E1987}" type="slidenum">
              <a:rPr lang="en-US" sz="1000"/>
              <a:pPr algn="r"/>
              <a:t>33</a:t>
            </a:fld>
            <a:endParaRPr lang="en-US" sz="10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if-else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pic>
        <p:nvPicPr>
          <p:cNvPr id="993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3" y="2011680"/>
            <a:ext cx="7466648" cy="282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708" y="4912043"/>
            <a:ext cx="4133531" cy="165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03520" y="4221480"/>
            <a:ext cx="3743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Sequence of if statements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1569720"/>
            <a:ext cx="3074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Nested if statements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19850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alternatives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4" y="1652588"/>
            <a:ext cx="7210425" cy="4606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487326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if else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" y="3657600"/>
            <a:ext cx="7925233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71" y="1341121"/>
            <a:ext cx="7874929" cy="223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4762641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94463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13.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switch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47675" y="1394460"/>
            <a:ext cx="8229600" cy="109791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 dirty="0" smtClean="0"/>
              <a:t>An alternative to </a:t>
            </a:r>
            <a:r>
              <a:rPr lang="en-US" sz="2000" i="1" dirty="0" smtClean="0">
                <a:solidFill>
                  <a:srgbClr val="0000FF"/>
                </a:solidFill>
              </a:rPr>
              <a:t>if-else-if</a:t>
            </a:r>
            <a:r>
              <a:rPr lang="en-US" sz="2000" i="1" dirty="0" smtClean="0"/>
              <a:t> </a:t>
            </a:r>
            <a:r>
              <a:rPr lang="en-US" sz="2000" dirty="0" smtClean="0"/>
              <a:t>(section 7) is to use the </a:t>
            </a:r>
            <a:r>
              <a:rPr lang="en-US" sz="2000" i="1" dirty="0" smtClean="0">
                <a:solidFill>
                  <a:srgbClr val="0000FF"/>
                </a:solidFill>
              </a:rPr>
              <a:t>switch</a:t>
            </a:r>
            <a:r>
              <a:rPr lang="en-US" sz="2000" dirty="0" smtClean="0"/>
              <a:t> statement.</a:t>
            </a:r>
          </a:p>
          <a:p>
            <a:pPr>
              <a:spcBef>
                <a:spcPts val="600"/>
              </a:spcBef>
            </a:pPr>
            <a:r>
              <a:rPr lang="en-US" sz="2000" dirty="0" smtClean="0"/>
              <a:t>Syntax:</a:t>
            </a:r>
          </a:p>
        </p:txBody>
      </p:sp>
      <p:sp>
        <p:nvSpPr>
          <p:cNvPr id="3687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3686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95D278C6-BECD-439F-960A-2A86453C0AF0}" type="slidenum">
              <a:rPr lang="en-US" sz="1000"/>
              <a:pPr algn="r"/>
              <a:t>38</a:t>
            </a:fld>
            <a:endParaRPr lang="en-US" sz="1000"/>
          </a:p>
        </p:txBody>
      </p:sp>
      <p:sp>
        <p:nvSpPr>
          <p:cNvPr id="6" name="TextBox 5"/>
          <p:cNvSpPr txBox="1"/>
          <p:nvPr/>
        </p:nvSpPr>
        <p:spPr>
          <a:xfrm>
            <a:off x="941070" y="2408873"/>
            <a:ext cx="7459663" cy="329320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switch (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&lt;variable&gt;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) {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value1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Code to execute if &lt;variable&gt; == 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value1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value2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Code to execute if &lt;variable&gt; == 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value2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        break;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...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default: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Code to execute if &lt;variable&gt; does not equal the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value following any of the cases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}</a:t>
            </a:r>
            <a:endParaRPr lang="en-SG" sz="1600" dirty="0">
              <a:latin typeface="Lucida Console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56025" y="5464174"/>
            <a:ext cx="4805045" cy="64633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Restriction: variable must be of discrete </a:t>
            </a:r>
            <a:r>
              <a:rPr lang="en-US" dirty="0" smtClean="0"/>
              <a:t>type</a:t>
            </a:r>
          </a:p>
          <a:p>
            <a:pPr>
              <a:defRPr/>
            </a:pPr>
            <a:r>
              <a:rPr lang="en-US" dirty="0" smtClean="0"/>
              <a:t>(</a:t>
            </a:r>
            <a:r>
              <a:rPr lang="en-US" dirty="0" err="1" smtClean="0"/>
              <a:t>eg</a:t>
            </a:r>
            <a:r>
              <a:rPr lang="en-US" dirty="0" smtClean="0"/>
              <a:t>: </a:t>
            </a:r>
            <a:r>
              <a:rPr lang="en-US" dirty="0" err="1" smtClean="0"/>
              <a:t>int</a:t>
            </a:r>
            <a:r>
              <a:rPr lang="en-US" dirty="0" smtClean="0"/>
              <a:t>, char).</a:t>
            </a:r>
            <a:endParaRPr lang="en-S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" y="472440"/>
            <a:ext cx="1539240" cy="990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pic>
        <p:nvPicPr>
          <p:cNvPr id="9830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" t="19872" r="21043" b="8103"/>
          <a:stretch/>
        </p:blipFill>
        <p:spPr bwMode="auto">
          <a:xfrm>
            <a:off x="1947047" y="347472"/>
            <a:ext cx="7196953" cy="641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672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you can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A, E, I, O, U it</a:t>
            </a:r>
            <a:r>
              <a:rPr lang="mr-IN" dirty="0" smtClean="0"/>
              <a:t>’</a:t>
            </a:r>
            <a:r>
              <a:rPr lang="en-US" dirty="0" smtClean="0"/>
              <a:t>s a vowel, otherwise consonant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624345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13. </a:t>
            </a:r>
            <a:r>
              <a:rPr lang="en-US" sz="4000" i="1" dirty="0" smtClean="0">
                <a:solidFill>
                  <a:srgbClr val="9933FF"/>
                </a:solidFill>
                <a:latin typeface="Garamond" pitchFamily="18" charset="0"/>
              </a:rPr>
              <a:t>switch</a:t>
            </a:r>
            <a:r>
              <a:rPr lang="en-US" sz="4000" dirty="0" smtClean="0">
                <a:solidFill>
                  <a:srgbClr val="9933FF"/>
                </a:solidFill>
                <a:latin typeface="Garamond" pitchFamily="18" charset="0"/>
              </a:rPr>
              <a:t> Statement</a:t>
            </a:r>
            <a:endParaRPr lang="en-SG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73063"/>
            <a:ext cx="8229600" cy="109791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 err="1"/>
              <a:t>i</a:t>
            </a:r>
            <a:r>
              <a:rPr lang="en-US" sz="2000" dirty="0" err="1" smtClean="0"/>
              <a:t>nt</a:t>
            </a:r>
            <a:r>
              <a:rPr lang="en-US" sz="2000" dirty="0" smtClean="0"/>
              <a:t> grade </a:t>
            </a:r>
            <a:r>
              <a:rPr lang="en-US" sz="2000" dirty="0" err="1" smtClean="0"/>
              <a:t>int</a:t>
            </a:r>
            <a:r>
              <a:rPr lang="en-US" sz="2000" dirty="0" smtClean="0"/>
              <a:t> value;; //</a:t>
            </a:r>
            <a:r>
              <a:rPr lang="en-US" sz="2000" dirty="0" err="1" smtClean="0"/>
              <a:t>scanf</a:t>
            </a:r>
            <a:r>
              <a:rPr lang="en-US" sz="2000" dirty="0" smtClean="0"/>
              <a:t> from user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/>
              <a:t>v</a:t>
            </a:r>
            <a:r>
              <a:rPr lang="en-US" sz="2000" dirty="0" smtClean="0"/>
              <a:t>alue=grade/10; // 6 is D, 7 is C, 8 is B and 9, 10 is A</a:t>
            </a:r>
          </a:p>
        </p:txBody>
      </p:sp>
      <p:sp>
        <p:nvSpPr>
          <p:cNvPr id="36871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3686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95D278C6-BECD-439F-960A-2A86453C0AF0}" type="slidenum">
              <a:rPr lang="en-US" sz="1000"/>
              <a:pPr algn="r"/>
              <a:t>41</a:t>
            </a:fld>
            <a:endParaRPr lang="en-US" sz="1000"/>
          </a:p>
        </p:txBody>
      </p:sp>
      <p:sp>
        <p:nvSpPr>
          <p:cNvPr id="6" name="TextBox 5"/>
          <p:cNvSpPr txBox="1"/>
          <p:nvPr/>
        </p:nvSpPr>
        <p:spPr>
          <a:xfrm>
            <a:off x="580852" y="1952685"/>
            <a:ext cx="7459663" cy="45243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switch 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value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{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6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 err="1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(“Grade is D”)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 </a:t>
            </a:r>
            <a:endParaRPr lang="en-SG" sz="1600" b="1" dirty="0" smtClean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 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7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 err="1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(“Grade is 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C”)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;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 </a:t>
            </a:r>
            <a:endParaRPr lang="en-SG" sz="1600" b="1" dirty="0" smtClean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8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 err="1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(“Grade is 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B”)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;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 </a:t>
            </a:r>
            <a:endParaRPr lang="en-SG" sz="1600" b="1" dirty="0" smtClean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 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9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  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en-SG" sz="1600" b="1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solidFill>
                  <a:srgbClr val="0000FF"/>
                </a:solidFill>
                <a:latin typeface="Lucida Console" pitchFamily="49" charset="0"/>
                <a:cs typeface="Courier New" pitchFamily="49" charset="0"/>
              </a:rPr>
              <a:t>10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: 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dirty="0" err="1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SG" sz="1600" dirty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(“Grade is 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A”)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;</a:t>
            </a:r>
            <a:endParaRPr lang="en-SG" sz="1600" dirty="0">
              <a:latin typeface="Lucida Console" pitchFamily="49" charset="0"/>
              <a:cs typeface="Courier New" pitchFamily="49" charset="0"/>
            </a:endParaRP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break;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default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: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en-SG" sz="1600" dirty="0" err="1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printf</a:t>
            </a:r>
            <a:r>
              <a:rPr lang="en-SG" sz="1600" dirty="0" smtClean="0">
                <a:solidFill>
                  <a:schemeClr val="hlink"/>
                </a:solidFill>
                <a:latin typeface="Lucida Console" pitchFamily="49" charset="0"/>
                <a:cs typeface="Courier New" pitchFamily="49" charset="0"/>
              </a:rPr>
              <a:t>(“Try a better faculty next semester!”)</a:t>
            </a:r>
            <a:r>
              <a:rPr lang="en-SG" sz="1600" dirty="0" smtClean="0">
                <a:latin typeface="Lucida Console" pitchFamily="49" charset="0"/>
                <a:cs typeface="Courier New" pitchFamily="49" charset="0"/>
              </a:rPr>
              <a:t>;       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	</a:t>
            </a:r>
            <a:r>
              <a:rPr lang="en-SG" sz="1600" b="1" dirty="0" smtClean="0">
                <a:latin typeface="Lucida Console" pitchFamily="49" charset="0"/>
                <a:cs typeface="Courier New" pitchFamily="49" charset="0"/>
              </a:rPr>
              <a:t>break</a:t>
            </a: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;</a:t>
            </a:r>
            <a:r>
              <a:rPr lang="en-SG" sz="1600" dirty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92075">
              <a:buFont typeface="Wingdings" pitchFamily="2" charset="2"/>
              <a:buNone/>
              <a:defRPr/>
            </a:pPr>
            <a:r>
              <a:rPr lang="en-SG" sz="1600" b="1" dirty="0">
                <a:latin typeface="Lucida Console" pitchFamily="49" charset="0"/>
                <a:cs typeface="Courier New" pitchFamily="49" charset="0"/>
              </a:rPr>
              <a:t>}</a:t>
            </a:r>
            <a:endParaRPr lang="en-SG" sz="16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5239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smtClean="0">
                <a:solidFill>
                  <a:srgbClr val="9933FF"/>
                </a:solidFill>
                <a:latin typeface="Garamond" pitchFamily="18" charset="0"/>
              </a:rPr>
              <a:t>Summary for Today</a:t>
            </a:r>
          </a:p>
        </p:txBody>
      </p:sp>
      <p:sp>
        <p:nvSpPr>
          <p:cNvPr id="43014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sz="1000" dirty="0"/>
              <a:t>CS1010 (</a:t>
            </a:r>
            <a:r>
              <a:rPr lang="en-US" sz="1000" dirty="0" smtClean="0"/>
              <a:t>AY2012/3 </a:t>
            </a:r>
            <a:r>
              <a:rPr lang="en-US" sz="1000" dirty="0"/>
              <a:t>Semester 1)</a:t>
            </a:r>
          </a:p>
        </p:txBody>
      </p:sp>
      <p:sp>
        <p:nvSpPr>
          <p:cNvPr id="43011" name="Rectangle 7"/>
          <p:cNvSpPr>
            <a:spLocks noChangeArrowheads="1"/>
          </p:cNvSpPr>
          <p:nvPr/>
        </p:nvSpPr>
        <p:spPr bwMode="auto">
          <a:xfrm>
            <a:off x="4038600" y="1981200"/>
            <a:ext cx="4495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400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SG" sz="2800" b="1" baseline="30000">
              <a:solidFill>
                <a:srgbClr val="800000"/>
              </a:solidFill>
            </a:endParaRPr>
          </a:p>
        </p:txBody>
      </p:sp>
      <p:sp>
        <p:nvSpPr>
          <p:cNvPr id="386056" name="Rectangle 8"/>
          <p:cNvSpPr>
            <a:spLocks noChangeArrowheads="1"/>
          </p:cNvSpPr>
          <p:nvPr/>
        </p:nvSpPr>
        <p:spPr bwMode="auto">
          <a:xfrm>
            <a:off x="762000" y="1447800"/>
            <a:ext cx="8001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Today’s most important lessons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400" i="1" dirty="0">
                <a:solidFill>
                  <a:srgbClr val="0000FF"/>
                </a:solidFill>
              </a:rPr>
              <a:t>if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</a:rPr>
              <a:t>if-else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statements 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400" i="1" dirty="0">
                <a:solidFill>
                  <a:srgbClr val="0000FF"/>
                </a:solidFill>
              </a:rPr>
              <a:t>switch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statement 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</a:pPr>
            <a:endParaRPr lang="en-US" dirty="0"/>
          </a:p>
        </p:txBody>
      </p:sp>
      <p:sp>
        <p:nvSpPr>
          <p:cNvPr id="43013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/>
              <a:t>Week4 - </a:t>
            </a:r>
            <a:fld id="{77025FFD-B37D-43B9-8B6F-B44FD89154E4}" type="slidenum">
              <a:rPr lang="en-US" sz="1000"/>
              <a:pPr algn="r"/>
              <a:t>42</a:t>
            </a:fld>
            <a:endParaRPr lang="en-US" sz="10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Problems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smtClean="0"/>
              <a:t>CS1010 (AY2012/3 Semester 1)</a:t>
            </a:r>
            <a:endParaRPr lang="en-US" dirty="0"/>
          </a:p>
        </p:txBody>
      </p:sp>
      <p:pic>
        <p:nvPicPr>
          <p:cNvPr id="1013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" y="2105025"/>
            <a:ext cx="780097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2904173"/>
            <a:ext cx="780097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668176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2824163"/>
            <a:ext cx="6751637" cy="1143000"/>
          </a:xfrm>
        </p:spPr>
        <p:txBody>
          <a:bodyPr/>
          <a:lstStyle/>
          <a:p>
            <a:pPr algn="ctr" eaLnBrk="1" hangingPunct="1"/>
            <a:r>
              <a:rPr lang="en-GB" smtClean="0">
                <a:solidFill>
                  <a:srgbClr val="9933FF"/>
                </a:solidFill>
                <a:latin typeface="Garamond" pitchFamily="18" charset="0"/>
              </a:rPr>
              <a:t>End of File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TIME" val="40.512"/>
  <p:tag name="TIMELINE" val="0.8/2.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17354</TotalTime>
  <Words>2514</Words>
  <Application>Microsoft Macintosh PowerPoint</Application>
  <PresentationFormat>On-screen Show (4:3)</PresentationFormat>
  <Paragraphs>610</Paragraphs>
  <Slides>44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Calibri</vt:lpstr>
      <vt:lpstr>Courier New</vt:lpstr>
      <vt:lpstr>Garamond</vt:lpstr>
      <vt:lpstr>Lucida Console</vt:lpstr>
      <vt:lpstr>Mangal</vt:lpstr>
      <vt:lpstr>MS PGothic</vt:lpstr>
      <vt:lpstr>ＭＳ Ｐゴシック</vt:lpstr>
      <vt:lpstr>Tahoma</vt:lpstr>
      <vt:lpstr>Times New Roman</vt:lpstr>
      <vt:lpstr>Wingdings</vt:lpstr>
      <vt:lpstr>Wingdings 2</vt:lpstr>
      <vt:lpstr>Arial</vt:lpstr>
      <vt:lpstr>Clarity</vt:lpstr>
      <vt:lpstr> Programming Methodology</vt:lpstr>
      <vt:lpstr>Week 4: Selection Statements </vt:lpstr>
      <vt:lpstr>Week 4: Outline (1/2)</vt:lpstr>
      <vt:lpstr>PowerPoint Presentation</vt:lpstr>
      <vt:lpstr>3. Selection Structures</vt:lpstr>
      <vt:lpstr>3.1 if and if-else Statements</vt:lpstr>
      <vt:lpstr>3.1 if and if-else Statements</vt:lpstr>
      <vt:lpstr>3.1 if and if-else Statements</vt:lpstr>
      <vt:lpstr>The conditions can be fancy</vt:lpstr>
      <vt:lpstr>What you can do</vt:lpstr>
      <vt:lpstr>PowerPoint Presentation</vt:lpstr>
      <vt:lpstr>3.2 Condition</vt:lpstr>
      <vt:lpstr>3.3 Truth Values (1/2)</vt:lpstr>
      <vt:lpstr>3.3 Truth Values (1/2)</vt:lpstr>
      <vt:lpstr>3.4 Logical Operators</vt:lpstr>
      <vt:lpstr>3.5 Evaluation of Boolean Expressions (1/2)</vt:lpstr>
      <vt:lpstr>3.5 Evaluation of Boolean Expressions (2/2)</vt:lpstr>
      <vt:lpstr>3.6 Short-circuit Evaluation</vt:lpstr>
      <vt:lpstr>4. Indentation Style</vt:lpstr>
      <vt:lpstr>5. Quiz (1/2)</vt:lpstr>
      <vt:lpstr>5. Quiz (2/2)</vt:lpstr>
      <vt:lpstr>6. Demo #1: Hi-Lo Game</vt:lpstr>
      <vt:lpstr>6. Demo #1: Hi-Lo Game (version 1)</vt:lpstr>
      <vt:lpstr>6. Demo #1: Hi-Lo Game (version 2)</vt:lpstr>
      <vt:lpstr>7. Indentation Style Again (1/2)</vt:lpstr>
      <vt:lpstr>7. Indentation Style Again (1/2)</vt:lpstr>
      <vt:lpstr>7. Indentation Style Again (2/2)</vt:lpstr>
      <vt:lpstr>8. Exercise #1: Leap Year (1/2)</vt:lpstr>
      <vt:lpstr>8. Exercise #1: Leap Year (2/2)</vt:lpstr>
      <vt:lpstr>9. Demo #2: Maximum of 3 Numbers (1/2)</vt:lpstr>
      <vt:lpstr>9. Demo #2: Maximum of 3 Numbers (2/2)</vt:lpstr>
      <vt:lpstr>PowerPoint Presentation</vt:lpstr>
      <vt:lpstr>11. Nested if and if-else Statements</vt:lpstr>
      <vt:lpstr>Nested if-else example</vt:lpstr>
      <vt:lpstr>Multiple alternatives</vt:lpstr>
      <vt:lpstr>Nested if else</vt:lpstr>
      <vt:lpstr>PowerPoint Presentation</vt:lpstr>
      <vt:lpstr>13. switch Statement</vt:lpstr>
      <vt:lpstr>Ex</vt:lpstr>
      <vt:lpstr>What you can do</vt:lpstr>
      <vt:lpstr>13. switch Statement</vt:lpstr>
      <vt:lpstr>Summary for Today</vt:lpstr>
      <vt:lpstr>Problems</vt:lpstr>
      <vt:lpstr>End of File</vt:lpstr>
    </vt:vector>
  </TitlesOfParts>
  <Company>SoC, NUS</Company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4</dc:subject>
  <dc:creator>Aaron Tan</dc:creator>
  <cp:lastModifiedBy>Microsoft account</cp:lastModifiedBy>
  <cp:revision>1168</cp:revision>
  <dcterms:created xsi:type="dcterms:W3CDTF">1998-09-05T15:03:32Z</dcterms:created>
  <dcterms:modified xsi:type="dcterms:W3CDTF">2020-10-18T10:55:40Z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true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