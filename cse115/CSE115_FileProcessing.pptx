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5" r:id="rId1"/>
  </p:sldMasterIdLst>
  <p:notesMasterIdLst>
    <p:notesMasterId r:id="rId24"/>
  </p:notesMasterIdLst>
  <p:sldIdLst>
    <p:sldId id="272" r:id="rId2"/>
    <p:sldId id="256" r:id="rId3"/>
    <p:sldId id="257" r:id="rId4"/>
    <p:sldId id="258" r:id="rId5"/>
    <p:sldId id="259" r:id="rId6"/>
    <p:sldId id="260" r:id="rId7"/>
    <p:sldId id="266" r:id="rId8"/>
    <p:sldId id="261" r:id="rId9"/>
    <p:sldId id="268" r:id="rId10"/>
    <p:sldId id="265" r:id="rId11"/>
    <p:sldId id="274" r:id="rId12"/>
    <p:sldId id="275" r:id="rId13"/>
    <p:sldId id="267" r:id="rId14"/>
    <p:sldId id="262" r:id="rId15"/>
    <p:sldId id="270" r:id="rId16"/>
    <p:sldId id="276" r:id="rId17"/>
    <p:sldId id="269" r:id="rId18"/>
    <p:sldId id="277" r:id="rId19"/>
    <p:sldId id="273" r:id="rId20"/>
    <p:sldId id="278" r:id="rId21"/>
    <p:sldId id="271" r:id="rId22"/>
    <p:sldId id="279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85" autoAdjust="0"/>
    <p:restoredTop sz="90929"/>
  </p:normalViewPr>
  <p:slideViewPr>
    <p:cSldViewPr>
      <p:cViewPr varScale="1">
        <p:scale>
          <a:sx n="67" d="100"/>
          <a:sy n="67" d="100"/>
        </p:scale>
        <p:origin x="-124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B76B82F-6F15-4699-B07E-90E1239EA104}" type="datetimeFigureOut">
              <a:rPr lang="en-US"/>
              <a:pPr>
                <a:defRPr/>
              </a:pPr>
              <a:t>7/25/2014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CA8A216-7D2E-4C86-96C0-5714B520B7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7277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smtClean="0"/>
              <a:t>9/25/2008</a:t>
            </a:r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pPr>
              <a:defRPr/>
            </a:pPr>
            <a:r>
              <a:rPr lang="en-US" smtClean="0"/>
              <a:t>prepared by NI, edited by MAF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pPr>
              <a:defRPr/>
            </a:pPr>
            <a:fld id="{ECE73FB5-F646-4192-8923-98107979E6B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9/25/2008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prepared by NI, edited by MAF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54C258-2E49-48B3-AF5D-1D7513E8FBB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>
              <a:defRPr/>
            </a:pPr>
            <a:r>
              <a:rPr lang="en-US" smtClean="0"/>
              <a:t>9/25/2008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pPr>
              <a:defRPr/>
            </a:pPr>
            <a:r>
              <a:rPr lang="en-US" smtClean="0"/>
              <a:t>prepared by NI, edited by MAF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pPr>
              <a:defRPr/>
            </a:pPr>
            <a:fld id="{10FADBDF-4A22-469C-83C2-843CD384FD5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9/25/2008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prepared by NI, edited by MAF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27AB8-5E9E-4977-A432-311D311D2B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9/25/2008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prepared by NI, edited by MAF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798A14-B506-42B6-80D5-7A6B5FD7634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9/25/2008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prepared by NI, edited by MAF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C1E0B2-9E4F-4963-9A32-0B8EE27D84F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9/25/2008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prepared by NI, edited by MAF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44D3DB-DF6E-4627-83D9-41A811E0B24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9/25/2008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prepared by NI, edited by MAF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41CF80-F355-4E62-8DC8-8A3E3DAE0AD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9/25/2008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prepared by NI, edited by MAF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033584-A9B0-4A22-AF57-FB1A47430DC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9/25/2008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prepared by NI, edited by MAF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F3A03E-3A18-412F-A228-0281164CD34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9/25/2008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prepared by NI, edited by MAF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886943-9BBC-4C37-B616-ADC059B0661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9/25/2008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prepared by NI, edited by MAF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18F6AEF-90A6-4A5A-9410-9D969316522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/>
              <a:t>File Processing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smtClean="0"/>
              <a:t>Objectives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NI, edited by MAF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 this chapter, you will learn about</a:t>
            </a:r>
          </a:p>
          <a:p>
            <a:pPr lvl="1" eaLnBrk="1" hangingPunct="1"/>
            <a:r>
              <a:rPr lang="en-US" smtClean="0"/>
              <a:t>Files and streams</a:t>
            </a:r>
          </a:p>
          <a:p>
            <a:pPr lvl="1" eaLnBrk="1" hangingPunct="1"/>
            <a:r>
              <a:rPr lang="en-US" smtClean="0"/>
              <a:t>Creating a sequential access file</a:t>
            </a:r>
          </a:p>
          <a:p>
            <a:pPr lvl="1" eaLnBrk="1" hangingPunct="1"/>
            <a:r>
              <a:rPr lang="en-US" smtClean="0"/>
              <a:t>Reading data from a sequential access file</a:t>
            </a:r>
          </a:p>
          <a:p>
            <a:pPr lvl="1" eaLnBrk="1" hangingPunct="1"/>
            <a:r>
              <a:rPr lang="en-US" smtClean="0"/>
              <a:t>Using fgetc() and fputc()</a:t>
            </a:r>
          </a:p>
          <a:p>
            <a:pPr lvl="1" eaLnBrk="1" hangingPunct="1"/>
            <a:r>
              <a:rPr lang="en-US" smtClean="0"/>
              <a:t>Using fgets() and fputs()</a:t>
            </a:r>
          </a:p>
          <a:p>
            <a:pPr lvl="1" eaLnBrk="1" hangingPunct="1"/>
            <a:r>
              <a:rPr lang="en-US" smtClean="0"/>
              <a:t>Using fprintf() and fscanf()</a:t>
            </a:r>
          </a:p>
          <a:p>
            <a:pPr lvl="1" eaLnBrk="1" hangingPunct="1"/>
            <a:r>
              <a:rPr lang="en-US" smtClean="0"/>
              <a:t>Using fopen() and fclose()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Files and Streams</a:t>
            </a:r>
          </a:p>
        </p:txBody>
      </p:sp>
      <p:sp>
        <p:nvSpPr>
          <p:cNvPr id="1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NI, edited by MAF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 views a file as a sequential stream of  bytes.</a:t>
            </a:r>
          </a:p>
          <a:p>
            <a:pPr eaLnBrk="1" hangingPunct="1"/>
            <a:r>
              <a:rPr lang="en-US" smtClean="0"/>
              <a:t>A file ends either with an EOF (end-of-file) marker or at a specified byte number specified by the system.</a:t>
            </a:r>
          </a:p>
          <a:p>
            <a:pPr eaLnBrk="1" hangingPunct="1"/>
            <a:r>
              <a:rPr lang="en-US" smtClean="0"/>
              <a:t>When a file is opened, a stream is associated with a file. </a:t>
            </a:r>
          </a:p>
          <a:p>
            <a:pPr eaLnBrk="1" hangingPunct="1"/>
            <a:r>
              <a:rPr lang="en-US" smtClean="0"/>
              <a:t>Streams provide communication channels between files and the programs. </a:t>
            </a:r>
          </a:p>
          <a:p>
            <a:pPr eaLnBrk="1" hangingPunct="1"/>
            <a:endParaRPr lang="en-US" smtClean="0"/>
          </a:p>
        </p:txBody>
      </p:sp>
      <p:grpSp>
        <p:nvGrpSpPr>
          <p:cNvPr id="12293" name="Group 4"/>
          <p:cNvGrpSpPr>
            <a:grpSpLocks/>
          </p:cNvGrpSpPr>
          <p:nvPr/>
        </p:nvGrpSpPr>
        <p:grpSpPr bwMode="auto">
          <a:xfrm>
            <a:off x="1600200" y="5486400"/>
            <a:ext cx="5715000" cy="466725"/>
            <a:chOff x="1440" y="864"/>
            <a:chExt cx="3600" cy="294"/>
          </a:xfrm>
        </p:grpSpPr>
        <p:sp>
          <p:nvSpPr>
            <p:cNvPr id="12294" name="Text Box 5"/>
            <p:cNvSpPr txBox="1">
              <a:spLocks noChangeArrowheads="1"/>
            </p:cNvSpPr>
            <p:nvPr/>
          </p:nvSpPr>
          <p:spPr bwMode="auto">
            <a:xfrm>
              <a:off x="1440" y="864"/>
              <a:ext cx="360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/>
                <a:t> 0    1    2    3    4    5    6    7    8   . . . . .    n</a:t>
              </a:r>
              <a:r>
                <a:rPr lang="en-US" sz="1800"/>
                <a:t>-1</a:t>
              </a:r>
            </a:p>
          </p:txBody>
        </p:sp>
        <p:sp>
          <p:nvSpPr>
            <p:cNvPr id="12295" name="Line 6"/>
            <p:cNvSpPr>
              <a:spLocks noChangeShapeType="1"/>
            </p:cNvSpPr>
            <p:nvPr/>
          </p:nvSpPr>
          <p:spPr bwMode="auto">
            <a:xfrm>
              <a:off x="1728" y="8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296" name="Line 7"/>
            <p:cNvSpPr>
              <a:spLocks noChangeShapeType="1"/>
            </p:cNvSpPr>
            <p:nvPr/>
          </p:nvSpPr>
          <p:spPr bwMode="auto">
            <a:xfrm>
              <a:off x="2016" y="8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297" name="Line 8"/>
            <p:cNvSpPr>
              <a:spLocks noChangeShapeType="1"/>
            </p:cNvSpPr>
            <p:nvPr/>
          </p:nvSpPr>
          <p:spPr bwMode="auto">
            <a:xfrm>
              <a:off x="2304" y="8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298" name="Line 9"/>
            <p:cNvSpPr>
              <a:spLocks noChangeShapeType="1"/>
            </p:cNvSpPr>
            <p:nvPr/>
          </p:nvSpPr>
          <p:spPr bwMode="auto">
            <a:xfrm>
              <a:off x="2592" y="8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299" name="Line 10"/>
            <p:cNvSpPr>
              <a:spLocks noChangeShapeType="1"/>
            </p:cNvSpPr>
            <p:nvPr/>
          </p:nvSpPr>
          <p:spPr bwMode="auto">
            <a:xfrm>
              <a:off x="2880" y="8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00" name="Line 11"/>
            <p:cNvSpPr>
              <a:spLocks noChangeShapeType="1"/>
            </p:cNvSpPr>
            <p:nvPr/>
          </p:nvSpPr>
          <p:spPr bwMode="auto">
            <a:xfrm>
              <a:off x="3168" y="8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01" name="Line 12"/>
            <p:cNvSpPr>
              <a:spLocks noChangeShapeType="1"/>
            </p:cNvSpPr>
            <p:nvPr/>
          </p:nvSpPr>
          <p:spPr bwMode="auto">
            <a:xfrm>
              <a:off x="3456" y="8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02" name="Line 13"/>
            <p:cNvSpPr>
              <a:spLocks noChangeShapeType="1"/>
            </p:cNvSpPr>
            <p:nvPr/>
          </p:nvSpPr>
          <p:spPr bwMode="auto">
            <a:xfrm>
              <a:off x="3744" y="8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03" name="Line 14"/>
            <p:cNvSpPr>
              <a:spLocks noChangeShapeType="1"/>
            </p:cNvSpPr>
            <p:nvPr/>
          </p:nvSpPr>
          <p:spPr bwMode="auto">
            <a:xfrm>
              <a:off x="4032" y="8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04" name="Line 15"/>
            <p:cNvSpPr>
              <a:spLocks noChangeShapeType="1"/>
            </p:cNvSpPr>
            <p:nvPr/>
          </p:nvSpPr>
          <p:spPr bwMode="auto">
            <a:xfrm>
              <a:off x="4656" y="8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Files and Streams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NI, edited by MAF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70000"/>
              </a:lnSpc>
            </a:pPr>
            <a:r>
              <a:rPr lang="en-US" smtClean="0"/>
              <a:t>In addition to providing access to a file, a stream can also be used to access devices.</a:t>
            </a:r>
          </a:p>
          <a:p>
            <a:pPr eaLnBrk="1" hangingPunct="1">
              <a:lnSpc>
                <a:spcPct val="70000"/>
              </a:lnSpc>
            </a:pPr>
            <a:r>
              <a:rPr lang="en-US" smtClean="0"/>
              <a:t>For example, when a program (any program) is executed, 3 streams are automatically opened: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standard input (stdin)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enable the program to read data from keyboard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standard output (stdout)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enable the program to print data on the screen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standard error (stderr)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enable program to print errors on the screen</a:t>
            </a:r>
          </a:p>
          <a:p>
            <a:pPr eaLnBrk="1" hangingPunct="1">
              <a:lnSpc>
                <a:spcPct val="70000"/>
              </a:lnSpc>
            </a:pPr>
            <a:r>
              <a:rPr lang="en-US" smtClean="0"/>
              <a:t>They are all manipulated using file pointers.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Declaring a file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NI, edited by MAF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en-US" smtClean="0"/>
              <a:t>The standard library &lt;stdio.h&gt; provides some of the file manipulation function.</a:t>
            </a:r>
          </a:p>
          <a:p>
            <a:pPr eaLnBrk="1" hangingPunct="1"/>
            <a:r>
              <a:rPr lang="en-US" smtClean="0"/>
              <a:t>Declaring file: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smtClean="0"/>
              <a:t>FILE *the_file;</a:t>
            </a:r>
          </a:p>
          <a:p>
            <a:pPr lvl="1" eaLnBrk="1" hangingPunct="1"/>
            <a:r>
              <a:rPr lang="en-US" smtClean="0"/>
              <a:t>States that </a:t>
            </a:r>
            <a:r>
              <a:rPr lang="en-US" i="1" smtClean="0"/>
              <a:t>thefile</a:t>
            </a:r>
            <a:r>
              <a:rPr lang="en-US" smtClean="0"/>
              <a:t> is a pointer to a file structure</a:t>
            </a:r>
          </a:p>
          <a:p>
            <a:pPr lvl="1" eaLnBrk="1" hangingPunct="1"/>
            <a:r>
              <a:rPr lang="en-US" smtClean="0"/>
              <a:t>If there is more than one file, each file needs to have its own FILE pointer.</a:t>
            </a:r>
          </a:p>
          <a:p>
            <a:pPr lvl="1" eaLnBrk="1" hangingPunct="1"/>
            <a:r>
              <a:rPr lang="en-US" i="1" smtClean="0"/>
              <a:t>thefile</a:t>
            </a:r>
            <a:r>
              <a:rPr lang="en-US" smtClean="0"/>
              <a:t> is an internal file name used by the program to refer to the external file name (the actual physical file stored on disk).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File operation: fopen ()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NI, edited by MAF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Before we can process a file, we must either open or create it.</a:t>
            </a:r>
          </a:p>
          <a:p>
            <a:pPr eaLnBrk="1" hangingPunct="1"/>
            <a:r>
              <a:rPr lang="en-US" dirty="0" smtClean="0"/>
              <a:t>Syntax for </a:t>
            </a:r>
            <a:r>
              <a:rPr lang="en-US" dirty="0" err="1" smtClean="0"/>
              <a:t>fopen</a:t>
            </a:r>
            <a:r>
              <a:rPr lang="en-US" dirty="0" smtClean="0"/>
              <a:t>( ):</a:t>
            </a:r>
          </a:p>
          <a:p>
            <a:pPr algn="ctr" eaLnBrk="1" hangingPunct="1">
              <a:buNone/>
            </a:pP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internal_file_name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fopen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external_file_name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OpenMode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dirty="0" smtClean="0"/>
              <a:t>The </a:t>
            </a:r>
            <a:r>
              <a:rPr lang="en-US" dirty="0" err="1" smtClean="0"/>
              <a:t>fopen</a:t>
            </a:r>
            <a:r>
              <a:rPr lang="en-US" dirty="0" smtClean="0"/>
              <a:t>() function takes 2 arguments: the file name and the file mode.</a:t>
            </a:r>
            <a:endParaRPr lang="en-US" sz="2400" i="1" dirty="0" smtClean="0"/>
          </a:p>
          <a:p>
            <a:pPr algn="ctr" eaLnBrk="1" hangingPunct="1">
              <a:buFont typeface="Wingdings" pitchFamily="2" charset="2"/>
              <a:buNone/>
            </a:pPr>
            <a:endParaRPr lang="en-US" sz="2000" b="1" dirty="0" smtClean="0"/>
          </a:p>
          <a:p>
            <a:pPr eaLnBrk="1" hangingPunct="1">
              <a:buFont typeface="Wingdings" pitchFamily="2" charset="2"/>
              <a:buNone/>
            </a:pPr>
            <a:endParaRPr lang="en-US" sz="20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File operation: fopen ()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NI, edited by MAF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20000"/>
              </a:lnSpc>
              <a:buFont typeface="Wingdings" pitchFamily="2" charset="2"/>
              <a:buNone/>
            </a:pPr>
            <a:endParaRPr lang="en-US" sz="2000" i="1" dirty="0" smtClean="0"/>
          </a:p>
          <a:p>
            <a:pPr eaLnBrk="1" hangingPunct="1">
              <a:lnSpc>
                <a:spcPct val="60000"/>
              </a:lnSpc>
            </a:pPr>
            <a:r>
              <a:rPr lang="en-US" sz="2400" dirty="0" smtClean="0"/>
              <a:t>Example:</a:t>
            </a:r>
          </a:p>
          <a:p>
            <a:pPr eaLnBrk="1" hangingPunct="1">
              <a:lnSpc>
                <a:spcPct val="60000"/>
              </a:lnSpc>
              <a:buFont typeface="Wingdings" pitchFamily="2" charset="2"/>
              <a:buNone/>
            </a:pPr>
            <a:endParaRPr lang="en-US" sz="2400" dirty="0" smtClean="0"/>
          </a:p>
          <a:p>
            <a:pPr eaLnBrk="1" hangingPunct="1">
              <a:lnSpc>
                <a:spcPct val="60000"/>
              </a:lnSpc>
              <a:buFont typeface="Wingdings" pitchFamily="2" charset="2"/>
              <a:buNone/>
            </a:pPr>
            <a:r>
              <a:rPr lang="en-US" sz="2400" dirty="0" smtClean="0"/>
              <a:t>		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thefile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fopen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my_file.txt”,”r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”);</a:t>
            </a:r>
          </a:p>
          <a:p>
            <a:pPr eaLnBrk="1" hangingPunct="1">
              <a:lnSpc>
                <a:spcPct val="60000"/>
              </a:lnSpc>
              <a:buFont typeface="Wingdings" pitchFamily="2" charset="2"/>
              <a:buNone/>
            </a:pPr>
            <a:endParaRPr lang="en-US" sz="2400" b="1" dirty="0" smtClean="0"/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This statement will try to open a file called “my_file.txt”.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my_file.txt is the external file name referring to a </a:t>
            </a:r>
            <a:r>
              <a:rPr lang="en-US" sz="2400" dirty="0" err="1" smtClean="0"/>
              <a:t>phisycal</a:t>
            </a:r>
            <a:r>
              <a:rPr lang="en-US" sz="2400" dirty="0" smtClean="0"/>
              <a:t> file on the disk.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If the file is to be placed in a different directory than the program directory, the full path need to be specified. For example: “D:/my_file.txt”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The function returns a pointer to the successfully opened file. But if the file cannot be opened, a NULL is returned.</a:t>
            </a:r>
          </a:p>
          <a:p>
            <a:pPr eaLnBrk="1" hangingPunct="1">
              <a:lnSpc>
                <a:spcPct val="60000"/>
              </a:lnSpc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File OpenMode: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NI, edited by MAF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sz="2100" dirty="0" smtClean="0"/>
              <a:t>The following is the list of open mode that can be associated with </a:t>
            </a:r>
            <a:r>
              <a:rPr lang="en-US" sz="2100" dirty="0" err="1" smtClean="0"/>
              <a:t>fopen</a:t>
            </a:r>
            <a:r>
              <a:rPr lang="en-US" sz="2100" dirty="0" smtClean="0"/>
              <a:t>( ).</a:t>
            </a:r>
          </a:p>
          <a:p>
            <a:pPr lvl="1" eaLnBrk="1" hangingPunct="1"/>
            <a:r>
              <a:rPr lang="en-US" sz="2100" dirty="0" smtClean="0"/>
              <a:t>“r” : to open existing file in input mode so data can be read from it. The file to be opened must exist </a:t>
            </a:r>
            <a:r>
              <a:rPr lang="en-US" sz="2100" dirty="0" err="1" smtClean="0"/>
              <a:t>phisically</a:t>
            </a:r>
            <a:r>
              <a:rPr lang="en-US" sz="2100" dirty="0" smtClean="0"/>
              <a:t> on disk for this open mode to be successful.</a:t>
            </a:r>
          </a:p>
          <a:p>
            <a:pPr lvl="1" eaLnBrk="1" hangingPunct="1"/>
            <a:r>
              <a:rPr lang="en-US" sz="2100" dirty="0" smtClean="0"/>
              <a:t>“w” : the file is intended to be an output file and we are planning to write data to it.</a:t>
            </a:r>
          </a:p>
          <a:p>
            <a:pPr lvl="1" eaLnBrk="1" hangingPunct="1"/>
            <a:r>
              <a:rPr lang="en-US" sz="2100" dirty="0" smtClean="0"/>
              <a:t>“a” : to append data to the end of existing file.</a:t>
            </a:r>
          </a:p>
          <a:p>
            <a:pPr lvl="1" eaLnBrk="1" hangingPunct="1"/>
            <a:r>
              <a:rPr lang="en-US" sz="2100" dirty="0" smtClean="0"/>
              <a:t>“r+” : to open existing file for update (both in input and output mode). If the file already exist, the content is not destroy.</a:t>
            </a:r>
          </a:p>
          <a:p>
            <a:pPr lvl="1" eaLnBrk="1" hangingPunct="1"/>
            <a:r>
              <a:rPr lang="en-US" sz="2100" dirty="0" smtClean="0"/>
              <a:t>“w+” : destroy the file if already exist and open a new file for update.</a:t>
            </a:r>
          </a:p>
          <a:p>
            <a:pPr lvl="1" eaLnBrk="1" hangingPunct="1"/>
            <a:r>
              <a:rPr lang="en-US" sz="2100" dirty="0" smtClean="0"/>
              <a:t>“a+” : open file for update (adding data at the end of the file.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fopen( 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NI, edited by MAF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You could also ask the users to specify the name of the file s/he want to open.</a:t>
            </a:r>
          </a:p>
          <a:p>
            <a:pPr eaLnBrk="1" hangingPunct="1"/>
            <a:r>
              <a:rPr lang="en-US" smtClean="0"/>
              <a:t>Example: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mtClean="0"/>
              <a:t>	</a:t>
            </a:r>
            <a:r>
              <a:rPr lang="en-US" sz="2200" b="1" smtClean="0">
                <a:latin typeface="Courier New" pitchFamily="49" charset="0"/>
              </a:rPr>
              <a:t>char filename[50];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200" b="1" smtClean="0">
                <a:latin typeface="Courier New" pitchFamily="49" charset="0"/>
              </a:rPr>
              <a:t>	printf("Enter file name: ");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200" b="1" smtClean="0">
                <a:latin typeface="Courier New" pitchFamily="49" charset="0"/>
              </a:rPr>
              <a:t>	gets(filename);</a:t>
            </a:r>
          </a:p>
          <a:p>
            <a:pPr lvl="1" eaLnBrk="1" hangingPunct="1">
              <a:buFont typeface="Wingdings" pitchFamily="2" charset="2"/>
              <a:buNone/>
            </a:pPr>
            <a:endParaRPr lang="en-US" sz="2200" b="1" smtClean="0">
              <a:latin typeface="Courier New" pitchFamily="49" charset="0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en-US" sz="2200" b="1" smtClean="0">
                <a:latin typeface="Courier New" pitchFamily="49" charset="0"/>
              </a:rPr>
              <a:t>	thefile = fopen(filename,"r");</a:t>
            </a:r>
          </a:p>
          <a:p>
            <a:pPr eaLnBrk="1" hangingPunct="1">
              <a:lnSpc>
                <a:spcPct val="30000"/>
              </a:lnSpc>
              <a:buFont typeface="Wingdings" pitchFamily="2" charset="2"/>
              <a:buNone/>
            </a:pPr>
            <a:endParaRPr lang="en-US" sz="2400" b="1" smtClean="0">
              <a:latin typeface="Courier New" pitchFamily="49" charset="0"/>
            </a:endParaRPr>
          </a:p>
          <a:p>
            <a:pPr eaLnBrk="1" hangingPunct="1"/>
            <a:r>
              <a:rPr lang="en-US" smtClean="0"/>
              <a:t>The users must enter the full filename, including the extension (.txt, .doc etc) and path.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File operation: fail fopen( 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NI, edited by MAF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If fopen( ) is returning a NULL value, this means that the fopen( ) has failed.</a:t>
            </a:r>
          </a:p>
          <a:p>
            <a:pPr eaLnBrk="1" hangingPunct="1"/>
            <a:r>
              <a:rPr lang="en-US" smtClean="0"/>
              <a:t>This is due to any of the following reasons:</a:t>
            </a:r>
          </a:p>
          <a:p>
            <a:pPr lvl="2" eaLnBrk="1" hangingPunct="1"/>
            <a:r>
              <a:rPr lang="en-US" smtClean="0"/>
              <a:t>Opening a non-existing file for reading</a:t>
            </a:r>
          </a:p>
          <a:p>
            <a:pPr lvl="2" eaLnBrk="1" hangingPunct="1"/>
            <a:r>
              <a:rPr lang="en-US" smtClean="0"/>
              <a:t>Opening a file for reading or writing without having granted the appropriate access to the file by the operating system.</a:t>
            </a:r>
          </a:p>
          <a:p>
            <a:pPr lvl="2" eaLnBrk="1" hangingPunct="1"/>
            <a:r>
              <a:rPr lang="en-US" smtClean="0"/>
              <a:t>Opening a file for writing when no disk space is available.</a:t>
            </a:r>
          </a:p>
          <a:p>
            <a:pPr eaLnBrk="1" hangingPunct="1"/>
            <a:r>
              <a:rPr lang="en-US" smtClean="0"/>
              <a:t>Therefore, in our program, we need to write statements that would handle this failure.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fputc( 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NI, edited by MAF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dirty="0" err="1" smtClean="0"/>
              <a:t>fputc</a:t>
            </a:r>
            <a:r>
              <a:rPr lang="en-US" dirty="0" smtClean="0"/>
              <a:t>( ) is a function that would write a character value to the file.</a:t>
            </a:r>
          </a:p>
          <a:p>
            <a:pPr eaLnBrk="1" hangingPunct="1"/>
            <a:r>
              <a:rPr lang="en-US" dirty="0" smtClean="0"/>
              <a:t>Syntax:</a:t>
            </a:r>
          </a:p>
          <a:p>
            <a:pPr lvl="1" eaLnBrk="1" hangingPunct="1"/>
            <a:r>
              <a:rPr lang="en-US" dirty="0" smtClean="0"/>
              <a:t>Using character variable, </a:t>
            </a:r>
            <a:r>
              <a:rPr lang="en-US" dirty="0" err="1" smtClean="0"/>
              <a:t>ch</a:t>
            </a:r>
            <a:r>
              <a:rPr lang="en-US" dirty="0" smtClean="0"/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		</a:t>
            </a:r>
            <a:r>
              <a:rPr lang="en-US" dirty="0" err="1" smtClean="0"/>
              <a:t>fputc</a:t>
            </a:r>
            <a:r>
              <a:rPr lang="en-US" dirty="0" smtClean="0"/>
              <a:t>(</a:t>
            </a:r>
            <a:r>
              <a:rPr lang="en-US" dirty="0" err="1" smtClean="0"/>
              <a:t>ch</a:t>
            </a:r>
            <a:r>
              <a:rPr lang="en-US" dirty="0" smtClean="0"/>
              <a:t>, </a:t>
            </a:r>
            <a:r>
              <a:rPr lang="en-US" dirty="0" err="1" smtClean="0"/>
              <a:t>internal_file_name</a:t>
            </a:r>
            <a:r>
              <a:rPr lang="en-US" dirty="0" smtClean="0"/>
              <a:t>);</a:t>
            </a:r>
          </a:p>
          <a:p>
            <a:pPr lvl="1"/>
            <a:r>
              <a:rPr lang="en-US" dirty="0" smtClean="0"/>
              <a:t>Example: 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char m = ‘c’;</a:t>
            </a:r>
          </a:p>
          <a:p>
            <a:pPr lvl="2"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fputc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(m,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theFile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 eaLnBrk="1" hangingPunct="1"/>
            <a:r>
              <a:rPr lang="en-US" dirty="0" smtClean="0"/>
              <a:t>Using character constant: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dirty="0" smtClean="0"/>
              <a:t>	</a:t>
            </a:r>
            <a:r>
              <a:rPr lang="en-US" dirty="0" err="1" smtClean="0"/>
              <a:t>fputc</a:t>
            </a:r>
            <a:r>
              <a:rPr lang="en-US" dirty="0" smtClean="0"/>
              <a:t>(‘</a:t>
            </a:r>
            <a:r>
              <a:rPr lang="en-US" dirty="0" err="1" smtClean="0"/>
              <a:t>a’,internal_file_name</a:t>
            </a:r>
            <a:r>
              <a:rPr lang="en-US" dirty="0" smtClean="0"/>
              <a:t>);</a:t>
            </a:r>
          </a:p>
          <a:p>
            <a:pPr lvl="1"/>
            <a:r>
              <a:rPr lang="en-US" dirty="0" smtClean="0"/>
              <a:t>Example</a:t>
            </a:r>
          </a:p>
          <a:p>
            <a:pPr lvl="1">
              <a:buNone/>
            </a:pPr>
            <a:r>
              <a:rPr lang="en-US" dirty="0" smtClean="0"/>
              <a:t>		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fputc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(‘c’,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theFile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fputc</a:t>
            </a:r>
            <a:r>
              <a:rPr lang="en-US" dirty="0" smtClean="0"/>
              <a:t>() example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prepared by NI, edited by MAF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7200" y="1219200"/>
            <a:ext cx="81534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main(void)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char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ch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FILE *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thefile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if ((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thefile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fopen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file_putc.txt","w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")) == NULL)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("File fail to open\n");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2"/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("Enter a character: ");</a:t>
            </a:r>
          </a:p>
          <a:p>
            <a:pPr lvl="2"/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("%c", &amp;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ch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2"/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fputc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ch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thefile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/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fclose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thefile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return 0;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fgetc( )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NI, edited by MAF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fgetc</a:t>
            </a:r>
            <a:r>
              <a:rPr lang="en-US" dirty="0" smtClean="0"/>
              <a:t>( ) is a function that would read a character from a file.</a:t>
            </a:r>
          </a:p>
          <a:p>
            <a:pPr eaLnBrk="1" hangingPunct="1"/>
            <a:r>
              <a:rPr lang="en-US" dirty="0" smtClean="0"/>
              <a:t>Syntax: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	variable = </a:t>
            </a:r>
            <a:r>
              <a:rPr lang="en-US" dirty="0" err="1" smtClean="0"/>
              <a:t>fgetc</a:t>
            </a:r>
            <a:r>
              <a:rPr lang="en-US" dirty="0" smtClean="0"/>
              <a:t>(</a:t>
            </a:r>
            <a:r>
              <a:rPr lang="en-US" dirty="0" err="1" smtClean="0"/>
              <a:t>internal_file_name</a:t>
            </a:r>
            <a:r>
              <a:rPr lang="en-US" dirty="0" smtClean="0"/>
              <a:t>);</a:t>
            </a:r>
          </a:p>
          <a:p>
            <a:pPr eaLnBrk="1" hangingPunct="1"/>
            <a:r>
              <a:rPr lang="en-US" dirty="0" smtClean="0"/>
              <a:t>Where:</a:t>
            </a:r>
          </a:p>
          <a:p>
            <a:pPr lvl="1" eaLnBrk="1" hangingPunct="1"/>
            <a:r>
              <a:rPr lang="en-US" dirty="0" smtClean="0"/>
              <a:t>variable is a character variable to hold the value returned by </a:t>
            </a:r>
            <a:r>
              <a:rPr lang="en-US" dirty="0" err="1" smtClean="0"/>
              <a:t>fgetc</a:t>
            </a:r>
            <a:r>
              <a:rPr lang="en-US" dirty="0" smtClean="0"/>
              <a:t>( ).</a:t>
            </a:r>
          </a:p>
          <a:p>
            <a:pPr lvl="1" eaLnBrk="1" hangingPunct="1"/>
            <a:r>
              <a:rPr lang="en-US" dirty="0" err="1" smtClean="0"/>
              <a:t>Internal_file_name</a:t>
            </a:r>
            <a:r>
              <a:rPr lang="en-US" dirty="0" smtClean="0"/>
              <a:t> is the pointer to an open file.</a:t>
            </a:r>
          </a:p>
          <a:p>
            <a:r>
              <a:rPr lang="en-US" dirty="0" smtClean="0"/>
              <a:t>Example: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char c;</a:t>
            </a:r>
          </a:p>
          <a:p>
            <a:pPr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fgetc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theFile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fgetc( ): 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NI, edited by MAF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19200"/>
            <a:ext cx="82296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main(void)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char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ch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FILE *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thefile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/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if ((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thefile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fopen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file_getc.txt","r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")) == NULL)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2"/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("File fail to open\n");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2"/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ch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fgetc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thefile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 /*read a character from the file */</a:t>
            </a:r>
          </a:p>
          <a:p>
            <a:pPr lvl="2"/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("%c\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n",ch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);/* print the value of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ch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to the screen */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/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fclose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thefile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return 0;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fprintf( 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NI, edited by MAF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fprintf( ) is a function that would print values to the file</a:t>
            </a:r>
          </a:p>
          <a:p>
            <a:pPr eaLnBrk="1" hangingPunct="1"/>
            <a:r>
              <a:rPr lang="en-US" sz="2400" smtClean="0"/>
              <a:t>Syntax: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smtClean="0">
                <a:latin typeface="Courier New" pitchFamily="49" charset="0"/>
              </a:rPr>
              <a:t>	</a:t>
            </a:r>
            <a:r>
              <a:rPr lang="en-US" sz="1800" b="1" smtClean="0">
                <a:solidFill>
                  <a:srgbClr val="FF3300"/>
                </a:solidFill>
                <a:latin typeface="Courier New" pitchFamily="49" charset="0"/>
              </a:rPr>
              <a:t>fprintf(internal_name, variable expression);</a:t>
            </a:r>
          </a:p>
          <a:p>
            <a:pPr eaLnBrk="1" hangingPunct="1"/>
            <a:r>
              <a:rPr lang="en-US" sz="2400" smtClean="0"/>
              <a:t>Example 1: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smtClean="0">
                <a:latin typeface="Courier New" pitchFamily="49" charset="0"/>
              </a:rPr>
              <a:t>	</a:t>
            </a:r>
            <a:r>
              <a:rPr lang="en-US" sz="1800" b="1" smtClean="0">
                <a:solidFill>
                  <a:srgbClr val="FF3300"/>
                </a:solidFill>
                <a:latin typeface="Courier New" pitchFamily="49" charset="0"/>
              </a:rPr>
              <a:t>fprintf(theFile, “This is an example”);</a:t>
            </a:r>
          </a:p>
          <a:p>
            <a:pPr eaLnBrk="1" hangingPunct="1"/>
            <a:r>
              <a:rPr lang="en-US" sz="2400" smtClean="0"/>
              <a:t>Example 2: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smtClean="0">
                <a:latin typeface="Courier New" pitchFamily="49" charset="0"/>
              </a:rPr>
              <a:t>	</a:t>
            </a:r>
            <a:r>
              <a:rPr lang="en-US" sz="1800" b="1" smtClean="0">
                <a:latin typeface="Courier New" pitchFamily="49" charset="0"/>
              </a:rPr>
              <a:t>char name[50] = “Ahmad”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b="1" smtClean="0">
                <a:latin typeface="Courier New" pitchFamily="49" charset="0"/>
              </a:rPr>
              <a:t>	</a:t>
            </a:r>
            <a:r>
              <a:rPr lang="en-US" sz="1800" b="1" smtClean="0">
                <a:solidFill>
                  <a:srgbClr val="FF3300"/>
                </a:solidFill>
                <a:latin typeface="Courier New" pitchFamily="49" charset="0"/>
              </a:rPr>
              <a:t>fprintf(theFile, name);</a:t>
            </a:r>
            <a:endParaRPr lang="en-US" sz="2400" b="1" smtClean="0">
              <a:solidFill>
                <a:srgbClr val="FF3300"/>
              </a:solidFill>
            </a:endParaRPr>
          </a:p>
          <a:p>
            <a:pPr eaLnBrk="1" hangingPunct="1"/>
            <a:r>
              <a:rPr lang="en-US" sz="2400" smtClean="0"/>
              <a:t>Example 3: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smtClean="0">
                <a:latin typeface="Courier New" pitchFamily="49" charset="0"/>
              </a:rPr>
              <a:t>	</a:t>
            </a:r>
            <a:r>
              <a:rPr lang="en-US" sz="1800" b="1" smtClean="0">
                <a:solidFill>
                  <a:srgbClr val="FF3300"/>
                </a:solidFill>
                <a:latin typeface="Courier New" pitchFamily="49" charset="0"/>
              </a:rPr>
              <a:t>char name[50] = “Ahmad”;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b="1" smtClean="0">
                <a:solidFill>
                  <a:srgbClr val="FF3300"/>
                </a:solidFill>
                <a:latin typeface="Courier New" pitchFamily="49" charset="0"/>
              </a:rPr>
              <a:t>	fprintf(theFile, “My name is” name);</a:t>
            </a:r>
            <a:endParaRPr lang="en-US" sz="2400" b="1" smtClean="0">
              <a:solidFill>
                <a:srgbClr val="FF3300"/>
              </a:solidFill>
            </a:endParaRPr>
          </a:p>
          <a:p>
            <a:pPr eaLnBrk="1" hangingPunct="1"/>
            <a:endParaRPr lang="en-US" sz="2400" b="1" smtClean="0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 err="1" smtClean="0"/>
              <a:t>fprintf</a:t>
            </a:r>
            <a:r>
              <a:rPr lang="en-US" sz="3200" dirty="0" smtClean="0"/>
              <a:t>( ): 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NI, edited by MAF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19200"/>
            <a:ext cx="822960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#include&lt;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/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 power;</a:t>
            </a:r>
          </a:p>
          <a:p>
            <a:pPr lvl="1"/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FILE *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thefile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if((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thefile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fopen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file_fprintf.txt","w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"))==NULL)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("File could not be open\n");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else{</a:t>
            </a:r>
          </a:p>
          <a:p>
            <a:pPr lvl="2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for(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=1;i&lt;=100;i++){</a:t>
            </a:r>
          </a:p>
          <a:p>
            <a:pPr lvl="2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power=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2"/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fprintf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thefile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,"%d\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n",power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2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("End of operations");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/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fclose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thefile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return 0;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fscanf( 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NI, edited by MAF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fscanf</a:t>
            </a:r>
            <a:r>
              <a:rPr lang="en-US" dirty="0" smtClean="0"/>
              <a:t>( ) is a function that read a value, or values of mix data type from a file.</a:t>
            </a:r>
          </a:p>
          <a:p>
            <a:pPr eaLnBrk="1" hangingPunct="1"/>
            <a:r>
              <a:rPr lang="en-US" dirty="0" smtClean="0"/>
              <a:t>Syntax: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sz="2200" b="1" dirty="0" err="1" smtClean="0">
                <a:latin typeface="Courier New" pitchFamily="49" charset="0"/>
              </a:rPr>
              <a:t>fscanf</a:t>
            </a:r>
            <a:r>
              <a:rPr lang="en-US" sz="2200" b="1" dirty="0" smtClean="0">
                <a:latin typeface="Courier New" pitchFamily="49" charset="0"/>
              </a:rPr>
              <a:t>(</a:t>
            </a:r>
            <a:r>
              <a:rPr lang="en-US" sz="2200" b="1" dirty="0" err="1" smtClean="0">
                <a:latin typeface="Courier New" pitchFamily="49" charset="0"/>
              </a:rPr>
              <a:t>internal_name,formatControl</a:t>
            </a:r>
            <a:r>
              <a:rPr lang="en-US" sz="2200" b="1" dirty="0" smtClean="0">
                <a:latin typeface="Courier New" pitchFamily="49" charset="0"/>
              </a:rPr>
              <a:t>, </a:t>
            </a:r>
            <a:r>
              <a:rPr lang="en-US" sz="2200" b="1" dirty="0" err="1" smtClean="0">
                <a:latin typeface="Courier New" pitchFamily="49" charset="0"/>
              </a:rPr>
              <a:t>variableList</a:t>
            </a:r>
            <a:r>
              <a:rPr lang="en-US" sz="2200" b="1" dirty="0" smtClean="0">
                <a:latin typeface="Courier New" pitchFamily="49" charset="0"/>
              </a:rPr>
              <a:t>);</a:t>
            </a:r>
          </a:p>
          <a:p>
            <a:pPr eaLnBrk="1" hangingPunct="1"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</a:endParaRPr>
          </a:p>
          <a:p>
            <a:pPr eaLnBrk="1" hangingPunct="1"/>
            <a:r>
              <a:rPr lang="en-US" dirty="0" smtClean="0"/>
              <a:t>Example: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dirty="0" smtClean="0">
                <a:latin typeface="Courier New" pitchFamily="49" charset="0"/>
              </a:rPr>
              <a:t>char name[50];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dirty="0" err="1" smtClean="0">
                <a:latin typeface="Courier New" pitchFamily="49" charset="0"/>
              </a:rPr>
              <a:t>int</a:t>
            </a:r>
            <a:r>
              <a:rPr lang="en-US" dirty="0" smtClean="0">
                <a:latin typeface="Courier New" pitchFamily="49" charset="0"/>
              </a:rPr>
              <a:t> age;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dirty="0" err="1" smtClean="0">
                <a:latin typeface="Courier New" pitchFamily="49" charset="0"/>
              </a:rPr>
              <a:t>fscanf</a:t>
            </a:r>
            <a:r>
              <a:rPr lang="en-US" dirty="0" smtClean="0">
                <a:latin typeface="Courier New" pitchFamily="49" charset="0"/>
              </a:rPr>
              <a:t>(</a:t>
            </a:r>
            <a:r>
              <a:rPr lang="en-US" dirty="0" err="1" smtClean="0">
                <a:latin typeface="Courier New" pitchFamily="49" charset="0"/>
              </a:rPr>
              <a:t>theFile</a:t>
            </a:r>
            <a:r>
              <a:rPr lang="en-US" dirty="0" smtClean="0">
                <a:latin typeface="Courier New" pitchFamily="49" charset="0"/>
              </a:rPr>
              <a:t>, “%s %d”, name, &amp;age);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 err="1" smtClean="0"/>
              <a:t>fscanf</a:t>
            </a:r>
            <a:r>
              <a:rPr lang="en-US" sz="3200" dirty="0" smtClean="0"/>
              <a:t>( ): 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NI, edited by MAF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19200"/>
            <a:ext cx="8229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#include&lt;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/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bil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matrik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char grade[2];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char name[10];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FILE *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thefile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/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if((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thefile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fopen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file_fscanf.txt","r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")) == NULL)</a:t>
            </a:r>
          </a:p>
          <a:p>
            <a:pPr lvl="1"/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("File could not be open");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else{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fscanf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thefile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,"%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d",&amp;bil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2"/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("%-10s%-10s%s\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n","Matrik","Name","Grade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");</a:t>
            </a:r>
          </a:p>
          <a:p>
            <a:pPr lvl="2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for(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=0;i&lt;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bil;i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++)</a:t>
            </a:r>
          </a:p>
          <a:p>
            <a:pPr lvl="2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2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fscanf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thefile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,"%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d%s%s",&amp;matrik,name,&amp;grade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2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("%-10d%-10s%s\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n",matrik,name,grade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2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2"/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fclose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thefile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457200" lvl="2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fputs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prepared by NI, edited by MAF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Writes the string to the file.</a:t>
            </a:r>
          </a:p>
          <a:p>
            <a:r>
              <a:rPr lang="en-US" dirty="0" smtClean="0"/>
              <a:t>The function begins outputting the string until it reaches the terminating null character ('\0'). </a:t>
            </a:r>
          </a:p>
          <a:p>
            <a:r>
              <a:rPr lang="en-US" dirty="0" smtClean="0"/>
              <a:t>Syntax</a:t>
            </a:r>
          </a:p>
          <a:p>
            <a:pPr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fputs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(string variable, internal name);</a:t>
            </a:r>
          </a:p>
          <a:p>
            <a:r>
              <a:rPr lang="en-US" dirty="0" smtClean="0"/>
              <a:t>Example:</a:t>
            </a:r>
          </a:p>
          <a:p>
            <a:pPr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	char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[20] = “gummy bear”;</a:t>
            </a:r>
          </a:p>
          <a:p>
            <a:pPr lvl="1">
              <a:buNone/>
            </a:pPr>
            <a:r>
              <a:rPr lang="en-US" sz="2100" dirty="0" err="1" smtClean="0">
                <a:latin typeface="Courier New" pitchFamily="49" charset="0"/>
                <a:cs typeface="Courier New" pitchFamily="49" charset="0"/>
              </a:rPr>
              <a:t>fputs</a:t>
            </a:r>
            <a:r>
              <a:rPr lang="en-US" sz="2100" dirty="0" smtClean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1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21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100" dirty="0" err="1" smtClean="0">
                <a:latin typeface="Courier New" pitchFamily="49" charset="0"/>
                <a:cs typeface="Courier New" pitchFamily="49" charset="0"/>
              </a:rPr>
              <a:t>theFile</a:t>
            </a:r>
            <a:r>
              <a:rPr lang="en-US" sz="21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21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 err="1" smtClean="0"/>
              <a:t>fputs</a:t>
            </a:r>
            <a:r>
              <a:rPr lang="en-US" sz="3200" dirty="0" smtClean="0"/>
              <a:t>( ): 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NI, edited by MAF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19200"/>
            <a:ext cx="82296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#include&lt;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char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[20]= "let's picnic!";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FILE *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thefile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/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if((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thefile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fopen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file_fputs.txt","w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"))==NULL)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("File could not be open\n");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fputs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thefile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/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fclose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thefile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return 0;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fgets( 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NI, edited by MAF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fgets( ) read a string of characters from a file.</a:t>
            </a:r>
          </a:p>
          <a:p>
            <a:pPr eaLnBrk="1" hangingPunct="1">
              <a:lnSpc>
                <a:spcPct val="30000"/>
              </a:lnSpc>
              <a:buFont typeface="Wingdings" pitchFamily="2" charset="2"/>
              <a:buNone/>
            </a:pPr>
            <a:endParaRPr lang="en-US" smtClean="0"/>
          </a:p>
          <a:p>
            <a:pPr eaLnBrk="1" hangingPunct="1"/>
            <a:r>
              <a:rPr lang="en-US" smtClean="0"/>
              <a:t>Syntax: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200" b="1" smtClean="0">
                <a:latin typeface="Courier New" pitchFamily="49" charset="0"/>
              </a:rPr>
              <a:t>fgets(stringVariable, size,  internal_name);</a:t>
            </a:r>
          </a:p>
          <a:p>
            <a:pPr eaLnBrk="1" hangingPunct="1">
              <a:lnSpc>
                <a:spcPct val="30000"/>
              </a:lnSpc>
              <a:buFont typeface="Wingdings" pitchFamily="2" charset="2"/>
              <a:buNone/>
            </a:pPr>
            <a:endParaRPr lang="en-US" sz="2200" b="1" smtClean="0">
              <a:latin typeface="Courier New" pitchFamily="49" charset="0"/>
            </a:endParaRPr>
          </a:p>
          <a:p>
            <a:pPr eaLnBrk="1" hangingPunct="1"/>
            <a:r>
              <a:rPr lang="en-US" smtClean="0"/>
              <a:t>Example: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b="1" smtClean="0">
                <a:latin typeface="Courier New" pitchFamily="49" charset="0"/>
              </a:rPr>
              <a:t>char content[50];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b="1" smtClean="0">
                <a:latin typeface="Courier New" pitchFamily="49" charset="0"/>
              </a:rPr>
              <a:t>fgets(content, 50, theFile);</a:t>
            </a:r>
          </a:p>
          <a:p>
            <a:pPr lvl="1" eaLnBrk="1" hangingPunct="1">
              <a:lnSpc>
                <a:spcPct val="30000"/>
              </a:lnSpc>
              <a:buFont typeface="Wingdings" pitchFamily="2" charset="2"/>
              <a:buNone/>
            </a:pPr>
            <a:endParaRPr lang="en-US" b="1" smtClean="0">
              <a:latin typeface="Courier New" pitchFamily="49" charset="0"/>
            </a:endParaRPr>
          </a:p>
          <a:p>
            <a:pPr eaLnBrk="1" hangingPunct="1"/>
            <a:r>
              <a:rPr lang="en-US" smtClean="0"/>
              <a:t>fgets( ) will read </a:t>
            </a:r>
            <a:r>
              <a:rPr lang="en-US" i="1" smtClean="0"/>
              <a:t>size – 1</a:t>
            </a:r>
            <a:r>
              <a:rPr lang="en-US" smtClean="0"/>
              <a:t> character from the file pointed by </a:t>
            </a:r>
            <a:r>
              <a:rPr lang="en-US" i="1" smtClean="0"/>
              <a:t>theFile</a:t>
            </a:r>
            <a:r>
              <a:rPr lang="en-US" smtClean="0"/>
              <a:t>, and saves the string into variable </a:t>
            </a:r>
            <a:r>
              <a:rPr lang="en-US" i="1" smtClean="0"/>
              <a:t>content</a:t>
            </a:r>
            <a:r>
              <a:rPr lang="en-US" smtClean="0"/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 err="1" smtClean="0"/>
              <a:t>fgets</a:t>
            </a:r>
            <a:r>
              <a:rPr lang="en-US" sz="3200" dirty="0" smtClean="0"/>
              <a:t>( ): 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NI, edited by MAF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19200"/>
            <a:ext cx="8229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#include&lt;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char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[30]= {'\0'};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FILE *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thefile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/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if((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thefile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fopen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file_fgets.txt","r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"))==NULL)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("File could not be open\n");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else{</a:t>
            </a:r>
          </a:p>
          <a:p>
            <a:pPr lvl="2"/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fgets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 30,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thefile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2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puts(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/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fclose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thefile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return 0;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362</TotalTime>
  <Words>1229</Words>
  <Application>Microsoft Office PowerPoint</Application>
  <PresentationFormat>On-screen Show (4:3)</PresentationFormat>
  <Paragraphs>266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Origin</vt:lpstr>
      <vt:lpstr>File Processing</vt:lpstr>
      <vt:lpstr>Objectives</vt:lpstr>
      <vt:lpstr>Files and Streams</vt:lpstr>
      <vt:lpstr>Files and Streams</vt:lpstr>
      <vt:lpstr>Declaring a file</vt:lpstr>
      <vt:lpstr>File operation: fopen ()</vt:lpstr>
      <vt:lpstr>File operation: fopen ()</vt:lpstr>
      <vt:lpstr>File OpenMode:</vt:lpstr>
      <vt:lpstr>fopen( )</vt:lpstr>
      <vt:lpstr>File operation: fail fopen( )</vt:lpstr>
      <vt:lpstr>fputc( )</vt:lpstr>
      <vt:lpstr>fputc() example</vt:lpstr>
      <vt:lpstr>fgetc( ) </vt:lpstr>
      <vt:lpstr>fgetc( ): Example</vt:lpstr>
      <vt:lpstr>fprintf( )</vt:lpstr>
      <vt:lpstr>fprintf( ): Example</vt:lpstr>
      <vt:lpstr>fscanf( )</vt:lpstr>
      <vt:lpstr>fscanf( ): Example</vt:lpstr>
      <vt:lpstr>fputs()</vt:lpstr>
      <vt:lpstr>fputs( ): Example</vt:lpstr>
      <vt:lpstr>fgets( )</vt:lpstr>
      <vt:lpstr>fgets( ): Example</vt:lpstr>
    </vt:vector>
  </TitlesOfParts>
  <Company>Universiti Tenaga Nasional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Files &amp; File Processing</dc:title>
  <dc:creator>Nazrita</dc:creator>
  <cp:lastModifiedBy>Nova Ahmed</cp:lastModifiedBy>
  <cp:revision>18</cp:revision>
  <dcterms:created xsi:type="dcterms:W3CDTF">2005-09-19T08:15:51Z</dcterms:created>
  <dcterms:modified xsi:type="dcterms:W3CDTF">2014-07-25T04:31:56Z</dcterms:modified>
</cp:coreProperties>
</file>