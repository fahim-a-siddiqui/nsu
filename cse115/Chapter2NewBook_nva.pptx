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19" r:id="rId27"/>
    <p:sldId id="318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</p:sldIdLst>
  <p:sldSz cx="9144000" cy="6858000" type="screen4x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000000"/>
          </p15:clr>
        </p15:guide>
        <p15:guide id="2" pos="2142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EC0C55-E3A4-4F58-B0B2-F1B3C2075C12}">
  <a:tblStyle styleId="{04EC0C55-E3A4-4F58-B0B2-F1B3C2075C12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ECEB"/>
          </a:solidFill>
        </a:fill>
      </a:tcStyle>
    </a:wholeTbl>
    <a:band1H>
      <a:tcTxStyle/>
      <a:tcStyle>
        <a:tcBdr/>
        <a:fill>
          <a:solidFill>
            <a:srgbClr val="E6D8D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D8D4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3ECEB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3ECEB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03B53B-963D-48C8-B9AA-2A0D3230BD53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CF0"/>
          </a:solidFill>
        </a:fill>
      </a:tcStyle>
    </a:wholeTbl>
    <a:band1H>
      <a:tcTxStyle/>
      <a:tcStyle>
        <a:tcBdr/>
        <a:fill>
          <a:solidFill>
            <a:srgbClr val="D4D6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D6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8D5282-BE04-4D37-A6E1-61A391BFC41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 showComments="0">
  <p:normalViewPr>
    <p:restoredLeft sz="15607"/>
    <p:restoredTop sz="94161"/>
  </p:normalViewPr>
  <p:slideViewPr>
    <p:cSldViewPr snapToGrid="0">
      <p:cViewPr varScale="1">
        <p:scale>
          <a:sx n="75" d="100"/>
          <a:sy n="75" d="100"/>
        </p:scale>
        <p:origin x="808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8"/>
        <p:guide pos="214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ftr" idx="11"/>
          </p:nvPr>
        </p:nvSpPr>
        <p:spPr>
          <a:xfrm>
            <a:off x="0" y="942975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sldNum" idx="12"/>
          </p:nvPr>
        </p:nvSpPr>
        <p:spPr>
          <a:xfrm>
            <a:off x="3851099" y="942975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n"/>
          <p:cNvSpPr txBox="1">
            <a:spLocks noGrp="1"/>
          </p:cNvSpPr>
          <p:nvPr>
            <p:ph type="dt" idx="10"/>
          </p:nvPr>
        </p:nvSpPr>
        <p:spPr>
          <a:xfrm>
            <a:off x="3851098" y="0"/>
            <a:ext cx="2944958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600" tIns="44300" rIns="88600" bIns="443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/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909377" y="4714876"/>
            <a:ext cx="4978921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25" tIns="45750" rIns="91525" bIns="4575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198" name="Google Shape;198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6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8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236" name="Google Shape;236;p9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247" name="Google Shape;247;p10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294" name="Google Shape;294;p11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1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355" name="Google Shape;355;p12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2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365" name="Google Shape;365;p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3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373" name="Google Shape;373;p14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4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383" name="Google Shape;383;p15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15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393" name="Google Shape;393;p16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6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404" name="Google Shape;404;p17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17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 txBox="1"/>
          <p:nvPr/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415" name="Google Shape;41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18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442" name="Google Shape;442;p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9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453" name="Google Shape;453;p20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20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:notes"/>
          <p:cNvSpPr txBox="1"/>
          <p:nvPr/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466" name="Google Shape;46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p21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476" name="Google Shape;476;p22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p22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485" name="Google Shape;485;p23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23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498" name="Google Shape;498;p24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9" name="Google Shape;499;p24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505" name="Google Shape;505;p25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p25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442" name="Google Shape;442;p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9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0346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6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8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9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1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2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3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4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5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6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7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8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9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0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1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2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642" name="Google Shape;642;p43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p43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653" name="Google Shape;653;p44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4" name="Google Shape;654;p44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666" name="Google Shape;666;p45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45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675" name="Google Shape;675;p46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6" name="Google Shape;676;p46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691" name="Google Shape;691;p47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2" name="Google Shape;692;p47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8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08" name="Google Shape;708;p48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9" name="Google Shape;709;p48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16" name="Google Shape;716;p49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7" name="Google Shape;717;p49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0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23" name="Google Shape;723;p50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4" name="Google Shape;724;p50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36" name="Google Shape;736;p51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7" name="Google Shape;737;p51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47" name="Google Shape;747;p52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8" name="Google Shape;748;p52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3:notes"/>
          <p:cNvSpPr txBox="1"/>
          <p:nvPr/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57" name="Google Shape;75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8" name="Google Shape;758;p53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4:notes"/>
          <p:cNvSpPr txBox="1"/>
          <p:nvPr/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67" name="Google Shape;76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8" name="Google Shape;768;p54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5:notes"/>
          <p:cNvSpPr txBox="1"/>
          <p:nvPr/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77" name="Google Shape;777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8" name="Google Shape;778;p55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6:notes"/>
          <p:cNvSpPr txBox="1"/>
          <p:nvPr/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87" name="Google Shape;78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8" name="Google Shape;788;p56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798" name="Google Shape;798;p57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9" name="Google Shape;799;p57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8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9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0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828" name="Google Shape;828;p61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9" name="Google Shape;829;p61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6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576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CS1010 Programming Methodology</a:t>
            </a:r>
            <a:endParaRPr/>
          </a:p>
        </p:txBody>
      </p:sp>
      <p:sp>
        <p:nvSpPr>
          <p:cNvPr id="839" name="Google Shape;839;p62:notes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4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0" name="Google Shape;840;p62:notes"/>
          <p:cNvSpPr txBox="1">
            <a:spLocks noGrp="1"/>
          </p:cNvSpPr>
          <p:nvPr>
            <p:ph type="body" idx="1"/>
          </p:nvPr>
        </p:nvSpPr>
        <p:spPr>
          <a:xfrm>
            <a:off x="907760" y="4714876"/>
            <a:ext cx="4982156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50" tIns="46125" rIns="92250" bIns="46125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  <a:defRPr sz="20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None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ctr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952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  <a:defRPr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dk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lt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  <a:defRPr sz="20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None/>
              <a:defRPr sz="18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6"/>
              <a:buFont typeface="Noto Sans Symbols"/>
              <a:buNone/>
              <a:defRPr sz="16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98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80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ft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  <a:defRPr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body" idx="2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  <a:defRPr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  <a:defRPr sz="2400" b="1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Noto Sans Symbols"/>
              <a:buNone/>
              <a:defRPr sz="20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12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2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  <a:defRPr sz="2400" b="1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Noto Sans Symbols"/>
              <a:buNone/>
              <a:defRPr sz="20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368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12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3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  <a:defRPr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4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  <a:defRPr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69" name="Google Shape;69;p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bin"/>
              <a:buNone/>
              <a:defRPr sz="20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912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76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63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63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77" name="Google Shape;77;p9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8" name="Google Shape;78;p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>
            <a:spLocks noGrp="1"/>
          </p:cNvSpPr>
          <p:nvPr>
            <p:ph type="body" idx="2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  <a:defRPr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solidFill>
          <a:schemeClr val="dk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ookman Old Style"/>
              <a:buNone/>
              <a:defRPr sz="20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2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rgbClr val="BABAB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32"/>
              <a:buFont typeface="Noto Sans Symbols"/>
              <a:buNone/>
              <a:defRPr sz="32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R="0" lvl="1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R="0" lvl="2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R="0" lvl="4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R="0" lvl="5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R="0" lvl="6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R="0" lvl="7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R="0" lvl="8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064"/>
              <a:buFont typeface="Noto Sans Symbols"/>
              <a:buNone/>
              <a:defRPr sz="1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86512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912"/>
              <a:buFont typeface="Noto Sans Symbols"/>
              <a:buChar char="▶"/>
              <a:defRPr sz="1200" b="0" i="0" u="none" strike="noStrike" cap="none">
                <a:solidFill>
                  <a:schemeClr val="l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7686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60"/>
              <a:buFont typeface="Noto Sans Symbols"/>
              <a:buChar char="▶"/>
              <a:defRPr sz="10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68605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630"/>
              <a:buFont typeface="Noto Sans Symbols"/>
              <a:buChar char="◻"/>
              <a:defRPr sz="9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68604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630"/>
              <a:buFont typeface="Noto Sans Symbols"/>
              <a:buChar char="◻"/>
              <a:defRPr sz="9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8" name="Google Shape;88;p1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  <a:defRPr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  <a:defRPr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Week2 -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1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3" name="Google Shape;103;p1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12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4076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  <a:defRPr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3959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  <a:defRPr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25119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861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Char char="◻"/>
              <a:defRPr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972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5275" algn="l" rtl="0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5275" algn="l" rtl="0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85750" algn="l" rtl="0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▶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Week1 -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List_of_programming_languages_by_category" TargetMode="External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://www.comp.nus.edu.sg/~cs1010/2_resources/onlin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>
            <a:spLocks noGrp="1"/>
          </p:cNvSpPr>
          <p:nvPr>
            <p:ph type="ctrTitle"/>
          </p:nvPr>
        </p:nvSpPr>
        <p:spPr>
          <a:xfrm>
            <a:off x="0" y="382051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Bookman Old Style"/>
              <a:buNone/>
            </a:pPr>
            <a:r>
              <a:rPr lang="en-US" sz="2900" b="1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Programming Methodology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Week 2: Overview of C Programming 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17" name="Google Shape;117;p1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>
            <a:off x="673100" y="1214846"/>
            <a:ext cx="7620000" cy="2279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Objectives:</a:t>
            </a:r>
            <a:endParaRPr/>
          </a:p>
          <a:p>
            <a:pPr marL="548640" marR="0" lvl="1" indent="-27432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Able to create programs using the editor vim</a:t>
            </a:r>
            <a:endParaRPr/>
          </a:p>
          <a:p>
            <a:pPr marL="548640" marR="0" lvl="1" indent="-27432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Able to execute your first program </a:t>
            </a:r>
            <a:endParaRPr/>
          </a:p>
          <a:p>
            <a:pPr marL="548640" marR="0" lvl="1" indent="-27432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Understand basic C constructs, interactive input, output, and arithmetic operations</a:t>
            </a:r>
            <a:endParaRPr/>
          </a:p>
          <a:p>
            <a:pPr marL="548640" marR="0" lvl="1" indent="-27432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Understand basic programming style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Outline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6" name="Google Shape;126;p15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1"/>
          </p:nvPr>
        </p:nvSpPr>
        <p:spPr>
          <a:xfrm>
            <a:off x="696913" y="1592263"/>
            <a:ext cx="7948612" cy="4618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General</a:t>
            </a:r>
            <a:endParaRPr/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Our first sample program  </a:t>
            </a:r>
            <a:endParaRPr/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Errors: syntax, run-time, logic, and undetected errors</a:t>
            </a:r>
            <a:endParaRPr/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Demo: Getting your program to execute </a:t>
            </a:r>
            <a:endParaRPr/>
          </a:p>
          <a:p>
            <a:pPr marL="719138" marR="0" lvl="1" indent="-177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* 	Demo on ssh, basic UNIX commands</a:t>
            </a:r>
            <a:endParaRPr/>
          </a:p>
          <a:p>
            <a:pPr marL="719138" marR="0" lvl="1" indent="-177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* 	Exercise #1: Using vim and gcc</a:t>
            </a:r>
            <a:endParaRPr/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Exercise #2: Temperature Convert</a:t>
            </a:r>
            <a:endParaRPr/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Program structure as: </a:t>
            </a:r>
            <a:endParaRPr/>
          </a:p>
          <a:p>
            <a:pPr marL="719138" marR="0" lvl="1" indent="-177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* 	</a:t>
            </a:r>
            <a:r>
              <a:rPr lang="en-US" sz="16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Input: </a:t>
            </a:r>
            <a:r>
              <a:rPr lang="en-US" sz="16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scanf()</a:t>
            </a:r>
            <a:r>
              <a:rPr lang="en-US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/>
          </a:p>
          <a:p>
            <a:pPr marL="719138" marR="0" lvl="1" indent="-177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* 	</a:t>
            </a:r>
            <a:r>
              <a:rPr lang="en-US" sz="16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Compute: </a:t>
            </a:r>
            <a:r>
              <a:rPr lang="en-US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variables, data type, constants, precedence rules </a:t>
            </a:r>
            <a:endParaRPr/>
          </a:p>
          <a:p>
            <a:pPr marL="719138" marR="0" lvl="1" indent="-177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* 	</a:t>
            </a:r>
            <a:r>
              <a:rPr lang="en-US" sz="16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Output: </a:t>
            </a:r>
            <a:r>
              <a:rPr lang="en-US" sz="16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printf() </a:t>
            </a:r>
            <a:r>
              <a:rPr lang="en-US"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/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Exercise #3: Temperature Estimate </a:t>
            </a:r>
            <a:endParaRPr/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AutoNum type="arabicPeriod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Style: naming, presentation, simplicity and efficiency 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14375" y="1139825"/>
            <a:ext cx="5461000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850" marR="0" lvl="0" indent="-4508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sz="2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	Algorithms (last week)</a:t>
            </a:r>
            <a:endParaRPr sz="20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5" descr="focus-m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3055" y="4095476"/>
            <a:ext cx="311433" cy="420856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  <a:reflection stA="50000" endA="300" endPos="55000" sy="-100000" algn="bl" rotWithShape="0"/>
          </a:effectLst>
        </p:spPr>
      </p:pic>
      <p:grpSp>
        <p:nvGrpSpPr>
          <p:cNvPr id="131" name="Google Shape;131;p15"/>
          <p:cNvGrpSpPr/>
          <p:nvPr/>
        </p:nvGrpSpPr>
        <p:grpSpPr>
          <a:xfrm>
            <a:off x="4625513" y="6143922"/>
            <a:ext cx="4233480" cy="338023"/>
            <a:chOff x="2084194" y="5645158"/>
            <a:chExt cx="4233480" cy="338023"/>
          </a:xfrm>
        </p:grpSpPr>
        <p:pic>
          <p:nvPicPr>
            <p:cNvPr id="132" name="Google Shape;132;p15" descr="focus-m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84194" y="5645158"/>
              <a:ext cx="225241" cy="30438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5400000" algn="t" rotWithShape="0">
                <a:srgbClr val="000000">
                  <a:alpha val="40000"/>
                </a:srgbClr>
              </a:outerShdw>
              <a:reflection stA="50000" endA="300" endPos="55000" sy="-100000" algn="bl" rotWithShape="0"/>
            </a:effectLst>
          </p:spPr>
        </p:pic>
        <p:sp>
          <p:nvSpPr>
            <p:cNvPr id="133" name="Google Shape;133;p15"/>
            <p:cNvSpPr txBox="1"/>
            <p:nvPr/>
          </p:nvSpPr>
          <p:spPr>
            <a:xfrm>
              <a:off x="2251876" y="5675404"/>
              <a:ext cx="40657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1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This symbol indicates the focus of today’s lesson.</a:t>
              </a:r>
              <a:endParaRPr sz="1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1. General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40" name="Google Shape;140;p16"/>
          <p:cNvSpPr txBox="1">
            <a:spLocks noGrp="1"/>
          </p:cNvSpPr>
          <p:nvPr>
            <p:ph type="body" idx="1"/>
          </p:nvPr>
        </p:nvSpPr>
        <p:spPr>
          <a:xfrm>
            <a:off x="673100" y="1223963"/>
            <a:ext cx="794861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77913" marR="0" lvl="0" indent="-1077913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Program: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 sequence of instructions that a computer can interpret and execute. The instructions follow the rules of the language chosen.</a:t>
            </a:r>
            <a:endParaRPr sz="12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There are many “types” of programming languages: A to Z</a:t>
            </a:r>
            <a:endParaRPr/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lang="en-US" sz="1400" b="0" i="0" u="sng" strike="noStrike" cap="non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http://en.wikipedia.org/wiki/List_of_programming_languages_by_category</a:t>
            </a:r>
            <a:r>
              <a:rPr lang="en-US" sz="1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marR="0" lvl="0" indent="-45720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C: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 general-purpose computer programming language developed in 1972 by Dennis Ritchie at the Bell Telephone Lab for use with the UNIX operating system.</a:t>
            </a:r>
            <a:endParaRPr/>
          </a:p>
        </p:txBody>
      </p:sp>
      <p:graphicFrame>
        <p:nvGraphicFramePr>
          <p:cNvPr id="141" name="Google Shape;141;p16"/>
          <p:cNvGraphicFramePr/>
          <p:nvPr/>
        </p:nvGraphicFramePr>
        <p:xfrm>
          <a:off x="773113" y="2621661"/>
          <a:ext cx="7643750" cy="1557540"/>
        </p:xfrm>
        <a:graphic>
          <a:graphicData uri="http://schemas.openxmlformats.org/drawingml/2006/table">
            <a:tbl>
              <a:tblPr firstRow="1" bandRow="1">
                <a:noFill/>
                <a:tableStyleId>{04EC0C55-E3A4-4F58-B0B2-F1B3C2075C12}</a:tableStyleId>
              </a:tblPr>
              <a:tblGrid>
                <a:gridCol w="1528750"/>
                <a:gridCol w="1528750"/>
                <a:gridCol w="1424150"/>
                <a:gridCol w="1743450"/>
                <a:gridCol w="1418650"/>
              </a:tblGrid>
              <a:tr h="27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u="none" strike="noStrike" cap="none"/>
                        <a:t>A+, APL, Ada</a:t>
                      </a:r>
                      <a:endParaRPr sz="14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/>
                        <a:t>Basic</a:t>
                      </a:r>
                      <a:endParaRPr sz="14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/>
                        <a:t>C, C#, C++</a:t>
                      </a:r>
                      <a:endParaRPr sz="14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/>
                        <a:t>D, Delphi</a:t>
                      </a:r>
                      <a:endParaRPr sz="1400" b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/>
                        <a:t>E, Eiffel</a:t>
                      </a:r>
                      <a:endParaRPr sz="1400" b="0"/>
                    </a:p>
                  </a:txBody>
                  <a:tcPr marL="91450" marR="91450" marT="45725" marB="45725"/>
                </a:tc>
              </a:tr>
              <a:tr h="27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F, Fortran, F#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G,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Haskell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IDL, Io, ICI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Java, JASS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7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K,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Lisp, Logo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M, Maple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Nimrod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Oz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7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Pascal, Python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Q,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R, RPG, Ruby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Smalltalk, Scheme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Tcl, Today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338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uniPaaS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Vimscript, VBA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Winbatch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X++, XL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Y, Z++</a:t>
                      </a:r>
                      <a:endParaRPr sz="14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42" name="Google Shape;142;p16" descr="data:image/jpeg;base64,/9j/4AAQSkZJRgABAQAAAQABAAD/2wCEAAkGBwgHBgkIBwgKCgkLDRYPDQwMDRsUFRAWIB0iIiAdHx8kKDQsJCYxJx8fLT0tMTU3Ojo6Iys/RD84QzQ5OjcBCgoKDQwNGg8PGjclHyU3Nzc3Nzc3Nzc3Nzc3Nzc3Nzc3Nzc3Nzc3Nzc3Nzc3Nzc3Nzc3Nzc3Nzc3Nzc3Nzc3N//AABEIALoAjwMBIgACEQEDEQH/xAAcAAABBQEBAQAAAAAAAAAAAAAEAQIDBQYHAAj/xAA8EAACAQMCAwQHBwIGAwEAAAABAgMABBEFIRIxQQYTUXEUIjJCYYGRBzOhscHR8FLhQ2JygqLxFSOSJP/EABkBAAMBAQEAAAAAAAAAAAAAAAABAgMEBf/EACARAQEAAgICAwEBAAAAAAAAAAABAhEDIRIxIkFREwT/2gAMAwEAAhEDEQA/AOarTqbypGzjauTbuO58qVSeLwqEEg5oiKTOx3otOQbCpOM16VnXbpSxMFGc024nBqFIC2TvSg0znXhTJJmvKAaY8iIPXZR4ZOKGa9t1PD3ygmqkqbYLbnSYNNUggMCCCMgg86njHEKAjANe5VOVCioWO9IHqM0h515W2r3M0A5BmvMlPUgV4uKQVinip/DtSINxUrUz0GZacgxvTmpVXakaRGYjma8VzTkFNu72KygDsA0h9lfGnJvqC3U3TbmZLOAvIRn3V8apZNReY5aVk/yoP1pl21zeMs9x72yKP0FaLs/2Gv8AUeF5h3EZ/r5/SttY4Tdc9ufJfiz0MsZkDPDLKeuDWj0y407K9/ojyKdie+wR8eVbnTfs606FULyyFh/ScZrT2vZfTkGGTixyY86i80vppP8ALl9sXb6R2XuSkVpLNZSSjZZjmNvJuhqt1nQbrQ5eGdeKJvYcfrXQb/sZpdwuU442/wAvL6UsGjZsP/F30nfwhcQu3tIegz4fl5VMzlp/yywcoc8Q2qHGasNVs20+9eDoGwKGKrRRLuIgtOJAFOyAKiZgaRnceabzphxXuLFAeiQOMg7+FI6kc6FjuCjA+FEyzLInFsDRpW0LnFPjPq1E5B5UgbAoG0/FVQIJNSu2kLcMWcBj+lGzSMsewJJ2GKWwiKAPI2SNgueVa4dTbDkvlZi0XZrSIIpo2VQ7s3tNua6baRBVUDp4VhOz7gujdQcf3rotmoZFO3KuXk3a7eOTGdCYo/VA3o2G2fGTypkA5VYoQExVYYxdysCGM4BoO4hzmrUkHah5VDZxSyxgmTmHb+wZCt6q5BOJPPoaxTMQSDXYe0VjHeW7W8nJxjyPSuRapZXGmX8tndKRJFt5joR8q0xu45c545dfaBmbFeVSa8p23p6tigjWjY+zUZjfNEq2KcWGKQUpFeyep2qTFJw71YKvKnV4bCl2oDxZI1Z33OMAeZFTWCuT6w28ahlQNFnmc/THWj7LBiVhtnGRVb+KPH57aDs2he8THIbkV0mxICYyOVcm095EuMLMIVIPE5rWafqWmRBY21cJKw9VnkUfmawuNtdeNkjoEBGRnH1o4lfGudPqep2k2Y7lLqHHEARuR4g5wflWn0jUnvrUShCDjJpTLS9bX2RjnUEmRvjas3cdpXjYpBB3kinHrHAFEQXupTIzzRwrkZVUkBp+UpekeuTGLicc1Ga572zuE1FobxAMnAJA+H9q2k12920qSxmOVRhl5jFc01OZzDwgNwxyMrA+6QTVcf25+aelcG3xTwaH48mpFaq0hKDT87VHyr2aRhMYppapiMioiu9MEzXqUDNITjamB1rCJISWPM4xRllCJpUiyB0oTT4mkKuh9htx50bBmGdG5b5pX0qa8o0R7JpOEV5m4DvgeNOl+zuymnhkFxMkan1kXG486vtGuBcxJk860cECqvFk58KxmWUdH85Z2pb3SbOGOeZEPCYvugMLxAY4vOpex1xwaMIyMOoIO3Khu0d+bdWjQF2x7I8Kl7OK02ntJGuCc1LWSa0h1bs9Je941rO8QkjKgAkYY9c+Gaz+hdjdd0+Gb0mcrccS90RJxIBkklh72cj47V0Owfv0IJIx4US4ZB5VeN60zyx7lZWytriMM199+vqE7nI55rBdqIDZ20nCdrm8dsfAf911LVp1EOPeJ2865v8AaCrxx2EZIwQ7EfHb96eHtly+mPzUsZqEUvHitnMLztScWKGElI0nxqdHs/i2pmc01iaRTT0ezs4pG3rxNMLUyWWjzcM3dHkx51b6jAUkQLzySfKqHS1Zr2IBC/rch41stYtC8IBBDNliRz/n7Ur6LyvlFh2WmxDgb4ONq1jXzRwnhHEcbCsx2XthFxAn1V51LqHaKzs2GXz4Dx3xXPffTvmWox+r6xqkZuJWhKvK5y7qfVFE9n+0V8LVYoRxyoTlslVx8aYdTl1OfilSMrxbhmHrD4/Kos3NrdpNNEFgfZChGM7g8uVX6iflbtvdCudU9EF1exosiuciPOGX51pkulmTK9RvWO0PWY0jUOyn3W4eWfGr2H1VYxt6h3HwFRvS5lMp2HuQZ7vgAyEy1c27fXrza69rk91bKqp8wCTW51a8kstI1K6gIMiL6pPQ1ySeeS7nee4cvLIcsx5n+bVthOnHyZ7tIu9eYUoGOVKScVbJCWwKjL09xUJNMk3FTg1RZpymhR5NNzSM1M4qBtbaDMIdRjb3uS+ddC4FnVHBJGc4HQ8sfjWD0C0429JYcjhdvxrZWM/dBgMl92G/MiquHTC5y56XARbCNeJgAVKk561lrjQLW7zPd5PQANjbxq01S7WSW2ByULZZefDvUd0zTRKq7sRkBelcmUsvT0OPKXHtT2ehWgyA08Y5ZSQmrRdAjdAsV/ct4Ahf2pNP4l9Uj1zzBPTx/StDb5aLIwCMgD9fzpW11Y8/1pTRdkIoYGlFxcNIBsrPt9OtaTSO99Aj4myTyz4GnOr+jMsm2QQRyqXS8GNRgEIo/OljPKsOXk0yn2h3Poem+jggmcnIB6bf3rmiEk71sftGvTLfJEsilFG2OanJ/nyrGg11xw++02acGGMGoOKvcVASSAY2oVhvUxbaoWO9EFKabxGlaj9D0K/1u5ENlEWHvyEeqnmf0qpE3LQAbkCjYbCRl4nBGfZXqa6TbfZtbWlqshuXmnHtuVAA8hVBrGmS2MhiZDj3G5YrfDi/XPyc34lsIFS1iCjktFSmSPgePJxz+A60FZTtCVSfeN/Zc9D4Vb8PHEehIrTLHc055l3sFck3TJMvMtuT0z/BR1ombnu1BX3WfO2OuaqNPmEV+bS69V1fiRj7ykDn9fwFXlsVW5kiOeIgbD8a4c8Hfx59PR2wSdZIyQhyR5dPyq5tJ4XeNYRnBxj571DHEksK8KjIT8elSWNsq3K8J3yD5bCsfGuiculxdReoij3jg4NAHjtbecpkNgqnyzj9Kt50IJk325CqK2m9Kvbq2dWje3IyGGdyAfqQa348O2Gedrm/buzeLVRdxkm1vF7yMf0NtxL9d/nWZrtl52ftNaiezvVbu2bvUK84pAMEg+R3BrnnafsPqehFpkBu7Mf4sa4K/wCodPOtcsLEYck9VlgaWm4r1ZtDjUT86eTtUZoDc9k+wN1qqpd6iTa2h3Cf4kn7CuqaRplvp8aW1tEIYh7IUbH96KtbWOPZyGJ5dMUa6HgjwoHCeldcxkcmWVy9lVQFxgfDyqh1rR4r2K5imAG/Epxy2rR7BVPIcv71HcxjPeAb8iPGqS49JZZjlt3UjBIOaG0m+ljla1uvvIzgE+8OhrddotNeGVrhBmNuoG1YbXbQxTJdRgqeR8qqMsppPrFh6VEJ7cslwmcMuxH8/ag9C1meSX0K7iY3CEhSD0+FWGn3ck1u6qFafhOFJxlunlvVHpljdXly1jOe41a2YvwzeqZN+Q/Css+PbTj5NNYutw2VnI62t07+yFMZz+X4/GrPQ7+O7RJYYpiwPrJwnbJ8qXRA+oxCGSFkuQeGRGXcGuhaJ2fhs4w7hTJ12rL+cjfzVunaRdTSia+HDHzEWcknpWYT0g9o9VuBExHpZUMRsAFUbV1GZ47eJpceyM7VzjWdZt7S8SaUsrzzcKoq7MSCefTlzrTDFOeew+oapc6PBZyw6c93LOxWQZI7sDOWbY78hV1cXfHaK/cAoUyysPqKSBP/ACLd5KirEvJR/PrRzQMzcQUcDDDrjatdMt1iL7sFo+rxtNZILcvuDFtg/EcqxesfZ9rVgSYIRdxD3ouY/wBprrUCNpVw0R3t5DlSduE+FXMYDxb75GKjLjlXjyWPl+eGWGRo5o3jdeaupBHyqJhX0J2p7IafrluGukAmUYEqe2Pn1rlfaH7PNV0sd7a8V7Bn3E9dfMVjeOxtOWV3GUKxCyAK/umpI2KgcXMePWmN3d5CyPnfkQfWB+FB2908Nx6HeYD4zG/SQeI/bp+fRpzrYcL5XJCt+BqJJNjEwBYbEc6l4cgEfw1DeDDRzJzOzUA57dJoysihh8d6zmpdnLa+t54FARxup54NamJw6nYk4yKEgb/9L8WxPLyple3NZuxms2+JYY1LjqhBP061XatBLd2huZC0GpWGSh94Y6eJHP612pFUpg8xVTqnZ2z1JjI6lJCoUleuDnf5intPj+Ml2d1u1SNLy6hbv+EBym5ZuoPh/wBV0fRdX0/VIgbZuF8ZMbHDVkT2ds4cJJAIjy76LbiH+YUVb9m+5xJaXxGDsGX9RSykpy5Rpe0chi04qntOwGKxeq9nYLpLe+ujIJLdwVHFgb7b/UVZWuoXWoXMq3UiSLa/+teH3mzuT9KtZYhNB3cgPCTgjyNLGaVbsNZ2wjjSPiOAu2aLVOY6UwjuWTAwOVTqRxGmQHULYSxEkZwN6isWPc92D6y8jVmwGPWGxG9VrwmGfA2HMUAWjFl4iPl4GvS8IXLAc/CvQndSeRNOmXiwM7eFI1fbXCzMQymKdfaQ7fOkvLYXtosbEpInrRSD3WHX96Klt1nAbZJFGzeFJEX3SZcSKMEfrTALT7+Wa2khlXhurYlZFzVlBIl3ad4vJ+g8aptc4tPvLfVogTGcR3WOXCeR+WKJ0c+j3VzYlgyAd5EfFTTvpKxtuXCenzpl3H3dwki8m59amVeGXi/q8fGn3ScduR1Xeko6Ijx575NOANDWshaJeeRRZ5AilSRuiyDDKDQoiazcMh44jzXwo4rkbU0HiTgPI0QVnOysccUmoPxh42u5GTnvyq+WUSy4UHhHWqfsihVLpt+H0qTbyODV8xxKdue4p/Yge4HsfA09RhgaSQcSHltvTkPEiv40A6TZKGuUMkXq4415USTtUUowpI3ONjQAsU6NGMDfw+NLcS8Du25PCoAHx3qJYsTsV3RzxqB7p6j+eNIG7yVcDPDvg/AAfvTItjO0L9xP05E9RR0sSyKDyZfe8aAvB7J695R8RzEPL9DU32oJcAd26XCh4nHDKpHTlmqzTFaB7YSMWa1la2dj70Z9nP8Axq7ugDI2R7jfpWetz/7tR/1Qn/gtVE1psABW+tPADq2cbb71GPZXy/SpE5t51KgVp/iIOho+MhowaBg+/f8AnQ0XF938qdJKuwwaikBXf4/WpaRvu6QVelQC2vNQi4vVaUToP9QGfxBqzYgjOfLyqvk2vAR1jGf/AKqePmv+386BDy+HKnrSA93t7udqbN94PMU5/Z+VMJegxSPuN6SL7sU5vYNIAmzBK3VTy+lD2qs95ccXsg4GB8z+f4UVdewnlUMZIlkxt6q1Qf/Z"/>
          <p:cNvSpPr/>
          <p:nvPr/>
        </p:nvSpPr>
        <p:spPr>
          <a:xfrm>
            <a:off x="155575" y="-846138"/>
            <a:ext cx="1362075" cy="177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 descr="data:image/jpeg;base64,/9j/4AAQSkZJRgABAQAAAQABAAD/2wCEAAkGBwgHBgkIBwgKCgkLDRYPDQwMDRsUFRAWIB0iIiAdHx8kKDQsJCYxJx8fLT0tMTU3Ojo6Iys/RD84QzQ5OjcBCgoKDQwNGg8PGjclHyU3Nzc3Nzc3Nzc3Nzc3Nzc3Nzc3Nzc3Nzc3Nzc3Nzc3Nzc3Nzc3Nzc3Nzc3Nzc3Nzc3N//AABEIALoAjwMBIgACEQEDEQH/xAAcAAABBQEBAQAAAAAAAAAAAAAEAQIDBQYHAAj/xAA8EAACAQMCAwQHBwIGAwEAAAABAgMABBEFIRIxQQYTUXEUIjJCYYGRBzOhscHR8FLhQ2JygqLxFSOSJP/EABkBAAMBAQEAAAAAAAAAAAAAAAABAgMEBf/EACARAQEAAgICAwEBAAAAAAAAAAABAhEDIRIxIkFREwT/2gAMAwEAAhEDEQA/AOarTqbypGzjauTbuO58qVSeLwqEEg5oiKTOx3otOQbCpOM16VnXbpSxMFGc024nBqFIC2TvSg0znXhTJJmvKAaY8iIPXZR4ZOKGa9t1PD3ygmqkqbYLbnSYNNUggMCCCMgg86njHEKAjANe5VOVCioWO9IHqM0h515W2r3M0A5BmvMlPUgV4uKQVinip/DtSINxUrUz0GZacgxvTmpVXakaRGYjma8VzTkFNu72KygDsA0h9lfGnJvqC3U3TbmZLOAvIRn3V8apZNReY5aVk/yoP1pl21zeMs9x72yKP0FaLs/2Gv8AUeF5h3EZ/r5/SttY4Tdc9ufJfiz0MsZkDPDLKeuDWj0y407K9/ojyKdie+wR8eVbnTfs606FULyyFh/ScZrT2vZfTkGGTixyY86i80vppP8ALl9sXb6R2XuSkVpLNZSSjZZjmNvJuhqt1nQbrQ5eGdeKJvYcfrXQb/sZpdwuU442/wAvL6UsGjZsP/F30nfwhcQu3tIegz4fl5VMzlp/yywcoc8Q2qHGasNVs20+9eDoGwKGKrRRLuIgtOJAFOyAKiZgaRnceabzphxXuLFAeiQOMg7+FI6kc6FjuCjA+FEyzLInFsDRpW0LnFPjPq1E5B5UgbAoG0/FVQIJNSu2kLcMWcBj+lGzSMsewJJ2GKWwiKAPI2SNgueVa4dTbDkvlZi0XZrSIIpo2VQ7s3tNua6baRBVUDp4VhOz7gujdQcf3rotmoZFO3KuXk3a7eOTGdCYo/VA3o2G2fGTypkA5VYoQExVYYxdysCGM4BoO4hzmrUkHah5VDZxSyxgmTmHb+wZCt6q5BOJPPoaxTMQSDXYe0VjHeW7W8nJxjyPSuRapZXGmX8tndKRJFt5joR8q0xu45c545dfaBmbFeVSa8p23p6tigjWjY+zUZjfNEq2KcWGKQUpFeyep2qTFJw71YKvKnV4bCl2oDxZI1Z33OMAeZFTWCuT6w28ahlQNFnmc/THWj7LBiVhtnGRVb+KPH57aDs2he8THIbkV0mxICYyOVcm095EuMLMIVIPE5rWafqWmRBY21cJKw9VnkUfmawuNtdeNkjoEBGRnH1o4lfGudPqep2k2Y7lLqHHEARuR4g5wflWn0jUnvrUShCDjJpTLS9bX2RjnUEmRvjas3cdpXjYpBB3kinHrHAFEQXupTIzzRwrkZVUkBp+UpekeuTGLicc1Ga572zuE1FobxAMnAJA+H9q2k12920qSxmOVRhl5jFc01OZzDwgNwxyMrA+6QTVcf25+aelcG3xTwaH48mpFaq0hKDT87VHyr2aRhMYppapiMioiu9MEzXqUDNITjamB1rCJISWPM4xRllCJpUiyB0oTT4mkKuh9htx50bBmGdG5b5pX0qa8o0R7JpOEV5m4DvgeNOl+zuymnhkFxMkan1kXG486vtGuBcxJk860cECqvFk58KxmWUdH85Z2pb3SbOGOeZEPCYvugMLxAY4vOpex1xwaMIyMOoIO3Khu0d+bdWjQF2x7I8Kl7OK02ntJGuCc1LWSa0h1bs9Je941rO8QkjKgAkYY9c+Gaz+hdjdd0+Gb0mcrccS90RJxIBkklh72cj47V0Owfv0IJIx4US4ZB5VeN60zyx7lZWytriMM199+vqE7nI55rBdqIDZ20nCdrm8dsfAf911LVp1EOPeJ2865v8AaCrxx2EZIwQ7EfHb96eHtly+mPzUsZqEUvHitnMLztScWKGElI0nxqdHs/i2pmc01iaRTT0ezs4pG3rxNMLUyWWjzcM3dHkx51b6jAUkQLzySfKqHS1Zr2IBC/rch41stYtC8IBBDNliRz/n7Ur6LyvlFh2WmxDgb4ONq1jXzRwnhHEcbCsx2XthFxAn1V51LqHaKzs2GXz4Dx3xXPffTvmWox+r6xqkZuJWhKvK5y7qfVFE9n+0V8LVYoRxyoTlslVx8aYdTl1OfilSMrxbhmHrD4/Kos3NrdpNNEFgfZChGM7g8uVX6iflbtvdCudU9EF1exosiuciPOGX51pkulmTK9RvWO0PWY0jUOyn3W4eWfGr2H1VYxt6h3HwFRvS5lMp2HuQZ7vgAyEy1c27fXrza69rk91bKqp8wCTW51a8kstI1K6gIMiL6pPQ1ySeeS7nee4cvLIcsx5n+bVthOnHyZ7tIu9eYUoGOVKScVbJCWwKjL09xUJNMk3FTg1RZpymhR5NNzSM1M4qBtbaDMIdRjb3uS+ddC4FnVHBJGc4HQ8sfjWD0C0429JYcjhdvxrZWM/dBgMl92G/MiquHTC5y56XARbCNeJgAVKk561lrjQLW7zPd5PQANjbxq01S7WSW2ByULZZefDvUd0zTRKq7sRkBelcmUsvT0OPKXHtT2ehWgyA08Y5ZSQmrRdAjdAsV/ct4Ahf2pNP4l9Uj1zzBPTx/StDb5aLIwCMgD9fzpW11Y8/1pTRdkIoYGlFxcNIBsrPt9OtaTSO99Aj4myTyz4GnOr+jMsm2QQRyqXS8GNRgEIo/OljPKsOXk0yn2h3Poem+jggmcnIB6bf3rmiEk71sftGvTLfJEsilFG2OanJ/nyrGg11xw++02acGGMGoOKvcVASSAY2oVhvUxbaoWO9EFKabxGlaj9D0K/1u5ENlEWHvyEeqnmf0qpE3LQAbkCjYbCRl4nBGfZXqa6TbfZtbWlqshuXmnHtuVAA8hVBrGmS2MhiZDj3G5YrfDi/XPyc34lsIFS1iCjktFSmSPgePJxz+A60FZTtCVSfeN/Zc9D4Vb8PHEehIrTLHc055l3sFck3TJMvMtuT0z/BR1ombnu1BX3WfO2OuaqNPmEV+bS69V1fiRj7ykDn9fwFXlsVW5kiOeIgbD8a4c8Hfx59PR2wSdZIyQhyR5dPyq5tJ4XeNYRnBxj571DHEksK8KjIT8elSWNsq3K8J3yD5bCsfGuiculxdReoij3jg4NAHjtbecpkNgqnyzj9Kt50IJk325CqK2m9Kvbq2dWje3IyGGdyAfqQa348O2Gedrm/buzeLVRdxkm1vF7yMf0NtxL9d/nWZrtl52ftNaiezvVbu2bvUK84pAMEg+R3BrnnafsPqehFpkBu7Mf4sa4K/wCodPOtcsLEYck9VlgaWm4r1ZtDjUT86eTtUZoDc9k+wN1qqpd6iTa2h3Cf4kn7CuqaRplvp8aW1tEIYh7IUbH96KtbWOPZyGJ5dMUa6HgjwoHCeldcxkcmWVy9lVQFxgfDyqh1rR4r2K5imAG/Epxy2rR7BVPIcv71HcxjPeAb8iPGqS49JZZjlt3UjBIOaG0m+ljla1uvvIzgE+8OhrddotNeGVrhBmNuoG1YbXbQxTJdRgqeR8qqMsppPrFh6VEJ7cslwmcMuxH8/ag9C1meSX0K7iY3CEhSD0+FWGn3ck1u6qFafhOFJxlunlvVHpljdXly1jOe41a2YvwzeqZN+Q/Css+PbTj5NNYutw2VnI62t07+yFMZz+X4/GrPQ7+O7RJYYpiwPrJwnbJ8qXRA+oxCGSFkuQeGRGXcGuhaJ2fhs4w7hTJ12rL+cjfzVunaRdTSia+HDHzEWcknpWYT0g9o9VuBExHpZUMRsAFUbV1GZ47eJpceyM7VzjWdZt7S8SaUsrzzcKoq7MSCefTlzrTDFOeew+oapc6PBZyw6c93LOxWQZI7sDOWbY78hV1cXfHaK/cAoUyysPqKSBP/ACLd5KirEvJR/PrRzQMzcQUcDDDrjatdMt1iL7sFo+rxtNZILcvuDFtg/EcqxesfZ9rVgSYIRdxD3ouY/wBprrUCNpVw0R3t5DlSduE+FXMYDxb75GKjLjlXjyWPl+eGWGRo5o3jdeaupBHyqJhX0J2p7IafrluGukAmUYEqe2Pn1rlfaH7PNV0sd7a8V7Bn3E9dfMVjeOxtOWV3GUKxCyAK/umpI2KgcXMePWmN3d5CyPnfkQfWB+FB2908Nx6HeYD4zG/SQeI/bp+fRpzrYcL5XJCt+BqJJNjEwBYbEc6l4cgEfw1DeDDRzJzOzUA57dJoysihh8d6zmpdnLa+t54FARxup54NamJw6nYk4yKEgb/9L8WxPLyple3NZuxms2+JYY1LjqhBP061XatBLd2huZC0GpWGSh94Y6eJHP612pFUpg8xVTqnZ2z1JjI6lJCoUleuDnf5intPj+Ml2d1u1SNLy6hbv+EBym5ZuoPh/wBV0fRdX0/VIgbZuF8ZMbHDVkT2ds4cJJAIjy76LbiH+YUVb9m+5xJaXxGDsGX9RSykpy5Rpe0chi04qntOwGKxeq9nYLpLe+ujIJLdwVHFgb7b/UVZWuoXWoXMq3UiSLa/+teH3mzuT9KtZYhNB3cgPCTgjyNLGaVbsNZ2wjjSPiOAu2aLVOY6UwjuWTAwOVTqRxGmQHULYSxEkZwN6isWPc92D6y8jVmwGPWGxG9VrwmGfA2HMUAWjFl4iPl4GvS8IXLAc/CvQndSeRNOmXiwM7eFI1fbXCzMQymKdfaQ7fOkvLYXtosbEpInrRSD3WHX96Klt1nAbZJFGzeFJEX3SZcSKMEfrTALT7+Wa2khlXhurYlZFzVlBIl3ad4vJ+g8aptc4tPvLfVogTGcR3WOXCeR+WKJ0c+j3VzYlgyAd5EfFTTvpKxtuXCenzpl3H3dwki8m59amVeGXi/q8fGn3ScduR1Xeko6Ijx575NOANDWshaJeeRRZ5AilSRuiyDDKDQoiazcMh44jzXwo4rkbU0HiTgPI0QVnOysccUmoPxh42u5GTnvyq+WUSy4UHhHWqfsihVLpt+H0qTbyODV8xxKdue4p/Yge4HsfA09RhgaSQcSHltvTkPEiv40A6TZKGuUMkXq4415USTtUUowpI3ONjQAsU6NGMDfw+NLcS8Du25PCoAHx3qJYsTsV3RzxqB7p6j+eNIG7yVcDPDvg/AAfvTItjO0L9xP05E9RR0sSyKDyZfe8aAvB7J695R8RzEPL9DU32oJcAd26XCh4nHDKpHTlmqzTFaB7YSMWa1la2dj70Z9nP8Axq7ugDI2R7jfpWetz/7tR/1Qn/gtVE1psABW+tPADq2cbb71GPZXy/SpE5t51KgVp/iIOho+MhowaBg+/f8AnQ0XF938qdJKuwwaikBXf4/WpaRvu6QVelQC2vNQi4vVaUToP9QGfxBqzYgjOfLyqvk2vAR1jGf/AKqePmv+386BDy+HKnrSA93t7udqbN94PMU5/Z+VMJegxSPuN6SL7sU5vYNIAmzBK3VTy+lD2qs95ccXsg4GB8z+f4UVdewnlUMZIlkxt6q1Qf/Z"/>
          <p:cNvSpPr/>
          <p:nvPr/>
        </p:nvSpPr>
        <p:spPr>
          <a:xfrm>
            <a:off x="307975" y="-693738"/>
            <a:ext cx="1362075" cy="1771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96769" y="5376039"/>
            <a:ext cx="846436" cy="1100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>
            <a:spLocks noGrp="1"/>
          </p:cNvSpPr>
          <p:nvPr>
            <p:ph type="title"/>
          </p:nvPr>
        </p:nvSpPr>
        <p:spPr>
          <a:xfrm>
            <a:off x="533400" y="4572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3600"/>
              <a:buFont typeface="Garamond"/>
              <a:buNone/>
            </a:pPr>
            <a:r>
              <a:rPr lang="en-US" sz="36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Edit, Compile and Execute</a:t>
            </a:r>
            <a:endParaRPr sz="288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51" name="Google Shape;151;p1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17"/>
          <p:cNvGrpSpPr/>
          <p:nvPr/>
        </p:nvGrpSpPr>
        <p:grpSpPr>
          <a:xfrm>
            <a:off x="1444381" y="1458913"/>
            <a:ext cx="4721225" cy="849312"/>
            <a:chOff x="2394012" y="1458899"/>
            <a:chExt cx="4721439" cy="849296"/>
          </a:xfrm>
        </p:grpSpPr>
        <p:grpSp>
          <p:nvGrpSpPr>
            <p:cNvPr id="154" name="Google Shape;154;p17"/>
            <p:cNvGrpSpPr/>
            <p:nvPr/>
          </p:nvGrpSpPr>
          <p:grpSpPr>
            <a:xfrm>
              <a:off x="4419600" y="1622396"/>
              <a:ext cx="1046086" cy="522302"/>
              <a:chOff x="4360415" y="1590583"/>
              <a:chExt cx="1046086" cy="522302"/>
            </a:xfrm>
          </p:grpSpPr>
          <p:sp>
            <p:nvSpPr>
              <p:cNvPr id="155" name="Google Shape;155;p17"/>
              <p:cNvSpPr/>
              <p:nvPr/>
            </p:nvSpPr>
            <p:spPr>
              <a:xfrm>
                <a:off x="4465469" y="1811044"/>
                <a:ext cx="941032" cy="301841"/>
              </a:xfrm>
              <a:prstGeom prst="rightArrow">
                <a:avLst>
                  <a:gd name="adj1" fmla="val 50000"/>
                  <a:gd name="adj2" fmla="val 49998"/>
                </a:avLst>
              </a:prstGeom>
              <a:solidFill>
                <a:srgbClr val="996600"/>
              </a:solidFill>
              <a:ln w="1270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7"/>
              <p:cNvSpPr txBox="1"/>
              <p:nvPr/>
            </p:nvSpPr>
            <p:spPr>
              <a:xfrm>
                <a:off x="4360415" y="1590583"/>
                <a:ext cx="10460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produces</a:t>
                </a:r>
                <a:endParaRPr sz="12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" name="Google Shape;157;p17"/>
            <p:cNvGrpSpPr/>
            <p:nvPr/>
          </p:nvGrpSpPr>
          <p:grpSpPr>
            <a:xfrm>
              <a:off x="5987989" y="1458899"/>
              <a:ext cx="1127462" cy="849296"/>
              <a:chOff x="5894774" y="1458899"/>
              <a:chExt cx="1127462" cy="849296"/>
            </a:xfrm>
          </p:grpSpPr>
          <p:sp>
            <p:nvSpPr>
              <p:cNvPr id="158" name="Google Shape;158;p17"/>
              <p:cNvSpPr/>
              <p:nvPr/>
            </p:nvSpPr>
            <p:spPr>
              <a:xfrm>
                <a:off x="5903649" y="1722269"/>
                <a:ext cx="1118587" cy="585926"/>
              </a:xfrm>
              <a:prstGeom prst="flowChartDocument">
                <a:avLst/>
              </a:prstGeom>
              <a:solidFill>
                <a:srgbClr val="66FF99"/>
              </a:solidFill>
              <a:ln w="1270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7"/>
              <p:cNvSpPr txBox="1"/>
              <p:nvPr/>
            </p:nvSpPr>
            <p:spPr>
              <a:xfrm>
                <a:off x="5894774" y="1458899"/>
                <a:ext cx="106532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Source code</a:t>
                </a:r>
                <a:endParaRPr sz="12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7"/>
              <p:cNvSpPr txBox="1"/>
              <p:nvPr/>
            </p:nvSpPr>
            <p:spPr>
              <a:xfrm>
                <a:off x="5925844" y="1771096"/>
                <a:ext cx="10520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welcome.c </a:t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17"/>
            <p:cNvGrpSpPr/>
            <p:nvPr/>
          </p:nvGrpSpPr>
          <p:grpSpPr>
            <a:xfrm>
              <a:off x="2394012" y="1550635"/>
              <a:ext cx="1660124" cy="665825"/>
              <a:chOff x="2334828" y="1562470"/>
              <a:chExt cx="1660124" cy="665825"/>
            </a:xfrm>
          </p:grpSpPr>
          <p:sp>
            <p:nvSpPr>
              <p:cNvPr id="162" name="Google Shape;162;p17"/>
              <p:cNvSpPr/>
              <p:nvPr/>
            </p:nvSpPr>
            <p:spPr>
              <a:xfrm>
                <a:off x="2334828" y="1562470"/>
                <a:ext cx="1660124" cy="665825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2654423" y="1615737"/>
                <a:ext cx="102981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Editor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7"/>
              <p:cNvSpPr txBox="1"/>
              <p:nvPr/>
            </p:nvSpPr>
            <p:spPr>
              <a:xfrm>
                <a:off x="2388094" y="1914618"/>
                <a:ext cx="158022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eg: vim welcome.c</a:t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5" name="Google Shape;165;p17"/>
          <p:cNvGrpSpPr/>
          <p:nvPr/>
        </p:nvGrpSpPr>
        <p:grpSpPr>
          <a:xfrm>
            <a:off x="1444381" y="2747963"/>
            <a:ext cx="4886325" cy="857250"/>
            <a:chOff x="2394012" y="2747641"/>
            <a:chExt cx="4885677" cy="858174"/>
          </a:xfrm>
        </p:grpSpPr>
        <p:grpSp>
          <p:nvGrpSpPr>
            <p:cNvPr id="166" name="Google Shape;166;p17"/>
            <p:cNvGrpSpPr/>
            <p:nvPr/>
          </p:nvGrpSpPr>
          <p:grpSpPr>
            <a:xfrm>
              <a:off x="4419600" y="2915577"/>
              <a:ext cx="1046086" cy="522302"/>
              <a:chOff x="4397406" y="3012490"/>
              <a:chExt cx="1046086" cy="522302"/>
            </a:xfrm>
          </p:grpSpPr>
          <p:sp>
            <p:nvSpPr>
              <p:cNvPr id="167" name="Google Shape;167;p17"/>
              <p:cNvSpPr/>
              <p:nvPr/>
            </p:nvSpPr>
            <p:spPr>
              <a:xfrm>
                <a:off x="4502460" y="3232951"/>
                <a:ext cx="941032" cy="301841"/>
              </a:xfrm>
              <a:prstGeom prst="rightArrow">
                <a:avLst>
                  <a:gd name="adj1" fmla="val 50000"/>
                  <a:gd name="adj2" fmla="val 49998"/>
                </a:avLst>
              </a:prstGeom>
              <a:solidFill>
                <a:srgbClr val="996600"/>
              </a:solidFill>
              <a:ln w="1270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7"/>
              <p:cNvSpPr txBox="1"/>
              <p:nvPr/>
            </p:nvSpPr>
            <p:spPr>
              <a:xfrm>
                <a:off x="4397406" y="3012490"/>
                <a:ext cx="10460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produces</a:t>
                </a:r>
                <a:endParaRPr sz="12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" name="Google Shape;169;p17"/>
            <p:cNvGrpSpPr/>
            <p:nvPr/>
          </p:nvGrpSpPr>
          <p:grpSpPr>
            <a:xfrm>
              <a:off x="5823751" y="2747641"/>
              <a:ext cx="1455938" cy="858174"/>
              <a:chOff x="5805996" y="2898561"/>
              <a:chExt cx="1455938" cy="858174"/>
            </a:xfrm>
          </p:grpSpPr>
          <p:sp>
            <p:nvSpPr>
              <p:cNvPr id="170" name="Google Shape;170;p17"/>
              <p:cNvSpPr/>
              <p:nvPr/>
            </p:nvSpPr>
            <p:spPr>
              <a:xfrm>
                <a:off x="5949517" y="3170809"/>
                <a:ext cx="1118587" cy="585926"/>
              </a:xfrm>
              <a:prstGeom prst="flowChartDocument">
                <a:avLst/>
              </a:prstGeom>
              <a:solidFill>
                <a:srgbClr val="66FF99"/>
              </a:solidFill>
              <a:ln w="1270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7"/>
              <p:cNvSpPr txBox="1"/>
              <p:nvPr/>
            </p:nvSpPr>
            <p:spPr>
              <a:xfrm>
                <a:off x="5805996" y="2898561"/>
                <a:ext cx="145593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Executable code</a:t>
                </a:r>
                <a:endParaRPr sz="12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7"/>
              <p:cNvSpPr txBox="1"/>
              <p:nvPr/>
            </p:nvSpPr>
            <p:spPr>
              <a:xfrm>
                <a:off x="5971712" y="3219636"/>
                <a:ext cx="105200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a.out</a:t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17"/>
            <p:cNvGrpSpPr/>
            <p:nvPr/>
          </p:nvGrpSpPr>
          <p:grpSpPr>
            <a:xfrm>
              <a:off x="2394012" y="2843816"/>
              <a:ext cx="1660124" cy="665825"/>
              <a:chOff x="2425084" y="3046521"/>
              <a:chExt cx="1660124" cy="665825"/>
            </a:xfrm>
          </p:grpSpPr>
          <p:sp>
            <p:nvSpPr>
              <p:cNvPr id="174" name="Google Shape;174;p17"/>
              <p:cNvSpPr/>
              <p:nvPr/>
            </p:nvSpPr>
            <p:spPr>
              <a:xfrm>
                <a:off x="2425084" y="3046521"/>
                <a:ext cx="1660124" cy="665825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7"/>
              <p:cNvSpPr txBox="1"/>
              <p:nvPr/>
            </p:nvSpPr>
            <p:spPr>
              <a:xfrm>
                <a:off x="2663300" y="3099788"/>
                <a:ext cx="12073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Compiler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7"/>
              <p:cNvSpPr txBox="1"/>
              <p:nvPr/>
            </p:nvSpPr>
            <p:spPr>
              <a:xfrm>
                <a:off x="2478350" y="3398669"/>
                <a:ext cx="158022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eg: gcc welcome.c</a:t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7" name="Google Shape;177;p17"/>
          <p:cNvGrpSpPr/>
          <p:nvPr/>
        </p:nvGrpSpPr>
        <p:grpSpPr>
          <a:xfrm>
            <a:off x="1444381" y="4027488"/>
            <a:ext cx="4876800" cy="1068387"/>
            <a:chOff x="2394012" y="4027504"/>
            <a:chExt cx="4876800" cy="1068279"/>
          </a:xfrm>
        </p:grpSpPr>
        <p:grpSp>
          <p:nvGrpSpPr>
            <p:cNvPr id="178" name="Google Shape;178;p17"/>
            <p:cNvGrpSpPr/>
            <p:nvPr/>
          </p:nvGrpSpPr>
          <p:grpSpPr>
            <a:xfrm>
              <a:off x="2394012" y="4228731"/>
              <a:ext cx="1660124" cy="665825"/>
              <a:chOff x="2453197" y="4299752"/>
              <a:chExt cx="1660124" cy="665825"/>
            </a:xfrm>
          </p:grpSpPr>
          <p:sp>
            <p:nvSpPr>
              <p:cNvPr id="179" name="Google Shape;179;p17"/>
              <p:cNvSpPr/>
              <p:nvPr/>
            </p:nvSpPr>
            <p:spPr>
              <a:xfrm>
                <a:off x="2453197" y="4299752"/>
                <a:ext cx="1660124" cy="665825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7"/>
              <p:cNvSpPr txBox="1"/>
              <p:nvPr/>
            </p:nvSpPr>
            <p:spPr>
              <a:xfrm>
                <a:off x="2679578" y="4353019"/>
                <a:ext cx="12073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Execute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7"/>
              <p:cNvSpPr txBox="1"/>
              <p:nvPr/>
            </p:nvSpPr>
            <p:spPr>
              <a:xfrm>
                <a:off x="2493147" y="4651900"/>
                <a:ext cx="158022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eg: a.out</a:t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17"/>
            <p:cNvGrpSpPr/>
            <p:nvPr/>
          </p:nvGrpSpPr>
          <p:grpSpPr>
            <a:xfrm>
              <a:off x="4419600" y="4300492"/>
              <a:ext cx="1046086" cy="522302"/>
              <a:chOff x="4478785" y="4354498"/>
              <a:chExt cx="1046086" cy="522302"/>
            </a:xfrm>
          </p:grpSpPr>
          <p:sp>
            <p:nvSpPr>
              <p:cNvPr id="183" name="Google Shape;183;p17"/>
              <p:cNvSpPr/>
              <p:nvPr/>
            </p:nvSpPr>
            <p:spPr>
              <a:xfrm>
                <a:off x="4583839" y="4574959"/>
                <a:ext cx="941032" cy="301841"/>
              </a:xfrm>
              <a:prstGeom prst="rightArrow">
                <a:avLst>
                  <a:gd name="adj1" fmla="val 50000"/>
                  <a:gd name="adj2" fmla="val 49998"/>
                </a:avLst>
              </a:prstGeom>
              <a:solidFill>
                <a:srgbClr val="996600"/>
              </a:solidFill>
              <a:ln w="1270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7"/>
              <p:cNvSpPr txBox="1"/>
              <p:nvPr/>
            </p:nvSpPr>
            <p:spPr>
              <a:xfrm>
                <a:off x="4478785" y="4354498"/>
                <a:ext cx="104608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produces</a:t>
                </a:r>
                <a:endParaRPr sz="12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17"/>
            <p:cNvGrpSpPr/>
            <p:nvPr/>
          </p:nvGrpSpPr>
          <p:grpSpPr>
            <a:xfrm>
              <a:off x="5832629" y="4027504"/>
              <a:ext cx="1438183" cy="1068279"/>
              <a:chOff x="5859262" y="4027504"/>
              <a:chExt cx="1438183" cy="1068279"/>
            </a:xfrm>
          </p:grpSpPr>
          <p:sp>
            <p:nvSpPr>
              <p:cNvPr id="186" name="Google Shape;186;p17"/>
              <p:cNvSpPr/>
              <p:nvPr/>
            </p:nvSpPr>
            <p:spPr>
              <a:xfrm>
                <a:off x="5859262" y="4305670"/>
                <a:ext cx="1438183" cy="790113"/>
              </a:xfrm>
              <a:prstGeom prst="roundRect">
                <a:avLst>
                  <a:gd name="adj" fmla="val 16667"/>
                </a:avLst>
              </a:prstGeom>
              <a:solidFill>
                <a:srgbClr val="000000"/>
              </a:solidFill>
              <a:ln w="1270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7"/>
              <p:cNvSpPr txBox="1"/>
              <p:nvPr/>
            </p:nvSpPr>
            <p:spPr>
              <a:xfrm>
                <a:off x="6025858" y="4375131"/>
                <a:ext cx="1147762" cy="646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F2F2F2"/>
                    </a:solidFill>
                    <a:latin typeface="Arial"/>
                    <a:ea typeface="Arial"/>
                    <a:cs typeface="Arial"/>
                    <a:sym typeface="Arial"/>
                  </a:rPr>
                  <a:t>Hello, welcome to CS1010!</a:t>
                </a:r>
                <a:endParaRPr sz="1200">
                  <a:solidFill>
                    <a:srgbClr val="F2F2F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7"/>
              <p:cNvSpPr txBox="1"/>
              <p:nvPr/>
            </p:nvSpPr>
            <p:spPr>
              <a:xfrm>
                <a:off x="5948039" y="4027504"/>
                <a:ext cx="118073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i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Output</a:t>
                </a:r>
                <a:endParaRPr sz="1200" i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9" name="Google Shape;189;p17"/>
          <p:cNvGrpSpPr/>
          <p:nvPr/>
        </p:nvGrpSpPr>
        <p:grpSpPr>
          <a:xfrm>
            <a:off x="5122983" y="1676398"/>
            <a:ext cx="3481754" cy="3059723"/>
            <a:chOff x="5122983" y="1676398"/>
            <a:chExt cx="3481754" cy="3059723"/>
          </a:xfrm>
        </p:grpSpPr>
        <p:sp>
          <p:nvSpPr>
            <p:cNvPr id="190" name="Google Shape;190;p17"/>
            <p:cNvSpPr/>
            <p:nvPr/>
          </p:nvSpPr>
          <p:spPr>
            <a:xfrm rot="5400000" flipH="1">
              <a:off x="5187460" y="1611922"/>
              <a:ext cx="3059723" cy="3188676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547" y="60000"/>
                  </a:moveTo>
                  <a:lnTo>
                    <a:pt x="5547" y="60000"/>
                  </a:lnTo>
                  <a:cubicBezTo>
                    <a:pt x="5547" y="33204"/>
                    <a:pt x="24887" y="10356"/>
                    <a:pt x="51225" y="6037"/>
                  </a:cubicBezTo>
                  <a:cubicBezTo>
                    <a:pt x="77562" y="1719"/>
                    <a:pt x="103136" y="17203"/>
                    <a:pt x="111625" y="42607"/>
                  </a:cubicBezTo>
                  <a:lnTo>
                    <a:pt x="117067" y="41739"/>
                  </a:lnTo>
                  <a:lnTo>
                    <a:pt x="111112" y="51845"/>
                  </a:lnTo>
                  <a:lnTo>
                    <a:pt x="100790" y="44336"/>
                  </a:lnTo>
                  <a:lnTo>
                    <a:pt x="106230" y="43468"/>
                  </a:lnTo>
                  <a:cubicBezTo>
                    <a:pt x="98252" y="20756"/>
                    <a:pt x="75223" y="7142"/>
                    <a:pt x="51688" y="11226"/>
                  </a:cubicBezTo>
                  <a:cubicBezTo>
                    <a:pt x="28153" y="15310"/>
                    <a:pt x="10953" y="35904"/>
                    <a:pt x="10953" y="60000"/>
                  </a:cubicBez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7"/>
            <p:cNvSpPr txBox="1"/>
            <p:nvPr/>
          </p:nvSpPr>
          <p:spPr>
            <a:xfrm>
              <a:off x="7702061" y="4126523"/>
              <a:ext cx="90267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Incorrect result?</a:t>
              </a:r>
              <a:endParaRPr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17"/>
          <p:cNvGrpSpPr/>
          <p:nvPr/>
        </p:nvGrpSpPr>
        <p:grpSpPr>
          <a:xfrm>
            <a:off x="5926017" y="2162908"/>
            <a:ext cx="1553307" cy="1431757"/>
            <a:chOff x="5926017" y="2162908"/>
            <a:chExt cx="1553307" cy="1431757"/>
          </a:xfrm>
        </p:grpSpPr>
        <p:sp>
          <p:nvSpPr>
            <p:cNvPr id="193" name="Google Shape;193;p17"/>
            <p:cNvSpPr/>
            <p:nvPr/>
          </p:nvSpPr>
          <p:spPr>
            <a:xfrm rot="5400000" flipH="1">
              <a:off x="5890847" y="2198078"/>
              <a:ext cx="1107830" cy="103749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7024" y="60000"/>
                  </a:moveTo>
                  <a:lnTo>
                    <a:pt x="7024" y="60000"/>
                  </a:lnTo>
                  <a:cubicBezTo>
                    <a:pt x="7024" y="34101"/>
                    <a:pt x="26082" y="12071"/>
                    <a:pt x="51909" y="8116"/>
                  </a:cubicBezTo>
                  <a:cubicBezTo>
                    <a:pt x="77737" y="4161"/>
                    <a:pt x="102616" y="19461"/>
                    <a:pt x="110505" y="44152"/>
                  </a:cubicBezTo>
                  <a:lnTo>
                    <a:pt x="117056" y="44152"/>
                  </a:lnTo>
                  <a:lnTo>
                    <a:pt x="105952" y="60000"/>
                  </a:lnTo>
                  <a:lnTo>
                    <a:pt x="88961" y="44152"/>
                  </a:lnTo>
                  <a:lnTo>
                    <a:pt x="95282" y="44152"/>
                  </a:lnTo>
                  <a:cubicBezTo>
                    <a:pt x="87568" y="28216"/>
                    <a:pt x="69395" y="19583"/>
                    <a:pt x="51575" y="23389"/>
                  </a:cubicBezTo>
                  <a:cubicBezTo>
                    <a:pt x="33754" y="27194"/>
                    <a:pt x="21071" y="42417"/>
                    <a:pt x="21071" y="60000"/>
                  </a:cubicBezTo>
                  <a:close/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7"/>
            <p:cNvSpPr txBox="1"/>
            <p:nvPr/>
          </p:nvSpPr>
          <p:spPr>
            <a:xfrm>
              <a:off x="6564924" y="3071445"/>
              <a:ext cx="9144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FF"/>
                  </a:solidFill>
                  <a:latin typeface="Arial"/>
                  <a:ea typeface="Arial"/>
                  <a:cs typeface="Arial"/>
                  <a:sym typeface="Arial"/>
                </a:rPr>
                <a:t>Cannot compile?</a:t>
              </a:r>
              <a:endParaRPr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5" name="Google Shape;195;p17"/>
          <p:cNvSpPr txBox="1"/>
          <p:nvPr/>
        </p:nvSpPr>
        <p:spPr>
          <a:xfrm>
            <a:off x="2391507" y="5439509"/>
            <a:ext cx="4677508" cy="646331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i="1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Test, test, and test!</a:t>
            </a:r>
            <a:endParaRPr sz="3600" i="1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18"/>
          <p:cNvGrpSpPr/>
          <p:nvPr/>
        </p:nvGrpSpPr>
        <p:grpSpPr>
          <a:xfrm>
            <a:off x="1418492" y="1071155"/>
            <a:ext cx="7398937" cy="4944967"/>
            <a:chOff x="1418492" y="1071155"/>
            <a:chExt cx="7398937" cy="4944967"/>
          </a:xfrm>
        </p:grpSpPr>
        <p:sp>
          <p:nvSpPr>
            <p:cNvPr id="202" name="Google Shape;202;p18"/>
            <p:cNvSpPr txBox="1"/>
            <p:nvPr/>
          </p:nvSpPr>
          <p:spPr>
            <a:xfrm>
              <a:off x="1418492" y="1184030"/>
              <a:ext cx="6943456" cy="4832092"/>
            </a:xfrm>
            <a:prstGeom prst="rect">
              <a:avLst/>
            </a:prstGeom>
            <a:solidFill>
              <a:srgbClr val="F2F2F2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 Converts distance in miles to kilometres.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*/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030A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#include 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&lt;stdio.h&gt;   </a:t>
              </a: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 printf, scanf definitions */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030A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#define KMS_PER_MILE 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1.609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/* conversion constant */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main(</a:t>
              </a:r>
              <a:r>
                <a:rPr lang="en-US" sz="14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</a:t>
              </a:r>
              <a:r>
                <a:rPr lang="en-US" sz="14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miles,   </a:t>
              </a: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input – distance in miles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      kms;     </a:t>
              </a: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// output – distance in kilometres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/* Get the distance in miles */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printf(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"Enter distance in miles: "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scanf(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400" b="1">
                  <a:solidFill>
                    <a:srgbClr val="C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%f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&amp;miles);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// Convert the distance to kilometres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kms = KMS_PER_MILE * miles;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8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// Display the distance in kilometres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printf(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"That equals </a:t>
              </a:r>
              <a:r>
                <a:rPr lang="en-US" sz="1400" b="1">
                  <a:solidFill>
                    <a:srgbClr val="C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%9.2f 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km.</a:t>
              </a:r>
              <a:r>
                <a:rPr lang="en-US" sz="1400" b="1">
                  <a:solidFill>
                    <a:srgbClr val="C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\n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kms);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</a:t>
              </a:r>
              <a:r>
                <a:rPr lang="en-US" sz="14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03" name="Google Shape;203;p18"/>
            <p:cNvSpPr txBox="1"/>
            <p:nvPr/>
          </p:nvSpPr>
          <p:spPr>
            <a:xfrm>
              <a:off x="6384833" y="1071155"/>
              <a:ext cx="2432596" cy="369332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Week2_MileToKm.c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18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2. Our First Program (1/4)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05" name="Google Shape;205;p1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4031641" y="5353050"/>
            <a:ext cx="3822822" cy="1169988"/>
          </a:xfrm>
          <a:prstGeom prst="rect">
            <a:avLst/>
          </a:prstGeom>
          <a:solidFill>
            <a:srgbClr val="CCFF99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5400" dir="54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Run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4068275" y="5572125"/>
            <a:ext cx="3457940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gcc Week2_MileToKm.c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a.out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087325" y="6022975"/>
            <a:ext cx="346233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Enter distance in miles: 10.5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That equals     16.89 km.</a:t>
            </a:r>
            <a:endParaRPr sz="1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1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2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3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4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19"/>
          <p:cNvGrpSpPr/>
          <p:nvPr/>
        </p:nvGrpSpPr>
        <p:grpSpPr>
          <a:xfrm>
            <a:off x="1418492" y="1071155"/>
            <a:ext cx="7398937" cy="3436862"/>
            <a:chOff x="1418492" y="1071155"/>
            <a:chExt cx="7398937" cy="3436862"/>
          </a:xfrm>
        </p:grpSpPr>
        <p:sp>
          <p:nvSpPr>
            <p:cNvPr id="216" name="Google Shape;216;p19"/>
            <p:cNvSpPr txBox="1"/>
            <p:nvPr/>
          </p:nvSpPr>
          <p:spPr>
            <a:xfrm>
              <a:off x="1418492" y="1184030"/>
              <a:ext cx="6943456" cy="3323987"/>
            </a:xfrm>
            <a:prstGeom prst="rect">
              <a:avLst/>
            </a:prstGeom>
            <a:solidFill>
              <a:srgbClr val="F2F2F2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030A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#include 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&lt;stdio.h&gt; 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7030A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#define KMS_PER_MILE 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1.609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int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main(</a:t>
              </a:r>
              <a:r>
                <a:rPr lang="en-US" sz="14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 {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</a:t>
              </a:r>
              <a:r>
                <a:rPr lang="en-US" sz="14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float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miles,kms;   </a:t>
              </a:r>
              <a:endParaRPr sz="14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printf(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"Enter distance in miles: "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scanf(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400" b="1">
                  <a:solidFill>
                    <a:srgbClr val="C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%f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&amp;miles);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kms = KMS_PER_MILE * miles;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printf(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"That equals </a:t>
              </a:r>
              <a:r>
                <a:rPr lang="en-US" sz="1400" b="1">
                  <a:solidFill>
                    <a:srgbClr val="C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%9.2f 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km.</a:t>
              </a:r>
              <a:r>
                <a:rPr lang="en-US" sz="1400" b="1">
                  <a:solidFill>
                    <a:srgbClr val="C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\n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kms);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	</a:t>
              </a:r>
              <a:r>
                <a:rPr lang="en-US" sz="14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return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en-US" sz="1400" b="1">
                  <a:solidFill>
                    <a:srgbClr val="0066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;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6384833" y="1071155"/>
              <a:ext cx="2432596" cy="369332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Week2_MileToKm.c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19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2. Our First Program (1/4)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9" name="Google Shape;219;p1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4031641" y="5353050"/>
            <a:ext cx="3822822" cy="1169988"/>
          </a:xfrm>
          <a:prstGeom prst="rect">
            <a:avLst/>
          </a:prstGeom>
          <a:solidFill>
            <a:srgbClr val="CCFF99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38100" dist="25400" dir="54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Sample Run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4068275" y="5572125"/>
            <a:ext cx="3457940" cy="52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gcc Week2_MileToKm.c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4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a.out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087325" y="6022975"/>
            <a:ext cx="346233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Enter distance in miles: 10.5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That equals     16.89 km.</a:t>
            </a:r>
            <a:endParaRPr sz="14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1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2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3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4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2. Our First Program (2/4)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30" name="Google Shape;230;p2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231" name="Google Shape;231;p20"/>
          <p:cNvSpPr txBox="1">
            <a:spLocks noGrp="1"/>
          </p:cNvSpPr>
          <p:nvPr>
            <p:ph type="body" idx="1"/>
          </p:nvPr>
        </p:nvSpPr>
        <p:spPr>
          <a:xfrm>
            <a:off x="506413" y="1344613"/>
            <a:ext cx="8229600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31"/>
              <a:buFont typeface="Noto Sans Symbols"/>
              <a:buChar char="▶"/>
            </a:pPr>
            <a:r>
              <a:rPr lang="en-US" sz="2015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General form of a C program:</a:t>
            </a:r>
            <a:endParaRPr/>
          </a:p>
          <a:p>
            <a:pPr marL="274320" marR="0" lvl="0" indent="-27432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31"/>
              <a:buFont typeface="Noto Sans Symbols"/>
              <a:buNone/>
            </a:pPr>
            <a:r>
              <a:rPr lang="en-US" sz="2015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	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420813" y="2298700"/>
            <a:ext cx="6240462" cy="304800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preprocessor directives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main function heading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declarations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executable statements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2. Our First Program cont.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40" name="Google Shape;240;p21"/>
          <p:cNvSpPr txBox="1">
            <a:spLocks noGrp="1"/>
          </p:cNvSpPr>
          <p:nvPr>
            <p:ph type="body" idx="1"/>
          </p:nvPr>
        </p:nvSpPr>
        <p:spPr>
          <a:xfrm>
            <a:off x="506413" y="1344613"/>
            <a:ext cx="8229600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6"/>
              <a:buFont typeface="Noto Sans Symbols"/>
              <a:buChar char="▶"/>
            </a:pPr>
            <a:r>
              <a:rPr lang="en-US" sz="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main() function starts as following, where execution begins</a:t>
            </a:r>
            <a:endParaRPr/>
          </a:p>
          <a:p>
            <a:pPr marL="274320" marR="0" lvl="0" indent="-245364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56"/>
              <a:buFont typeface="Noto Sans Symbols"/>
              <a:buNone/>
            </a:pPr>
            <a:endParaRPr sz="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45364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56"/>
              <a:buFont typeface="Noto Sans Symbols"/>
              <a:buNone/>
            </a:pPr>
            <a:endParaRPr sz="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56"/>
              <a:buFont typeface="Noto Sans Symbols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	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1420813" y="2184396"/>
            <a:ext cx="6240462" cy="461665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lang="en-US" sz="24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 main(void)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515933" y="2682917"/>
            <a:ext cx="8229600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rest of the function is called </a:t>
            </a:r>
            <a:r>
              <a:rPr lang="en-US" sz="24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body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	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430333" y="3332271"/>
            <a:ext cx="6240462" cy="156966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lang="en-US" sz="24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 main(void)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lang="en-US" sz="24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lang="en-US" sz="24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	function body</a:t>
            </a:r>
            <a:endParaRPr sz="2400" i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None/>
            </a:pPr>
            <a:r>
              <a:rPr lang="en-US" sz="2400" i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39741" y="4878501"/>
            <a:ext cx="8229600" cy="66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Body is divided into two parts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◻"/>
            </a:pPr>
            <a:r>
              <a:rPr lang="en-US" sz="20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Declaration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◻"/>
            </a:pPr>
            <a:r>
              <a:rPr lang="en-US" sz="20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Executable statements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endParaRPr sz="24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endParaRPr sz="24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	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/>
        </p:nvSpPr>
        <p:spPr>
          <a:xfrm>
            <a:off x="1418492" y="1088086"/>
            <a:ext cx="6943456" cy="5262979"/>
          </a:xfrm>
          <a:prstGeom prst="rect">
            <a:avLst/>
          </a:prstGeom>
          <a:solidFill>
            <a:srgbClr val="F2F2F2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/*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* Converts distance in miles to kilometres.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#include </a:t>
            </a:r>
            <a:r>
              <a:rPr lang="en-US" sz="1600" b="1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&lt;stdio.h&gt;   </a:t>
            </a: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/* printf, scanf definitions */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#define KMS_PER_MILE </a:t>
            </a:r>
            <a:r>
              <a:rPr lang="en-US" sz="1600" b="1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1.609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/* conversion constant */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main(</a:t>
            </a:r>
            <a:r>
              <a:rPr lang="en-US" sz="16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16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miles,   </a:t>
            </a: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// input – distance in miles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  kms;     </a:t>
            </a: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// output – distance in kilometres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	/* Get the distance in miles */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printf(</a:t>
            </a:r>
            <a:r>
              <a:rPr lang="en-US" sz="1600" b="1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"Enter distance in miles: "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scanf(</a:t>
            </a:r>
            <a:r>
              <a:rPr lang="en-US" sz="1600" b="1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%f</a:t>
            </a:r>
            <a:r>
              <a:rPr lang="en-US" sz="1600" b="1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&amp;miles);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	// Convert the distance to kilometres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kms = KMS_PER_MILE * miles;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	// Display the distance in kilometres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printf(</a:t>
            </a:r>
            <a:r>
              <a:rPr lang="en-US" sz="1600" b="1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"That equals </a:t>
            </a:r>
            <a:r>
              <a:rPr lang="en-US" sz="16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%9.2f </a:t>
            </a:r>
            <a:r>
              <a:rPr lang="en-US" sz="1600" b="1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km.</a:t>
            </a:r>
            <a:r>
              <a:rPr lang="en-US" sz="16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-US" sz="1600" b="1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kms);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16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600" b="1">
                <a:solidFill>
                  <a:srgbClr val="0066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p22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2. Our First Program (3/4)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52" name="Google Shape;252;p2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grpSp>
        <p:nvGrpSpPr>
          <p:cNvPr id="253" name="Google Shape;253;p22"/>
          <p:cNvGrpSpPr/>
          <p:nvPr/>
        </p:nvGrpSpPr>
        <p:grpSpPr>
          <a:xfrm>
            <a:off x="156919" y="1831487"/>
            <a:ext cx="1371600" cy="523875"/>
            <a:chOff x="191730" y="1902542"/>
            <a:chExt cx="1371599" cy="523220"/>
          </a:xfrm>
        </p:grpSpPr>
        <p:sp>
          <p:nvSpPr>
            <p:cNvPr id="254" name="Google Shape;254;p22"/>
            <p:cNvSpPr txBox="1"/>
            <p:nvPr/>
          </p:nvSpPr>
          <p:spPr>
            <a:xfrm>
              <a:off x="191730" y="1902542"/>
              <a:ext cx="1224116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preprocessor directives</a:t>
              </a:r>
              <a:endParaRPr sz="14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5" name="Google Shape;255;p22"/>
            <p:cNvCxnSpPr/>
            <p:nvPr/>
          </p:nvCxnSpPr>
          <p:spPr>
            <a:xfrm rot="10800000" flipH="1">
              <a:off x="1091381" y="2094271"/>
              <a:ext cx="471948" cy="147483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6" name="Google Shape;256;p22"/>
            <p:cNvCxnSpPr/>
            <p:nvPr/>
          </p:nvCxnSpPr>
          <p:spPr>
            <a:xfrm>
              <a:off x="1081549" y="2261418"/>
              <a:ext cx="481780" cy="39330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57" name="Google Shape;257;p22"/>
          <p:cNvGrpSpPr/>
          <p:nvPr/>
        </p:nvGrpSpPr>
        <p:grpSpPr>
          <a:xfrm>
            <a:off x="3688373" y="1603986"/>
            <a:ext cx="2109788" cy="349250"/>
            <a:chOff x="3524866" y="1745225"/>
            <a:chExt cx="2109018" cy="349045"/>
          </a:xfrm>
        </p:grpSpPr>
        <p:sp>
          <p:nvSpPr>
            <p:cNvPr id="258" name="Google Shape;258;p22"/>
            <p:cNvSpPr txBox="1"/>
            <p:nvPr/>
          </p:nvSpPr>
          <p:spPr>
            <a:xfrm>
              <a:off x="3883743" y="1745225"/>
              <a:ext cx="1750141" cy="319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standard header file</a:t>
              </a:r>
              <a:endParaRPr sz="14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9" name="Google Shape;259;p22"/>
            <p:cNvCxnSpPr/>
            <p:nvPr/>
          </p:nvCxnSpPr>
          <p:spPr>
            <a:xfrm flipH="1">
              <a:off x="3524866" y="1912371"/>
              <a:ext cx="393293" cy="181899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60" name="Google Shape;260;p22"/>
          <p:cNvGrpSpPr/>
          <p:nvPr/>
        </p:nvGrpSpPr>
        <p:grpSpPr>
          <a:xfrm>
            <a:off x="5931641" y="3352800"/>
            <a:ext cx="2164487" cy="1045552"/>
            <a:chOff x="6329728" y="3365139"/>
            <a:chExt cx="2165343" cy="1044627"/>
          </a:xfrm>
        </p:grpSpPr>
        <p:sp>
          <p:nvSpPr>
            <p:cNvPr id="261" name="Google Shape;261;p22"/>
            <p:cNvSpPr txBox="1"/>
            <p:nvPr/>
          </p:nvSpPr>
          <p:spPr>
            <a:xfrm>
              <a:off x="7506928" y="3637936"/>
              <a:ext cx="9881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comments</a:t>
              </a:r>
              <a:endParaRPr sz="14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2" name="Google Shape;262;p22"/>
            <p:cNvCxnSpPr/>
            <p:nvPr/>
          </p:nvCxnSpPr>
          <p:spPr>
            <a:xfrm rot="10800000">
              <a:off x="7057082" y="3365139"/>
              <a:ext cx="435099" cy="366206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3" name="Google Shape;263;p22"/>
            <p:cNvCxnSpPr>
              <a:stCxn id="261" idx="1"/>
            </p:cNvCxnSpPr>
            <p:nvPr/>
          </p:nvCxnSpPr>
          <p:spPr>
            <a:xfrm rot="10800000">
              <a:off x="6329728" y="3611224"/>
              <a:ext cx="1177200" cy="180600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4" name="Google Shape;264;p22"/>
            <p:cNvCxnSpPr/>
            <p:nvPr/>
          </p:nvCxnSpPr>
          <p:spPr>
            <a:xfrm flipH="1">
              <a:off x="6931742" y="3893573"/>
              <a:ext cx="678426" cy="516193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65" name="Google Shape;265;p22"/>
          <p:cNvGrpSpPr/>
          <p:nvPr/>
        </p:nvGrpSpPr>
        <p:grpSpPr>
          <a:xfrm>
            <a:off x="4571976" y="2344437"/>
            <a:ext cx="1472737" cy="338808"/>
            <a:chOff x="3563895" y="2461262"/>
            <a:chExt cx="1473243" cy="339289"/>
          </a:xfrm>
        </p:grpSpPr>
        <p:sp>
          <p:nvSpPr>
            <p:cNvPr id="266" name="Google Shape;266;p22"/>
            <p:cNvSpPr txBox="1"/>
            <p:nvPr/>
          </p:nvSpPr>
          <p:spPr>
            <a:xfrm>
              <a:off x="4048995" y="2492773"/>
              <a:ext cx="9881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constant</a:t>
              </a:r>
              <a:endParaRPr sz="14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7" name="Google Shape;267;p22"/>
            <p:cNvCxnSpPr>
              <a:stCxn id="266" idx="1"/>
            </p:cNvCxnSpPr>
            <p:nvPr/>
          </p:nvCxnSpPr>
          <p:spPr>
            <a:xfrm rot="10800000">
              <a:off x="3563895" y="2461262"/>
              <a:ext cx="485100" cy="185400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68" name="Google Shape;268;p22"/>
          <p:cNvGrpSpPr/>
          <p:nvPr/>
        </p:nvGrpSpPr>
        <p:grpSpPr>
          <a:xfrm>
            <a:off x="269875" y="2762250"/>
            <a:ext cx="2424113" cy="784225"/>
            <a:chOff x="270386" y="2762866"/>
            <a:chExt cx="2423653" cy="783774"/>
          </a:xfrm>
        </p:grpSpPr>
        <p:sp>
          <p:nvSpPr>
            <p:cNvPr id="269" name="Google Shape;269;p22"/>
            <p:cNvSpPr txBox="1"/>
            <p:nvPr/>
          </p:nvSpPr>
          <p:spPr>
            <a:xfrm>
              <a:off x="270386" y="3023420"/>
              <a:ext cx="988143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reserved words</a:t>
              </a:r>
              <a:endParaRPr sz="14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0" name="Google Shape;270;p22"/>
            <p:cNvCxnSpPr/>
            <p:nvPr/>
          </p:nvCxnSpPr>
          <p:spPr>
            <a:xfrm rot="10800000" flipH="1">
              <a:off x="1076632" y="2762866"/>
              <a:ext cx="535858" cy="363792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1" name="Google Shape;271;p22"/>
            <p:cNvCxnSpPr/>
            <p:nvPr/>
          </p:nvCxnSpPr>
          <p:spPr>
            <a:xfrm rot="10800000" flipH="1">
              <a:off x="1061884" y="2782531"/>
              <a:ext cx="1632155" cy="447366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2" name="Google Shape;272;p22"/>
            <p:cNvCxnSpPr/>
            <p:nvPr/>
          </p:nvCxnSpPr>
          <p:spPr>
            <a:xfrm rot="10800000" flipH="1">
              <a:off x="1052803" y="2919572"/>
              <a:ext cx="787933" cy="269936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73" name="Google Shape;273;p22"/>
          <p:cNvGrpSpPr/>
          <p:nvPr/>
        </p:nvGrpSpPr>
        <p:grpSpPr>
          <a:xfrm>
            <a:off x="276348" y="2982424"/>
            <a:ext cx="2279650" cy="912812"/>
            <a:chOff x="334296" y="3205318"/>
            <a:chExt cx="2281084" cy="912459"/>
          </a:xfrm>
        </p:grpSpPr>
        <p:sp>
          <p:nvSpPr>
            <p:cNvPr id="274" name="Google Shape;274;p22"/>
            <p:cNvSpPr txBox="1"/>
            <p:nvPr/>
          </p:nvSpPr>
          <p:spPr>
            <a:xfrm>
              <a:off x="334296" y="3810000"/>
              <a:ext cx="98814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variables</a:t>
              </a:r>
              <a:endParaRPr sz="14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5" name="Google Shape;275;p22"/>
            <p:cNvCxnSpPr/>
            <p:nvPr/>
          </p:nvCxnSpPr>
          <p:spPr>
            <a:xfrm rot="10800000" flipH="1">
              <a:off x="1165123" y="3205318"/>
              <a:ext cx="1450257" cy="703005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6" name="Google Shape;276;p22"/>
            <p:cNvCxnSpPr/>
            <p:nvPr/>
          </p:nvCxnSpPr>
          <p:spPr>
            <a:xfrm rot="10800000" flipH="1">
              <a:off x="1165123" y="3357719"/>
              <a:ext cx="1440425" cy="565352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77" name="Google Shape;277;p22"/>
          <p:cNvGrpSpPr/>
          <p:nvPr/>
        </p:nvGrpSpPr>
        <p:grpSpPr>
          <a:xfrm>
            <a:off x="816865" y="3938956"/>
            <a:ext cx="1047105" cy="698134"/>
            <a:chOff x="816765" y="3938493"/>
            <a:chExt cx="1046878" cy="698384"/>
          </a:xfrm>
        </p:grpSpPr>
        <p:sp>
          <p:nvSpPr>
            <p:cNvPr id="278" name="Google Shape;278;p22"/>
            <p:cNvSpPr txBox="1"/>
            <p:nvPr/>
          </p:nvSpPr>
          <p:spPr>
            <a:xfrm>
              <a:off x="816765" y="4329100"/>
              <a:ext cx="938293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functions</a:t>
              </a:r>
              <a:endParaRPr sz="14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9" name="Google Shape;279;p22"/>
            <p:cNvCxnSpPr/>
            <p:nvPr/>
          </p:nvCxnSpPr>
          <p:spPr>
            <a:xfrm rot="10800000" flipH="1">
              <a:off x="1519084" y="3938493"/>
              <a:ext cx="321118" cy="427030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0" name="Google Shape;280;p22"/>
            <p:cNvCxnSpPr/>
            <p:nvPr/>
          </p:nvCxnSpPr>
          <p:spPr>
            <a:xfrm rot="10800000" flipH="1">
              <a:off x="1533832" y="4184763"/>
              <a:ext cx="329811" cy="210254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81" name="Google Shape;281;p22"/>
          <p:cNvGrpSpPr/>
          <p:nvPr/>
        </p:nvGrpSpPr>
        <p:grpSpPr>
          <a:xfrm>
            <a:off x="292832" y="4794736"/>
            <a:ext cx="3865809" cy="1148866"/>
            <a:chOff x="339214" y="4723869"/>
            <a:chExt cx="3866292" cy="1149598"/>
          </a:xfrm>
        </p:grpSpPr>
        <p:sp>
          <p:nvSpPr>
            <p:cNvPr id="282" name="Google Shape;282;p22"/>
            <p:cNvSpPr txBox="1"/>
            <p:nvPr/>
          </p:nvSpPr>
          <p:spPr>
            <a:xfrm>
              <a:off x="339214" y="4881717"/>
              <a:ext cx="889819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special symbols</a:t>
              </a:r>
              <a:endParaRPr sz="14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3" name="Google Shape;283;p22"/>
            <p:cNvCxnSpPr/>
            <p:nvPr/>
          </p:nvCxnSpPr>
          <p:spPr>
            <a:xfrm rot="10800000" flipH="1">
              <a:off x="1076632" y="4723869"/>
              <a:ext cx="1291172" cy="393823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4" name="Google Shape;284;p22"/>
            <p:cNvCxnSpPr/>
            <p:nvPr/>
          </p:nvCxnSpPr>
          <p:spPr>
            <a:xfrm rot="10800000" flipH="1">
              <a:off x="1061884" y="4751670"/>
              <a:ext cx="3143622" cy="395517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5" name="Google Shape;285;p22"/>
            <p:cNvCxnSpPr/>
            <p:nvPr/>
          </p:nvCxnSpPr>
          <p:spPr>
            <a:xfrm>
              <a:off x="1091384" y="5161938"/>
              <a:ext cx="479155" cy="711529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86" name="Google Shape;286;p22"/>
          <p:cNvGrpSpPr/>
          <p:nvPr/>
        </p:nvGrpSpPr>
        <p:grpSpPr>
          <a:xfrm>
            <a:off x="2963849" y="5545015"/>
            <a:ext cx="3577629" cy="741607"/>
            <a:chOff x="2964414" y="5451294"/>
            <a:chExt cx="3576648" cy="741091"/>
          </a:xfrm>
        </p:grpSpPr>
        <p:sp>
          <p:nvSpPr>
            <p:cNvPr id="287" name="Google Shape;287;p22"/>
            <p:cNvSpPr txBox="1"/>
            <p:nvPr/>
          </p:nvSpPr>
          <p:spPr>
            <a:xfrm>
              <a:off x="5034114" y="5884608"/>
              <a:ext cx="12339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i="1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punctuations</a:t>
              </a:r>
              <a:endParaRPr sz="1400" i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8" name="Google Shape;288;p22"/>
            <p:cNvCxnSpPr/>
            <p:nvPr/>
          </p:nvCxnSpPr>
          <p:spPr>
            <a:xfrm rot="10800000" flipH="1">
              <a:off x="5810865" y="5463009"/>
              <a:ext cx="730197" cy="495340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9" name="Google Shape;289;p22"/>
            <p:cNvCxnSpPr/>
            <p:nvPr/>
          </p:nvCxnSpPr>
          <p:spPr>
            <a:xfrm rot="10800000" flipH="1">
              <a:off x="5766619" y="5451294"/>
              <a:ext cx="59534" cy="492307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0" name="Google Shape;290;p22"/>
            <p:cNvCxnSpPr>
              <a:stCxn id="287" idx="1"/>
            </p:cNvCxnSpPr>
            <p:nvPr/>
          </p:nvCxnSpPr>
          <p:spPr>
            <a:xfrm rot="10800000">
              <a:off x="2964414" y="5707596"/>
              <a:ext cx="2069700" cy="330900"/>
            </a:xfrm>
            <a:prstGeom prst="straightConnector1">
              <a:avLst/>
            </a:prstGeom>
            <a:noFill/>
            <a:ln w="12700" cap="sq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91" name="Google Shape;291;p2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2. Our First Program (4/4)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98" name="Google Shape;298;p23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717550" y="4803820"/>
            <a:ext cx="185261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At the beginning</a:t>
            </a:r>
            <a:endParaRPr/>
          </a:p>
        </p:txBody>
      </p:sp>
      <p:grpSp>
        <p:nvGrpSpPr>
          <p:cNvPr id="300" name="Google Shape;300;p23"/>
          <p:cNvGrpSpPr/>
          <p:nvPr/>
        </p:nvGrpSpPr>
        <p:grpSpPr>
          <a:xfrm>
            <a:off x="568325" y="1661023"/>
            <a:ext cx="2555875" cy="3071812"/>
            <a:chOff x="3346882" y="2379216"/>
            <a:chExt cx="2556769" cy="3071674"/>
          </a:xfrm>
        </p:grpSpPr>
        <p:sp>
          <p:nvSpPr>
            <p:cNvPr id="301" name="Google Shape;301;p23"/>
            <p:cNvSpPr/>
            <p:nvPr/>
          </p:nvSpPr>
          <p:spPr>
            <a:xfrm>
              <a:off x="3346882" y="2379216"/>
              <a:ext cx="2556769" cy="3071674"/>
            </a:xfrm>
            <a:prstGeom prst="rect">
              <a:avLst/>
            </a:prstGeom>
            <a:solidFill>
              <a:schemeClr val="accent1"/>
            </a:solidFill>
            <a:ln w="19050" cap="sq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3"/>
            <p:cNvSpPr txBox="1"/>
            <p:nvPr/>
          </p:nvSpPr>
          <p:spPr>
            <a:xfrm>
              <a:off x="4119239" y="2467993"/>
              <a:ext cx="101205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3" name="Google Shape;303;p23"/>
            <p:cNvGrpSpPr/>
            <p:nvPr/>
          </p:nvGrpSpPr>
          <p:grpSpPr>
            <a:xfrm>
              <a:off x="3737544" y="2876081"/>
              <a:ext cx="1775446" cy="639734"/>
              <a:chOff x="3693156" y="2938225"/>
              <a:chExt cx="1775446" cy="639734"/>
            </a:xfrm>
          </p:grpSpPr>
          <p:sp>
            <p:nvSpPr>
              <p:cNvPr id="304" name="Google Shape;304;p23"/>
              <p:cNvSpPr/>
              <p:nvPr/>
            </p:nvSpPr>
            <p:spPr>
              <a:xfrm>
                <a:off x="3693156" y="2938225"/>
                <a:ext cx="1775446" cy="639734"/>
              </a:xfrm>
              <a:prstGeom prst="rect">
                <a:avLst/>
              </a:prstGeom>
              <a:solidFill>
                <a:srgbClr val="C4CE52"/>
              </a:solidFill>
              <a:ln w="1905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23"/>
              <p:cNvSpPr txBox="1"/>
              <p:nvPr/>
            </p:nvSpPr>
            <p:spPr>
              <a:xfrm>
                <a:off x="3781888" y="3013139"/>
                <a:ext cx="1597981" cy="4616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Executable code of Week2_MileToKm.c</a:t>
                </a:r>
                <a:endParaRPr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6" name="Google Shape;306;p23"/>
            <p:cNvSpPr/>
            <p:nvPr/>
          </p:nvSpPr>
          <p:spPr>
            <a:xfrm>
              <a:off x="4323741" y="3750361"/>
              <a:ext cx="603050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miles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7" name="Google Shape;307;p23"/>
            <p:cNvGrpSpPr/>
            <p:nvPr/>
          </p:nvGrpSpPr>
          <p:grpSpPr>
            <a:xfrm>
              <a:off x="4202845" y="4023792"/>
              <a:ext cx="844846" cy="406382"/>
              <a:chOff x="4180651" y="4094814"/>
              <a:chExt cx="844846" cy="406382"/>
            </a:xfrm>
          </p:grpSpPr>
          <p:sp>
            <p:nvSpPr>
              <p:cNvPr id="308" name="Google Shape;308;p23"/>
              <p:cNvSpPr/>
              <p:nvPr/>
            </p:nvSpPr>
            <p:spPr>
              <a:xfrm>
                <a:off x="4180651" y="4094814"/>
                <a:ext cx="844846" cy="406382"/>
              </a:xfrm>
              <a:prstGeom prst="rect">
                <a:avLst/>
              </a:prstGeom>
              <a:solidFill>
                <a:srgbClr val="C4CE52"/>
              </a:solidFill>
              <a:ln w="1905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23"/>
              <p:cNvSpPr txBox="1"/>
              <p:nvPr/>
            </p:nvSpPr>
            <p:spPr>
              <a:xfrm>
                <a:off x="4248705" y="4139953"/>
                <a:ext cx="70873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?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0" name="Google Shape;310;p23"/>
            <p:cNvGrpSpPr/>
            <p:nvPr/>
          </p:nvGrpSpPr>
          <p:grpSpPr>
            <a:xfrm>
              <a:off x="4202845" y="4868304"/>
              <a:ext cx="844846" cy="406382"/>
              <a:chOff x="4199886" y="4868304"/>
              <a:chExt cx="844846" cy="406382"/>
            </a:xfrm>
          </p:grpSpPr>
          <p:sp>
            <p:nvSpPr>
              <p:cNvPr id="311" name="Google Shape;311;p23"/>
              <p:cNvSpPr/>
              <p:nvPr/>
            </p:nvSpPr>
            <p:spPr>
              <a:xfrm>
                <a:off x="4199886" y="4868304"/>
                <a:ext cx="844846" cy="406382"/>
              </a:xfrm>
              <a:prstGeom prst="rect">
                <a:avLst/>
              </a:prstGeom>
              <a:solidFill>
                <a:srgbClr val="C4CE52"/>
              </a:solidFill>
              <a:ln w="1905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23"/>
              <p:cNvSpPr txBox="1"/>
              <p:nvPr/>
            </p:nvSpPr>
            <p:spPr>
              <a:xfrm>
                <a:off x="4267940" y="4913790"/>
                <a:ext cx="708734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?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3" name="Google Shape;313;p23"/>
            <p:cNvSpPr/>
            <p:nvPr/>
          </p:nvSpPr>
          <p:spPr>
            <a:xfrm>
              <a:off x="4368625" y="4612974"/>
              <a:ext cx="51328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kms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23"/>
          <p:cNvGrpSpPr/>
          <p:nvPr/>
        </p:nvGrpSpPr>
        <p:grpSpPr>
          <a:xfrm>
            <a:off x="3276600" y="1661023"/>
            <a:ext cx="2867025" cy="4165600"/>
            <a:chOff x="3276538" y="1242874"/>
            <a:chExt cx="2867025" cy="4166239"/>
          </a:xfrm>
        </p:grpSpPr>
        <p:sp>
          <p:nvSpPr>
            <p:cNvPr id="315" name="Google Shape;315;p23"/>
            <p:cNvSpPr txBox="1"/>
            <p:nvPr/>
          </p:nvSpPr>
          <p:spPr>
            <a:xfrm>
              <a:off x="3276538" y="4516561"/>
              <a:ext cx="2867025" cy="8925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After user enters: </a:t>
              </a:r>
              <a:r>
                <a:rPr lang="en-US" sz="1800">
                  <a:solidFill>
                    <a:srgbClr val="1818FF"/>
                  </a:solidFill>
                  <a:latin typeface="Arial"/>
                  <a:ea typeface="Arial"/>
                  <a:cs typeface="Arial"/>
                  <a:sym typeface="Arial"/>
                </a:rPr>
                <a:t>10.5</a:t>
              </a:r>
              <a:r>
                <a:rPr lang="en-US"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scanf("%f", &amp;miles);</a:t>
              </a:r>
              <a:endParaRPr/>
            </a:p>
          </p:txBody>
        </p:sp>
        <p:grpSp>
          <p:nvGrpSpPr>
            <p:cNvPr id="316" name="Google Shape;316;p23"/>
            <p:cNvGrpSpPr/>
            <p:nvPr/>
          </p:nvGrpSpPr>
          <p:grpSpPr>
            <a:xfrm>
              <a:off x="3392750" y="1242874"/>
              <a:ext cx="2556769" cy="3071674"/>
              <a:chOff x="3346882" y="2379216"/>
              <a:chExt cx="2556769" cy="3071674"/>
            </a:xfrm>
          </p:grpSpPr>
          <p:sp>
            <p:nvSpPr>
              <p:cNvPr id="317" name="Google Shape;317;p23"/>
              <p:cNvSpPr/>
              <p:nvPr/>
            </p:nvSpPr>
            <p:spPr>
              <a:xfrm>
                <a:off x="3346882" y="2379216"/>
                <a:ext cx="2556769" cy="3071674"/>
              </a:xfrm>
              <a:prstGeom prst="rect">
                <a:avLst/>
              </a:prstGeom>
              <a:solidFill>
                <a:schemeClr val="accent1"/>
              </a:solidFill>
              <a:ln w="1905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23"/>
              <p:cNvSpPr txBox="1"/>
              <p:nvPr/>
            </p:nvSpPr>
            <p:spPr>
              <a:xfrm>
                <a:off x="4119239" y="2467993"/>
                <a:ext cx="10120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memory</a:t>
                </a:r>
                <a:endParaRPr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19" name="Google Shape;319;p23"/>
              <p:cNvGrpSpPr/>
              <p:nvPr/>
            </p:nvGrpSpPr>
            <p:grpSpPr>
              <a:xfrm>
                <a:off x="3737083" y="2876179"/>
                <a:ext cx="1776412" cy="639861"/>
                <a:chOff x="3692695" y="2938323"/>
                <a:chExt cx="1776412" cy="639861"/>
              </a:xfrm>
            </p:grpSpPr>
            <p:sp>
              <p:nvSpPr>
                <p:cNvPr id="320" name="Google Shape;320;p23"/>
                <p:cNvSpPr/>
                <p:nvPr/>
              </p:nvSpPr>
              <p:spPr>
                <a:xfrm>
                  <a:off x="3692695" y="2938323"/>
                  <a:ext cx="1776412" cy="639861"/>
                </a:xfrm>
                <a:prstGeom prst="rect">
                  <a:avLst/>
                </a:prstGeom>
                <a:solidFill>
                  <a:srgbClr val="C4CE52"/>
                </a:solidFill>
                <a:ln w="19050" cap="sq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23"/>
                <p:cNvSpPr txBox="1"/>
                <p:nvPr/>
              </p:nvSpPr>
              <p:spPr>
                <a:xfrm>
                  <a:off x="3781888" y="3000960"/>
                  <a:ext cx="1597981" cy="4617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Executable code of Week2_MileToKm.c</a:t>
                  </a:r>
                  <a:endParaRPr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22" name="Google Shape;322;p23"/>
              <p:cNvSpPr/>
              <p:nvPr/>
            </p:nvSpPr>
            <p:spPr>
              <a:xfrm>
                <a:off x="4323741" y="3750361"/>
                <a:ext cx="60305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miles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3" name="Google Shape;323;p23"/>
              <p:cNvGrpSpPr/>
              <p:nvPr/>
            </p:nvGrpSpPr>
            <p:grpSpPr>
              <a:xfrm>
                <a:off x="4203808" y="4065399"/>
                <a:ext cx="842962" cy="365181"/>
                <a:chOff x="4181614" y="4136421"/>
                <a:chExt cx="842962" cy="365181"/>
              </a:xfrm>
            </p:grpSpPr>
            <p:sp>
              <p:nvSpPr>
                <p:cNvPr id="324" name="Google Shape;324;p23"/>
                <p:cNvSpPr/>
                <p:nvPr/>
              </p:nvSpPr>
              <p:spPr>
                <a:xfrm>
                  <a:off x="4181614" y="4136421"/>
                  <a:ext cx="842962" cy="365181"/>
                </a:xfrm>
                <a:prstGeom prst="rect">
                  <a:avLst/>
                </a:prstGeom>
                <a:solidFill>
                  <a:srgbClr val="C4CE52"/>
                </a:solidFill>
                <a:ln w="19050" cap="sq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5" name="Google Shape;325;p23"/>
                <p:cNvSpPr txBox="1"/>
                <p:nvPr/>
              </p:nvSpPr>
              <p:spPr>
                <a:xfrm>
                  <a:off x="4248705" y="4139953"/>
                  <a:ext cx="70873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10.5</a:t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6" name="Google Shape;326;p23"/>
              <p:cNvGrpSpPr/>
              <p:nvPr/>
            </p:nvGrpSpPr>
            <p:grpSpPr>
              <a:xfrm>
                <a:off x="4203808" y="4910079"/>
                <a:ext cx="842962" cy="365181"/>
                <a:chOff x="4200849" y="4910079"/>
                <a:chExt cx="842962" cy="365181"/>
              </a:xfrm>
            </p:grpSpPr>
            <p:sp>
              <p:nvSpPr>
                <p:cNvPr id="327" name="Google Shape;327;p23"/>
                <p:cNvSpPr/>
                <p:nvPr/>
              </p:nvSpPr>
              <p:spPr>
                <a:xfrm>
                  <a:off x="4200849" y="4910079"/>
                  <a:ext cx="842962" cy="365181"/>
                </a:xfrm>
                <a:prstGeom prst="rect">
                  <a:avLst/>
                </a:prstGeom>
                <a:solidFill>
                  <a:srgbClr val="C4CE52"/>
                </a:solidFill>
                <a:ln w="19050" cap="sq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" name="Google Shape;328;p23"/>
                <p:cNvSpPr txBox="1"/>
                <p:nvPr/>
              </p:nvSpPr>
              <p:spPr>
                <a:xfrm>
                  <a:off x="4267940" y="4913790"/>
                  <a:ext cx="70873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?</a:t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29" name="Google Shape;329;p23"/>
              <p:cNvSpPr/>
              <p:nvPr/>
            </p:nvSpPr>
            <p:spPr>
              <a:xfrm>
                <a:off x="4368625" y="4612974"/>
                <a:ext cx="51328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kms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0" name="Google Shape;330;p23"/>
          <p:cNvGrpSpPr/>
          <p:nvPr/>
        </p:nvGrpSpPr>
        <p:grpSpPr>
          <a:xfrm>
            <a:off x="6080125" y="1661023"/>
            <a:ext cx="3063875" cy="4135437"/>
            <a:chOff x="6079370" y="1242874"/>
            <a:chExt cx="3064630" cy="4135461"/>
          </a:xfrm>
        </p:grpSpPr>
        <p:sp>
          <p:nvSpPr>
            <p:cNvPr id="331" name="Google Shape;331;p23"/>
            <p:cNvSpPr txBox="1"/>
            <p:nvPr/>
          </p:nvSpPr>
          <p:spPr>
            <a:xfrm>
              <a:off x="6079370" y="4516561"/>
              <a:ext cx="3064630" cy="861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After this line is executed: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kms = KMS_PER_MILE * miles;</a:t>
              </a:r>
              <a:endParaRPr/>
            </a:p>
          </p:txBody>
        </p:sp>
        <p:grpSp>
          <p:nvGrpSpPr>
            <p:cNvPr id="332" name="Google Shape;332;p23"/>
            <p:cNvGrpSpPr/>
            <p:nvPr/>
          </p:nvGrpSpPr>
          <p:grpSpPr>
            <a:xfrm>
              <a:off x="6323861" y="1242874"/>
              <a:ext cx="2556769" cy="3071674"/>
              <a:chOff x="3346882" y="2379216"/>
              <a:chExt cx="2556769" cy="3071674"/>
            </a:xfrm>
          </p:grpSpPr>
          <p:sp>
            <p:nvSpPr>
              <p:cNvPr id="333" name="Google Shape;333;p23"/>
              <p:cNvSpPr/>
              <p:nvPr/>
            </p:nvSpPr>
            <p:spPr>
              <a:xfrm>
                <a:off x="3346882" y="2379216"/>
                <a:ext cx="2556769" cy="3071674"/>
              </a:xfrm>
              <a:prstGeom prst="rect">
                <a:avLst/>
              </a:prstGeom>
              <a:solidFill>
                <a:schemeClr val="accent1"/>
              </a:solidFill>
              <a:ln w="19050" cap="sq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23"/>
              <p:cNvSpPr txBox="1"/>
              <p:nvPr/>
            </p:nvSpPr>
            <p:spPr>
              <a:xfrm>
                <a:off x="4119239" y="2467993"/>
                <a:ext cx="101205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memory</a:t>
                </a:r>
                <a:endParaRPr sz="16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5" name="Google Shape;335;p23"/>
              <p:cNvGrpSpPr/>
              <p:nvPr/>
            </p:nvGrpSpPr>
            <p:grpSpPr>
              <a:xfrm>
                <a:off x="3737547" y="2876106"/>
                <a:ext cx="1775262" cy="639767"/>
                <a:chOff x="3693159" y="2938250"/>
                <a:chExt cx="1775262" cy="639767"/>
              </a:xfrm>
            </p:grpSpPr>
            <p:sp>
              <p:nvSpPr>
                <p:cNvPr id="336" name="Google Shape;336;p23"/>
                <p:cNvSpPr/>
                <p:nvPr/>
              </p:nvSpPr>
              <p:spPr>
                <a:xfrm>
                  <a:off x="3693159" y="2938250"/>
                  <a:ext cx="1775262" cy="639767"/>
                </a:xfrm>
                <a:prstGeom prst="rect">
                  <a:avLst/>
                </a:prstGeom>
                <a:solidFill>
                  <a:srgbClr val="C4CE52"/>
                </a:solidFill>
                <a:ln w="19050" cap="sq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337;p23"/>
                <p:cNvSpPr txBox="1"/>
                <p:nvPr/>
              </p:nvSpPr>
              <p:spPr>
                <a:xfrm>
                  <a:off x="3781888" y="3013142"/>
                  <a:ext cx="1597981" cy="4616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Executable code of Week2_MileToKm.c</a:t>
                  </a:r>
                  <a:endParaRPr sz="12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38" name="Google Shape;338;p23"/>
              <p:cNvSpPr/>
              <p:nvPr/>
            </p:nvSpPr>
            <p:spPr>
              <a:xfrm>
                <a:off x="4323741" y="3750361"/>
                <a:ext cx="60305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miles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9" name="Google Shape;339;p23"/>
              <p:cNvGrpSpPr/>
              <p:nvPr/>
            </p:nvGrpSpPr>
            <p:grpSpPr>
              <a:xfrm>
                <a:off x="4202800" y="4039751"/>
                <a:ext cx="844758" cy="390527"/>
                <a:chOff x="4180606" y="4110773"/>
                <a:chExt cx="844758" cy="390527"/>
              </a:xfrm>
            </p:grpSpPr>
            <p:sp>
              <p:nvSpPr>
                <p:cNvPr id="340" name="Google Shape;340;p23"/>
                <p:cNvSpPr/>
                <p:nvPr/>
              </p:nvSpPr>
              <p:spPr>
                <a:xfrm>
                  <a:off x="4180606" y="4110773"/>
                  <a:ext cx="844758" cy="390527"/>
                </a:xfrm>
                <a:prstGeom prst="rect">
                  <a:avLst/>
                </a:prstGeom>
                <a:solidFill>
                  <a:srgbClr val="C4CE52"/>
                </a:solidFill>
                <a:ln w="19050" cap="sq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1" name="Google Shape;341;p23"/>
                <p:cNvSpPr txBox="1"/>
                <p:nvPr/>
              </p:nvSpPr>
              <p:spPr>
                <a:xfrm>
                  <a:off x="4248705" y="4139953"/>
                  <a:ext cx="70873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10.5</a:t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2" name="Google Shape;342;p23"/>
              <p:cNvGrpSpPr/>
              <p:nvPr/>
            </p:nvGrpSpPr>
            <p:grpSpPr>
              <a:xfrm>
                <a:off x="4202800" y="4868431"/>
                <a:ext cx="844758" cy="406402"/>
                <a:chOff x="4199841" y="4868431"/>
                <a:chExt cx="844758" cy="406402"/>
              </a:xfrm>
            </p:grpSpPr>
            <p:sp>
              <p:nvSpPr>
                <p:cNvPr id="343" name="Google Shape;343;p23"/>
                <p:cNvSpPr/>
                <p:nvPr/>
              </p:nvSpPr>
              <p:spPr>
                <a:xfrm>
                  <a:off x="4199841" y="4868431"/>
                  <a:ext cx="844758" cy="406402"/>
                </a:xfrm>
                <a:prstGeom prst="rect">
                  <a:avLst/>
                </a:prstGeom>
                <a:solidFill>
                  <a:srgbClr val="C4CE52"/>
                </a:solidFill>
                <a:ln w="19050" cap="sq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" name="Google Shape;344;p23"/>
                <p:cNvSpPr txBox="1"/>
                <p:nvPr/>
              </p:nvSpPr>
              <p:spPr>
                <a:xfrm>
                  <a:off x="4267940" y="4913790"/>
                  <a:ext cx="708734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4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16.89</a:t>
                  </a:r>
                  <a:endParaRPr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5" name="Google Shape;345;p23"/>
              <p:cNvSpPr/>
              <p:nvPr/>
            </p:nvSpPr>
            <p:spPr>
              <a:xfrm>
                <a:off x="4368625" y="4612974"/>
                <a:ext cx="51328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kms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6" name="Google Shape;346;p2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653142" y="1110343"/>
            <a:ext cx="53165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4950" marR="0" lvl="0" indent="-234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happens in the computer memory?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574766" y="5238206"/>
            <a:ext cx="233825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not assume that uninitialised variables contain zero! (Very common mistake.)</a:t>
            </a:r>
            <a:endParaRPr sz="16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4167051" y="3304903"/>
            <a:ext cx="1005840" cy="404947"/>
          </a:xfrm>
          <a:prstGeom prst="ellipse">
            <a:avLst/>
          </a:prstGeom>
          <a:noFill/>
          <a:ln w="28575" cap="sq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7114903" y="4149634"/>
            <a:ext cx="1005840" cy="404947"/>
          </a:xfrm>
          <a:prstGeom prst="ellipse">
            <a:avLst/>
          </a:prstGeom>
          <a:noFill/>
          <a:ln w="28575" cap="sq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23"/>
          <p:cNvCxnSpPr/>
          <p:nvPr/>
        </p:nvCxnSpPr>
        <p:spPr>
          <a:xfrm>
            <a:off x="3247292" y="1535722"/>
            <a:ext cx="0" cy="4806462"/>
          </a:xfrm>
          <a:prstGeom prst="straightConnector1">
            <a:avLst/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" name="Google Shape;352;p23"/>
          <p:cNvCxnSpPr/>
          <p:nvPr/>
        </p:nvCxnSpPr>
        <p:spPr>
          <a:xfrm>
            <a:off x="6096000" y="1535722"/>
            <a:ext cx="0" cy="4806462"/>
          </a:xfrm>
          <a:prstGeom prst="straightConnector1">
            <a:avLst/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4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Notes (1/2)</a:t>
            </a:r>
            <a:endParaRPr/>
          </a:p>
        </p:txBody>
      </p:sp>
      <p:sp>
        <p:nvSpPr>
          <p:cNvPr id="359" name="Google Shape;359;p2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360" name="Google Shape;360;p24"/>
          <p:cNvSpPr txBox="1">
            <a:spLocks noGrp="1"/>
          </p:cNvSpPr>
          <p:nvPr>
            <p:ph type="body" idx="1"/>
          </p:nvPr>
        </p:nvSpPr>
        <p:spPr>
          <a:xfrm>
            <a:off x="587375" y="1187450"/>
            <a:ext cx="8229600" cy="5201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Basic steps of a program</a:t>
            </a:r>
            <a:endParaRPr/>
          </a:p>
          <a:p>
            <a:pPr marL="90805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Bookman Old Style"/>
              <a:buAutoNum type="arabicPeriod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Read inputs (scanf)</a:t>
            </a:r>
            <a:endParaRPr/>
          </a:p>
          <a:p>
            <a:pPr marL="90805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Bookman Old Style"/>
              <a:buAutoNum type="arabicPeriod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Compute</a:t>
            </a:r>
            <a:endParaRPr/>
          </a:p>
          <a:p>
            <a:pPr marL="90805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Bookman Old Style"/>
              <a:buAutoNum type="arabicPeriod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Print outputs (printf)</a:t>
            </a:r>
            <a:endParaRPr/>
          </a:p>
          <a:p>
            <a:pPr marL="274320" marR="0" lvl="0" indent="-2743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We will stick to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interactive inputs</a:t>
            </a:r>
            <a:endParaRPr/>
          </a:p>
          <a:p>
            <a:pPr marL="548640" marR="0" lvl="1" indent="-27432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2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Standard input stream (stdin) – default is keyboard</a:t>
            </a:r>
            <a:endParaRPr/>
          </a:p>
          <a:p>
            <a:pPr marL="548640" marR="0" lvl="1" indent="-27432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2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scanf() </a:t>
            </a: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  <a:p>
            <a:pPr marL="274320" marR="0" lvl="0" indent="-2743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Assume input data are according to specification</a:t>
            </a:r>
            <a:endParaRPr/>
          </a:p>
          <a:p>
            <a:pPr marL="548640" marR="0" lvl="1" indent="-27432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20"/>
              <a:buFont typeface="Noto Sans Symbols"/>
              <a:buChar char="▶"/>
            </a:pPr>
            <a:r>
              <a:rPr lang="en-US" sz="2000" b="0" i="0" u="sng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 need</a:t>
            </a: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validate input data, unless otherwise stated</a:t>
            </a:r>
            <a:endParaRPr/>
          </a:p>
          <a:p>
            <a:pPr marL="274320" marR="0" lvl="0" indent="-2743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Outputs</a:t>
            </a:r>
            <a:endParaRPr/>
          </a:p>
          <a:p>
            <a:pPr marL="548640" marR="0" lvl="1" indent="-27432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2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Standard output stream (stdout) – default is monitor</a:t>
            </a:r>
            <a:endParaRPr/>
          </a:p>
          <a:p>
            <a:pPr marL="548640" marR="0" lvl="1" indent="-27432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2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printf() </a:t>
            </a: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  <a:p>
            <a:pPr marL="548640" marR="0" lvl="1" indent="-17780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2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p24" descr="1194984421989434288note_with_pin_nicu_bucul_03_svg_m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00" y="339604"/>
            <a:ext cx="1074616" cy="90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Notes (2/2)</a:t>
            </a:r>
            <a:endParaRPr/>
          </a:p>
        </p:txBody>
      </p:sp>
      <p:sp>
        <p:nvSpPr>
          <p:cNvPr id="369" name="Google Shape;369;p25"/>
          <p:cNvSpPr txBox="1">
            <a:spLocks noGrp="1"/>
          </p:cNvSpPr>
          <p:nvPr>
            <p:ph type="body" idx="1"/>
          </p:nvPr>
        </p:nvSpPr>
        <p:spPr>
          <a:xfrm>
            <a:off x="587375" y="1187450"/>
            <a:ext cx="8229600" cy="5025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Include </a:t>
            </a:r>
            <a:r>
              <a:rPr lang="en-US" sz="24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&lt;stdio.h&gt;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to use scanf() and printf() functions</a:t>
            </a:r>
            <a:endParaRPr/>
          </a:p>
          <a:p>
            <a:pPr marL="548640" marR="0" lvl="1" indent="-27432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2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Include the header file (for portability sake) even though some systems do not require you to do so</a:t>
            </a:r>
            <a:endParaRPr/>
          </a:p>
          <a:p>
            <a:pPr marL="548640" marR="0" lvl="1" indent="-27432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2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have similar preprocessor directives for other functions like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&lt;math.h&gt; </a:t>
            </a:r>
            <a:r>
              <a:rPr lang="en-US"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mathematical operations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sqrt()</a:t>
            </a:r>
            <a:endParaRPr/>
          </a:p>
          <a:p>
            <a:pPr marL="548640" marR="0" lvl="1" indent="-27432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52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25" descr="1194984421989434288note_with_pin_nicu_bucul_03_svg_m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8400" y="339604"/>
            <a:ext cx="1074616" cy="909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3. Errors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77" name="Google Shape;377;p26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378" name="Google Shape;378;p26"/>
          <p:cNvSpPr txBox="1">
            <a:spLocks noGrp="1"/>
          </p:cNvSpPr>
          <p:nvPr>
            <p:ph type="body" idx="1"/>
          </p:nvPr>
        </p:nvSpPr>
        <p:spPr>
          <a:xfrm>
            <a:off x="587375" y="1060704"/>
            <a:ext cx="8229600" cy="453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80"/>
              <a:buFont typeface="Noto Sans Symbols"/>
              <a:buChar char="▶"/>
            </a:pPr>
            <a:r>
              <a:rPr lang="en-US" sz="185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Syntax Errors (and warnings)</a:t>
            </a:r>
            <a:endParaRPr/>
          </a:p>
          <a:p>
            <a:pPr marL="548640" marR="0" lvl="1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99"/>
              <a:buFont typeface="Noto Sans Symbols"/>
              <a:buChar char="▶"/>
            </a:pPr>
            <a:r>
              <a:rPr lang="en-US" sz="166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Program does not obey C construct /grammar such as invalid choice of identifier name, invalid expression, missing semi-colon, etc.</a:t>
            </a:r>
            <a:endParaRPr/>
          </a:p>
          <a:p>
            <a:pPr marL="548640" marR="0" lvl="1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99"/>
              <a:buFont typeface="Noto Sans Symbols"/>
              <a:buChar char="▶"/>
            </a:pPr>
            <a:r>
              <a:rPr lang="en-US" sz="166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Warning happens, for example, incomparable use of types for output</a:t>
            </a:r>
            <a:endParaRPr/>
          </a:p>
          <a:p>
            <a:pPr marL="548640" marR="0" lvl="1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99"/>
              <a:buFont typeface="Noto Sans Symbols"/>
              <a:buChar char="▶"/>
            </a:pPr>
            <a:r>
              <a:rPr lang="en-US" sz="166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We advise you to use </a:t>
            </a:r>
            <a:r>
              <a:rPr lang="en-US" sz="1665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gcc –Wall </a:t>
            </a:r>
            <a:r>
              <a:rPr lang="en-US" sz="166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to compile your programs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80"/>
              <a:buFont typeface="Noto Sans Symbols"/>
              <a:buChar char="▶"/>
            </a:pPr>
            <a:r>
              <a:rPr lang="en-US" sz="185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Run-time Errors</a:t>
            </a:r>
            <a:endParaRPr/>
          </a:p>
          <a:p>
            <a:pPr marL="548640" marR="0" lvl="1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99"/>
              <a:buFont typeface="Noto Sans Symbols"/>
              <a:buChar char="▶"/>
            </a:pPr>
            <a:r>
              <a:rPr lang="en-US" sz="166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Program terminates unexpectedly due to illegal operation, such as dividing a number by zero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80"/>
              <a:buFont typeface="Noto Sans Symbols"/>
              <a:buChar char="▶"/>
            </a:pPr>
            <a:r>
              <a:rPr lang="en-US" sz="185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Logic Errors</a:t>
            </a:r>
            <a:endParaRPr/>
          </a:p>
          <a:p>
            <a:pPr marL="548640" marR="0" lvl="1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99"/>
              <a:buFont typeface="Noto Sans Symbols"/>
              <a:buChar char="▶"/>
            </a:pPr>
            <a:r>
              <a:rPr lang="en-US" sz="166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Program produces result as opposed to what is expected (wrong algorithm)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80"/>
              <a:buFont typeface="Noto Sans Symbols"/>
              <a:buChar char="▶"/>
            </a:pPr>
            <a:r>
              <a:rPr lang="en-US" sz="185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Undetected Errors</a:t>
            </a:r>
            <a:endParaRPr/>
          </a:p>
          <a:p>
            <a:pPr marL="548640" marR="0" lvl="1" indent="-29845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999"/>
              <a:buFont typeface="Noto Sans Symbols"/>
              <a:buChar char="▶"/>
            </a:pPr>
            <a:r>
              <a:rPr lang="en-US" sz="1665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Exist if we are not able to test all cases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64"/>
              <a:buFont typeface="Noto Sans Symbols"/>
              <a:buNone/>
            </a:pPr>
            <a:endParaRPr sz="222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664"/>
              <a:buFont typeface="Noto Sans Symbols"/>
              <a:buNone/>
            </a:pPr>
            <a:r>
              <a:rPr lang="en-US" sz="222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endParaRPr sz="1295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79" name="Google Shape;379;p26"/>
          <p:cNvSpPr txBox="1"/>
          <p:nvPr/>
        </p:nvSpPr>
        <p:spPr>
          <a:xfrm>
            <a:off x="1961007" y="5282692"/>
            <a:ext cx="5978525" cy="1200150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process of correcting errors in programs is called </a:t>
            </a:r>
            <a:r>
              <a:rPr lang="en-US" sz="2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debugging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process can be very time-consuming.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5. Exercise #2 (</a:t>
            </a:r>
            <a:r>
              <a:rPr lang="en-US" sz="28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Fahrenheit to Celsius</a:t>
            </a: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) (1/2)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87" name="Google Shape;387;p2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388" name="Google Shape;388;p27"/>
          <p:cNvSpPr txBox="1">
            <a:spLocks noGrp="1"/>
          </p:cNvSpPr>
          <p:nvPr>
            <p:ph type="body" idx="1"/>
          </p:nvPr>
        </p:nvSpPr>
        <p:spPr>
          <a:xfrm>
            <a:off x="587374" y="1344613"/>
            <a:ext cx="8361553" cy="5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850" marR="0" lvl="0" indent="-4508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Write a program to convert a temperature in degrees  Fahrenheit to degrees Celsius</a:t>
            </a:r>
            <a:endParaRPr/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200"/>
              <a:buFont typeface="Noto Sans Symbols"/>
              <a:buChar char="❑"/>
            </a:pPr>
            <a:r>
              <a:rPr lang="en-US" sz="2000" b="0" i="0" u="none" strike="noStrike" cap="none">
                <a:solidFill>
                  <a:srgbClr val="1818FF"/>
                </a:solidFill>
                <a:latin typeface="Cabin"/>
                <a:ea typeface="Cabin"/>
                <a:cs typeface="Cabin"/>
                <a:sym typeface="Cabin"/>
              </a:rPr>
              <a:t>celsius = 5 / 9 * (fahrenheit – 32) </a:t>
            </a: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0850" marR="0" lvl="0" indent="-45085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Correct/compile your program till free of (syntax) errors</a:t>
            </a:r>
            <a:endParaRPr/>
          </a:p>
          <a:p>
            <a:pPr marL="450850" marR="0" lvl="0" indent="-45085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Make sure your program is free of (run time, logic) errors</a:t>
            </a:r>
            <a:endParaRPr/>
          </a:p>
          <a:p>
            <a:pPr marL="1168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Test on the following Fahrenheit degrees: </a:t>
            </a:r>
            <a:endParaRPr/>
          </a:p>
          <a:p>
            <a:pPr marL="1168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32.5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-54.3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20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100 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(and others of your choice)</a:t>
            </a:r>
            <a:endParaRPr/>
          </a:p>
          <a:p>
            <a:pPr marL="450850" marR="0" lvl="0" indent="-45085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Sample output:</a:t>
            </a:r>
            <a:endParaRPr sz="20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1168400" marR="0" lvl="1" indent="-3810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89" name="Google Shape;389;p27"/>
          <p:cNvSpPr txBox="1"/>
          <p:nvPr/>
        </p:nvSpPr>
        <p:spPr>
          <a:xfrm>
            <a:off x="1566863" y="5292725"/>
            <a:ext cx="6103937" cy="708025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Enter temperature in Fahrenheit: </a:t>
            </a:r>
            <a:r>
              <a:rPr lang="en-US" sz="2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32.5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That equals 0.277778 Celsius.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0" name="Google Shape;390;p2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5. Exercise #2 (</a:t>
            </a:r>
            <a:r>
              <a:rPr lang="en-US" sz="28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Fahrenheit to Celsius</a:t>
            </a: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) (2/2)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97" name="Google Shape;397;p2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398" name="Google Shape;398;p28"/>
          <p:cNvSpPr txBox="1">
            <a:spLocks noGrp="1"/>
          </p:cNvSpPr>
          <p:nvPr>
            <p:ph type="body" idx="1"/>
          </p:nvPr>
        </p:nvSpPr>
        <p:spPr>
          <a:xfrm>
            <a:off x="587375" y="1344613"/>
            <a:ext cx="8229600" cy="57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0850" marR="0" lvl="0" indent="-45085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Do you get the correct answers?</a:t>
            </a:r>
            <a:endParaRPr sz="24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99" name="Google Shape;399;p28"/>
          <p:cNvSpPr txBox="1"/>
          <p:nvPr/>
        </p:nvSpPr>
        <p:spPr>
          <a:xfrm>
            <a:off x="1128713" y="1908175"/>
            <a:ext cx="6103937" cy="708025"/>
          </a:xfrm>
          <a:prstGeom prst="rect">
            <a:avLst/>
          </a:prstGeom>
          <a:solidFill>
            <a:srgbClr val="FFFFCC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Enter temperature in Fahrenheit: </a:t>
            </a:r>
            <a:r>
              <a:rPr lang="en-US" sz="2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32.5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That equals 0.277778 Celsius. 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0" name="Google Shape;400;p28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8"/>
          <p:cNvSpPr txBox="1"/>
          <p:nvPr/>
        </p:nvSpPr>
        <p:spPr>
          <a:xfrm>
            <a:off x="152400" y="6400800"/>
            <a:ext cx="304800" cy="2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08" name="Google Shape;408;p2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409" name="Google Shape;409;p29"/>
          <p:cNvSpPr txBox="1">
            <a:spLocks noGrp="1"/>
          </p:cNvSpPr>
          <p:nvPr>
            <p:ph type="body" idx="1"/>
          </p:nvPr>
        </p:nvSpPr>
        <p:spPr>
          <a:xfrm>
            <a:off x="587375" y="1282700"/>
            <a:ext cx="8229600" cy="484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A program has 3 main parts:</a:t>
            </a:r>
            <a:endParaRPr/>
          </a:p>
          <a:p>
            <a:pPr marL="534988" marR="0" lvl="1" indent="-24923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6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(plus Preprocessor Directives: #include &lt;stdio.h&gt;, #include &lt;math.h&gt;)</a:t>
            </a:r>
            <a:endParaRPr sz="20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534988" marR="0" lvl="1" indent="-24923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Input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: 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through stdin (using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scanf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),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or file input</a:t>
            </a:r>
            <a:endParaRPr/>
          </a:p>
          <a:p>
            <a:pPr marL="534988" marR="0" lvl="1" indent="-24923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Compute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: 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through arithmetic operations</a:t>
            </a:r>
            <a:endParaRPr/>
          </a:p>
          <a:p>
            <a:pPr marL="534988" marR="0" lvl="1" indent="-249237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Output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: 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through stdout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(using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printf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), or file output</a:t>
            </a:r>
            <a:endParaRPr/>
          </a:p>
        </p:txBody>
      </p:sp>
      <p:pic>
        <p:nvPicPr>
          <p:cNvPr id="410" name="Google Shape;410;p29" descr="fig01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400" y="3616884"/>
            <a:ext cx="83439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9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9"/>
          <p:cNvSpPr txBox="1"/>
          <p:nvPr/>
        </p:nvSpPr>
        <p:spPr>
          <a:xfrm>
            <a:off x="7047914" y="2349305"/>
            <a:ext cx="1786597" cy="92333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learn file input/output later.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Input/Output (1/2)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19" name="Google Shape;419;p3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420" name="Google Shape;420;p30"/>
          <p:cNvSpPr txBox="1">
            <a:spLocks noGrp="1"/>
          </p:cNvSpPr>
          <p:nvPr>
            <p:ph type="body" idx="1"/>
          </p:nvPr>
        </p:nvSpPr>
        <p:spPr>
          <a:xfrm>
            <a:off x="587375" y="1225550"/>
            <a:ext cx="8229600" cy="145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Input/output statements:</a:t>
            </a:r>
            <a:endParaRPr/>
          </a:p>
          <a:p>
            <a:pPr marL="548640" marR="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printf ( format string, print list );</a:t>
            </a:r>
            <a:endParaRPr/>
          </a:p>
          <a:p>
            <a:pPr marL="548640" marR="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printf ( format string );</a:t>
            </a:r>
            <a:endParaRPr/>
          </a:p>
          <a:p>
            <a:pPr marL="548640" marR="0" lvl="1" indent="-2921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scanf( format string, input list );</a:t>
            </a:r>
            <a:endParaRPr/>
          </a:p>
        </p:txBody>
      </p:sp>
      <p:sp>
        <p:nvSpPr>
          <p:cNvPr id="421" name="Google Shape;421;p30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2" name="Google Shape;422;p30"/>
          <p:cNvGrpSpPr/>
          <p:nvPr/>
        </p:nvGrpSpPr>
        <p:grpSpPr>
          <a:xfrm>
            <a:off x="5132388" y="1481138"/>
            <a:ext cx="3621087" cy="1077912"/>
            <a:chOff x="5132832" y="1481328"/>
            <a:chExt cx="3621024" cy="1077218"/>
          </a:xfrm>
        </p:grpSpPr>
        <p:grpSp>
          <p:nvGrpSpPr>
            <p:cNvPr id="423" name="Google Shape;423;p30"/>
            <p:cNvGrpSpPr/>
            <p:nvPr/>
          </p:nvGrpSpPr>
          <p:grpSpPr>
            <a:xfrm>
              <a:off x="5132832" y="1511808"/>
              <a:ext cx="1487424" cy="694944"/>
              <a:chOff x="5132832" y="1511808"/>
              <a:chExt cx="1487424" cy="694944"/>
            </a:xfrm>
          </p:grpSpPr>
          <p:sp>
            <p:nvSpPr>
              <p:cNvPr id="424" name="Google Shape;424;p30"/>
              <p:cNvSpPr txBox="1"/>
              <p:nvPr/>
            </p:nvSpPr>
            <p:spPr>
              <a:xfrm>
                <a:off x="5132832" y="1511808"/>
                <a:ext cx="85344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age</a:t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5" name="Google Shape;425;p30"/>
              <p:cNvGrpSpPr/>
              <p:nvPr/>
            </p:nvGrpSpPr>
            <p:grpSpPr>
              <a:xfrm>
                <a:off x="5498592" y="1822704"/>
                <a:ext cx="1121664" cy="384048"/>
                <a:chOff x="5815584" y="1725168"/>
                <a:chExt cx="1121664" cy="384048"/>
              </a:xfrm>
            </p:grpSpPr>
            <p:sp>
              <p:nvSpPr>
                <p:cNvPr id="426" name="Google Shape;426;p30"/>
                <p:cNvSpPr/>
                <p:nvPr/>
              </p:nvSpPr>
              <p:spPr>
                <a:xfrm>
                  <a:off x="5815584" y="1731264"/>
                  <a:ext cx="1121664" cy="377952"/>
                </a:xfrm>
                <a:prstGeom prst="rect">
                  <a:avLst/>
                </a:prstGeom>
                <a:solidFill>
                  <a:schemeClr val="accent1"/>
                </a:solidFill>
                <a:ln w="12700" cap="sq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30"/>
                <p:cNvSpPr txBox="1"/>
                <p:nvPr/>
              </p:nvSpPr>
              <p:spPr>
                <a:xfrm>
                  <a:off x="5955792" y="1725168"/>
                  <a:ext cx="85344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20</a:t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28" name="Google Shape;428;p30"/>
            <p:cNvSpPr txBox="1"/>
            <p:nvPr/>
          </p:nvSpPr>
          <p:spPr>
            <a:xfrm>
              <a:off x="6827520" y="1481328"/>
              <a:ext cx="192633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 of variable ‘age’  varies each time a program is run. 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9" name="Google Shape;429;p30"/>
          <p:cNvGrpSpPr/>
          <p:nvPr/>
        </p:nvGrpSpPr>
        <p:grpSpPr>
          <a:xfrm>
            <a:off x="681038" y="2728913"/>
            <a:ext cx="8099708" cy="2213136"/>
            <a:chOff x="681038" y="2728913"/>
            <a:chExt cx="8099708" cy="2213136"/>
          </a:xfrm>
        </p:grpSpPr>
        <p:grpSp>
          <p:nvGrpSpPr>
            <p:cNvPr id="430" name="Google Shape;430;p30"/>
            <p:cNvGrpSpPr/>
            <p:nvPr/>
          </p:nvGrpSpPr>
          <p:grpSpPr>
            <a:xfrm>
              <a:off x="681038" y="2728913"/>
              <a:ext cx="7170057" cy="1938059"/>
              <a:chOff x="681038" y="2728913"/>
              <a:chExt cx="7170057" cy="1938059"/>
            </a:xfrm>
          </p:grpSpPr>
          <p:sp>
            <p:nvSpPr>
              <p:cNvPr id="431" name="Google Shape;431;p30"/>
              <p:cNvSpPr txBox="1"/>
              <p:nvPr/>
            </p:nvSpPr>
            <p:spPr>
              <a:xfrm>
                <a:off x="681038" y="2728913"/>
                <a:ext cx="206216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One version:</a:t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30"/>
              <p:cNvSpPr txBox="1"/>
              <p:nvPr/>
            </p:nvSpPr>
            <p:spPr>
              <a:xfrm>
                <a:off x="681038" y="3066534"/>
                <a:ext cx="7170057" cy="1600438"/>
              </a:xfrm>
              <a:prstGeom prst="rect">
                <a:avLst/>
              </a:prstGeom>
              <a:solidFill>
                <a:srgbClr val="FFFFCC"/>
              </a:solidFill>
              <a:ln w="190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0000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age;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0000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double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ht; </a:t>
                </a:r>
                <a:r>
                  <a:rPr lang="en-US" sz="1400" b="1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cumulative average point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printf(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"What is your age? "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scanf(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</a:t>
                </a:r>
                <a:r>
                  <a:rPr lang="en-US" sz="14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%d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&amp;age);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printf(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"What is your HEIGHT? "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scanf(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</a:t>
                </a:r>
                <a:r>
                  <a:rPr lang="en-US" sz="14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%lf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&amp;ht);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printf(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"You are </a:t>
                </a:r>
                <a:r>
                  <a:rPr lang="en-US" sz="14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%d 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years old, and your height is </a:t>
                </a:r>
                <a:r>
                  <a:rPr lang="en-US" sz="14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%f\n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age, ht);</a:t>
                </a:r>
                <a:endParaRPr/>
              </a:p>
            </p:txBody>
          </p:sp>
        </p:grpSp>
        <p:sp>
          <p:nvSpPr>
            <p:cNvPr id="433" name="Google Shape;433;p30"/>
            <p:cNvSpPr txBox="1"/>
            <p:nvPr/>
          </p:nvSpPr>
          <p:spPr>
            <a:xfrm>
              <a:off x="6313119" y="4603495"/>
              <a:ext cx="2467627" cy="33855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Week2_InputOutput.c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4" name="Google Shape;434;p30"/>
          <p:cNvGrpSpPr/>
          <p:nvPr/>
        </p:nvGrpSpPr>
        <p:grpSpPr>
          <a:xfrm>
            <a:off x="681038" y="4782684"/>
            <a:ext cx="8087181" cy="1536201"/>
            <a:chOff x="681038" y="4782684"/>
            <a:chExt cx="8087181" cy="1536201"/>
          </a:xfrm>
        </p:grpSpPr>
        <p:grpSp>
          <p:nvGrpSpPr>
            <p:cNvPr id="435" name="Google Shape;435;p30"/>
            <p:cNvGrpSpPr/>
            <p:nvPr/>
          </p:nvGrpSpPr>
          <p:grpSpPr>
            <a:xfrm>
              <a:off x="681038" y="4782684"/>
              <a:ext cx="7170057" cy="1536201"/>
              <a:chOff x="681038" y="4782684"/>
              <a:chExt cx="7170057" cy="1536201"/>
            </a:xfrm>
          </p:grpSpPr>
          <p:sp>
            <p:nvSpPr>
              <p:cNvPr id="436" name="Google Shape;436;p30"/>
              <p:cNvSpPr txBox="1"/>
              <p:nvPr/>
            </p:nvSpPr>
            <p:spPr>
              <a:xfrm>
                <a:off x="681038" y="4782684"/>
                <a:ext cx="206216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Another version:</a:t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30"/>
              <p:cNvSpPr txBox="1"/>
              <p:nvPr/>
            </p:nvSpPr>
            <p:spPr>
              <a:xfrm>
                <a:off x="681038" y="5149334"/>
                <a:ext cx="7170057" cy="1169551"/>
              </a:xfrm>
              <a:prstGeom prst="rect">
                <a:avLst/>
              </a:prstGeom>
              <a:solidFill>
                <a:srgbClr val="FFFFCC"/>
              </a:solidFill>
              <a:ln w="1905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0000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int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age;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rgbClr val="0000FF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double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 ht; </a:t>
                </a:r>
                <a:r>
                  <a:rPr lang="en-US" sz="1400" b="1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// cumulative average point</a:t>
                </a:r>
                <a:endParaRPr sz="14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printf(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"What are your age and height? "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scanf(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</a:t>
                </a:r>
                <a:r>
                  <a:rPr lang="en-US" sz="14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%d %lf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&amp;age, &amp;ht);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printf(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"You are </a:t>
                </a:r>
                <a:r>
                  <a:rPr lang="en-US" sz="14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%d 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years old, and your height is </a:t>
                </a:r>
                <a:r>
                  <a:rPr lang="en-US" sz="1400" b="1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%f\n</a:t>
                </a:r>
                <a:r>
                  <a:rPr lang="en-US" sz="1400" b="1">
                    <a:solidFill>
                      <a:srgbClr val="0066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"</a:t>
                </a:r>
                <a:r>
                  <a:rPr lang="en-US" sz="1400" b="1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, age, ht);</a:t>
                </a:r>
                <a:endParaRPr/>
              </a:p>
            </p:txBody>
          </p:sp>
        </p:grpSp>
        <p:sp>
          <p:nvSpPr>
            <p:cNvPr id="438" name="Google Shape;438;p30"/>
            <p:cNvSpPr txBox="1"/>
            <p:nvPr/>
          </p:nvSpPr>
          <p:spPr>
            <a:xfrm>
              <a:off x="6313119" y="5206832"/>
              <a:ext cx="2455100" cy="338554"/>
            </a:xfrm>
            <a:prstGeom prst="rect">
              <a:avLst/>
            </a:prstGeom>
            <a:solidFill>
              <a:srgbClr val="FFFF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Week2_InputOutputV2.c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30"/>
          <p:cNvSpPr txBox="1"/>
          <p:nvPr/>
        </p:nvSpPr>
        <p:spPr>
          <a:xfrm>
            <a:off x="4456967" y="2525435"/>
            <a:ext cx="4740275" cy="738664"/>
          </a:xfrm>
          <a:prstGeom prst="rect">
            <a:avLst/>
          </a:prstGeom>
          <a:solidFill>
            <a:srgbClr val="CCFF99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78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  refers to value in the variable </a:t>
            </a:r>
            <a:r>
              <a:rPr lang="en-US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1778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&amp;age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 refers to (address of) the memory cell where the value of </a:t>
            </a:r>
            <a:r>
              <a:rPr lang="en-US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age 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stored.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Input/Output (2/3)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6" name="Google Shape;446;p31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447" name="Google Shape;447;p31"/>
          <p:cNvSpPr txBox="1">
            <a:spLocks noGrp="1"/>
          </p:cNvSpPr>
          <p:nvPr>
            <p:ph type="body" idx="1"/>
          </p:nvPr>
        </p:nvSpPr>
        <p:spPr>
          <a:xfrm>
            <a:off x="587375" y="1167618"/>
            <a:ext cx="8229600" cy="708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%d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and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 %lf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are examples of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format specifiers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; they are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placeholders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 values to be displayed or read</a:t>
            </a:r>
            <a:endParaRPr sz="24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440"/>
              <a:buFont typeface="Noto Sans Symbols"/>
              <a:buNone/>
            </a:pPr>
            <a:endParaRPr sz="12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448" name="Google Shape;448;p31"/>
          <p:cNvGraphicFramePr/>
          <p:nvPr/>
        </p:nvGraphicFramePr>
        <p:xfrm>
          <a:off x="1370013" y="1836739"/>
          <a:ext cx="6550100" cy="256039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1571375"/>
                <a:gridCol w="1878525"/>
                <a:gridCol w="3100200"/>
              </a:tblGrid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Placeholder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Variable Type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Function Use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%c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printf / scanf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printf / scanf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or double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printf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scanf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%lf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double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scanf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or double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printf (for scientific notation)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/>
        </p:nvSpPr>
        <p:spPr>
          <a:xfrm>
            <a:off x="534988" y="4403188"/>
            <a:ext cx="8229600" cy="2053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Examples of format specifiers used in </a:t>
            </a:r>
            <a:r>
              <a:rPr lang="en-US" sz="2000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printf()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: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4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%5d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: to display an integer in a width of 5, right justified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4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 %8.3f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to display a real number (float or double) in a width of 8, with 3 decimal places, right justified</a:t>
            </a:r>
            <a:endParaRPr sz="1800" b="0" i="0" u="none" strike="noStrike" cap="none">
              <a:solidFill>
                <a:srgbClr val="C000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See </a:t>
            </a:r>
            <a:r>
              <a:rPr lang="en-US" sz="200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Table 2.3 (page 65) 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 sample displays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Note: 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 </a:t>
            </a:r>
            <a:r>
              <a:rPr lang="en-US" sz="2000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scanf()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just use the format specifier </a:t>
            </a:r>
            <a:r>
              <a:rPr lang="en-US" sz="2000" u="sng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without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indicating width, decimal places, etc.</a:t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50" name="Google Shape;450;p3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2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Input/Output (3/3)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7" name="Google Shape;457;p3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458" name="Google Shape;458;p32"/>
          <p:cNvSpPr txBox="1">
            <a:spLocks noGrp="1"/>
          </p:cNvSpPr>
          <p:nvPr>
            <p:ph type="body" idx="1"/>
          </p:nvPr>
        </p:nvSpPr>
        <p:spPr>
          <a:xfrm>
            <a:off x="587375" y="1167617"/>
            <a:ext cx="8229600" cy="188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\n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is an example of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escape sequence</a:t>
            </a:r>
            <a:endParaRPr sz="20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Escape sequences are used in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printf()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function for certain special effects or to display certain characters properly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See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Table 1.4 (pages 32 – 33)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These are the more commonly used escape sequences:</a:t>
            </a:r>
            <a:endParaRPr/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440"/>
              <a:buFont typeface="Noto Sans Symbols"/>
              <a:buNone/>
            </a:pPr>
            <a:endParaRPr sz="12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459" name="Google Shape;459;p32"/>
          <p:cNvGraphicFramePr/>
          <p:nvPr/>
        </p:nvGraphicFramePr>
        <p:xfrm>
          <a:off x="759655" y="3046560"/>
          <a:ext cx="8145200" cy="217539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1294225"/>
                <a:gridCol w="1645925"/>
                <a:gridCol w="5205050"/>
              </a:tblGrid>
              <a:tr h="38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Escape sequence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Meaning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Result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8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\n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New line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Subsequent output will appear on the next line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8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\t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Horizontal tab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Move to the next tab position on the current line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8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\"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Double quote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Display a double quote "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83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%%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Percent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Display a percent character %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460" name="Google Shape;460;p3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1" name="Google Shape;461;p32"/>
          <p:cNvGrpSpPr/>
          <p:nvPr/>
        </p:nvGrpSpPr>
        <p:grpSpPr>
          <a:xfrm>
            <a:off x="1150737" y="5153465"/>
            <a:ext cx="6865034" cy="608482"/>
            <a:chOff x="1181686" y="5500468"/>
            <a:chExt cx="6865034" cy="608482"/>
          </a:xfrm>
        </p:grpSpPr>
        <p:cxnSp>
          <p:nvCxnSpPr>
            <p:cNvPr id="462" name="Google Shape;462;p32"/>
            <p:cNvCxnSpPr/>
            <p:nvPr/>
          </p:nvCxnSpPr>
          <p:spPr>
            <a:xfrm rot="10800000">
              <a:off x="1181686" y="5500468"/>
              <a:ext cx="464234" cy="379827"/>
            </a:xfrm>
            <a:prstGeom prst="straightConnector1">
              <a:avLst/>
            </a:prstGeom>
            <a:solidFill>
              <a:schemeClr val="accent1"/>
            </a:solidFill>
            <a:ln w="28575" cap="sq" cmpd="sng">
              <a:solidFill>
                <a:srgbClr val="8000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463" name="Google Shape;463;p32"/>
            <p:cNvSpPr txBox="1"/>
            <p:nvPr/>
          </p:nvSpPr>
          <p:spPr>
            <a:xfrm>
              <a:off x="1617784" y="5739618"/>
              <a:ext cx="64289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Note the error in Table 1.4. It should be </a:t>
              </a:r>
              <a:r>
                <a:rPr lang="en-US" sz="18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%%</a:t>
              </a:r>
              <a:r>
                <a:rPr lang="en-US" sz="1800">
                  <a:solidFill>
                    <a:srgbClr val="800000"/>
                  </a:solidFill>
                  <a:latin typeface="Arial"/>
                  <a:ea typeface="Arial"/>
                  <a:cs typeface="Arial"/>
                  <a:sym typeface="Arial"/>
                </a:rPr>
                <a:t> and not </a:t>
              </a:r>
              <a:r>
                <a:rPr lang="en-US" sz="1800" b="1">
                  <a:solidFill>
                    <a:srgbClr val="0000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\%</a:t>
              </a:r>
              <a:endParaRPr sz="18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3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(1/10)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70" name="Google Shape;470;p33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471" name="Google Shape;471;p33"/>
          <p:cNvSpPr txBox="1">
            <a:spLocks noGrp="1"/>
          </p:cNvSpPr>
          <p:nvPr>
            <p:ph type="body" idx="1"/>
          </p:nvPr>
        </p:nvSpPr>
        <p:spPr>
          <a:xfrm>
            <a:off x="587375" y="1344612"/>
            <a:ext cx="8229600" cy="2861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Computation is through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endParaRPr/>
          </a:p>
          <a:p>
            <a:pPr marL="548640" marR="0" lvl="1" indent="-2032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So far, we have used one function: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int main(void) </a:t>
            </a:r>
            <a:endParaRPr/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216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 	main() function: where execution of program begins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function body 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has two parts</a:t>
            </a:r>
            <a:endParaRPr/>
          </a:p>
          <a:p>
            <a:pPr marL="548640" marR="0" lvl="1" indent="-2032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Declarations statements: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tell compiler what type of memory cells needed</a:t>
            </a:r>
            <a:endParaRPr/>
          </a:p>
          <a:p>
            <a:pPr marL="548640" marR="0" lvl="1" indent="-2032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Executable statements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describes the processing on the memory cells</a:t>
            </a:r>
            <a:endParaRPr sz="24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2" name="Google Shape;472;p3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2308987" y="4326319"/>
            <a:ext cx="5237861" cy="1785104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 main(void) {</a:t>
            </a:r>
            <a:endParaRPr sz="2000">
              <a:solidFill>
                <a:srgbClr val="C0000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	</a:t>
            </a:r>
            <a:r>
              <a:rPr lang="en-US" sz="2000">
                <a:solidFill>
                  <a:srgbClr val="0066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/* declaration statements */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	</a:t>
            </a:r>
            <a:r>
              <a:rPr lang="en-US" sz="2000">
                <a:solidFill>
                  <a:srgbClr val="0000E5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/* executable statements */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  	</a:t>
            </a:r>
            <a:r>
              <a:rPr lang="en-US" sz="2000">
                <a:solidFill>
                  <a:srgbClr val="7030A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return 0;</a:t>
            </a:r>
            <a:endParaRPr/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}</a:t>
            </a:r>
            <a:endParaRPr sz="2000">
              <a:solidFill>
                <a:srgbClr val="C0000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4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(2/10)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0" name="Google Shape;480;p3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481" name="Google Shape;481;p34"/>
          <p:cNvSpPr txBox="1">
            <a:spLocks noGrp="1"/>
          </p:cNvSpPr>
          <p:nvPr>
            <p:ph type="body" idx="1"/>
          </p:nvPr>
        </p:nvSpPr>
        <p:spPr>
          <a:xfrm>
            <a:off x="587375" y="1207008"/>
            <a:ext cx="8229600" cy="51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Declaration Statements (2 parts: data type &amp; identifier)</a:t>
            </a:r>
            <a:endParaRPr/>
          </a:p>
          <a:p>
            <a:pPr marL="548640" marR="0" lvl="1" indent="-3000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Part 1: Standard Data Types</a:t>
            </a:r>
            <a:endParaRPr/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92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 (data type: tells computer how to store a particular value in memory and what operations can be performed on the value.)</a:t>
            </a:r>
            <a:endParaRPr/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int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Whole numbers, negative and positive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32 bits, hence value between -2,147,483,648 (-2</a:t>
            </a:r>
            <a:r>
              <a:rPr lang="en-US" sz="1600" b="0" i="0" u="none" strike="noStrike" cap="none" baseline="30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31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  through +2,147,483,647 (2</a:t>
            </a:r>
            <a:r>
              <a:rPr lang="en-US" sz="1600" b="0" i="0" u="none" strike="noStrike" cap="none" baseline="30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31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– 1) 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All numbers can not be represented as int for space limitation</a:t>
            </a:r>
            <a:endParaRPr/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float 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(and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double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an abstraction for real numbers (as it does not include all real numbers)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It has exponent and mantissa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3.14159         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15.0e-4 or 15.0E-4   	(value is 0.0015)             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12e+5 or 12E+5 	(value is 1200000.0)</a:t>
            </a:r>
            <a:endParaRPr/>
          </a:p>
        </p:txBody>
      </p:sp>
      <p:sp>
        <p:nvSpPr>
          <p:cNvPr id="482" name="Google Shape;482;p3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5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(2/10)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89" name="Google Shape;489;p35"/>
          <p:cNvSpPr txBox="1">
            <a:spLocks noGrp="1"/>
          </p:cNvSpPr>
          <p:nvPr>
            <p:ph type="body" idx="1"/>
          </p:nvPr>
        </p:nvSpPr>
        <p:spPr>
          <a:xfrm>
            <a:off x="587375" y="1207008"/>
            <a:ext cx="8229600" cy="51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Declaration Statements (2 parts: data type &amp; identifier)</a:t>
            </a:r>
            <a:endParaRPr/>
          </a:p>
          <a:p>
            <a:pPr marL="548640" marR="0" lvl="1" indent="-3000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Part 1: Standard Data Types</a:t>
            </a:r>
            <a:endParaRPr/>
          </a:p>
          <a:p>
            <a:pPr marL="548640" marR="0" lvl="1" indent="-30003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Why not using double in place of int?</a:t>
            </a:r>
            <a:endParaRPr/>
          </a:p>
          <a:p>
            <a:pPr marL="822960" marR="0" lvl="2" indent="-300038" algn="l" rtl="0">
              <a:spcBef>
                <a:spcPts val="600"/>
              </a:spcBef>
              <a:spcAft>
                <a:spcPts val="0"/>
              </a:spcAft>
              <a:buClr>
                <a:srgbClr val="BABABA"/>
              </a:buClr>
              <a:buSzPts val="960"/>
              <a:buFont typeface="Noto Sans Symbols"/>
              <a:buChar char="▶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More space will be used</a:t>
            </a:r>
            <a:endParaRPr/>
          </a:p>
          <a:p>
            <a:pPr marL="822960" marR="0" lvl="2" indent="-300038" algn="l" rtl="0">
              <a:spcBef>
                <a:spcPts val="600"/>
              </a:spcBef>
              <a:spcAft>
                <a:spcPts val="0"/>
              </a:spcAft>
              <a:buClr>
                <a:srgbClr val="BABABA"/>
              </a:buClr>
              <a:buSzPts val="960"/>
              <a:buFont typeface="Noto Sans Symbols"/>
              <a:buChar char="▶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There may be roundoff error, 13 in binary is not same as 13.0</a:t>
            </a:r>
            <a:endParaRPr/>
          </a:p>
        </p:txBody>
      </p:sp>
      <p:sp>
        <p:nvSpPr>
          <p:cNvPr id="490" name="Google Shape;490;p35"/>
          <p:cNvSpPr/>
          <p:nvPr/>
        </p:nvSpPr>
        <p:spPr>
          <a:xfrm>
            <a:off x="1078706" y="3767921"/>
            <a:ext cx="1957388" cy="542925"/>
          </a:xfrm>
          <a:prstGeom prst="rect">
            <a:avLst/>
          </a:prstGeom>
          <a:solidFill>
            <a:schemeClr val="lt2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number</a:t>
            </a:r>
            <a:endParaRPr/>
          </a:p>
        </p:txBody>
      </p:sp>
      <p:sp>
        <p:nvSpPr>
          <p:cNvPr id="491" name="Google Shape;491;p35"/>
          <p:cNvSpPr/>
          <p:nvPr/>
        </p:nvSpPr>
        <p:spPr>
          <a:xfrm>
            <a:off x="3874386" y="3801246"/>
            <a:ext cx="978694" cy="542925"/>
          </a:xfrm>
          <a:prstGeom prst="rect">
            <a:avLst/>
          </a:prstGeom>
          <a:solidFill>
            <a:schemeClr val="lt2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</a:t>
            </a:r>
            <a:endParaRPr/>
          </a:p>
        </p:txBody>
      </p:sp>
      <p:sp>
        <p:nvSpPr>
          <p:cNvPr id="492" name="Google Shape;492;p35"/>
          <p:cNvSpPr/>
          <p:nvPr/>
        </p:nvSpPr>
        <p:spPr>
          <a:xfrm>
            <a:off x="4853080" y="3801246"/>
            <a:ext cx="1233395" cy="542925"/>
          </a:xfrm>
          <a:prstGeom prst="rect">
            <a:avLst/>
          </a:prstGeom>
          <a:solidFill>
            <a:schemeClr val="lt2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/>
          </a:p>
        </p:txBody>
      </p:sp>
      <p:sp>
        <p:nvSpPr>
          <p:cNvPr id="493" name="Google Shape;493;p35"/>
          <p:cNvSpPr/>
          <p:nvPr/>
        </p:nvSpPr>
        <p:spPr>
          <a:xfrm>
            <a:off x="6091368" y="3796478"/>
            <a:ext cx="1233395" cy="542925"/>
          </a:xfrm>
          <a:prstGeom prst="rect">
            <a:avLst/>
          </a:prstGeom>
          <a:solidFill>
            <a:schemeClr val="lt2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Mantissa</a:t>
            </a:r>
            <a:endParaRPr/>
          </a:p>
        </p:txBody>
      </p:sp>
      <p:sp>
        <p:nvSpPr>
          <p:cNvPr id="494" name="Google Shape;494;p35"/>
          <p:cNvSpPr txBox="1"/>
          <p:nvPr/>
        </p:nvSpPr>
        <p:spPr>
          <a:xfrm>
            <a:off x="4652886" y="4617788"/>
            <a:ext cx="16337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format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5"/>
          <p:cNvSpPr txBox="1"/>
          <p:nvPr/>
        </p:nvSpPr>
        <p:spPr>
          <a:xfrm>
            <a:off x="1450194" y="4570156"/>
            <a:ext cx="11464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format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6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(2/10)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2" name="Google Shape;502;p36"/>
          <p:cNvSpPr txBox="1">
            <a:spLocks noGrp="1"/>
          </p:cNvSpPr>
          <p:nvPr>
            <p:ph type="body" idx="1"/>
          </p:nvPr>
        </p:nvSpPr>
        <p:spPr>
          <a:xfrm>
            <a:off x="587375" y="1207008"/>
            <a:ext cx="8229600" cy="516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Declaration Statements (2 parts: data type &amp; identifier)</a:t>
            </a:r>
            <a:endParaRPr/>
          </a:p>
          <a:p>
            <a:pPr marL="548640" marR="0" lvl="1" indent="-3000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Part 1: Standard Data Types</a:t>
            </a:r>
            <a:endParaRPr/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92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 (data type: tells computer how to store a particular value in memory and what operations can be performed on the value.)</a:t>
            </a:r>
            <a:endParaRPr/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char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individual character, which is a letter, a digit, or a special symbol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enclosed in a pair of single quotes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-US"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'z'</a:t>
            </a:r>
            <a:r>
              <a:rPr lang="en-US"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 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'2'</a:t>
            </a:r>
            <a:r>
              <a:rPr lang="en-US"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'9'</a:t>
            </a:r>
            <a:r>
              <a:rPr lang="en-US"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'*'</a:t>
            </a:r>
            <a:r>
              <a:rPr lang="en-US"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 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'?'</a:t>
            </a:r>
            <a:r>
              <a:rPr lang="en-US"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 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lang="en-US"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     </a:t>
            </a:r>
            <a:r>
              <a:rPr lang="en-US" sz="16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'\n'</a:t>
            </a:r>
            <a:r>
              <a:rPr lang="en-US" sz="1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/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ASCHII Format (American Standard Code for Information Interchange)</a:t>
            </a:r>
            <a:endParaRPr sz="1800" b="0" i="0" u="none" strike="noStrike" cap="none">
              <a:solidFill>
                <a:srgbClr val="C000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 character is represented using integer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 to 9 has 48 through 57, so we have ‘0’ &lt;‘1’ and so on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 to Z has 65 through 90</a:t>
            </a:r>
            <a:endParaRPr/>
          </a:p>
          <a:p>
            <a:pPr marL="1524000" marR="0" lvl="3" indent="-3810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 to z has 97 through122</a:t>
            </a:r>
            <a:endParaRPr sz="1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1524000" marR="0" lvl="3" indent="-320039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7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(3/10)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09" name="Google Shape;509;p3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510" name="Google Shape;510;p37"/>
          <p:cNvSpPr txBox="1">
            <a:spLocks noGrp="1"/>
          </p:cNvSpPr>
          <p:nvPr>
            <p:ph type="body" idx="1"/>
          </p:nvPr>
        </p:nvSpPr>
        <p:spPr>
          <a:xfrm>
            <a:off x="587375" y="1344613"/>
            <a:ext cx="8229600" cy="500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Declaration Statements</a:t>
            </a:r>
            <a:endParaRPr sz="2000" b="0" i="0" u="none" strike="noStrike" cap="none">
              <a:solidFill>
                <a:srgbClr val="0066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548640" marR="0" lvl="1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Part 2: Identifier:</a:t>
            </a:r>
            <a:r>
              <a:rPr lang="en-US" sz="24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0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name of a variable or function</a:t>
            </a:r>
            <a:endParaRPr sz="2400" b="1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822960" marR="0" lvl="2" indent="-338138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Reserved words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(or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keywords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/>
          </a:p>
          <a:p>
            <a:pPr marL="1097280" marR="0" lvl="3" indent="-344488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080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e.g.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int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void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double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return</a:t>
            </a:r>
            <a:endParaRPr/>
          </a:p>
          <a:p>
            <a:pPr marL="822960" marR="0" lvl="2" indent="-338138" algn="l" rtl="0">
              <a:spcBef>
                <a:spcPts val="600"/>
              </a:spcBef>
              <a:spcAft>
                <a:spcPts val="0"/>
              </a:spcAft>
              <a:buClr>
                <a:srgbClr val="BABABA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Standard identifiers</a:t>
            </a:r>
            <a:endParaRPr/>
          </a:p>
          <a:p>
            <a:pPr marL="1097280" marR="0" lvl="3" indent="-344488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080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e.g.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printf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scanf</a:t>
            </a:r>
            <a:endParaRPr sz="18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822960" marR="0" lvl="2" indent="-338138" algn="l" rtl="0">
              <a:spcBef>
                <a:spcPts val="600"/>
              </a:spcBef>
              <a:spcAft>
                <a:spcPts val="0"/>
              </a:spcAft>
              <a:buClr>
                <a:srgbClr val="BABABA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User-defined identifiers  </a:t>
            </a:r>
            <a:endParaRPr/>
          </a:p>
          <a:p>
            <a:pPr marL="1097280" marR="0" lvl="3" indent="-344488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080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Avoid reserved words and standard identifiers </a:t>
            </a:r>
            <a:endParaRPr/>
          </a:p>
          <a:p>
            <a:pPr marL="1097280" marR="0" lvl="3" indent="-344488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1080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Consist only of letters, digit characters and underscores, and must not begin with a digit character</a:t>
            </a:r>
            <a:endParaRPr/>
          </a:p>
          <a:p>
            <a:pPr marL="1097280" marR="0" lvl="3" indent="-344488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1080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Case-sensitive</a:t>
            </a:r>
            <a:endParaRPr/>
          </a:p>
          <a:p>
            <a:pPr marL="1097280" marR="0" lvl="3" indent="-344488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1080"/>
              <a:buFont typeface="Noto Sans Symbols"/>
              <a:buChar char="◻"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e.g. 	</a:t>
            </a:r>
            <a:r>
              <a:rPr lang="en-US" sz="1800" b="0" i="1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invalid:</a:t>
            </a:r>
            <a:r>
              <a:rPr lang="en-US" sz="18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1Letter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18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double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int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18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TWO*FOUR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18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joe’s</a:t>
            </a:r>
            <a:endParaRPr/>
          </a:p>
          <a:p>
            <a:pPr marL="1097280" marR="0" lvl="3" indent="-344488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2160"/>
              <a:buFont typeface="Noto Sans Symbols"/>
              <a:buNone/>
            </a:pPr>
            <a:r>
              <a:rPr lang="en-US" sz="18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rPr>
              <a:t>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valid: </a:t>
            </a:r>
            <a:r>
              <a:rPr lang="en-US" sz="18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maxEntries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18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_X1234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1800" b="0" i="0" u="none" strike="noStrike" cap="none">
                <a:solidFill>
                  <a:srgbClr val="00B05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this_IS_a_long_name</a:t>
            </a:r>
            <a:endParaRPr/>
          </a:p>
        </p:txBody>
      </p:sp>
      <p:sp>
        <p:nvSpPr>
          <p:cNvPr id="511" name="Google Shape;511;p3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Input/Output (2/3)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6" name="Google Shape;446;p31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447" name="Google Shape;447;p31"/>
          <p:cNvSpPr txBox="1">
            <a:spLocks noGrp="1"/>
          </p:cNvSpPr>
          <p:nvPr>
            <p:ph type="body" idx="1"/>
          </p:nvPr>
        </p:nvSpPr>
        <p:spPr>
          <a:xfrm>
            <a:off x="587375" y="1167618"/>
            <a:ext cx="8229600" cy="708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%d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and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 %lf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are examples of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format specifiers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; they are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placeholders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 values to be displayed or read</a:t>
            </a:r>
            <a:endParaRPr sz="24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822960" marR="0" lvl="2" indent="-4572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440"/>
              <a:buFont typeface="Noto Sans Symbols"/>
              <a:buNone/>
            </a:pPr>
            <a:endParaRPr sz="12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448" name="Google Shape;448;p31"/>
          <p:cNvGraphicFramePr/>
          <p:nvPr/>
        </p:nvGraphicFramePr>
        <p:xfrm>
          <a:off x="1370013" y="1836739"/>
          <a:ext cx="6550100" cy="256039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1571375"/>
                <a:gridCol w="1878525"/>
                <a:gridCol w="3100200"/>
              </a:tblGrid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Placeholder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Variable Type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Function Use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%c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char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printf / scanf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printf / scanf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or double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printf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scanf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%lf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double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scanf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46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%e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float or double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printf (for scientific notation)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449" name="Google Shape;449;p31"/>
          <p:cNvSpPr txBox="1"/>
          <p:nvPr/>
        </p:nvSpPr>
        <p:spPr>
          <a:xfrm>
            <a:off x="534988" y="4403188"/>
            <a:ext cx="8229600" cy="2053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Examples of format specifiers used in </a:t>
            </a:r>
            <a:r>
              <a:rPr lang="en-US" sz="2000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printf()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: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4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%5d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: to display an integer in a width of 5, right justified</a:t>
            </a:r>
            <a:endParaRPr/>
          </a:p>
          <a:p>
            <a:pPr marL="8001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4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 %8.3f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to display a real number (float or double) in a width of 8, with 3 decimal places, right justified</a:t>
            </a:r>
            <a:endParaRPr sz="1800" b="0" i="0" u="none" strike="noStrike" cap="none">
              <a:solidFill>
                <a:srgbClr val="C000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See </a:t>
            </a:r>
            <a:r>
              <a:rPr lang="en-US" sz="200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Table 2.3 (page 65) 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 sample displays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Note: 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 </a:t>
            </a:r>
            <a:r>
              <a:rPr lang="en-US" sz="2000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scanf()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just use the format specifier </a:t>
            </a:r>
            <a:r>
              <a:rPr lang="en-US" sz="2000" u="sng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without</a:t>
            </a: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indicating width, decimal places, etc.</a:t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50" name="Google Shape;450;p31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2933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CSE115</a:t>
            </a:r>
          </a:p>
          <a:p>
            <a:r>
              <a:rPr lang="en-US" dirty="0" smtClean="0"/>
              <a:t>Cse115</a:t>
            </a:r>
          </a:p>
          <a:p>
            <a:r>
              <a:rPr lang="en-US" dirty="0" smtClean="0"/>
              <a:t>115CSE</a:t>
            </a:r>
          </a:p>
          <a:p>
            <a:r>
              <a:rPr lang="en-US" dirty="0" smtClean="0"/>
              <a:t>_115CSE</a:t>
            </a:r>
          </a:p>
          <a:p>
            <a:r>
              <a:rPr lang="en-US" dirty="0" smtClean="0"/>
              <a:t>CSE_115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7322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Operators</a:t>
            </a:r>
            <a:endParaRPr sz="3200" b="0" i="0" u="none" strike="noStrike" cap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517" name="Google Shape;517;p3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9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Arithmetic Operators I</a:t>
            </a:r>
            <a:endParaRPr/>
          </a:p>
        </p:txBody>
      </p:sp>
      <p:sp>
        <p:nvSpPr>
          <p:cNvPr id="523" name="Google Shape;523;p39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 C, we have the following operators (note that all these example are using </a:t>
            </a:r>
            <a:r>
              <a:rPr lang="en-US" sz="26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as the value of its first operand)</a:t>
            </a:r>
            <a:endParaRPr/>
          </a:p>
        </p:txBody>
      </p:sp>
      <p:sp>
        <p:nvSpPr>
          <p:cNvPr id="524" name="Google Shape;524;p3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  <p:graphicFrame>
        <p:nvGraphicFramePr>
          <p:cNvPr id="525" name="Google Shape;525;p39"/>
          <p:cNvGraphicFramePr/>
          <p:nvPr/>
        </p:nvGraphicFramePr>
        <p:xfrm>
          <a:off x="1752600" y="3048000"/>
          <a:ext cx="6096000" cy="377975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Operation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Operator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Operand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Value After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Addition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+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Subtraction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-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Multiplication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*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18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Division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/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Increment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++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+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Decrement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--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-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Modulus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%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 sz="20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0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Arithmetic Operators II </a:t>
            </a:r>
            <a:endParaRPr/>
          </a:p>
        </p:txBody>
      </p:sp>
      <p:sp>
        <p:nvSpPr>
          <p:cNvPr id="531" name="Google Shape;531;p40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80"/>
              <a:buFont typeface="Noto Sans Symbols"/>
              <a:buChar char="▶"/>
            </a:pPr>
            <a:r>
              <a:rPr lang="en-US" sz="3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There are 2 types of arithmetic operators in C: </a:t>
            </a:r>
            <a:endParaRPr/>
          </a:p>
          <a:p>
            <a:pPr marL="548640" marR="0" lvl="1" indent="-274319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28"/>
              <a:buFont typeface="Noto Sans Symbols"/>
              <a:buChar char="▶"/>
            </a:pPr>
            <a:r>
              <a:rPr lang="en-US" sz="2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unary operators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/>
          </a:p>
          <a:p>
            <a:pPr marL="822960" marR="0" lvl="2" indent="-2286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operators that require only one operand.</a:t>
            </a:r>
            <a:endParaRPr/>
          </a:p>
          <a:p>
            <a:pPr marL="548640" marR="0" lvl="1" indent="-274319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28"/>
              <a:buFont typeface="Noto Sans Symbols"/>
              <a:buChar char="▶"/>
            </a:pPr>
            <a:r>
              <a:rPr lang="en-US" sz="2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binary operators.</a:t>
            </a:r>
            <a:endParaRPr/>
          </a:p>
          <a:p>
            <a:pPr marL="822960" marR="0" lvl="2" indent="-228600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operators that require two operands.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2" name="Google Shape;532;p4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1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Unary Operator</a:t>
            </a:r>
            <a:endParaRPr/>
          </a:p>
        </p:txBody>
      </p:sp>
      <p:sp>
        <p:nvSpPr>
          <p:cNvPr id="538" name="Google Shape;538;p41"/>
          <p:cNvSpPr txBox="1">
            <a:spLocks noGrp="1"/>
          </p:cNvSpPr>
          <p:nvPr>
            <p:ph type="body" idx="1"/>
          </p:nvPr>
        </p:nvSpPr>
        <p:spPr>
          <a:xfrm>
            <a:off x="612775" y="4191000"/>
            <a:ext cx="81534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first assigns positive 3 to a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second assigns the negative value of a to b.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i++ is equivalent to i = i + 1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i-- is equivalent to i = i-1</a:t>
            </a:r>
            <a:endParaRPr/>
          </a:p>
        </p:txBody>
      </p:sp>
      <p:sp>
        <p:nvSpPr>
          <p:cNvPr id="539" name="Google Shape;539;p41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  <p:graphicFrame>
        <p:nvGraphicFramePr>
          <p:cNvPr id="540" name="Google Shape;540;p41"/>
          <p:cNvGraphicFramePr/>
          <p:nvPr/>
        </p:nvGraphicFramePr>
        <p:xfrm>
          <a:off x="1143000" y="1600200"/>
          <a:ext cx="6629400" cy="248925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2209800"/>
                <a:gridCol w="2209800"/>
                <a:gridCol w="2209800"/>
              </a:tblGrid>
              <a:tr h="49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 Operation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Operator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Example</a:t>
                      </a:r>
                      <a:endParaRPr sz="2400"/>
                    </a:p>
                  </a:txBody>
                  <a:tcPr marL="91450" marR="91450" marT="45725" marB="45725"/>
                </a:tc>
              </a:tr>
              <a:tr h="49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Positive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+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a=+3</a:t>
                      </a:r>
                      <a:endParaRPr sz="2400"/>
                    </a:p>
                  </a:txBody>
                  <a:tcPr marL="91450" marR="91450" marT="45725" marB="45725"/>
                </a:tc>
              </a:tr>
              <a:tr h="49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Negative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-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b=-a</a:t>
                      </a:r>
                      <a:endParaRPr sz="2400"/>
                    </a:p>
                  </a:txBody>
                  <a:tcPr marL="91450" marR="91450" marT="45725" marB="45725"/>
                </a:tc>
              </a:tr>
              <a:tr h="49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Increment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++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i++</a:t>
                      </a:r>
                      <a:endParaRPr sz="2400"/>
                    </a:p>
                  </a:txBody>
                  <a:tcPr marL="91450" marR="91450" marT="45725" marB="45725"/>
                </a:tc>
              </a:tr>
              <a:tr h="49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Decrement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--</a:t>
                      </a:r>
                      <a:endParaRPr sz="2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i--</a:t>
                      </a:r>
                      <a:endParaRPr sz="24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2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PRE- / POST-Increment</a:t>
            </a:r>
            <a:endParaRPr/>
          </a:p>
        </p:txBody>
      </p:sp>
      <p:sp>
        <p:nvSpPr>
          <p:cNvPr id="546" name="Google Shape;546;p42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▶"/>
            </a:pPr>
            <a:r>
              <a:rPr lang="en-US" sz="2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It is also possible to use ++i and --i instead of i++ and i-- 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▶"/>
            </a:pPr>
            <a:r>
              <a:rPr lang="en-US" sz="2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However, the two forms have a slightly yet important difference.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▶"/>
            </a:pPr>
            <a:r>
              <a:rPr lang="en-US" sz="2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Consider this example:</a:t>
            </a:r>
            <a:endParaRPr/>
          </a:p>
          <a:p>
            <a:pPr marL="548640" marR="0" lvl="1" indent="-27432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72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200" b="1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int a = 9;</a:t>
            </a:r>
            <a:endParaRPr/>
          </a:p>
          <a:p>
            <a:pPr marL="548640" marR="0" lvl="1" indent="-27432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72"/>
              <a:buFont typeface="Noto Sans Symbols"/>
              <a:buNone/>
            </a:pPr>
            <a:r>
              <a:rPr lang="en-US" sz="2200" b="1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printf(“%d\n”, a++);</a:t>
            </a:r>
            <a:endParaRPr/>
          </a:p>
          <a:p>
            <a:pPr marL="548640" marR="0" lvl="1" indent="-27432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72"/>
              <a:buFont typeface="Noto Sans Symbols"/>
              <a:buNone/>
            </a:pPr>
            <a:r>
              <a:rPr lang="en-US" sz="2200" b="1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	printf(“%d”, a);</a:t>
            </a:r>
            <a:endParaRPr/>
          </a:p>
          <a:p>
            <a:pPr marL="548640" marR="0" lvl="1" indent="-274320" algn="l" rtl="0">
              <a:lnSpc>
                <a:spcPct val="3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72"/>
              <a:buFont typeface="Noto Sans Symbols"/>
              <a:buNone/>
            </a:pPr>
            <a:endParaRPr sz="2200" b="1" i="0" u="none" strike="noStrike" cap="non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Char char="▶"/>
            </a:pPr>
            <a:r>
              <a:rPr lang="en-US" sz="2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output would be:</a:t>
            </a:r>
            <a:endParaRPr/>
          </a:p>
          <a:p>
            <a:pPr marL="548640" marR="0" lvl="1" indent="-27432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72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9 </a:t>
            </a:r>
            <a:endParaRPr/>
          </a:p>
          <a:p>
            <a:pPr marL="548640" marR="0" lvl="1" indent="-27432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72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10</a:t>
            </a:r>
            <a:endParaRPr/>
          </a:p>
        </p:txBody>
      </p:sp>
      <p:sp>
        <p:nvSpPr>
          <p:cNvPr id="547" name="Google Shape;547;p4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  <p:sp>
        <p:nvSpPr>
          <p:cNvPr id="548" name="Google Shape;548;p42"/>
          <p:cNvSpPr/>
          <p:nvPr/>
        </p:nvSpPr>
        <p:spPr>
          <a:xfrm>
            <a:off x="1066800" y="2819400"/>
            <a:ext cx="4648200" cy="1219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3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PRE- / POST-Increment cont…</a:t>
            </a:r>
            <a:endParaRPr/>
          </a:p>
        </p:txBody>
      </p:sp>
      <p:sp>
        <p:nvSpPr>
          <p:cNvPr id="554" name="Google Shape;554;p43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But if we have: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a = 9;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printf(“%d\n”, ++a);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	printf(“%d”, a);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output would be:</a:t>
            </a:r>
            <a:endParaRPr/>
          </a:p>
          <a:p>
            <a:pPr marL="548640" marR="0" lvl="1" indent="-27432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10</a:t>
            </a:r>
            <a:endParaRPr/>
          </a:p>
          <a:p>
            <a:pPr marL="548640" marR="0" lvl="1" indent="-27432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10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a++ would return the current value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and then increment the value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endParaRPr sz="24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++a on the other hand increment the value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before returning the value</a:t>
            </a:r>
            <a:endParaRPr/>
          </a:p>
        </p:txBody>
      </p:sp>
      <p:sp>
        <p:nvSpPr>
          <p:cNvPr id="555" name="Google Shape;555;p43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  <p:sp>
        <p:nvSpPr>
          <p:cNvPr id="556" name="Google Shape;556;p43"/>
          <p:cNvSpPr/>
          <p:nvPr/>
        </p:nvSpPr>
        <p:spPr>
          <a:xfrm>
            <a:off x="990600" y="2133600"/>
            <a:ext cx="4800600" cy="1295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Bookman Old Style"/>
              <a:buNone/>
            </a:pPr>
            <a:r>
              <a:rPr lang="en-US" sz="18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The following table illustrates the difference between the prefix and postfix modes of the increment and decrement operator.</a:t>
            </a:r>
            <a:endParaRPr/>
          </a:p>
        </p:txBody>
      </p:sp>
      <p:sp>
        <p:nvSpPr>
          <p:cNvPr id="562" name="Google Shape;562;p4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  <p:sp>
        <p:nvSpPr>
          <p:cNvPr id="563" name="Google Shape;563;p44"/>
          <p:cNvSpPr txBox="1"/>
          <p:nvPr/>
        </p:nvSpPr>
        <p:spPr>
          <a:xfrm>
            <a:off x="2819400" y="1574800"/>
            <a:ext cx="2667000" cy="406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 R = 10, count=10;</a:t>
            </a:r>
            <a:endParaRPr/>
          </a:p>
        </p:txBody>
      </p:sp>
      <p:graphicFrame>
        <p:nvGraphicFramePr>
          <p:cNvPr id="564" name="Google Shape;564;p44"/>
          <p:cNvGraphicFramePr/>
          <p:nvPr/>
        </p:nvGraphicFramePr>
        <p:xfrm>
          <a:off x="533400" y="2133600"/>
          <a:ext cx="8001000" cy="3841800"/>
        </p:xfrm>
        <a:graphic>
          <a:graphicData uri="http://schemas.openxmlformats.org/drawingml/2006/table">
            <a:tbl>
              <a:tblPr>
                <a:noFill/>
                <a:tableStyleId>{178D5282-BE04-4D37-A6E1-61A391BFC41A}</a:tableStyleId>
              </a:tblPr>
              <a:tblGrid>
                <a:gridCol w="2293950"/>
                <a:gridCol w="3117850"/>
                <a:gridCol w="1333500"/>
                <a:gridCol w="1255700"/>
              </a:tblGrid>
              <a:tr h="738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 Or -- Statement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CD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Equivalent Statements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CD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value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CD7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 value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CD7FE"/>
                    </a:solidFill>
                  </a:tcPr>
                </a:tc>
              </a:tr>
              <a:tr h="776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= count++;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= count;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 = count + 1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6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= ++count;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 = count + 1;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= count;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4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= count --;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= count;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 = count – 1;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6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= --count;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 = count – 1;</a:t>
                      </a:r>
                      <a:endParaRPr/>
                    </a:p>
                    <a:p>
                      <a:pPr marL="0" marR="0" lvl="0" indent="0" algn="l" rtl="0">
                        <a:lnSpc>
                          <a:spcPct val="8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 = count;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99"/>
                        </a:buClr>
                        <a:buSzPts val="144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33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5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Binary Operators</a:t>
            </a:r>
            <a:endParaRPr/>
          </a:p>
        </p:txBody>
      </p:sp>
      <p:sp>
        <p:nvSpPr>
          <p:cNvPr id="570" name="Google Shape;570;p45"/>
          <p:cNvSpPr txBox="1">
            <a:spLocks noGrp="1"/>
          </p:cNvSpPr>
          <p:nvPr>
            <p:ph type="body" idx="1"/>
          </p:nvPr>
        </p:nvSpPr>
        <p:spPr>
          <a:xfrm>
            <a:off x="612775" y="4191000"/>
            <a:ext cx="81534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28"/>
              <a:buFont typeface="Noto Sans Symbols"/>
              <a:buChar char="▶"/>
            </a:pPr>
            <a:r>
              <a:rPr lang="en-US" sz="2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division of variables of type int will always produce a variable of type int as the result.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28"/>
              <a:buFont typeface="Noto Sans Symbols"/>
              <a:buChar char="▶"/>
            </a:pPr>
            <a:r>
              <a:rPr lang="en-US" sz="2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You could </a:t>
            </a:r>
            <a:r>
              <a:rPr lang="en-US" sz="28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only use</a:t>
            </a:r>
            <a:r>
              <a:rPr lang="en-US" sz="2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modulus (%) operation on int variables.</a:t>
            </a:r>
            <a:endParaRPr/>
          </a:p>
        </p:txBody>
      </p:sp>
      <p:sp>
        <p:nvSpPr>
          <p:cNvPr id="571" name="Google Shape;571;p45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  <p:graphicFrame>
        <p:nvGraphicFramePr>
          <p:cNvPr id="572" name="Google Shape;572;p45"/>
          <p:cNvGraphicFramePr/>
          <p:nvPr/>
        </p:nvGraphicFramePr>
        <p:xfrm>
          <a:off x="1371600" y="1676400"/>
          <a:ext cx="6096000" cy="237810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2032000"/>
                <a:gridCol w="2032000"/>
                <a:gridCol w="2032000"/>
              </a:tblGrid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 Operation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Operator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Example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Addition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+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a+3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Subtraction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-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a-6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Multiplication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*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a*b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Division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/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a/c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Modulus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%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a%x</a:t>
                      </a:r>
                      <a:endParaRPr sz="20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6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Assignment Operators</a:t>
            </a:r>
            <a:endParaRPr/>
          </a:p>
        </p:txBody>
      </p:sp>
      <p:sp>
        <p:nvSpPr>
          <p:cNvPr id="578" name="Google Shape;578;p46"/>
          <p:cNvSpPr txBox="1">
            <a:spLocks noGrp="1"/>
          </p:cNvSpPr>
          <p:nvPr>
            <p:ph type="body" idx="1"/>
          </p:nvPr>
        </p:nvSpPr>
        <p:spPr>
          <a:xfrm>
            <a:off x="685800" y="13716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Assignment operators are used to combine the '=' operator with one of the binary arithmetic operators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 the following slide, All operations starting from       </a:t>
            </a:r>
            <a:r>
              <a:rPr lang="en-US" sz="2600" b="0" i="0" u="sng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 = 9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9" name="Google Shape;579;p46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  <p:graphicFrame>
        <p:nvGraphicFramePr>
          <p:cNvPr id="580" name="Google Shape;580;p46"/>
          <p:cNvGraphicFramePr/>
          <p:nvPr/>
        </p:nvGraphicFramePr>
        <p:xfrm>
          <a:off x="1447800" y="3276600"/>
          <a:ext cx="6781800" cy="3011656"/>
        </p:xfrm>
        <a:graphic>
          <a:graphicData uri="http://schemas.openxmlformats.org/drawingml/2006/table">
            <a:tbl>
              <a:tblPr>
                <a:noFill/>
                <a:tableStyleId>{AA03B53B-963D-48C8-B9AA-2A0D3230BD53}</a:tableStyleId>
              </a:tblPr>
              <a:tblGrid>
                <a:gridCol w="1524000"/>
                <a:gridCol w="1524000"/>
                <a:gridCol w="1828800"/>
                <a:gridCol w="1905000"/>
              </a:tblGrid>
              <a:tr h="578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1" u="none" strike="noStrike" cap="none"/>
                        <a:t>Operator</a:t>
                      </a:r>
                      <a:endParaRPr sz="2000" b="1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solidFill>
                      <a:srgbClr val="525A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1" u="none" strike="noStrike" cap="none"/>
                        <a:t>Example</a:t>
                      </a:r>
                      <a:endParaRPr sz="2000" b="1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solidFill>
                      <a:srgbClr val="525A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1" u="none" strike="noStrike" cap="none"/>
                        <a:t>Equivalent Statement</a:t>
                      </a:r>
                      <a:endParaRPr sz="2000" b="1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solidFill>
                      <a:srgbClr val="525A7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lang="en-US" sz="2000" b="1" u="none" strike="noStrike" cap="none"/>
                        <a:t>Results </a:t>
                      </a:r>
                      <a:endParaRPr sz="2000" b="1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>
                    <a:solidFill>
                      <a:srgbClr val="525A7D"/>
                    </a:solidFill>
                  </a:tcPr>
                </a:tc>
              </a:tr>
              <a:tr h="432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+=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+= 7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c + 7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16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</a:tr>
              <a:tr h="499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 -=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</a:t>
                      </a:r>
                      <a:r>
                        <a:rPr lang="en-US" sz="3200" u="none" strike="noStrike" cap="none"/>
                        <a:t>-</a:t>
                      </a:r>
                      <a:r>
                        <a:rPr lang="en-US" sz="2800" u="none" strike="noStrike" cap="none"/>
                        <a:t>= 8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c – 8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1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</a:tr>
              <a:tr h="499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*=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*= 10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c * 10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90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</a:tr>
              <a:tr h="499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/=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/= 5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c / 5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1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</a:tr>
              <a:tr h="499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%=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%= 5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c % 5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80"/>
                        <a:buFont typeface="Noto Sans Symbols"/>
                        <a:buNone/>
                      </a:pPr>
                      <a:r>
                        <a:rPr lang="en-US" sz="2800" u="none" strike="noStrike" cap="none"/>
                        <a:t>c = 4</a:t>
                      </a:r>
                      <a:endParaRPr sz="2800" b="0" i="0" u="none" strike="noStrike" cap="none">
                        <a:solidFill>
                          <a:srgbClr val="003399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Precedence Rules</a:t>
            </a:r>
            <a:endParaRPr/>
          </a:p>
        </p:txBody>
      </p:sp>
      <p:sp>
        <p:nvSpPr>
          <p:cNvPr id="586" name="Google Shape;586;p47"/>
          <p:cNvSpPr txBox="1">
            <a:spLocks noGrp="1"/>
          </p:cNvSpPr>
          <p:nvPr>
            <p:ph type="body" idx="1"/>
          </p:nvPr>
        </p:nvSpPr>
        <p:spPr>
          <a:xfrm>
            <a:off x="685800" y="1484313"/>
            <a:ext cx="8077200" cy="20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7"/>
              <a:buFont typeface="Noto Sans Symbols"/>
              <a:buChar char="▶"/>
            </a:pPr>
            <a:r>
              <a:rPr lang="en-US" sz="222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Precedence rules come into play when there is a mixed of arithmetic operators in one statement. For example: x = 3 * a - ++b%3;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7"/>
              <a:buFont typeface="Noto Sans Symbols"/>
              <a:buChar char="▶"/>
            </a:pPr>
            <a:r>
              <a:rPr lang="en-US" sz="222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rules specify which of the operators will be evaluated first.</a:t>
            </a:r>
            <a:endParaRPr/>
          </a:p>
          <a:p>
            <a:pPr marL="274320" marR="0" lvl="0" indent="-167182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7"/>
              <a:buFont typeface="Noto Sans Symbols"/>
              <a:buNone/>
            </a:pPr>
            <a:endParaRPr sz="222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25"/>
              <a:buFont typeface="Noto Sans Symbols"/>
              <a:buNone/>
            </a:pPr>
            <a:r>
              <a:rPr lang="en-US" sz="148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endParaRPr sz="37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87" name="Google Shape;587;p4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  <p:graphicFrame>
        <p:nvGraphicFramePr>
          <p:cNvPr id="588" name="Google Shape;588;p47"/>
          <p:cNvGraphicFramePr/>
          <p:nvPr/>
        </p:nvGraphicFramePr>
        <p:xfrm>
          <a:off x="1143000" y="3581400"/>
          <a:ext cx="7239000" cy="237810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1981200"/>
                <a:gridCol w="2844800"/>
                <a:gridCol w="2413000"/>
              </a:tblGrid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Precedence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Operator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Associativity Level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 (highest)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()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Left to right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Unary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Right to left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* / %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Left to right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+ -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Left to right</a:t>
                      </a:r>
                      <a:endParaRPr sz="2000"/>
                    </a:p>
                  </a:txBody>
                  <a:tcPr marL="91450" marR="91450" marT="45725" marB="45725"/>
                </a:tc>
              </a:tr>
              <a:tr h="396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 (lowest)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=  +=  -=  *=  /=  %=</a:t>
                      </a:r>
                      <a:endParaRPr sz="2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Right to left</a:t>
                      </a:r>
                      <a:endParaRPr sz="20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8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Precedence Rules cont…</a:t>
            </a:r>
            <a:endParaRPr/>
          </a:p>
        </p:txBody>
      </p:sp>
      <p:sp>
        <p:nvSpPr>
          <p:cNvPr id="594" name="Google Shape;594;p48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For example: x = 3 * a - ++b % 3;</a:t>
            </a:r>
            <a:endParaRPr/>
          </a:p>
          <a:p>
            <a:pPr marL="548640" marR="0" lvl="1" indent="-27432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16"/>
              <a:buFont typeface="Noto Sans Symbols"/>
              <a:buNone/>
            </a:pPr>
            <a:r>
              <a:rPr lang="en-US" sz="1600" b="0" i="1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how would this statement be evaluated?</a:t>
            </a:r>
            <a:endParaRPr/>
          </a:p>
          <a:p>
            <a:pPr marL="548640" marR="0" lvl="1" indent="-27432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16"/>
              <a:buFont typeface="Noto Sans Symbols"/>
              <a:buNone/>
            </a:pPr>
            <a:endParaRPr sz="1600" b="0" i="1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If we intend to have the statement evaluated differently from the way specified by the precedence rules, we need to specify it using parentheses ( )</a:t>
            </a:r>
            <a:endParaRPr sz="1800" b="0" i="1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Using parenthesis, we will have</a:t>
            </a:r>
            <a:endParaRPr/>
          </a:p>
          <a:p>
            <a:pPr marL="1097280" marR="0" lvl="3" indent="-2286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126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x = 3 * ((a - ++b)%3);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expression inside a parentheses will be evaluated first.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inner parentheses will be evaluated earlier compared to the outer parentheses.</a:t>
            </a:r>
            <a:endParaRPr/>
          </a:p>
        </p:txBody>
      </p:sp>
      <p:sp>
        <p:nvSpPr>
          <p:cNvPr id="595" name="Google Shape;595;p4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9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Equality and Relational Operators</a:t>
            </a:r>
            <a:endParaRPr/>
          </a:p>
        </p:txBody>
      </p:sp>
      <p:sp>
        <p:nvSpPr>
          <p:cNvPr id="601" name="Google Shape;601;p49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Equality Operators: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None/>
            </a:pPr>
            <a:endParaRPr sz="2200" b="1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None/>
            </a:pPr>
            <a:endParaRPr sz="2200" b="1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Relational Operators: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72"/>
              <a:buFont typeface="Noto Sans Symbols"/>
              <a:buNone/>
            </a:pPr>
            <a:r>
              <a:rPr lang="en-US" sz="2200" b="1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endParaRPr sz="22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02" name="Google Shape;602;p4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  <p:graphicFrame>
        <p:nvGraphicFramePr>
          <p:cNvPr id="603" name="Google Shape;603;p49"/>
          <p:cNvGraphicFramePr/>
          <p:nvPr/>
        </p:nvGraphicFramePr>
        <p:xfrm>
          <a:off x="1066800" y="2209800"/>
          <a:ext cx="7239000" cy="111285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2895600"/>
                <a:gridCol w="1990725"/>
                <a:gridCol w="2352675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Operator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Meaning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==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x==y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is equal to y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!=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x!=y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is not equal to y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04" name="Google Shape;604;p49"/>
          <p:cNvGraphicFramePr/>
          <p:nvPr/>
        </p:nvGraphicFramePr>
        <p:xfrm>
          <a:off x="1143000" y="3962400"/>
          <a:ext cx="7162800" cy="185425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2387600"/>
                <a:gridCol w="1651000"/>
                <a:gridCol w="31242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Operator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Example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Meaning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&gt;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x&gt;y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is greater than y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x&lt;y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is less than y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&gt;=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x&gt;=y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is greater than or equal to y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&lt;=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x&lt;=y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 is less than or equal to y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0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Logical Operators</a:t>
            </a:r>
            <a:endParaRPr/>
          </a:p>
        </p:txBody>
      </p:sp>
      <p:sp>
        <p:nvSpPr>
          <p:cNvPr id="610" name="Google Shape;610;p50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Logical operators are useful when we want to test multiple conditions.</a:t>
            </a:r>
            <a:endParaRPr/>
          </a:p>
          <a:p>
            <a:pPr marL="274320" marR="0" lvl="0" indent="-274320" algn="l" rtl="0">
              <a:lnSpc>
                <a:spcPct val="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There are 3 types of logical operators and they work the same way as the boolean AND, OR and NOT operators.</a:t>
            </a:r>
            <a:endParaRPr/>
          </a:p>
          <a:p>
            <a:pPr marL="274320" marR="0" lvl="0" indent="-274320" algn="l" rtl="0">
              <a:lnSpc>
                <a:spcPct val="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&amp;&amp; - Logical AND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All the conditions must be true for the whole expression to be true.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Example: if (a == 10 &amp;&amp; b == 9 &amp;&amp; d == 1)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None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	means the </a:t>
            </a:r>
            <a:r>
              <a:rPr lang="en-US" sz="2300" b="0" i="1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if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statement is only true when </a:t>
            </a:r>
            <a:r>
              <a:rPr lang="en-US" sz="2300" b="0" i="1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== 10 </a:t>
            </a:r>
            <a:r>
              <a:rPr lang="en-US" sz="23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and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None/>
            </a:pPr>
            <a:r>
              <a:rPr lang="en-US" sz="2300" b="0" i="1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	b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== 9 </a:t>
            </a:r>
            <a:r>
              <a:rPr lang="en-US" sz="23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and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300" b="0" i="1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== 1.</a:t>
            </a:r>
            <a:endParaRPr/>
          </a:p>
        </p:txBody>
      </p:sp>
      <p:sp>
        <p:nvSpPr>
          <p:cNvPr id="611" name="Google Shape;611;p5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51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Logical Operators cont…</a:t>
            </a:r>
            <a:endParaRPr/>
          </a:p>
        </p:txBody>
      </p:sp>
      <p:sp>
        <p:nvSpPr>
          <p:cNvPr id="617" name="Google Shape;617;p51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|| - Logical OR 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The truth of one condition is enough to make the whole expression true.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Example: if (a == 10 || b == 9 || d == 1)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None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	means the </a:t>
            </a:r>
            <a:r>
              <a:rPr lang="en-US" sz="2300" b="0" i="1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if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statement is true when </a:t>
            </a:r>
            <a:r>
              <a:rPr lang="en-US" sz="23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either one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of </a:t>
            </a:r>
            <a:r>
              <a:rPr lang="en-US" sz="2300" b="0" i="1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2300" b="0" i="1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or </a:t>
            </a:r>
            <a:r>
              <a:rPr lang="en-US" sz="2300" b="0" i="1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d</a:t>
            </a: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has the right value.</a:t>
            </a:r>
            <a:endParaRPr/>
          </a:p>
          <a:p>
            <a:pPr marL="548640" marR="0" lvl="1" indent="-274320" algn="l" rtl="0">
              <a:lnSpc>
                <a:spcPct val="2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None/>
            </a:pPr>
            <a:endParaRPr sz="2300" b="0" i="0" u="none" strike="noStrike" cap="none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! - Logical NOT (also called logical negation)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Reverse the meaning of a condition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▶"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Example: if (!(points &gt; 90))</a:t>
            </a:r>
            <a:endParaRPr/>
          </a:p>
          <a:p>
            <a:pPr marL="548640" marR="0" lvl="1" indent="-27432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None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	means if points not bigger than 90.</a:t>
            </a:r>
            <a:endParaRPr/>
          </a:p>
        </p:txBody>
      </p:sp>
      <p:sp>
        <p:nvSpPr>
          <p:cNvPr id="618" name="Google Shape;618;p51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2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Conditional Operator</a:t>
            </a:r>
            <a:endParaRPr/>
          </a:p>
        </p:txBody>
      </p:sp>
      <p:sp>
        <p:nvSpPr>
          <p:cNvPr id="624" name="Google Shape;624;p52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32"/>
              <a:buFont typeface="Noto Sans Symbols"/>
              <a:buChar char="▶"/>
            </a:pPr>
            <a:r>
              <a:rPr lang="en-US" sz="3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conditional operator (?:) is used to simplify an if/else statement.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32"/>
              <a:buFont typeface="Noto Sans Symbols"/>
              <a:buChar char="▶"/>
            </a:pPr>
            <a:r>
              <a:rPr lang="en-US" sz="3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Syntax: 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Condition ? Expression1 : Expression2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32"/>
              <a:buFont typeface="Noto Sans Symbols"/>
              <a:buChar char="▶"/>
            </a:pPr>
            <a:r>
              <a:rPr lang="en-US" sz="3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statement above is equivalent to: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32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 (Condition)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  Expression1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else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  Expression2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32"/>
              <a:buFont typeface="Noto Sans Symbols"/>
              <a:buNone/>
            </a:pPr>
            <a:endParaRPr sz="3200" b="1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25" name="Google Shape;625;p5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3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Conditional Operator cont…</a:t>
            </a:r>
            <a:endParaRPr/>
          </a:p>
        </p:txBody>
      </p:sp>
      <p:sp>
        <p:nvSpPr>
          <p:cNvPr id="631" name="Google Shape;631;p53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Example 1: </a:t>
            </a:r>
            <a:endParaRPr/>
          </a:p>
          <a:p>
            <a:pPr marL="274320" marR="0" lvl="0" indent="-274320" algn="l" rtl="0">
              <a:lnSpc>
                <a:spcPct val="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400" b="0" i="0" u="sng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if/else statement: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 if (total &gt; 60) 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grade = ‘P’	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else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grade = ‘F’;</a:t>
            </a:r>
            <a:endParaRPr/>
          </a:p>
          <a:p>
            <a:pPr marL="274320" marR="0" lvl="0" indent="-274320" algn="l" rtl="0">
              <a:lnSpc>
                <a:spcPct val="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0" i="0" u="sng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conditional statement: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total &gt; 60 ? grade = ‘P’: grade = ‘F’;</a:t>
            </a:r>
            <a:endParaRPr/>
          </a:p>
          <a:p>
            <a:pPr marL="274320" marR="0" lvl="0" indent="-274320" algn="l" rtl="0">
              <a:lnSpc>
                <a:spcPct val="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/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		OR</a:t>
            </a:r>
            <a:endParaRPr/>
          </a:p>
          <a:p>
            <a:pPr marL="274320" marR="0" lvl="0" indent="-274320" algn="l" rtl="0">
              <a:lnSpc>
                <a:spcPct val="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 grade = total &gt; 60 ? ‘P’: ‘F’;</a:t>
            </a:r>
            <a:endParaRPr/>
          </a:p>
        </p:txBody>
      </p:sp>
      <p:sp>
        <p:nvSpPr>
          <p:cNvPr id="632" name="Google Shape;632;p53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4"/>
          <p:cNvSpPr txBox="1"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Conditional Operator cont…</a:t>
            </a:r>
            <a:endParaRPr/>
          </a:p>
        </p:txBody>
      </p:sp>
      <p:sp>
        <p:nvSpPr>
          <p:cNvPr id="638" name="Google Shape;638;p54"/>
          <p:cNvSpPr txBox="1">
            <a:spLocks noGrp="1"/>
          </p:cNvSpPr>
          <p:nvPr>
            <p:ph type="body" idx="1"/>
          </p:nvPr>
        </p:nvSpPr>
        <p:spPr>
          <a:xfrm>
            <a:off x="612775" y="16002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Example 2:</a:t>
            </a:r>
            <a:endParaRPr/>
          </a:p>
          <a:p>
            <a:pPr marL="623888" marR="0" lvl="0" indent="-274319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sng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if/else statement:</a:t>
            </a:r>
            <a:endParaRPr/>
          </a:p>
          <a:p>
            <a:pPr marL="274320" marR="0" lvl="0" indent="-274320" algn="l" rtl="0">
              <a:lnSpc>
                <a:spcPct val="3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if (total &gt; 60)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printf(“Passed!!\n”);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else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	printf(“Failed!!\n”);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400" b="0" i="0" u="sng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Conditional Statement:</a:t>
            </a:r>
            <a:endParaRPr/>
          </a:p>
          <a:p>
            <a:pPr marL="274320" marR="0" lvl="0" indent="-274320" algn="l" rtl="0">
              <a:lnSpc>
                <a:spcPct val="3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368"/>
              <a:buFont typeface="Noto Sans Symbols"/>
              <a:buNone/>
            </a:pPr>
            <a:endParaRPr sz="1800" b="0" i="0" u="sng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16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printf(“%s!!\n”, total &gt; 60? “Passed”: “Failed”);</a:t>
            </a:r>
            <a:endParaRPr/>
          </a:p>
        </p:txBody>
      </p:sp>
      <p:sp>
        <p:nvSpPr>
          <p:cNvPr id="639" name="Google Shape;639;p5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prepared by NI, edited by MAF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5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(4/10)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46" name="Google Shape;646;p55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647" name="Google Shape;647;p55"/>
          <p:cNvSpPr txBox="1">
            <a:spLocks noGrp="1"/>
          </p:cNvSpPr>
          <p:nvPr>
            <p:ph type="body" idx="1"/>
          </p:nvPr>
        </p:nvSpPr>
        <p:spPr>
          <a:xfrm>
            <a:off x="587375" y="1344613"/>
            <a:ext cx="8229600" cy="2325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Executable Statements</a:t>
            </a: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548640" marR="0" lvl="1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I/O statements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(e.g.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printf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scanf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/>
          </a:p>
          <a:p>
            <a:pPr marL="548640" marR="0" lvl="1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Assignment statements</a:t>
            </a:r>
            <a:endParaRPr/>
          </a:p>
          <a:p>
            <a:pPr marL="822960" marR="0" lvl="2" indent="-338138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stores a value or a computational result in a variable </a:t>
            </a:r>
            <a:endParaRPr/>
          </a:p>
          <a:p>
            <a:pPr marL="822960" marR="0" lvl="2" indent="-338138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(Note:</a:t>
            </a: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18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‘=’ is </a:t>
            </a:r>
            <a:r>
              <a:rPr lang="en-US" sz="1800" b="0" i="1" u="sng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not</a:t>
            </a:r>
            <a:r>
              <a:rPr lang="en-US" sz="18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 equality, but assignmen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t)</a:t>
            </a:r>
            <a:endParaRPr/>
          </a:p>
          <a:p>
            <a:pPr marL="1097280" marR="0" lvl="3" indent="-45720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216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e.g.  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kms = KMS_PER_MILE * miles;</a:t>
            </a:r>
            <a:endParaRPr/>
          </a:p>
          <a:p>
            <a:pPr marL="822960" marR="0" lvl="2" indent="-338138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648" name="Google Shape;648;p55" descr="fig0203"/>
          <p:cNvPicPr preferRelativeResize="0"/>
          <p:nvPr/>
        </p:nvPicPr>
        <p:blipFill rotWithShape="1">
          <a:blip r:embed="rId3">
            <a:alphaModFix/>
          </a:blip>
          <a:srcRect b="72836"/>
          <a:stretch/>
        </p:blipFill>
        <p:spPr>
          <a:xfrm>
            <a:off x="1997075" y="3624263"/>
            <a:ext cx="5880100" cy="72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55" descr="fig0203"/>
          <p:cNvPicPr preferRelativeResize="0"/>
          <p:nvPr/>
        </p:nvPicPr>
        <p:blipFill rotWithShape="1">
          <a:blip r:embed="rId3">
            <a:alphaModFix/>
          </a:blip>
          <a:srcRect t="27164"/>
          <a:stretch/>
        </p:blipFill>
        <p:spPr>
          <a:xfrm>
            <a:off x="2016125" y="4340225"/>
            <a:ext cx="5880100" cy="19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5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45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6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(5/10)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57" name="Google Shape;657;p56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658" name="Google Shape;658;p56"/>
          <p:cNvSpPr txBox="1">
            <a:spLocks noGrp="1"/>
          </p:cNvSpPr>
          <p:nvPr>
            <p:ph type="body" idx="1"/>
          </p:nvPr>
        </p:nvSpPr>
        <p:spPr>
          <a:xfrm>
            <a:off x="1170432" y="1320229"/>
            <a:ext cx="3072384" cy="447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3" indent="-457200" algn="l" rtl="0">
              <a:spcBef>
                <a:spcPts val="0"/>
              </a:spcBef>
              <a:spcAft>
                <a:spcPts val="0"/>
              </a:spcAft>
              <a:buClr>
                <a:srgbClr val="8BA1B3"/>
              </a:buClr>
              <a:buSzPts val="216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e.g.  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sum = sum + item;</a:t>
            </a:r>
            <a:endParaRPr/>
          </a:p>
          <a:p>
            <a:pPr marL="822960" marR="0" lvl="2" indent="-338138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659" name="Google Shape;659;p56" descr="fig0204"/>
          <p:cNvPicPr preferRelativeResize="0"/>
          <p:nvPr/>
        </p:nvPicPr>
        <p:blipFill rotWithShape="1">
          <a:blip r:embed="rId3">
            <a:alphaModFix/>
          </a:blip>
          <a:srcRect b="74435"/>
          <a:stretch/>
        </p:blipFill>
        <p:spPr>
          <a:xfrm>
            <a:off x="4539362" y="1274891"/>
            <a:ext cx="3542276" cy="541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56" descr="fig0204"/>
          <p:cNvPicPr preferRelativeResize="0"/>
          <p:nvPr/>
        </p:nvPicPr>
        <p:blipFill rotWithShape="1">
          <a:blip r:embed="rId3">
            <a:alphaModFix/>
          </a:blip>
          <a:srcRect t="31095"/>
          <a:stretch/>
        </p:blipFill>
        <p:spPr>
          <a:xfrm>
            <a:off x="4551553" y="1828800"/>
            <a:ext cx="3470783" cy="142981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6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6"/>
          <p:cNvSpPr txBox="1"/>
          <p:nvPr/>
        </p:nvSpPr>
        <p:spPr>
          <a:xfrm>
            <a:off x="355726" y="3255265"/>
            <a:ext cx="8471281" cy="3194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Examples of invalid assignment (result in compilation error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“lvalue required as left operand of assignment”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):</a:t>
            </a:r>
            <a:endParaRPr/>
          </a:p>
          <a:p>
            <a:pPr marL="1143000" marR="0" lvl="2" indent="-338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32 = a;</a:t>
            </a:r>
            <a:endParaRPr/>
          </a:p>
          <a:p>
            <a:pPr marL="1143000" marR="0" lvl="2" indent="-3381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 + b = c;</a:t>
            </a:r>
            <a:endParaRPr/>
          </a:p>
          <a:p>
            <a:pPr marL="742950" marR="0" lvl="1" indent="-2921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 can be cascaded, with associativity from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right to left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1143000" marR="0" lvl="2" indent="-338138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 = b = c = 3 + 6;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9 assigned to variables c, b and a</a:t>
            </a:r>
            <a:endParaRPr/>
          </a:p>
          <a:p>
            <a:pPr marL="1143000" marR="0" lvl="2" indent="-338138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above is equivalent to: </a:t>
            </a:r>
            <a:r>
              <a:rPr lang="en-US" sz="18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 = (b = (c = 3 + 6));</a:t>
            </a:r>
            <a:endParaRPr/>
          </a:p>
          <a:p>
            <a:pPr marL="1143000" marR="0" lvl="2" indent="-33813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which is also equivalent to:</a:t>
            </a:r>
            <a:endParaRPr/>
          </a:p>
          <a:p>
            <a:pPr marL="1143000" marR="0" lvl="2" indent="-33813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c = 3 + 6;</a:t>
            </a:r>
            <a:br>
              <a:rPr lang="en-US" sz="18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</a:br>
            <a:r>
              <a:rPr lang="en-US" sz="18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b = c;</a:t>
            </a:r>
            <a:endParaRPr/>
          </a:p>
          <a:p>
            <a:pPr marL="1143000" marR="0" lvl="2" indent="-33813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a = b;</a:t>
            </a:r>
            <a:endParaRPr/>
          </a:p>
          <a:p>
            <a:pPr marL="1143000" marR="0" lvl="2" indent="-26955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80"/>
              <a:buFont typeface="Noto Sans Symbols"/>
              <a:buNone/>
            </a:pPr>
            <a:endParaRPr sz="18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1143000" marR="0" lvl="2" indent="-33813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63" name="Google Shape;663;p56"/>
          <p:cNvSpPr txBox="1"/>
          <p:nvPr/>
        </p:nvSpPr>
        <p:spPr>
          <a:xfrm>
            <a:off x="365760" y="1887157"/>
            <a:ext cx="4255008" cy="1294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Note: Left side of an assignment statement is called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lvalue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– it must be assignable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7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(6/10)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70" name="Google Shape;670;p5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671" name="Google Shape;671;p5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47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7"/>
          <p:cNvSpPr txBox="1"/>
          <p:nvPr/>
        </p:nvSpPr>
        <p:spPr>
          <a:xfrm>
            <a:off x="263048" y="1352811"/>
            <a:ext cx="8563960" cy="509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</a:pPr>
            <a:r>
              <a:rPr lang="en-US"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Side Effect</a:t>
            </a: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1143000" marR="0" lvl="2" indent="-338138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assignment statement does not just assigns, it also has the </a:t>
            </a:r>
            <a:r>
              <a:rPr lang="en-US" sz="20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side effect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returning the value of its right-hand side expression</a:t>
            </a:r>
            <a:endParaRPr/>
          </a:p>
          <a:p>
            <a:pPr marL="1143000" marR="0" lvl="2" indent="-338138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Hence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 = 12;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the side effect of returning the value of 12, besides assigning 12 to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338138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Usually we don’t make use of its side effect, but sometimes we do, eg:</a:t>
            </a:r>
            <a:endParaRPr/>
          </a:p>
          <a:p>
            <a:pPr marL="1143000" marR="0" lvl="2" indent="-338138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z = a = 12;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or z = (a = 12);</a:t>
            </a:r>
            <a:endParaRPr/>
          </a:p>
          <a:p>
            <a:pPr marL="1143000" marR="0" lvl="2" indent="-338138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above makes use of the side effect of the assignment statement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 = 12;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(which gives 12) and assigns it to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z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338138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Side effects have their use, but avoid convoluted codes: </a:t>
            </a:r>
            <a:endParaRPr/>
          </a:p>
          <a:p>
            <a:pPr marL="1143000" marR="0" lvl="2" indent="-338138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8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a = 5 + (b = 10); </a:t>
            </a: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// assign 10 to b, and 15 to a</a:t>
            </a:r>
            <a:endParaRPr/>
          </a:p>
          <a:p>
            <a:pPr marL="1143000" marR="0" lvl="2" indent="-338138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Side effects also apply to expressions involving other operators (eg: logical operators). We will see more of this later.</a:t>
            </a:r>
            <a:endParaRPr sz="18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1143000" marR="0" lvl="2" indent="-33813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8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Input Output Operations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79" name="Google Shape;679;p58"/>
          <p:cNvSpPr txBox="1"/>
          <p:nvPr/>
        </p:nvSpPr>
        <p:spPr>
          <a:xfrm>
            <a:off x="263048" y="1352811"/>
            <a:ext cx="8563960" cy="509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</a:pPr>
            <a:r>
              <a:rPr lang="en-US"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338138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transfer from outside world to memory</a:t>
            </a:r>
            <a:endParaRPr sz="1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92100" algn="l" rtl="0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</a:pPr>
            <a:r>
              <a:rPr lang="en-US"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338138" algn="l" rtl="0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■"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 computes results and stores in memory, result can be displayed by output operation</a:t>
            </a:r>
            <a:endParaRPr sz="1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338138" algn="l" rtl="0"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338138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20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8"/>
          <p:cNvSpPr txBox="1"/>
          <p:nvPr/>
        </p:nvSpPr>
        <p:spPr>
          <a:xfrm>
            <a:off x="1079031" y="3701135"/>
            <a:ext cx="6931993" cy="40011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printf(“That equals %f kilometers\n”, kms);</a:t>
            </a:r>
            <a:endParaRPr sz="2000">
              <a:solidFill>
                <a:srgbClr val="C0000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681" name="Google Shape;681;p58"/>
          <p:cNvSpPr txBox="1"/>
          <p:nvPr/>
        </p:nvSpPr>
        <p:spPr>
          <a:xfrm>
            <a:off x="536027" y="4828768"/>
            <a:ext cx="1710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name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2" name="Google Shape;682;p58"/>
          <p:cNvCxnSpPr/>
          <p:nvPr/>
        </p:nvCxnSpPr>
        <p:spPr>
          <a:xfrm rot="10800000" flipH="1">
            <a:off x="1079031" y="4101245"/>
            <a:ext cx="312358" cy="727523"/>
          </a:xfrm>
          <a:prstGeom prst="straightConnector1">
            <a:avLst/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83" name="Google Shape;683;p58"/>
          <p:cNvSpPr txBox="1"/>
          <p:nvPr/>
        </p:nvSpPr>
        <p:spPr>
          <a:xfrm>
            <a:off x="2548815" y="4807742"/>
            <a:ext cx="13003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Arguments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58"/>
          <p:cNvCxnSpPr/>
          <p:nvPr/>
        </p:nvCxnSpPr>
        <p:spPr>
          <a:xfrm rot="10800000" flipH="1">
            <a:off x="3091819" y="4080219"/>
            <a:ext cx="312358" cy="727523"/>
          </a:xfrm>
          <a:prstGeom prst="straightConnector1">
            <a:avLst/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85" name="Google Shape;685;p58"/>
          <p:cNvSpPr txBox="1"/>
          <p:nvPr/>
        </p:nvSpPr>
        <p:spPr>
          <a:xfrm>
            <a:off x="4485071" y="4807741"/>
            <a:ext cx="140294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Placeholder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" name="Google Shape;686;p58"/>
          <p:cNvCxnSpPr/>
          <p:nvPr/>
        </p:nvCxnSpPr>
        <p:spPr>
          <a:xfrm rot="10800000">
            <a:off x="4485071" y="4080218"/>
            <a:ext cx="543004" cy="727524"/>
          </a:xfrm>
          <a:prstGeom prst="straightConnector1">
            <a:avLst/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87" name="Google Shape;687;p58"/>
          <p:cNvSpPr txBox="1"/>
          <p:nvPr/>
        </p:nvSpPr>
        <p:spPr>
          <a:xfrm>
            <a:off x="536027" y="5477384"/>
            <a:ext cx="7803932" cy="40011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printf(“I am %d years old, CGPA %\n”, age, CGPA);</a:t>
            </a:r>
            <a:endParaRPr sz="2000">
              <a:solidFill>
                <a:srgbClr val="C0000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688" name="Google Shape;688;p58"/>
          <p:cNvSpPr txBox="1"/>
          <p:nvPr/>
        </p:nvSpPr>
        <p:spPr>
          <a:xfrm>
            <a:off x="3060871" y="5890335"/>
            <a:ext cx="23775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Placeholders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59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Input Output Operations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95" name="Google Shape;695;p59"/>
          <p:cNvSpPr txBox="1"/>
          <p:nvPr/>
        </p:nvSpPr>
        <p:spPr>
          <a:xfrm>
            <a:off x="263048" y="1352811"/>
            <a:ext cx="8563960" cy="509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0" marR="0" lvl="2" indent="-338138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338138" algn="l" rtl="0"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59"/>
          <p:cNvSpPr txBox="1"/>
          <p:nvPr/>
        </p:nvSpPr>
        <p:spPr>
          <a:xfrm>
            <a:off x="1079031" y="1667321"/>
            <a:ext cx="6931993" cy="40011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scanf(“%f”, &amp;miles);</a:t>
            </a:r>
            <a:endParaRPr sz="2000">
              <a:solidFill>
                <a:srgbClr val="C0000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697" name="Google Shape;697;p59"/>
          <p:cNvSpPr txBox="1"/>
          <p:nvPr/>
        </p:nvSpPr>
        <p:spPr>
          <a:xfrm>
            <a:off x="536027" y="2794954"/>
            <a:ext cx="1710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Function name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8" name="Google Shape;698;p59"/>
          <p:cNvCxnSpPr/>
          <p:nvPr/>
        </p:nvCxnSpPr>
        <p:spPr>
          <a:xfrm rot="10800000" flipH="1">
            <a:off x="1079031" y="2067431"/>
            <a:ext cx="312358" cy="727523"/>
          </a:xfrm>
          <a:prstGeom prst="straightConnector1">
            <a:avLst/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99" name="Google Shape;699;p59"/>
          <p:cNvSpPr txBox="1"/>
          <p:nvPr/>
        </p:nvSpPr>
        <p:spPr>
          <a:xfrm>
            <a:off x="2548815" y="2773928"/>
            <a:ext cx="13003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Arguments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0" name="Google Shape;700;p59"/>
          <p:cNvCxnSpPr/>
          <p:nvPr/>
        </p:nvCxnSpPr>
        <p:spPr>
          <a:xfrm rot="10800000">
            <a:off x="2548815" y="2067432"/>
            <a:ext cx="257447" cy="727522"/>
          </a:xfrm>
          <a:prstGeom prst="straightConnector1">
            <a:avLst/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01" name="Google Shape;701;p59"/>
          <p:cNvSpPr txBox="1"/>
          <p:nvPr/>
        </p:nvSpPr>
        <p:spPr>
          <a:xfrm>
            <a:off x="4485071" y="2773927"/>
            <a:ext cx="10310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2" name="Google Shape;702;p59"/>
          <p:cNvCxnSpPr/>
          <p:nvPr/>
        </p:nvCxnSpPr>
        <p:spPr>
          <a:xfrm rot="10800000">
            <a:off x="3208025" y="2046404"/>
            <a:ext cx="1277046" cy="570672"/>
          </a:xfrm>
          <a:prstGeom prst="straightConnector1">
            <a:avLst/>
          </a:prstGeom>
          <a:solidFill>
            <a:schemeClr val="accent1"/>
          </a:solidFill>
          <a:ln w="12700" cap="sq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03" name="Google Shape;703;p59"/>
          <p:cNvSpPr txBox="1"/>
          <p:nvPr/>
        </p:nvSpPr>
        <p:spPr>
          <a:xfrm>
            <a:off x="536027" y="3443570"/>
            <a:ext cx="7803932" cy="40011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printf(“I am %d years old, CGPA %\n”, age, CGPA);</a:t>
            </a:r>
            <a:endParaRPr sz="2000">
              <a:solidFill>
                <a:srgbClr val="C0000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704" name="Google Shape;704;p59"/>
          <p:cNvSpPr txBox="1"/>
          <p:nvPr/>
        </p:nvSpPr>
        <p:spPr>
          <a:xfrm>
            <a:off x="3060871" y="3856521"/>
            <a:ext cx="237757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Placeholders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9"/>
          <p:cNvSpPr txBox="1"/>
          <p:nvPr/>
        </p:nvSpPr>
        <p:spPr>
          <a:xfrm>
            <a:off x="415448" y="4524703"/>
            <a:ext cx="8563960" cy="207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</a:pPr>
            <a:r>
              <a:rPr lang="en-US"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If we do not enter “&amp;” sign, scanf does not know where to store the value</a:t>
            </a:r>
            <a:endParaRPr sz="1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0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Input Output Operations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12" name="Google Shape;712;p60"/>
          <p:cNvSpPr txBox="1"/>
          <p:nvPr/>
        </p:nvSpPr>
        <p:spPr>
          <a:xfrm>
            <a:off x="263048" y="1352811"/>
            <a:ext cx="8563960" cy="509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0" marR="0" lvl="2" indent="-338138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338138" algn="l" rtl="0">
              <a:spcBef>
                <a:spcPts val="4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60"/>
          <p:cNvSpPr txBox="1"/>
          <p:nvPr/>
        </p:nvSpPr>
        <p:spPr>
          <a:xfrm>
            <a:off x="415448" y="1844483"/>
            <a:ext cx="8563960" cy="207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marR="0" lvl="1" indent="-2921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◻"/>
            </a:pPr>
            <a:r>
              <a:rPr lang="en-US" sz="2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The statement return(0) transfers control to Operating System</a:t>
            </a:r>
            <a:endParaRPr sz="18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1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(7/10)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20" name="Google Shape;720;p61"/>
          <p:cNvSpPr txBox="1">
            <a:spLocks noGrp="1"/>
          </p:cNvSpPr>
          <p:nvPr>
            <p:ph type="body" idx="1"/>
          </p:nvPr>
        </p:nvSpPr>
        <p:spPr>
          <a:xfrm>
            <a:off x="587375" y="1280160"/>
            <a:ext cx="8229600" cy="499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Noto Sans Symbols"/>
              <a:buChar char="▶"/>
            </a:pP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Arithmetic operations</a:t>
            </a: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548640" marR="0" lvl="1" indent="-3889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Binary Operators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+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–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*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/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%</a:t>
            </a: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(modulo or remainder)</a:t>
            </a:r>
            <a:endParaRPr/>
          </a:p>
          <a:p>
            <a:pPr marL="822960" marR="0" lvl="2" indent="-338138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Left Associative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(from left to right)</a:t>
            </a:r>
            <a:endParaRPr/>
          </a:p>
          <a:p>
            <a:pPr marL="1097280" marR="0" lvl="3" indent="-45720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46 / 15 / 2  → 3 / 2 → 1</a:t>
            </a:r>
            <a:endParaRPr/>
          </a:p>
          <a:p>
            <a:pPr marL="1097280" marR="0" lvl="3" indent="-45720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19 % 7 % 3 → 5 % 3 → 2 </a:t>
            </a:r>
            <a:endParaRPr/>
          </a:p>
          <a:p>
            <a:pPr marL="548640" marR="0" lvl="1" indent="-3889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1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Unary operators</a:t>
            </a:r>
            <a:r>
              <a:rPr lang="en-US" sz="2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: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4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+</a:t>
            </a:r>
            <a:r>
              <a:rPr lang="en-US" sz="2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4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–</a:t>
            </a:r>
            <a:endParaRPr/>
          </a:p>
          <a:p>
            <a:pPr marL="822960" marR="0" lvl="2" indent="-338138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Right Associative </a:t>
            </a:r>
            <a:endParaRPr/>
          </a:p>
          <a:p>
            <a:pPr marL="1097280" marR="0" lvl="3" indent="-457200" algn="l" rtl="0">
              <a:spcBef>
                <a:spcPts val="400"/>
              </a:spcBef>
              <a:spcAft>
                <a:spcPts val="0"/>
              </a:spcAft>
              <a:buClr>
                <a:srgbClr val="8BA1B3"/>
              </a:buClr>
              <a:buSzPts val="960"/>
              <a:buFont typeface="Noto Sans Symbols"/>
              <a:buChar char="◻"/>
            </a:pPr>
            <a:r>
              <a:rPr lang="en-US" sz="1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x = – 23                          p = +4 * 10 </a:t>
            </a:r>
            <a:endParaRPr/>
          </a:p>
          <a:p>
            <a:pPr marL="548640" marR="0" lvl="1" indent="-3889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Execution from left to right, respecting parentheses rule, and then precedence rule, and then associative rule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(next page)</a:t>
            </a:r>
            <a:endParaRPr sz="2000" b="0" i="0" u="none" strike="noStrike" cap="none">
              <a:solidFill>
                <a:srgbClr val="0066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822960" marR="0" lvl="2" indent="-338138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addition, subtraction are lower in precedence than multiplication, division, and remainder</a:t>
            </a:r>
            <a:endParaRPr/>
          </a:p>
          <a:p>
            <a:pPr marL="548640" marR="0" lvl="1" indent="-3889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Truncated result if result can’t be stored </a:t>
            </a:r>
            <a:r>
              <a:rPr lang="en-US" sz="1800" b="0" i="0" u="none" strike="noStrike" cap="none">
                <a:solidFill>
                  <a:srgbClr val="006600"/>
                </a:solidFill>
                <a:latin typeface="Cabin"/>
                <a:ea typeface="Cabin"/>
                <a:cs typeface="Cabin"/>
                <a:sym typeface="Cabin"/>
              </a:rPr>
              <a:t>(the page after next)</a:t>
            </a:r>
            <a:endParaRPr sz="2000" b="0" i="0" u="none" strike="noStrike" cap="none">
              <a:solidFill>
                <a:srgbClr val="0066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822960" marR="0" lvl="2" indent="-338138" algn="l" rtl="0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int n;     n = 9 * 0.5;      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results in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being stored in n.</a:t>
            </a:r>
            <a:endParaRPr/>
          </a:p>
          <a:p>
            <a:pPr marL="548640" marR="0" lvl="1" indent="-236538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2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(8/10)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27" name="Google Shape;727;p6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728" name="Google Shape;728;p62"/>
          <p:cNvSpPr txBox="1">
            <a:spLocks noGrp="1"/>
          </p:cNvSpPr>
          <p:nvPr>
            <p:ph type="body" idx="1"/>
          </p:nvPr>
        </p:nvSpPr>
        <p:spPr>
          <a:xfrm>
            <a:off x="573088" y="1125538"/>
            <a:ext cx="8229600" cy="477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Arithmetic operators: Associativity &amp; Precedence (</a:t>
            </a:r>
            <a:r>
              <a:rPr lang="en-US" sz="1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Table 2.6, Page 76</a:t>
            </a: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548640" marR="0" lvl="1" indent="-3048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endParaRPr sz="20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29" name="Google Shape;729;p62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52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0" name="Google Shape;730;p62"/>
          <p:cNvGraphicFramePr/>
          <p:nvPr/>
        </p:nvGraphicFramePr>
        <p:xfrm>
          <a:off x="742872" y="1622331"/>
          <a:ext cx="8035950" cy="4297800"/>
        </p:xfrm>
        <a:graphic>
          <a:graphicData uri="http://schemas.openxmlformats.org/drawingml/2006/table">
            <a:tbl>
              <a:tblPr firstRow="1" bandRow="1">
                <a:noFill/>
                <a:tableStyleId>{AA03B53B-963D-48C8-B9AA-2A0D3230BD53}</a:tableStyleId>
              </a:tblPr>
              <a:tblGrid>
                <a:gridCol w="1181750"/>
                <a:gridCol w="2009000"/>
                <a:gridCol w="1181750"/>
                <a:gridCol w="999125"/>
                <a:gridCol w="1428850"/>
                <a:gridCol w="1235475"/>
              </a:tblGrid>
              <a:tr h="48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Operator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Name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Number of operands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Position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Associativity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Precedence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(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Parentheses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Prefix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Left to right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)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Parentheses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Postfix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Left to right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+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Positive sign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Prefix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Right to left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-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Negative sign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Prefix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Right to left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++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Post-increment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Postfix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Left to right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--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Post-decrement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Postfix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Left to right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++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Pre-increment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Prefix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Right to left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--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Pre-decrement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Unary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Prefix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Right to left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48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*, /, %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Multiplication, division, remainder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Binary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Infix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Left to right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2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+, -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Addition, subtraction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Binary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Infix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Left to right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 sz="1400"/>
                    </a:p>
                  </a:txBody>
                  <a:tcPr marL="91450" marR="91450" marT="45725" marB="45725"/>
                </a:tc>
              </a:tr>
              <a:tr h="489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=, +=, -=, *=, /=, %=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Assignment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Binary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Infix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Right to left</a:t>
                      </a:r>
                      <a:endParaRPr sz="14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 sz="14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pSp>
        <p:nvGrpSpPr>
          <p:cNvPr id="731" name="Google Shape;731;p62"/>
          <p:cNvGrpSpPr/>
          <p:nvPr/>
        </p:nvGrpSpPr>
        <p:grpSpPr>
          <a:xfrm>
            <a:off x="998310" y="5891425"/>
            <a:ext cx="4986707" cy="475487"/>
            <a:chOff x="998310" y="5891425"/>
            <a:chExt cx="4986707" cy="475487"/>
          </a:xfrm>
        </p:grpSpPr>
        <p:sp>
          <p:nvSpPr>
            <p:cNvPr id="732" name="Google Shape;732;p62"/>
            <p:cNvSpPr/>
            <p:nvPr/>
          </p:nvSpPr>
          <p:spPr>
            <a:xfrm>
              <a:off x="2717381" y="6044183"/>
              <a:ext cx="3267636" cy="32272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  <a:path w="120000" h="120000" fill="none" extrusionOk="0">
                  <a:moveTo>
                    <a:pt x="-10000" y="0"/>
                  </a:moveTo>
                  <a:close/>
                  <a:lnTo>
                    <a:pt x="-10000" y="120000"/>
                  </a:lnTo>
                </a:path>
                <a:path w="120000" h="120000" fill="none" extrusionOk="0">
                  <a:moveTo>
                    <a:pt x="-10000" y="22500"/>
                  </a:moveTo>
                  <a:lnTo>
                    <a:pt x="-20000" y="22500"/>
                  </a:lnTo>
                  <a:lnTo>
                    <a:pt x="-34085" y="-53572"/>
                  </a:lnTo>
                </a:path>
              </a:pathLst>
            </a:custGeom>
            <a:solidFill>
              <a:schemeClr val="accent1"/>
            </a:solidFill>
            <a:ln w="12700" cap="sq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Note error in reference book.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3" name="Google Shape;733;p62"/>
            <p:cNvCxnSpPr/>
            <p:nvPr/>
          </p:nvCxnSpPr>
          <p:spPr>
            <a:xfrm>
              <a:off x="998310" y="5891425"/>
              <a:ext cx="931074" cy="0"/>
            </a:xfrm>
            <a:prstGeom prst="straightConnector1">
              <a:avLst/>
            </a:prstGeom>
            <a:solidFill>
              <a:schemeClr val="accent1"/>
            </a:solidFill>
            <a:ln w="12700" cap="sq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3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(9/10)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40" name="Google Shape;740;p63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741" name="Google Shape;741;p63"/>
          <p:cNvSpPr txBox="1">
            <a:spLocks noGrp="1"/>
          </p:cNvSpPr>
          <p:nvPr>
            <p:ph type="body" idx="1"/>
          </p:nvPr>
        </p:nvSpPr>
        <p:spPr>
          <a:xfrm>
            <a:off x="573088" y="1270000"/>
            <a:ext cx="8229600" cy="231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Mixed-Type Arithmetic Operations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     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   m = 10/4; 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0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means </a:t>
            </a:r>
            <a:endParaRPr sz="2000" b="0" i="0" u="none" strike="noStrike" cap="none">
              <a:solidFill>
                <a:srgbClr val="C000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	 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   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float p = 10/4;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0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means </a:t>
            </a:r>
            <a:endParaRPr sz="2000" b="0" i="0" u="none" strike="noStrike" cap="none">
              <a:solidFill>
                <a:srgbClr val="C000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	     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   n = 10/4.0;  </a:t>
            </a:r>
            <a:r>
              <a:rPr lang="en-US" sz="20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means </a:t>
            </a:r>
            <a:endParaRPr sz="2000" b="0" i="0" u="none" strike="noStrike" cap="none">
              <a:solidFill>
                <a:srgbClr val="C000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	     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float q = 10/4.0;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0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means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	     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   r = -10/4.0;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0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means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endParaRPr/>
          </a:p>
        </p:txBody>
      </p:sp>
      <p:sp>
        <p:nvSpPr>
          <p:cNvPr id="742" name="Google Shape;742;p63"/>
          <p:cNvSpPr txBox="1"/>
          <p:nvPr/>
        </p:nvSpPr>
        <p:spPr>
          <a:xfrm>
            <a:off x="573088" y="3603625"/>
            <a:ext cx="8229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Type Casting</a:t>
            </a:r>
            <a:endParaRPr/>
          </a:p>
          <a:p>
            <a:pPr marL="742950" marR="0" lvl="1" indent="-388938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◻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Use a 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cast operator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to change the type of an expression</a:t>
            </a:r>
            <a:endParaRPr sz="20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1143000" marR="0" lvl="2" indent="-338138" algn="l" rtl="0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080"/>
              <a:buFont typeface="Noto Sans Symbols"/>
              <a:buChar char="■"/>
            </a:pP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syntax:     (</a:t>
            </a:r>
            <a:r>
              <a:rPr lang="en-US" sz="1800" b="0" i="1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type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  expression </a:t>
            </a:r>
            <a:endParaRPr/>
          </a:p>
          <a:p>
            <a:pPr marL="1143000" marR="0" lvl="2" indent="-338138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 aa = 6; float ff = 15.8;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                              </a:t>
            </a:r>
            <a:endParaRPr/>
          </a:p>
          <a:p>
            <a:pPr marL="1143000" marR="0" lvl="2" indent="-338138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</a:pPr>
            <a:r>
              <a:rPr lang="en-US" sz="2000" b="0" i="0" u="none" strike="noStrike" cap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float pp = (float) aa / 4;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0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means </a:t>
            </a:r>
            <a:endParaRPr/>
          </a:p>
          <a:p>
            <a:pPr marL="1143000" marR="0" lvl="2" indent="-338138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int   nn = (int) ff / aa;</a:t>
            </a:r>
            <a:r>
              <a:rPr lang="en-US" sz="20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      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0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means </a:t>
            </a:r>
            <a:endParaRPr sz="2000" b="0" i="0" u="none" strike="noStrike" cap="none">
              <a:solidFill>
                <a:srgbClr val="C00000"/>
              </a:solidFill>
              <a:latin typeface="Cabin"/>
              <a:ea typeface="Cabin"/>
              <a:cs typeface="Cabin"/>
              <a:sym typeface="Cabin"/>
            </a:endParaRPr>
          </a:p>
          <a:p>
            <a:pPr marL="1143000" marR="0" lvl="2" indent="-338138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800000"/>
                </a:solidFill>
                <a:latin typeface="Courier New"/>
                <a:ea typeface="Courier New"/>
                <a:cs typeface="Courier New"/>
                <a:sym typeface="Courier New"/>
              </a:rPr>
              <a:t>float qq = (float) (aa / 4); </a:t>
            </a:r>
            <a:r>
              <a:rPr lang="en-US" sz="20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000" b="0" i="0" u="none" strike="noStrike" cap="none">
                <a:solidFill>
                  <a:srgbClr val="002060"/>
                </a:solidFill>
                <a:latin typeface="Cabin"/>
                <a:ea typeface="Cabin"/>
                <a:cs typeface="Cabin"/>
                <a:sym typeface="Cabin"/>
              </a:rPr>
              <a:t>means  </a:t>
            </a:r>
            <a:endParaRPr sz="2000" b="0" i="0" u="none" strike="noStrike" cap="none">
              <a:solidFill>
                <a:srgbClr val="C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43" name="Google Shape;743;p6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53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63"/>
          <p:cNvSpPr txBox="1"/>
          <p:nvPr/>
        </p:nvSpPr>
        <p:spPr>
          <a:xfrm>
            <a:off x="152400" y="6400800"/>
            <a:ext cx="304800" cy="2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 </a:t>
            </a:r>
            <a:r>
              <a:rPr lang="en-US" sz="32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Compute (9/10)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51" name="Google Shape;751;p6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752" name="Google Shape;752;p64"/>
          <p:cNvSpPr txBox="1">
            <a:spLocks noGrp="1"/>
          </p:cNvSpPr>
          <p:nvPr>
            <p:ph type="body" idx="1"/>
          </p:nvPr>
        </p:nvSpPr>
        <p:spPr>
          <a:xfrm>
            <a:off x="457200" y="1366326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Type conversion through type casting</a:t>
            </a:r>
            <a:endParaRPr/>
          </a:p>
          <a:p>
            <a:pPr marL="457200" marR="0" lvl="1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None/>
            </a:pPr>
            <a:r>
              <a:rPr lang="en-US" sz="23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	n=(int)(3.14*0.5);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	ques_code=(int)’?’;</a:t>
            </a: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753" name="Google Shape;753;p6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54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64"/>
          <p:cNvSpPr txBox="1"/>
          <p:nvPr/>
        </p:nvSpPr>
        <p:spPr>
          <a:xfrm>
            <a:off x="152400" y="6400800"/>
            <a:ext cx="304800" cy="2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5"/>
          <p:cNvSpPr txBox="1">
            <a:spLocks noGrp="1"/>
          </p:cNvSpPr>
          <p:nvPr>
            <p:ph type="title"/>
          </p:nvPr>
        </p:nvSpPr>
        <p:spPr>
          <a:xfrm>
            <a:off x="520700" y="381000"/>
            <a:ext cx="86106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</a:t>
            </a:r>
            <a:endParaRPr sz="24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61" name="Google Shape;761;p65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762" name="Google Shape;762;p65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55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5"/>
          <p:cNvSpPr txBox="1"/>
          <p:nvPr/>
        </p:nvSpPr>
        <p:spPr>
          <a:xfrm>
            <a:off x="152400" y="6400800"/>
            <a:ext cx="304800" cy="2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/>
          </a:p>
        </p:txBody>
      </p:sp>
      <p:sp>
        <p:nvSpPr>
          <p:cNvPr id="764" name="Google Shape;764;p65"/>
          <p:cNvSpPr txBox="1">
            <a:spLocks noGrp="1"/>
          </p:cNvSpPr>
          <p:nvPr>
            <p:ph type="body" idx="1"/>
          </p:nvPr>
        </p:nvSpPr>
        <p:spPr>
          <a:xfrm>
            <a:off x="457200" y="1366326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number along with placeholder shows the column width</a:t>
            </a: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rPr lang="en-US" sz="26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printf("Results: %3d meters = %4d ft. %2d in.\n",meters, 	feet, inches);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rPr lang="en-US" sz="26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Results: 21 meters = 68 ft. 11 in.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placeholder for feet ( %4d ) allows room for 4 digits,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placeholder %2d to display any integer value between −9 and 99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>
            <a:spLocks noGrp="1"/>
          </p:cNvSpPr>
          <p:nvPr>
            <p:ph type="title"/>
          </p:nvPr>
        </p:nvSpPr>
        <p:spPr>
          <a:xfrm>
            <a:off x="520700" y="381000"/>
            <a:ext cx="86106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Structure:</a:t>
            </a:r>
            <a:endParaRPr sz="24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71" name="Google Shape;771;p66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772" name="Google Shape;772;p66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56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66"/>
          <p:cNvSpPr txBox="1"/>
          <p:nvPr/>
        </p:nvSpPr>
        <p:spPr>
          <a:xfrm>
            <a:off x="152400" y="6400800"/>
            <a:ext cx="304800" cy="2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/>
          </a:p>
        </p:txBody>
      </p:sp>
      <p:sp>
        <p:nvSpPr>
          <p:cNvPr id="774" name="Google Shape;774;p66"/>
          <p:cNvSpPr txBox="1">
            <a:spLocks noGrp="1"/>
          </p:cNvSpPr>
          <p:nvPr>
            <p:ph type="body" idx="1"/>
          </p:nvPr>
        </p:nvSpPr>
        <p:spPr>
          <a:xfrm>
            <a:off x="457200" y="1366326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number along with placeholder shows the column width</a:t>
            </a: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rPr lang="en-US" sz="26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printf("Results: %3d meters = %4d ft. %2d in.\n",meters, 	feet, inches);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rPr lang="en-US" sz="26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Results: 21 meters = 68 ft. 11 in.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placeholder for feet ( %4d ) allows room for 4 digits,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placeholder %2d to display any integer value between −9 and 99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7"/>
          <p:cNvSpPr txBox="1">
            <a:spLocks noGrp="1"/>
          </p:cNvSpPr>
          <p:nvPr>
            <p:ph type="title"/>
          </p:nvPr>
        </p:nvSpPr>
        <p:spPr>
          <a:xfrm>
            <a:off x="520700" y="381000"/>
            <a:ext cx="86106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Format:</a:t>
            </a:r>
            <a:endParaRPr sz="24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81" name="Google Shape;781;p67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782" name="Google Shape;782;p67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57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67"/>
          <p:cNvSpPr txBox="1"/>
          <p:nvPr/>
        </p:nvSpPr>
        <p:spPr>
          <a:xfrm>
            <a:off x="152400" y="6400800"/>
            <a:ext cx="304800" cy="2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/>
          </a:p>
        </p:txBody>
      </p:sp>
      <p:sp>
        <p:nvSpPr>
          <p:cNvPr id="784" name="Google Shape;784;p67"/>
          <p:cNvSpPr txBox="1">
            <a:spLocks noGrp="1"/>
          </p:cNvSpPr>
          <p:nvPr>
            <p:ph type="body" idx="1"/>
          </p:nvPr>
        </p:nvSpPr>
        <p:spPr>
          <a:xfrm>
            <a:off x="457200" y="1366326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number along with placeholder shows the column width</a:t>
            </a: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rPr lang="en-US" sz="26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printf("Results: %3d meters = %4d ft. %2d in.\n",meters, 	feet, inches);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rPr lang="en-US" sz="2600" b="0" i="0" u="none" strike="noStrike" cap="none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Results: 21 meters = 68 ft. 11 in.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placeholder for feet ( %4d ) allows room for 4 digits,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placeholder %2d to display any integer value between −9 and 99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8"/>
          <p:cNvSpPr txBox="1">
            <a:spLocks noGrp="1"/>
          </p:cNvSpPr>
          <p:nvPr>
            <p:ph type="title"/>
          </p:nvPr>
        </p:nvSpPr>
        <p:spPr>
          <a:xfrm>
            <a:off x="520700" y="381000"/>
            <a:ext cx="86106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6. Program Format:</a:t>
            </a:r>
            <a:endParaRPr sz="24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91" name="Google Shape;791;p68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792" name="Google Shape;792;p68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68"/>
          <p:cNvSpPr txBox="1"/>
          <p:nvPr/>
        </p:nvSpPr>
        <p:spPr>
          <a:xfrm>
            <a:off x="152400" y="6400800"/>
            <a:ext cx="304800" cy="201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◈</a:t>
            </a:r>
            <a:endParaRPr/>
          </a:p>
        </p:txBody>
      </p:sp>
      <p:sp>
        <p:nvSpPr>
          <p:cNvPr id="794" name="Google Shape;794;p68"/>
          <p:cNvSpPr txBox="1">
            <a:spLocks noGrp="1"/>
          </p:cNvSpPr>
          <p:nvPr>
            <p:ph type="body" idx="1"/>
          </p:nvPr>
        </p:nvSpPr>
        <p:spPr>
          <a:xfrm>
            <a:off x="457200" y="1366326"/>
            <a:ext cx="8229600" cy="26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▶"/>
            </a:pPr>
            <a:r>
              <a:rPr lang="en-US" sz="26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The double number can be formatted for places before and after decimal points</a:t>
            </a: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795" name="Google Shape;795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3942090"/>
            <a:ext cx="8274060" cy="2534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69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7. Exercise #3 (</a:t>
            </a:r>
            <a:r>
              <a:rPr lang="en-US" sz="28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temperature estimate</a:t>
            </a: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) (1/2)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02" name="Google Shape;802;p69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803" name="Google Shape;803;p69"/>
          <p:cNvSpPr txBox="1">
            <a:spLocks noGrp="1"/>
          </p:cNvSpPr>
          <p:nvPr>
            <p:ph type="body" idx="1"/>
          </p:nvPr>
        </p:nvSpPr>
        <p:spPr>
          <a:xfrm>
            <a:off x="587375" y="1344613"/>
            <a:ext cx="8229600" cy="499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Write a program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Week2_Freezer.c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that estimates the temperature in a freezer (in 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C) given the elapsed time (hours) since a power failure. Assume this temperature (</a:t>
            </a:r>
            <a:r>
              <a:rPr lang="en-US" sz="2000" b="0" i="1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 is given by: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None/>
            </a:pPr>
            <a:endParaRPr sz="24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9144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None/>
            </a:pPr>
            <a:endParaRPr sz="24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where </a:t>
            </a:r>
            <a:r>
              <a:rPr lang="en-US" sz="2000" b="0" i="1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is the time since the power failure. </a:t>
            </a:r>
            <a:endParaRPr/>
          </a:p>
          <a:p>
            <a:pPr marL="274320" marR="0" lvl="0" indent="-2743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Your program should prompt the user to enter how long it has been since the start of the power failure in hours and minutes, both values in integers.</a:t>
            </a:r>
            <a:endParaRPr/>
          </a:p>
          <a:p>
            <a:pPr marL="274320" marR="0" lvl="0" indent="-274320" algn="l" rtl="0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Note that you need to convert the elapsed time into hours in real number (use type </a:t>
            </a: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float</a:t>
            </a: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). </a:t>
            </a:r>
            <a:endParaRPr/>
          </a:p>
          <a:p>
            <a:pPr marL="548640" marR="0" lvl="1" indent="-27432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8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For example, if the user entered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2 30</a:t>
            </a:r>
            <a:r>
              <a:rPr lang="en-US" sz="18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(2 hours 30 minutes), you need to convert this to </a:t>
            </a:r>
            <a:r>
              <a:rPr lang="en-US" sz="1800" b="0" i="0" u="none" strike="noStrike" cap="none">
                <a:solidFill>
                  <a:srgbClr val="C00000"/>
                </a:solidFill>
                <a:latin typeface="Cabin"/>
                <a:ea typeface="Cabin"/>
                <a:cs typeface="Cabin"/>
                <a:sym typeface="Cabin"/>
              </a:rPr>
              <a:t>2.5 hours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before applying the above formula.</a:t>
            </a:r>
            <a:endParaRPr/>
          </a:p>
        </p:txBody>
      </p:sp>
      <p:pic>
        <p:nvPicPr>
          <p:cNvPr id="804" name="Google Shape;80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4400" y="2424049"/>
            <a:ext cx="1695450" cy="820738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9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59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 sz="320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Bit wise Operators</a:t>
            </a:r>
            <a:endParaRPr sz="3200" b="0" i="0" u="none" strike="noStrike" cap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811" name="Google Shape;811;p70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2" name="Google Shape;812;p70"/>
          <p:cNvGraphicFramePr/>
          <p:nvPr/>
        </p:nvGraphicFramePr>
        <p:xfrm>
          <a:off x="408215" y="1219200"/>
          <a:ext cx="7903025" cy="5116325"/>
        </p:xfrm>
        <a:graphic>
          <a:graphicData uri="http://schemas.openxmlformats.org/drawingml/2006/table">
            <a:tbl>
              <a:tblPr>
                <a:noFill/>
                <a:tableStyleId>{178D5282-BE04-4D37-A6E1-61A391BFC41A}</a:tableStyleId>
              </a:tblPr>
              <a:tblGrid>
                <a:gridCol w="719750"/>
                <a:gridCol w="4191425"/>
                <a:gridCol w="2991850"/>
              </a:tblGrid>
              <a:tr h="58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Operator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Description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Example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</a:tr>
              <a:tr h="58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&amp;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Binary AND Operator copies a bit to the result if it exists in both operands.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(A &amp; B) will give 12 which is 0000 1100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</a:tr>
              <a:tr h="58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|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Binary OR Operator copies a bit if it exists in either operand.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(A | B) will give 61 which is 0011 1101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</a:tr>
              <a:tr h="581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^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Binary XOR Operator copies the bit if it is set in one operand but not both.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(A ^ B) will give 49 which is 0011 0001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</a:tr>
              <a:tr h="92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~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Binary Ones Complement Operator is unary and has the effect of 'flipping' bits.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(~A ) will give -61 which is 1100 0011 in 2's complement form due to a signed binary number.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</a:tr>
              <a:tr h="92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&lt;&lt;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Binary Left Shift Operator. The left operands value is moved left by the number of bits specified by the right operand.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 &lt;&lt; 2 will give 240 which is 1111 0000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</a:tr>
              <a:tr h="92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&gt;&gt;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Binary Right Shift Operator. The left operands value is moved right by the number of bits specified by the right operand.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 &gt;&gt; 2 will give 15 which is 0000 1111</a:t>
                      </a:r>
                      <a:endParaRPr/>
                    </a:p>
                  </a:txBody>
                  <a:tcPr marL="29125" marR="29125" marT="29125" marB="29125">
                    <a:lnL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6D6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1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8" name="Google Shape;818;p7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94138" y="252248"/>
            <a:ext cx="8403021" cy="6101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Bookman Old Style"/>
              <a:buNone/>
            </a:pPr>
            <a:r>
              <a:rPr lang="en-US" sz="288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Bit-wise Operators</a:t>
            </a:r>
            <a:br>
              <a:rPr lang="en-US" sz="2880" b="0" i="0" u="none" strike="noStrike" cap="non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endParaRPr sz="2880" b="0" i="0" u="none" strike="noStrike" cap="none">
              <a:solidFill>
                <a:schemeClr val="dk2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824" name="Google Shape;824;p72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72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148844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endParaRPr sz="2600" b="0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3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7. Exercise #3 (</a:t>
            </a:r>
            <a:r>
              <a:rPr lang="en-US" sz="28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temperature estimate</a:t>
            </a: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) (2/2)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32" name="Google Shape;832;p73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833" name="Google Shape;833;p73"/>
          <p:cNvSpPr txBox="1">
            <a:spLocks noGrp="1"/>
          </p:cNvSpPr>
          <p:nvPr>
            <p:ph type="body" idx="1"/>
          </p:nvPr>
        </p:nvSpPr>
        <p:spPr>
          <a:xfrm>
            <a:off x="587375" y="1344613"/>
            <a:ext cx="8229600" cy="60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Refer to the sample run below. Follow the output format.</a:t>
            </a:r>
            <a:endParaRPr/>
          </a:p>
        </p:txBody>
      </p:sp>
      <p:sp>
        <p:nvSpPr>
          <p:cNvPr id="834" name="Google Shape;834;p73"/>
          <p:cNvSpPr txBox="1"/>
          <p:nvPr/>
        </p:nvSpPr>
        <p:spPr>
          <a:xfrm>
            <a:off x="1033463" y="1935163"/>
            <a:ext cx="7196137" cy="646331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Enter hours and minutes since power failure: </a:t>
            </a:r>
            <a:r>
              <a:rPr lang="en-US" sz="1800" b="1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2 45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Temperature in freezer = -13.63</a:t>
            </a:r>
            <a:endParaRPr sz="18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587375" y="2921000"/>
            <a:ext cx="8229600" cy="3467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How long does it take the freezer to get to zero degree?  Which of the following is the closest answer?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 hours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4 hours 10 minutes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6 hours 30 minutes</a:t>
            </a:r>
            <a:endParaRPr/>
          </a:p>
          <a:p>
            <a:pPr marL="914400" marR="0" lvl="1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AutoNum type="alphaLcParenR"/>
            </a:pPr>
            <a:r>
              <a:rPr lang="en-US" sz="20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8 hours</a:t>
            </a:r>
            <a:endParaRPr/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This is your take-home exercise. Bring your program to class next week.</a:t>
            </a:r>
            <a:endParaRPr/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</a:pPr>
            <a:r>
              <a:rPr lang="en-US" sz="2000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This exercise is mounted on CodeCrunch as a practice exercise.</a:t>
            </a:r>
            <a:endParaRPr sz="2000">
              <a:solidFill>
                <a:srgbClr val="8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63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8382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33FF"/>
              </a:buClr>
              <a:buSzPts val="4000"/>
              <a:buFont typeface="Garamond"/>
              <a:buNone/>
            </a:pPr>
            <a:r>
              <a:rPr lang="en-US" sz="4000" b="0" i="0" u="none" strike="noStrike" cap="none">
                <a:solidFill>
                  <a:srgbClr val="9933FF"/>
                </a:solidFill>
                <a:latin typeface="Garamond"/>
                <a:ea typeface="Garamond"/>
                <a:cs typeface="Garamond"/>
                <a:sym typeface="Garamond"/>
              </a:rPr>
              <a:t>8. Style</a:t>
            </a:r>
            <a:endParaRPr sz="3200" b="0" i="0" u="none" strike="noStrike" cap="none">
              <a:solidFill>
                <a:srgbClr val="9933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43" name="Google Shape;843;p74"/>
          <p:cNvSpPr txBox="1">
            <a:spLocks noGrp="1"/>
          </p:cNvSpPr>
          <p:nvPr>
            <p:ph type="ft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CS1010 (AY2012/3 Semester 1)</a:t>
            </a:r>
            <a:endParaRPr/>
          </a:p>
        </p:txBody>
      </p:sp>
      <p:sp>
        <p:nvSpPr>
          <p:cNvPr id="844" name="Google Shape;844;p74"/>
          <p:cNvSpPr txBox="1">
            <a:spLocks noGrp="1"/>
          </p:cNvSpPr>
          <p:nvPr>
            <p:ph type="body" idx="1"/>
          </p:nvPr>
        </p:nvSpPr>
        <p:spPr>
          <a:xfrm>
            <a:off x="587375" y="1274763"/>
            <a:ext cx="8229600" cy="523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74320" marR="0" lvl="0" indent="-27432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Identifier naming for variables and functions</a:t>
            </a:r>
            <a:endParaRPr/>
          </a:p>
          <a:p>
            <a:pPr marL="548640" marR="0" lvl="1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User-defined identifiers: use lower-case with underscore or capitalise first character of every subsequent word (Eg: </a:t>
            </a:r>
            <a:r>
              <a:rPr lang="en-US" sz="18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celsius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sum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second_max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secondMax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) </a:t>
            </a:r>
            <a:endParaRPr/>
          </a:p>
          <a:p>
            <a:pPr marL="548640" marR="0" lvl="1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User-defined constants: use upper-case (Eg: </a:t>
            </a:r>
            <a:r>
              <a:rPr lang="en-US" sz="18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KMS_PER_MILE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lang="en-US" sz="1800" b="0" i="0" u="none" strike="noStrike" cap="none">
                <a:solidFill>
                  <a:srgbClr val="800000"/>
                </a:solidFill>
                <a:latin typeface="Cabin"/>
                <a:ea typeface="Cabin"/>
                <a:cs typeface="Cabin"/>
                <a:sym typeface="Cabin"/>
              </a:rPr>
              <a:t>DAYS_IN_YEARS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/>
          </a:p>
          <a:p>
            <a:pPr marL="548640" marR="0" lvl="1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Use names that are descriptive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Consistent indentation, and spacing to emphasize block structure</a:t>
            </a:r>
            <a:endParaRPr/>
          </a:p>
          <a:p>
            <a:pPr marL="548640" marR="0" lvl="1" indent="-4572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int main(void) {</a:t>
            </a:r>
            <a:endParaRPr/>
          </a:p>
          <a:p>
            <a:pPr marL="548640" marR="0" lvl="1" indent="-4572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	    // statements </a:t>
            </a:r>
            <a:endParaRPr/>
          </a:p>
          <a:p>
            <a:pPr marL="548640" marR="0" lvl="1" indent="-4572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92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	}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Comments major code segments adequately: </a:t>
            </a:r>
            <a:endParaRPr/>
          </a:p>
          <a:p>
            <a:pPr marL="548640" marR="0" lvl="1" indent="-2984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Your name, Matric. number, discussion group, program’s purpose, etc.</a:t>
            </a:r>
            <a:endParaRPr/>
          </a:p>
          <a:p>
            <a:pPr marL="548640" marR="0" lvl="1" indent="-29845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▶"/>
            </a:pP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// 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line comment, or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/*   </a:t>
            </a:r>
            <a:r>
              <a:rPr lang="en-US" sz="1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block comment   </a:t>
            </a: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*/   </a:t>
            </a:r>
            <a:endParaRPr/>
          </a:p>
          <a:p>
            <a:pPr marL="274320" marR="0" lvl="0" indent="-27432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▶"/>
            </a:pPr>
            <a:r>
              <a:rPr lang="en-US" sz="20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Refer to some C Style Guides on the module website</a:t>
            </a:r>
            <a:endParaRPr/>
          </a:p>
          <a:p>
            <a:pPr marL="548640" marR="0" lvl="1" indent="-2984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▶"/>
            </a:pPr>
            <a:r>
              <a:rPr lang="en-US" sz="1800" b="0" i="0" u="sng" strike="noStrike" cap="none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http://www.comp.nus.edu.sg/~cs1010/2_resources/online.html</a:t>
            </a:r>
            <a:r>
              <a:rPr lang="en-US" sz="18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2400" b="0" i="0" u="none" strike="noStrike" cap="none">
                <a:solidFill>
                  <a:srgbClr val="0000FF"/>
                </a:solidFill>
                <a:latin typeface="Cabin"/>
                <a:ea typeface="Cabin"/>
                <a:cs typeface="Cabin"/>
                <a:sym typeface="Cabin"/>
              </a:rPr>
              <a:t>	</a:t>
            </a:r>
            <a:endParaRPr sz="1400" b="0" i="0" u="none" strike="noStrike" cap="none">
              <a:solidFill>
                <a:srgbClr val="00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845" name="Google Shape;845;p74"/>
          <p:cNvSpPr txBox="1"/>
          <p:nvPr/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Week2 - </a:t>
            </a: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rigin">
  <a:themeElements>
    <a:clrScheme name="Origin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4645</Words>
  <Application>Microsoft Macintosh PowerPoint</Application>
  <PresentationFormat>On-screen Show (4:3)</PresentationFormat>
  <Paragraphs>1092</Paragraphs>
  <Slides>64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6" baseType="lpstr">
      <vt:lpstr>Gill Sans MT</vt:lpstr>
      <vt:lpstr>Arial</vt:lpstr>
      <vt:lpstr>Noto Sans Symbols</vt:lpstr>
      <vt:lpstr>Calibri</vt:lpstr>
      <vt:lpstr>Cabin</vt:lpstr>
      <vt:lpstr>Garamond</vt:lpstr>
      <vt:lpstr>Tahoma</vt:lpstr>
      <vt:lpstr>Courier New</vt:lpstr>
      <vt:lpstr>Bookman Old Style</vt:lpstr>
      <vt:lpstr>Times New Roman</vt:lpstr>
      <vt:lpstr>Droid Sans Mono</vt:lpstr>
      <vt:lpstr>Origin</vt:lpstr>
      <vt:lpstr>Programming Methodology</vt:lpstr>
      <vt:lpstr>Week 2: Overview of C Programming </vt:lpstr>
      <vt:lpstr>Outline</vt:lpstr>
      <vt:lpstr>1. General</vt:lpstr>
      <vt:lpstr>Edit, Compile and Execute</vt:lpstr>
      <vt:lpstr>2. Our First Program (1/4)</vt:lpstr>
      <vt:lpstr>2. Our First Program (1/4)</vt:lpstr>
      <vt:lpstr>2. Our First Program (2/4)</vt:lpstr>
      <vt:lpstr>2. Our First Program cont.</vt:lpstr>
      <vt:lpstr>2. Our First Program (3/4)</vt:lpstr>
      <vt:lpstr>2. Our First Program (4/4)</vt:lpstr>
      <vt:lpstr>Notes (1/2)</vt:lpstr>
      <vt:lpstr>Notes (2/2)</vt:lpstr>
      <vt:lpstr>3. Errors</vt:lpstr>
      <vt:lpstr>5. Exercise #2 (Fahrenheit to Celsius) (1/2)</vt:lpstr>
      <vt:lpstr>5. Exercise #2 (Fahrenheit to Celsius) (2/2)</vt:lpstr>
      <vt:lpstr>6. Program Structure</vt:lpstr>
      <vt:lpstr>6. Program Structure: Input/Output (1/2)</vt:lpstr>
      <vt:lpstr>6. Program Structure: Input/Output (2/3)</vt:lpstr>
      <vt:lpstr>6. Program Structure: Input/Output (3/3)</vt:lpstr>
      <vt:lpstr>6. Program Structure: Compute (1/10)</vt:lpstr>
      <vt:lpstr>6. Program Structure: Compute (2/10)</vt:lpstr>
      <vt:lpstr>6. Program Structure: Compute (2/10)</vt:lpstr>
      <vt:lpstr>6. Program Structure: Compute (2/10)</vt:lpstr>
      <vt:lpstr>6. Program Structure: Compute (3/10)</vt:lpstr>
      <vt:lpstr>6. Program Structure: Input/Output (2/3)</vt:lpstr>
      <vt:lpstr>PowerPoint Presentation</vt:lpstr>
      <vt:lpstr>Operators</vt:lpstr>
      <vt:lpstr>Arithmetic Operators I</vt:lpstr>
      <vt:lpstr>Arithmetic Operators II </vt:lpstr>
      <vt:lpstr>Unary Operator</vt:lpstr>
      <vt:lpstr>PRE- / POST-Increment</vt:lpstr>
      <vt:lpstr>PRE- / POST-Increment cont…</vt:lpstr>
      <vt:lpstr>The following table illustrates the difference between the prefix and postfix modes of the increment and decrement operator.</vt:lpstr>
      <vt:lpstr>Binary Operators</vt:lpstr>
      <vt:lpstr>Assignment Operators</vt:lpstr>
      <vt:lpstr>Precedence Rules</vt:lpstr>
      <vt:lpstr>Precedence Rules cont…</vt:lpstr>
      <vt:lpstr>Equality and Relational Operators</vt:lpstr>
      <vt:lpstr>Logical Operators</vt:lpstr>
      <vt:lpstr>Logical Operators cont…</vt:lpstr>
      <vt:lpstr>Conditional Operator</vt:lpstr>
      <vt:lpstr>Conditional Operator cont…</vt:lpstr>
      <vt:lpstr>Conditional Operator cont…</vt:lpstr>
      <vt:lpstr>6. Program Structure: Compute (4/10)</vt:lpstr>
      <vt:lpstr>6. Program Structure: Compute (5/10)</vt:lpstr>
      <vt:lpstr>6. Program Structure: Compute (6/10)</vt:lpstr>
      <vt:lpstr>Input Output Operations</vt:lpstr>
      <vt:lpstr>Input Output Operations</vt:lpstr>
      <vt:lpstr>Input Output Operations</vt:lpstr>
      <vt:lpstr>6. Program Structure: Compute (7/10)</vt:lpstr>
      <vt:lpstr>6. Program Structure: Compute (8/10)</vt:lpstr>
      <vt:lpstr>6. Program Structure: Compute (9/10)</vt:lpstr>
      <vt:lpstr>6. Program Structure: Compute (9/10)</vt:lpstr>
      <vt:lpstr>6. Program Structure:</vt:lpstr>
      <vt:lpstr>6. Program Structure:</vt:lpstr>
      <vt:lpstr>6. Program Format:</vt:lpstr>
      <vt:lpstr>6. Program Format:</vt:lpstr>
      <vt:lpstr>7. Exercise #3 (temperature estimate) (1/2)</vt:lpstr>
      <vt:lpstr>Bit wise Operators</vt:lpstr>
      <vt:lpstr>PowerPoint Presentation</vt:lpstr>
      <vt:lpstr>Bit-wise Operators </vt:lpstr>
      <vt:lpstr>7. Exercise #3 (temperature estimate) (2/2)</vt:lpstr>
      <vt:lpstr>8. Style</vt:lpstr>
    </vt:vector>
  </TitlesOfParts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Methodology</dc:title>
  <cp:lastModifiedBy>Microsoft account</cp:lastModifiedBy>
  <cp:revision>2</cp:revision>
  <dcterms:modified xsi:type="dcterms:W3CDTF">2020-10-17T10:19:57Z</dcterms:modified>
</cp:coreProperties>
</file>