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82" r:id="rId1"/>
  </p:sldMasterIdLst>
  <p:notesMasterIdLst>
    <p:notesMasterId r:id="rId48"/>
  </p:notesMasterIdLst>
  <p:handoutMasterIdLst>
    <p:handoutMasterId r:id="rId49"/>
  </p:handoutMasterIdLst>
  <p:sldIdLst>
    <p:sldId id="256" r:id="rId2"/>
    <p:sldId id="327" r:id="rId3"/>
    <p:sldId id="453" r:id="rId4"/>
    <p:sldId id="568" r:id="rId5"/>
    <p:sldId id="613" r:id="rId6"/>
    <p:sldId id="614" r:id="rId7"/>
    <p:sldId id="536" r:id="rId8"/>
    <p:sldId id="582" r:id="rId9"/>
    <p:sldId id="550" r:id="rId10"/>
    <p:sldId id="583" r:id="rId11"/>
    <p:sldId id="585" r:id="rId12"/>
    <p:sldId id="586" r:id="rId13"/>
    <p:sldId id="587" r:id="rId14"/>
    <p:sldId id="465" r:id="rId15"/>
    <p:sldId id="554" r:id="rId16"/>
    <p:sldId id="466" r:id="rId17"/>
    <p:sldId id="584" r:id="rId18"/>
    <p:sldId id="588" r:id="rId19"/>
    <p:sldId id="590" r:id="rId20"/>
    <p:sldId id="591" r:id="rId21"/>
    <p:sldId id="606" r:id="rId22"/>
    <p:sldId id="607" r:id="rId23"/>
    <p:sldId id="563" r:id="rId24"/>
    <p:sldId id="592" r:id="rId25"/>
    <p:sldId id="459" r:id="rId26"/>
    <p:sldId id="596" r:id="rId27"/>
    <p:sldId id="597" r:id="rId28"/>
    <p:sldId id="598" r:id="rId29"/>
    <p:sldId id="599" r:id="rId30"/>
    <p:sldId id="600" r:id="rId31"/>
    <p:sldId id="602" r:id="rId32"/>
    <p:sldId id="603" r:id="rId33"/>
    <p:sldId id="604" r:id="rId34"/>
    <p:sldId id="605" r:id="rId35"/>
    <p:sldId id="560" r:id="rId36"/>
    <p:sldId id="562" r:id="rId37"/>
    <p:sldId id="610" r:id="rId38"/>
    <p:sldId id="611" r:id="rId39"/>
    <p:sldId id="612" r:id="rId40"/>
    <p:sldId id="608" r:id="rId41"/>
    <p:sldId id="547" r:id="rId42"/>
    <p:sldId id="581" r:id="rId43"/>
    <p:sldId id="615" r:id="rId44"/>
    <p:sldId id="500" r:id="rId45"/>
    <p:sldId id="448" r:id="rId46"/>
    <p:sldId id="308" r:id="rId47"/>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FF"/>
    <a:srgbClr val="CCFFCC"/>
    <a:srgbClr val="FFFFCC"/>
    <a:srgbClr val="FFFFFF"/>
    <a:srgbClr val="CCFFFF"/>
    <a:srgbClr val="FFCCCC"/>
    <a:srgbClr val="FFFF99"/>
    <a:srgbClr val="800000"/>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313" autoAdjust="0"/>
    <p:restoredTop sz="79152" autoAdjust="0"/>
  </p:normalViewPr>
  <p:slideViewPr>
    <p:cSldViewPr snapToGrid="0">
      <p:cViewPr varScale="1">
        <p:scale>
          <a:sx n="58" d="100"/>
          <a:sy n="58" d="100"/>
        </p:scale>
        <p:origin x="-235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328"/>
    </p:cViewPr>
  </p:sorterViewPr>
  <p:notesViewPr>
    <p:cSldViewPr snapToGrid="0">
      <p:cViewPr>
        <p:scale>
          <a:sx n="100" d="100"/>
          <a:sy n="100" d="100"/>
        </p:scale>
        <p:origin x="-2808" y="-72"/>
      </p:cViewPr>
      <p:guideLst>
        <p:guide orient="horz" pos="3098"/>
        <p:guide pos="2099"/>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1026"/>
          <p:cNvSpPr>
            <a:spLocks noGrp="1" noChangeArrowheads="1"/>
          </p:cNvSpPr>
          <p:nvPr>
            <p:ph type="hdr" sz="quarter"/>
          </p:nvPr>
        </p:nvSpPr>
        <p:spPr bwMode="auto">
          <a:xfrm>
            <a:off x="0" y="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lvl1pPr defTabSz="942569" eaLnBrk="0" hangingPunct="0">
              <a:defRPr sz="1300">
                <a:latin typeface="Times New Roman" pitchFamily="18" charset="0"/>
                <a:cs typeface="Arial" charset="0"/>
              </a:defRPr>
            </a:lvl1pPr>
          </a:lstStyle>
          <a:p>
            <a:pPr>
              <a:defRPr/>
            </a:pPr>
            <a:r>
              <a:rPr lang="en-GB"/>
              <a:t>CS1010 Programming Methodology</a:t>
            </a:r>
          </a:p>
        </p:txBody>
      </p:sp>
      <p:sp>
        <p:nvSpPr>
          <p:cNvPr id="62467" name="Rectangle 1027"/>
          <p:cNvSpPr>
            <a:spLocks noGrp="1" noChangeArrowheads="1"/>
          </p:cNvSpPr>
          <p:nvPr>
            <p:ph type="dt" sz="quarter" idx="1"/>
          </p:nvPr>
        </p:nvSpPr>
        <p:spPr bwMode="auto">
          <a:xfrm>
            <a:off x="3773488" y="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lvl1pPr algn="r" defTabSz="942070" eaLnBrk="0" hangingPunct="0">
              <a:defRPr sz="1300">
                <a:latin typeface="Times New Roman" pitchFamily="18" charset="0"/>
                <a:cs typeface="Arial" charset="0"/>
              </a:defRPr>
            </a:lvl1pPr>
          </a:lstStyle>
          <a:p>
            <a:pPr>
              <a:defRPr/>
            </a:pPr>
            <a:endParaRPr lang="en-GB"/>
          </a:p>
        </p:txBody>
      </p:sp>
      <p:sp>
        <p:nvSpPr>
          <p:cNvPr id="62468" name="Rectangle 1028"/>
          <p:cNvSpPr>
            <a:spLocks noGrp="1" noChangeArrowheads="1"/>
          </p:cNvSpPr>
          <p:nvPr>
            <p:ph type="ftr" sz="quarter" idx="2"/>
          </p:nvPr>
        </p:nvSpPr>
        <p:spPr bwMode="auto">
          <a:xfrm>
            <a:off x="0"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defTabSz="942070" eaLnBrk="0" hangingPunct="0">
              <a:defRPr sz="1300">
                <a:latin typeface="Times New Roman" pitchFamily="18" charset="0"/>
                <a:cs typeface="Arial" charset="0"/>
              </a:defRPr>
            </a:lvl1pPr>
          </a:lstStyle>
          <a:p>
            <a:pPr>
              <a:defRPr/>
            </a:pPr>
            <a:endParaRPr lang="en-GB"/>
          </a:p>
        </p:txBody>
      </p:sp>
      <p:sp>
        <p:nvSpPr>
          <p:cNvPr id="62469" name="Rectangle 1029"/>
          <p:cNvSpPr>
            <a:spLocks noGrp="1" noChangeArrowheads="1"/>
          </p:cNvSpPr>
          <p:nvPr>
            <p:ph type="sldNum" sz="quarter" idx="3"/>
          </p:nvPr>
        </p:nvSpPr>
        <p:spPr bwMode="auto">
          <a:xfrm>
            <a:off x="3773488"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algn="r" defTabSz="942070" eaLnBrk="0" hangingPunct="0">
              <a:defRPr sz="1300">
                <a:latin typeface="Times New Roman" pitchFamily="18" charset="0"/>
                <a:cs typeface="Arial" charset="0"/>
              </a:defRPr>
            </a:lvl1pPr>
          </a:lstStyle>
          <a:p>
            <a:pPr>
              <a:defRPr/>
            </a:pPr>
            <a:fld id="{B086F2A8-2ECF-4467-BE26-D71515D4E1F7}" type="slidenum">
              <a:rPr lang="en-GB"/>
              <a:pPr>
                <a:defRPr/>
              </a:pPr>
              <a:t>‹#›</a:t>
            </a:fld>
            <a:endParaRPr lang="en-GB"/>
          </a:p>
        </p:txBody>
      </p:sp>
    </p:spTree>
    <p:extLst>
      <p:ext uri="{BB962C8B-B14F-4D97-AF65-F5344CB8AC3E}">
        <p14:creationId xmlns:p14="http://schemas.microsoft.com/office/powerpoint/2010/main" val="6992245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lvl1pPr defTabSz="942569" eaLnBrk="0" hangingPunct="0">
              <a:defRPr lang="en-GB" sz="1400">
                <a:latin typeface="+mj-lt"/>
                <a:cs typeface="Arial" charset="0"/>
              </a:defRPr>
            </a:lvl1pPr>
          </a:lstStyle>
          <a:p>
            <a:pPr>
              <a:defRPr/>
            </a:pPr>
            <a:r>
              <a:rPr lang="en-US"/>
              <a:t>CS1010 Programming Methodology</a:t>
            </a:r>
          </a:p>
        </p:txBody>
      </p:sp>
      <p:sp>
        <p:nvSpPr>
          <p:cNvPr id="79875" name="Rectangle 4"/>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p:spPr>
      </p:sp>
      <p:sp>
        <p:nvSpPr>
          <p:cNvPr id="60421" name="Rectangle 5"/>
          <p:cNvSpPr>
            <a:spLocks noGrp="1" noChangeArrowheads="1"/>
          </p:cNvSpPr>
          <p:nvPr>
            <p:ph type="body" sz="quarter" idx="3"/>
          </p:nvPr>
        </p:nvSpPr>
        <p:spPr bwMode="auto">
          <a:xfrm>
            <a:off x="889000" y="4668838"/>
            <a:ext cx="4884738" cy="4425950"/>
          </a:xfrm>
          <a:prstGeom prst="rect">
            <a:avLst/>
          </a:prstGeom>
          <a:noFill/>
          <a:ln w="12700" cap="sq">
            <a:noFill/>
            <a:miter lim="800000"/>
            <a:headEnd type="none" w="sm" len="sm"/>
            <a:tailEnd type="none" w="sm" len="sm"/>
          </a:ln>
          <a:effectLst/>
        </p:spPr>
        <p:txBody>
          <a:bodyPr vert="horz" wrap="square" lIns="94221" tIns="47110" rIns="94221" bIns="4711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60422" name="Rectangle 6"/>
          <p:cNvSpPr>
            <a:spLocks noGrp="1" noChangeArrowheads="1"/>
          </p:cNvSpPr>
          <p:nvPr>
            <p:ph type="ftr" sz="quarter" idx="4"/>
          </p:nvPr>
        </p:nvSpPr>
        <p:spPr bwMode="auto">
          <a:xfrm>
            <a:off x="0"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defTabSz="942070" eaLnBrk="0" hangingPunct="0">
              <a:defRPr sz="1300">
                <a:latin typeface="Times New Roman" pitchFamily="18" charset="0"/>
                <a:cs typeface="Arial" charset="0"/>
              </a:defRPr>
            </a:lvl1pPr>
          </a:lstStyle>
          <a:p>
            <a:pPr>
              <a:defRPr/>
            </a:pPr>
            <a:endParaRPr lang="en-GB"/>
          </a:p>
        </p:txBody>
      </p:sp>
      <p:sp>
        <p:nvSpPr>
          <p:cNvPr id="60423" name="Rectangle 7"/>
          <p:cNvSpPr>
            <a:spLocks noGrp="1" noChangeArrowheads="1"/>
          </p:cNvSpPr>
          <p:nvPr>
            <p:ph type="sldNum" sz="quarter" idx="5"/>
          </p:nvPr>
        </p:nvSpPr>
        <p:spPr bwMode="auto">
          <a:xfrm>
            <a:off x="3773488" y="9340850"/>
            <a:ext cx="2889250" cy="492125"/>
          </a:xfrm>
          <a:prstGeom prst="rect">
            <a:avLst/>
          </a:prstGeom>
          <a:noFill/>
          <a:ln w="12700" cap="sq">
            <a:noFill/>
            <a:miter lim="800000"/>
            <a:headEnd type="none" w="sm" len="sm"/>
            <a:tailEnd type="none" w="sm" len="sm"/>
          </a:ln>
          <a:effectLst/>
        </p:spPr>
        <p:txBody>
          <a:bodyPr vert="horz" wrap="square" lIns="94221" tIns="47110" rIns="94221" bIns="47110" numCol="1" anchor="b" anchorCtr="0" compatLnSpc="1">
            <a:prstTxWarp prst="textNoShape">
              <a:avLst/>
            </a:prstTxWarp>
          </a:bodyPr>
          <a:lstStyle>
            <a:lvl1pPr algn="r" defTabSz="942070" eaLnBrk="0" hangingPunct="0">
              <a:defRPr sz="1300">
                <a:latin typeface="Times New Roman" pitchFamily="18" charset="0"/>
                <a:cs typeface="Arial" charset="0"/>
              </a:defRPr>
            </a:lvl1pPr>
          </a:lstStyle>
          <a:p>
            <a:pPr>
              <a:defRPr/>
            </a:pPr>
            <a:fld id="{EB1C6C8B-51BD-4054-A92C-91001ECC0C15}" type="slidenum">
              <a:rPr lang="en-GB"/>
              <a:pPr>
                <a:defRPr/>
              </a:pPr>
              <a:t>‹#›</a:t>
            </a:fld>
            <a:endParaRPr lang="en-GB"/>
          </a:p>
        </p:txBody>
      </p:sp>
      <p:sp>
        <p:nvSpPr>
          <p:cNvPr id="8" name="Date Placeholder 7"/>
          <p:cNvSpPr>
            <a:spLocks noGrp="1"/>
          </p:cNvSpPr>
          <p:nvPr>
            <p:ph type="dt" idx="1"/>
          </p:nvPr>
        </p:nvSpPr>
        <p:spPr>
          <a:xfrm>
            <a:off x="3773488" y="0"/>
            <a:ext cx="2887662" cy="492125"/>
          </a:xfrm>
          <a:prstGeom prst="rect">
            <a:avLst/>
          </a:prstGeom>
        </p:spPr>
        <p:txBody>
          <a:bodyPr vert="horz" wrap="square" lIns="90486" tIns="45243" rIns="90486" bIns="45243" numCol="1" anchor="t" anchorCtr="0" compatLnSpc="1">
            <a:prstTxWarp prst="textNoShape">
              <a:avLst/>
            </a:prstTxWarp>
          </a:bodyPr>
          <a:lstStyle>
            <a:lvl1pPr algn="r">
              <a:defRPr sz="1200">
                <a:latin typeface="Arial" charset="0"/>
                <a:cs typeface="Arial" charset="0"/>
              </a:defRPr>
            </a:lvl1pPr>
          </a:lstStyle>
          <a:p>
            <a:pPr>
              <a:defRPr/>
            </a:pPr>
            <a:fld id="{31DF2946-66D4-430C-B96C-4F3A3751700C}" type="datetimeFigureOut">
              <a:rPr lang="en-US"/>
              <a:pPr>
                <a:defRPr/>
              </a:pPr>
              <a:t>7/25/2014</a:t>
            </a:fld>
            <a:endParaRPr lang="en-US"/>
          </a:p>
        </p:txBody>
      </p:sp>
    </p:spTree>
    <p:extLst>
      <p:ext uri="{BB962C8B-B14F-4D97-AF65-F5344CB8AC3E}">
        <p14:creationId xmlns:p14="http://schemas.microsoft.com/office/powerpoint/2010/main" val="1053251336"/>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0899" name="Rectangle 1026"/>
          <p:cNvSpPr>
            <a:spLocks noGrp="1" noRot="1" noChangeAspect="1" noChangeArrowheads="1" noTextEdit="1"/>
          </p:cNvSpPr>
          <p:nvPr>
            <p:ph type="sldImg"/>
          </p:nvPr>
        </p:nvSpPr>
        <p:spPr>
          <a:ln/>
        </p:spPr>
      </p:sp>
      <p:sp>
        <p:nvSpPr>
          <p:cNvPr id="80900" name="Rectangle 1027"/>
          <p:cNvSpPr>
            <a:spLocks noGrp="1" noChangeArrowheads="1"/>
          </p:cNvSpPr>
          <p:nvPr>
            <p:ph type="body" idx="1"/>
          </p:nvPr>
        </p:nvSpPr>
        <p:spPr>
          <a:noFill/>
          <a:ln w="9525"/>
        </p:spPr>
        <p:txBody>
          <a:bodyPr/>
          <a:lstStyle/>
          <a:p>
            <a:pPr eaLnBrk="1" hangingPunct="1"/>
            <a:endParaRPr lang="en-GB" dirty="0" smtClean="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w="9525"/>
        </p:spPr>
        <p:txBody>
          <a:bodyPr/>
          <a:lstStyle/>
          <a:p>
            <a:pPr eaLnBrk="1" hangingPunct="1"/>
            <a:endParaRPr lang="en-US" smtClean="0">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2947"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ln w="9525"/>
        </p:spPr>
        <p:txBody>
          <a:bodyPr/>
          <a:lstStyle/>
          <a:p>
            <a:pPr eaLnBrk="1" hangingPunct="1">
              <a:defRPr/>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t>CS1010 Programming Methodology</a:t>
            </a:r>
          </a:p>
        </p:txBody>
      </p:sp>
      <p:sp>
        <p:nvSpPr>
          <p:cNvPr id="83971"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ln w="9525"/>
        </p:spPr>
        <p:txBody>
          <a:bodyPr/>
          <a:lstStyle/>
          <a:p>
            <a:pPr eaLnBrk="1" hangingPunct="1">
              <a:defRPr/>
            </a:pPr>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4995" name="Rectangle 2"/>
          <p:cNvSpPr>
            <a:spLocks noGrp="1" noRot="1" noChangeAspect="1" noChangeArrowheads="1" noTextEdit="1"/>
          </p:cNvSpPr>
          <p:nvPr>
            <p:ph type="sldImg"/>
          </p:nvPr>
        </p:nvSpPr>
        <p:spPr>
          <a:xfrm>
            <a:off x="873125" y="738188"/>
            <a:ext cx="4916488" cy="3686175"/>
          </a:xfrm>
          <a:ln/>
        </p:spPr>
      </p:sp>
      <p:sp>
        <p:nvSpPr>
          <p:cNvPr id="849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marL="227013" indent="-227013" eaLnBrk="1" hangingPunct="1">
              <a:buFont typeface="Calibri" pitchFamily="34" charset="0"/>
              <a:buNone/>
              <a:tabLst>
                <a:tab pos="454025"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txBox="1">
            <a:spLocks noGrp="1" noChangeArrowheads="1"/>
          </p:cNvSpPr>
          <p:nvPr/>
        </p:nvSpPr>
        <p:spPr bwMode="auto">
          <a:xfrm>
            <a:off x="0" y="0"/>
            <a:ext cx="28876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5310" tIns="47655" rIns="95310" bIns="47655"/>
          <a:lstStyle>
            <a:lvl1pPr defTabSz="950913" eaLnBrk="0" hangingPunct="0">
              <a:defRPr>
                <a:solidFill>
                  <a:schemeClr val="tx1"/>
                </a:solidFill>
                <a:latin typeface="Arial" charset="0"/>
                <a:cs typeface="Arial" charset="0"/>
              </a:defRPr>
            </a:lvl1pPr>
            <a:lvl2pPr marL="742950" indent="-285750" defTabSz="950913" eaLnBrk="0" hangingPunct="0">
              <a:defRPr>
                <a:solidFill>
                  <a:schemeClr val="tx1"/>
                </a:solidFill>
                <a:latin typeface="Arial" charset="0"/>
                <a:cs typeface="Arial" charset="0"/>
              </a:defRPr>
            </a:lvl2pPr>
            <a:lvl3pPr marL="1143000" indent="-228600" defTabSz="950913" eaLnBrk="0" hangingPunct="0">
              <a:defRPr>
                <a:solidFill>
                  <a:schemeClr val="tx1"/>
                </a:solidFill>
                <a:latin typeface="Arial" charset="0"/>
                <a:cs typeface="Arial" charset="0"/>
              </a:defRPr>
            </a:lvl3pPr>
            <a:lvl4pPr marL="1600200" indent="-228600" defTabSz="950913" eaLnBrk="0" hangingPunct="0">
              <a:defRPr>
                <a:solidFill>
                  <a:schemeClr val="tx1"/>
                </a:solidFill>
                <a:latin typeface="Arial" charset="0"/>
                <a:cs typeface="Arial" charset="0"/>
              </a:defRPr>
            </a:lvl4pPr>
            <a:lvl5pPr marL="2057400" indent="-228600" defTabSz="950913" eaLnBrk="0" hangingPunct="0">
              <a:defRPr>
                <a:solidFill>
                  <a:schemeClr val="tx1"/>
                </a:solidFill>
                <a:latin typeface="Arial" charset="0"/>
                <a:cs typeface="Arial" charset="0"/>
              </a:defRPr>
            </a:lvl5pPr>
            <a:lvl6pPr marL="2514600" indent="-228600" defTabSz="950913" eaLnBrk="0" fontAlgn="base" hangingPunct="0">
              <a:spcBef>
                <a:spcPct val="0"/>
              </a:spcBef>
              <a:spcAft>
                <a:spcPct val="0"/>
              </a:spcAft>
              <a:defRPr>
                <a:solidFill>
                  <a:schemeClr val="tx1"/>
                </a:solidFill>
                <a:latin typeface="Arial" charset="0"/>
                <a:cs typeface="Arial" charset="0"/>
              </a:defRPr>
            </a:lvl6pPr>
            <a:lvl7pPr marL="2971800" indent="-228600" defTabSz="950913" eaLnBrk="0" fontAlgn="base" hangingPunct="0">
              <a:spcBef>
                <a:spcPct val="0"/>
              </a:spcBef>
              <a:spcAft>
                <a:spcPct val="0"/>
              </a:spcAft>
              <a:defRPr>
                <a:solidFill>
                  <a:schemeClr val="tx1"/>
                </a:solidFill>
                <a:latin typeface="Arial" charset="0"/>
                <a:cs typeface="Arial" charset="0"/>
              </a:defRPr>
            </a:lvl7pPr>
            <a:lvl8pPr marL="3429000" indent="-228600" defTabSz="950913" eaLnBrk="0" fontAlgn="base" hangingPunct="0">
              <a:spcBef>
                <a:spcPct val="0"/>
              </a:spcBef>
              <a:spcAft>
                <a:spcPct val="0"/>
              </a:spcAft>
              <a:defRPr>
                <a:solidFill>
                  <a:schemeClr val="tx1"/>
                </a:solidFill>
                <a:latin typeface="Arial" charset="0"/>
                <a:cs typeface="Arial" charset="0"/>
              </a:defRPr>
            </a:lvl8pPr>
            <a:lvl9pPr marL="3886200" indent="-228600" defTabSz="950913" eaLnBrk="0" fontAlgn="base" hangingPunct="0">
              <a:spcBef>
                <a:spcPct val="0"/>
              </a:spcBef>
              <a:spcAft>
                <a:spcPct val="0"/>
              </a:spcAft>
              <a:defRPr>
                <a:solidFill>
                  <a:schemeClr val="tx1"/>
                </a:solidFill>
                <a:latin typeface="Arial" charset="0"/>
                <a:cs typeface="Arial" charset="0"/>
              </a:defRPr>
            </a:lvl9pPr>
          </a:lstStyle>
          <a:p>
            <a:r>
              <a:rPr lang="en-GB" sz="1400">
                <a:latin typeface="Calibri" pitchFamily="34" charset="0"/>
              </a:rPr>
              <a:t>CS1010 Programming Methodology</a:t>
            </a:r>
          </a:p>
        </p:txBody>
      </p:sp>
      <p:sp>
        <p:nvSpPr>
          <p:cNvPr id="84995" name="Rectangle 2"/>
          <p:cNvSpPr>
            <a:spLocks noGrp="1" noRot="1" noChangeAspect="1" noChangeArrowheads="1" noTextEdit="1"/>
          </p:cNvSpPr>
          <p:nvPr>
            <p:ph type="sldImg"/>
          </p:nvPr>
        </p:nvSpPr>
        <p:spPr>
          <a:xfrm>
            <a:off x="873125" y="738188"/>
            <a:ext cx="4916488" cy="3686175"/>
          </a:xfrm>
          <a:ln/>
        </p:spPr>
      </p:sp>
      <p:sp>
        <p:nvSpPr>
          <p:cNvPr id="8499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lIns="95310" tIns="47655" rIns="95310" bIns="47655"/>
          <a:lstStyle/>
          <a:p>
            <a:pPr marL="227013" indent="-227013" eaLnBrk="1" hangingPunct="1">
              <a:buFont typeface="Calibri" pitchFamily="34" charset="0"/>
              <a:buNone/>
              <a:tabLst>
                <a:tab pos="454025" algn="l"/>
                <a:tab pos="1135063" algn="l"/>
                <a:tab pos="1362075" algn="l"/>
              </a:tabLst>
            </a:pPr>
            <a:endParaRPr lang="en-SG" dirty="0" smtClean="0">
              <a:ea typeface="ＭＳ Ｐゴシック" pitchFamily="34" charset="-128"/>
              <a:cs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w="9525"/>
        </p:spPr>
        <p:txBody>
          <a:bodyPr/>
          <a:lstStyle/>
          <a:p>
            <a:pPr marL="223838" indent="-223838">
              <a:buFont typeface="Calibri" pitchFamily="34" charset="0"/>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4997" name="Slide Number Placeholder 4"/>
          <p:cNvSpPr>
            <a:spLocks noGrp="1"/>
          </p:cNvSpPr>
          <p:nvPr>
            <p:ph type="sldNum" sz="quarter" idx="5"/>
          </p:nvPr>
        </p:nvSpPr>
        <p:spPr>
          <a:noFill/>
        </p:spPr>
        <p:txBody>
          <a:bodyPr/>
          <a:lstStyle/>
          <a:p>
            <a:pPr defTabSz="941388"/>
            <a:fld id="{DE892F6C-4CBD-46DB-A8B8-D9A53A3DD656}" type="slidenum">
              <a:rPr lang="en-GB" smtClean="0">
                <a:cs typeface="Arial" pitchFamily="34" charset="0"/>
              </a:rPr>
              <a:pPr defTabSz="941388"/>
              <a:t>7</a:t>
            </a:fld>
            <a:endParaRPr lang="en-GB" smtClean="0">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4997" name="Slide Number Placeholder 4"/>
          <p:cNvSpPr>
            <a:spLocks noGrp="1"/>
          </p:cNvSpPr>
          <p:nvPr>
            <p:ph type="sldNum" sz="quarter" idx="5"/>
          </p:nvPr>
        </p:nvSpPr>
        <p:spPr>
          <a:noFill/>
        </p:spPr>
        <p:txBody>
          <a:bodyPr/>
          <a:lstStyle/>
          <a:p>
            <a:pPr defTabSz="941388"/>
            <a:fld id="{DE892F6C-4CBD-46DB-A8B8-D9A53A3DD656}" type="slidenum">
              <a:rPr lang="en-GB" smtClean="0">
                <a:cs typeface="Arial" pitchFamily="34" charset="0"/>
              </a:rPr>
              <a:pPr defTabSz="941388"/>
              <a:t>8</a:t>
            </a:fld>
            <a:endParaRPr lang="en-GB" smtClean="0">
              <a:cs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9</a:t>
            </a:fld>
            <a:endParaRPr lang="en-GB" smtClean="0">
              <a:cs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10</a:t>
            </a:fld>
            <a:endParaRPr lang="en-GB" smtClean="0">
              <a:cs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11</a:t>
            </a:fld>
            <a:endParaRPr lang="en-GB" smtClean="0">
              <a:cs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12</a:t>
            </a:fld>
            <a:endParaRPr lang="en-GB" smtClean="0">
              <a:cs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13</a:t>
            </a:fld>
            <a:endParaRPr lang="en-GB" smtClean="0">
              <a:cs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w="9525"/>
        </p:spPr>
        <p:txBody>
          <a:bodyPr/>
          <a:lstStyle/>
          <a:p>
            <a:r>
              <a:rPr lang="en-US" dirty="0" smtClean="0">
                <a:cs typeface="Arial" pitchFamily="34" charset="0"/>
              </a:rPr>
              <a:t>Population growth is related to the Fibonacci series.  It was the question of how fast rabbits could breed under ideal circumstances that Leonardo Fibonacci originally investigated in the year 1202.  Here was the question he posed:</a:t>
            </a:r>
          </a:p>
          <a:p>
            <a:endParaRPr lang="en-US" dirty="0" smtClean="0">
              <a:cs typeface="Arial" pitchFamily="34" charset="0"/>
            </a:endParaRPr>
          </a:p>
          <a:p>
            <a:r>
              <a:rPr lang="en-US" dirty="0" smtClean="0">
                <a:cs typeface="Arial" pitchFamily="34" charset="0"/>
              </a:rPr>
              <a:t>Suppose a newborn pair of rabbits, one male and one female, is put in the wild. The rabbits mate at the age of one month and at the end of its second month a female can produce another pair of rabbits. Suppose that the rabbits never die and that each female always produces one new pair, with one male and one female, every month from the second month on.  How many pairs will there be in one year?</a:t>
            </a:r>
          </a:p>
          <a:p>
            <a:endParaRPr lang="en-US" dirty="0" smtClean="0">
              <a:cs typeface="Arial" pitchFamily="34" charset="0"/>
            </a:endParaRPr>
          </a:p>
          <a:p>
            <a:r>
              <a:rPr lang="en-US" dirty="0" smtClean="0">
                <a:cs typeface="Arial" pitchFamily="34" charset="0"/>
              </a:rPr>
              <a:t>The sequence is 1 1 2 3 5 8 13 21 ….</a:t>
            </a: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02405" name="Slide Number Placeholder 4"/>
          <p:cNvSpPr>
            <a:spLocks noGrp="1"/>
          </p:cNvSpPr>
          <p:nvPr>
            <p:ph type="sldNum" sz="quarter" idx="5"/>
          </p:nvPr>
        </p:nvSpPr>
        <p:spPr>
          <a:noFill/>
        </p:spPr>
        <p:txBody>
          <a:bodyPr/>
          <a:lstStyle/>
          <a:p>
            <a:pPr defTabSz="941388"/>
            <a:fld id="{AC3695AE-4587-4E66-87B8-2009B938FE76}" type="slidenum">
              <a:rPr lang="en-GB" smtClean="0">
                <a:cs typeface="Arial" pitchFamily="34" charset="0"/>
              </a:rPr>
              <a:pPr defTabSz="941388"/>
              <a:t>14</a:t>
            </a:fld>
            <a:endParaRPr lang="en-GB" smtClean="0">
              <a:cs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w="9525"/>
        </p:spPr>
        <p:txBody>
          <a:bodyPr/>
          <a:lstStyle/>
          <a:p>
            <a:pPr marL="228600" marR="0" indent="-228600" algn="l" defTabSz="914400" rtl="0" eaLnBrk="0" fontAlgn="base" latinLnBrk="0" hangingPunct="0">
              <a:lnSpc>
                <a:spcPct val="100000"/>
              </a:lnSpc>
              <a:spcBef>
                <a:spcPct val="30000"/>
              </a:spcBef>
              <a:spcAft>
                <a:spcPct val="0"/>
              </a:spcAft>
              <a:buClrTx/>
              <a:buSzTx/>
              <a:buFont typeface="+mj-lt"/>
              <a:buNone/>
              <a:tabLst/>
              <a:defRPr/>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03429" name="Slide Number Placeholder 4"/>
          <p:cNvSpPr>
            <a:spLocks noGrp="1"/>
          </p:cNvSpPr>
          <p:nvPr>
            <p:ph type="sldNum" sz="quarter" idx="5"/>
          </p:nvPr>
        </p:nvSpPr>
        <p:spPr>
          <a:noFill/>
        </p:spPr>
        <p:txBody>
          <a:bodyPr/>
          <a:lstStyle/>
          <a:p>
            <a:pPr defTabSz="941388"/>
            <a:fld id="{A6F5284E-664D-467A-A81F-7B9B7782E58A}" type="slidenum">
              <a:rPr lang="en-GB" smtClean="0">
                <a:cs typeface="Arial" pitchFamily="34" charset="0"/>
              </a:rPr>
              <a:pPr defTabSz="941388"/>
              <a:t>15</a:t>
            </a:fld>
            <a:endParaRPr lang="en-GB" smtClean="0">
              <a:cs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w="9525"/>
        </p:spPr>
        <p:txBody>
          <a:bodyPr/>
          <a:lstStyle/>
          <a:p>
            <a:pPr marL="223838" indent="-223838">
              <a:buFont typeface="Calibri" pitchFamily="34" charset="0"/>
              <a:buNone/>
            </a:pPr>
            <a:endParaRPr lang="en-SG" b="0"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04453" name="Slide Number Placeholder 4"/>
          <p:cNvSpPr>
            <a:spLocks noGrp="1"/>
          </p:cNvSpPr>
          <p:nvPr>
            <p:ph type="sldNum" sz="quarter" idx="5"/>
          </p:nvPr>
        </p:nvSpPr>
        <p:spPr>
          <a:noFill/>
        </p:spPr>
        <p:txBody>
          <a:bodyPr/>
          <a:lstStyle/>
          <a:p>
            <a:pPr defTabSz="941388"/>
            <a:fld id="{97CE282A-91D4-40AE-859D-75A3272164F2}" type="slidenum">
              <a:rPr lang="en-GB" smtClean="0">
                <a:cs typeface="Arial" pitchFamily="34" charset="0"/>
              </a:rPr>
              <a:pPr defTabSz="941388"/>
              <a:t>16</a:t>
            </a:fld>
            <a:endParaRPr lang="en-GB" smtClean="0">
              <a:cs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17</a:t>
            </a:fld>
            <a:endParaRPr lang="en-GB" smtClean="0">
              <a:cs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18</a:t>
            </a:fld>
            <a:endParaRPr lang="en-GB" smtClean="0">
              <a:cs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19</a:t>
            </a:fld>
            <a:endParaRPr lang="en-GB" smtClean="0">
              <a:cs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20</a:t>
            </a:fld>
            <a:endParaRPr lang="en-GB" smtClean="0">
              <a:cs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21</a:t>
            </a:fld>
            <a:endParaRPr lang="en-GB" smtClean="0">
              <a:cs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88069" name="Slide Number Placeholder 4"/>
          <p:cNvSpPr>
            <a:spLocks noGrp="1"/>
          </p:cNvSpPr>
          <p:nvPr>
            <p:ph type="sldNum" sz="quarter" idx="5"/>
          </p:nvPr>
        </p:nvSpPr>
        <p:spPr>
          <a:noFill/>
        </p:spPr>
        <p:txBody>
          <a:bodyPr/>
          <a:lstStyle/>
          <a:p>
            <a:pPr defTabSz="941388"/>
            <a:fld id="{4C12A8F9-75F3-4303-943E-2200654E99F6}" type="slidenum">
              <a:rPr lang="en-GB" smtClean="0">
                <a:cs typeface="Arial" pitchFamily="34" charset="0"/>
              </a:rPr>
              <a:pPr defTabSz="941388"/>
              <a:t>22</a:t>
            </a:fld>
            <a:endParaRPr lang="en-GB" smtClean="0">
              <a:cs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ln w="9525"/>
        </p:spPr>
        <p:txBody>
          <a:bodyPr/>
          <a:lstStyle/>
          <a:p>
            <a:pPr marL="228600" indent="-228600">
              <a:buNone/>
              <a:tabLst>
                <a:tab pos="262033" algn="l"/>
              </a:tabLst>
              <a:defRPr/>
            </a:pPr>
            <a:endParaRPr lang="en-SG" dirty="0"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2645" name="Slide Number Placeholder 4"/>
          <p:cNvSpPr>
            <a:spLocks noGrp="1"/>
          </p:cNvSpPr>
          <p:nvPr>
            <p:ph type="sldNum" sz="quarter" idx="5"/>
          </p:nvPr>
        </p:nvSpPr>
        <p:spPr>
          <a:noFill/>
        </p:spPr>
        <p:txBody>
          <a:bodyPr/>
          <a:lstStyle/>
          <a:p>
            <a:pPr defTabSz="941388"/>
            <a:fld id="{17C20A0A-E937-404B-9D2F-315421AAED84}" type="slidenum">
              <a:rPr lang="en-GB" smtClean="0">
                <a:cs typeface="Arial" pitchFamily="34" charset="0"/>
              </a:rPr>
              <a:pPr defTabSz="941388"/>
              <a:t>23</a:t>
            </a:fld>
            <a:endParaRPr lang="en-GB" smtClean="0">
              <a:cs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ln w="9525"/>
        </p:spPr>
        <p:txBody>
          <a:bodyPr/>
          <a:lstStyle/>
          <a:p>
            <a:pPr>
              <a:tabLst>
                <a:tab pos="262033" algn="l"/>
              </a:tabLst>
              <a:defRPr/>
            </a:pPr>
            <a:endParaRPr lang="en-SG" dirty="0" smtClean="0"/>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2645" name="Slide Number Placeholder 4"/>
          <p:cNvSpPr>
            <a:spLocks noGrp="1"/>
          </p:cNvSpPr>
          <p:nvPr>
            <p:ph type="sldNum" sz="quarter" idx="5"/>
          </p:nvPr>
        </p:nvSpPr>
        <p:spPr>
          <a:noFill/>
        </p:spPr>
        <p:txBody>
          <a:bodyPr/>
          <a:lstStyle/>
          <a:p>
            <a:pPr defTabSz="941388"/>
            <a:fld id="{17C20A0A-E937-404B-9D2F-315421AAED84}" type="slidenum">
              <a:rPr lang="en-GB" smtClean="0">
                <a:cs typeface="Arial" pitchFamily="34" charset="0"/>
              </a:rPr>
              <a:pPr defTabSz="941388"/>
              <a:t>24</a:t>
            </a:fld>
            <a:endParaRPr lang="en-GB" smtClean="0">
              <a:cs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25</a:t>
            </a:fld>
            <a:endParaRPr lang="en-GB" smtClean="0">
              <a:cs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26</a:t>
            </a:fld>
            <a:endParaRPr lang="en-GB" smtClean="0">
              <a:cs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27</a:t>
            </a:fld>
            <a:endParaRPr lang="en-GB" smtClean="0">
              <a:cs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28</a:t>
            </a:fld>
            <a:endParaRPr lang="en-GB" smtClean="0">
              <a:cs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29</a:t>
            </a:fld>
            <a:endParaRPr lang="en-GB" smtClean="0">
              <a:cs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30</a:t>
            </a:fld>
            <a:endParaRPr lang="en-GB" smtClean="0">
              <a:cs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31</a:t>
            </a:fld>
            <a:endParaRPr lang="en-GB" smtClean="0">
              <a:cs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32</a:t>
            </a:fld>
            <a:endParaRPr lang="en-GB" smtClean="0">
              <a:cs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33</a:t>
            </a:fld>
            <a:endParaRPr lang="en-GB" smtClean="0">
              <a:cs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dirty="0" smtClean="0"/>
              <a:t>CS1010 Programming Methodology</a:t>
            </a:r>
            <a:endParaRPr lang="en-US" dirty="0"/>
          </a:p>
        </p:txBody>
      </p:sp>
      <p:sp>
        <p:nvSpPr>
          <p:cNvPr id="96261" name="Slide Number Placeholder 4"/>
          <p:cNvSpPr>
            <a:spLocks noGrp="1"/>
          </p:cNvSpPr>
          <p:nvPr>
            <p:ph type="sldNum" sz="quarter" idx="5"/>
          </p:nvPr>
        </p:nvSpPr>
        <p:spPr>
          <a:noFill/>
        </p:spPr>
        <p:txBody>
          <a:bodyPr/>
          <a:lstStyle/>
          <a:p>
            <a:pPr defTabSz="941388"/>
            <a:fld id="{24BE70F5-E0EF-4E20-B480-7C743E5020F3}" type="slidenum">
              <a:rPr lang="en-GB" smtClean="0">
                <a:cs typeface="Arial" pitchFamily="34" charset="0"/>
              </a:rPr>
              <a:pPr defTabSz="941388"/>
              <a:t>34</a:t>
            </a:fld>
            <a:endParaRPr lang="en-GB" smtClean="0">
              <a:cs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0597" name="Slide Number Placeholder 4"/>
          <p:cNvSpPr>
            <a:spLocks noGrp="1"/>
          </p:cNvSpPr>
          <p:nvPr>
            <p:ph type="sldNum" sz="quarter" idx="5"/>
          </p:nvPr>
        </p:nvSpPr>
        <p:spPr>
          <a:noFill/>
        </p:spPr>
        <p:txBody>
          <a:bodyPr/>
          <a:lstStyle/>
          <a:p>
            <a:pPr defTabSz="941388"/>
            <a:fld id="{81C2AAB1-3C62-4697-99EB-9FD73A5CED7E}" type="slidenum">
              <a:rPr lang="en-GB" smtClean="0">
                <a:cs typeface="Arial" pitchFamily="34" charset="0"/>
              </a:rPr>
              <a:pPr defTabSz="941388"/>
              <a:t>35</a:t>
            </a:fld>
            <a:endParaRPr lang="en-GB" smtClean="0">
              <a:cs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3669" name="Slide Number Placeholder 4"/>
          <p:cNvSpPr>
            <a:spLocks noGrp="1"/>
          </p:cNvSpPr>
          <p:nvPr>
            <p:ph type="sldNum" sz="quarter" idx="5"/>
          </p:nvPr>
        </p:nvSpPr>
        <p:spPr>
          <a:noFill/>
        </p:spPr>
        <p:txBody>
          <a:bodyPr/>
          <a:lstStyle/>
          <a:p>
            <a:pPr defTabSz="941388"/>
            <a:fld id="{B91BF932-EE88-4C56-A2A9-9A7A81C182E8}" type="slidenum">
              <a:rPr lang="en-GB" smtClean="0">
                <a:cs typeface="Arial" pitchFamily="34" charset="0"/>
              </a:rPr>
              <a:pPr defTabSz="941388"/>
              <a:t>36</a:t>
            </a:fld>
            <a:endParaRPr lang="en-GB" smtClean="0">
              <a:cs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3669" name="Slide Number Placeholder 4"/>
          <p:cNvSpPr>
            <a:spLocks noGrp="1"/>
          </p:cNvSpPr>
          <p:nvPr>
            <p:ph type="sldNum" sz="quarter" idx="5"/>
          </p:nvPr>
        </p:nvSpPr>
        <p:spPr>
          <a:noFill/>
        </p:spPr>
        <p:txBody>
          <a:bodyPr/>
          <a:lstStyle/>
          <a:p>
            <a:pPr defTabSz="941388"/>
            <a:fld id="{B91BF932-EE88-4C56-A2A9-9A7A81C182E8}" type="slidenum">
              <a:rPr lang="en-GB" smtClean="0">
                <a:cs typeface="Arial" pitchFamily="34" charset="0"/>
              </a:rPr>
              <a:pPr defTabSz="941388"/>
              <a:t>37</a:t>
            </a:fld>
            <a:endParaRPr lang="en-GB" smtClean="0">
              <a:cs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3669" name="Slide Number Placeholder 4"/>
          <p:cNvSpPr>
            <a:spLocks noGrp="1"/>
          </p:cNvSpPr>
          <p:nvPr>
            <p:ph type="sldNum" sz="quarter" idx="5"/>
          </p:nvPr>
        </p:nvSpPr>
        <p:spPr>
          <a:noFill/>
        </p:spPr>
        <p:txBody>
          <a:bodyPr/>
          <a:lstStyle/>
          <a:p>
            <a:pPr defTabSz="941388"/>
            <a:fld id="{B91BF932-EE88-4C56-A2A9-9A7A81C182E8}" type="slidenum">
              <a:rPr lang="en-GB" smtClean="0">
                <a:cs typeface="Arial" pitchFamily="34" charset="0"/>
              </a:rPr>
              <a:pPr defTabSz="941388"/>
              <a:t>38</a:t>
            </a:fld>
            <a:endParaRPr lang="en-GB" smtClean="0">
              <a:cs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w="9525"/>
        </p:spPr>
        <p:txBody>
          <a:bodyPr/>
          <a:lstStyle/>
          <a:p>
            <a:pPr marL="228600" indent="-228600">
              <a:buFont typeface="+mj-lt"/>
              <a:buNone/>
            </a:pPr>
            <a:endParaRPr lang="en-SG"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0597" name="Slide Number Placeholder 4"/>
          <p:cNvSpPr>
            <a:spLocks noGrp="1"/>
          </p:cNvSpPr>
          <p:nvPr>
            <p:ph type="sldNum" sz="quarter" idx="5"/>
          </p:nvPr>
        </p:nvSpPr>
        <p:spPr>
          <a:noFill/>
        </p:spPr>
        <p:txBody>
          <a:bodyPr/>
          <a:lstStyle/>
          <a:p>
            <a:pPr defTabSz="941388"/>
            <a:fld id="{81C2AAB1-3C62-4697-99EB-9FD73A5CED7E}" type="slidenum">
              <a:rPr lang="en-GB" smtClean="0">
                <a:cs typeface="Arial" pitchFamily="34" charset="0"/>
              </a:rPr>
              <a:pPr defTabSz="941388"/>
              <a:t>39</a:t>
            </a:fld>
            <a:endParaRPr lang="en-GB" smtClean="0">
              <a:cs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w="9525"/>
        </p:spPr>
        <p:txBody>
          <a:bodyPr/>
          <a:lstStyle/>
          <a:p>
            <a:pPr marL="223838" indent="-223838"/>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10597" name="Slide Number Placeholder 4"/>
          <p:cNvSpPr>
            <a:spLocks noGrp="1"/>
          </p:cNvSpPr>
          <p:nvPr>
            <p:ph type="sldNum" sz="quarter" idx="5"/>
          </p:nvPr>
        </p:nvSpPr>
        <p:spPr>
          <a:noFill/>
        </p:spPr>
        <p:txBody>
          <a:bodyPr/>
          <a:lstStyle/>
          <a:p>
            <a:pPr defTabSz="941388"/>
            <a:fld id="{81C2AAB1-3C62-4697-99EB-9FD73A5CED7E}" type="slidenum">
              <a:rPr lang="en-GB" smtClean="0">
                <a:cs typeface="Arial" pitchFamily="34" charset="0"/>
              </a:rPr>
              <a:pPr defTabSz="941388"/>
              <a:t>40</a:t>
            </a:fld>
            <a:endParaRPr lang="en-GB" smtClean="0">
              <a:cs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ln w="9525"/>
        </p:spPr>
        <p:txBody>
          <a:bodyPr/>
          <a:lstStyle/>
          <a:p>
            <a:pPr marL="223838" indent="-223838">
              <a:buFont typeface="Calibri" pitchFamily="34" charset="0"/>
              <a:buNone/>
            </a:pPr>
            <a:endParaRPr lang="en-US" dirty="0"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41317" name="Slide Number Placeholder 4"/>
          <p:cNvSpPr>
            <a:spLocks noGrp="1"/>
          </p:cNvSpPr>
          <p:nvPr>
            <p:ph type="sldNum" sz="quarter" idx="5"/>
          </p:nvPr>
        </p:nvSpPr>
        <p:spPr>
          <a:noFill/>
        </p:spPr>
        <p:txBody>
          <a:bodyPr/>
          <a:lstStyle/>
          <a:p>
            <a:pPr defTabSz="941388"/>
            <a:fld id="{658D5589-8C82-4E29-A752-EF82EA4B2B43}" type="slidenum">
              <a:rPr lang="en-GB" smtClean="0">
                <a:cs typeface="Arial" pitchFamily="34" charset="0"/>
              </a:rPr>
              <a:pPr defTabSz="941388"/>
              <a:t>41</a:t>
            </a:fld>
            <a:endParaRPr lang="en-GB" smtClean="0">
              <a:cs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42341" name="Slide Number Placeholder 4"/>
          <p:cNvSpPr>
            <a:spLocks noGrp="1"/>
          </p:cNvSpPr>
          <p:nvPr>
            <p:ph type="sldNum" sz="quarter" idx="5"/>
          </p:nvPr>
        </p:nvSpPr>
        <p:spPr>
          <a:noFill/>
        </p:spPr>
        <p:txBody>
          <a:bodyPr/>
          <a:lstStyle/>
          <a:p>
            <a:pPr defTabSz="941388"/>
            <a:fld id="{ACA7B2FF-D3C5-46A6-B451-EB3C53582F9D}" type="slidenum">
              <a:rPr lang="en-GB" smtClean="0">
                <a:cs typeface="Arial" pitchFamily="34" charset="0"/>
              </a:rPr>
              <a:pPr defTabSz="941388"/>
              <a:t>42</a:t>
            </a:fld>
            <a:endParaRPr lang="en-GB" smtClean="0">
              <a:cs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42341" name="Slide Number Placeholder 4"/>
          <p:cNvSpPr>
            <a:spLocks noGrp="1"/>
          </p:cNvSpPr>
          <p:nvPr>
            <p:ph type="sldNum" sz="quarter" idx="5"/>
          </p:nvPr>
        </p:nvSpPr>
        <p:spPr>
          <a:noFill/>
        </p:spPr>
        <p:txBody>
          <a:bodyPr/>
          <a:lstStyle/>
          <a:p>
            <a:pPr defTabSz="941388"/>
            <a:fld id="{ACA7B2FF-D3C5-46A6-B451-EB3C53582F9D}" type="slidenum">
              <a:rPr lang="en-GB" smtClean="0">
                <a:cs typeface="Arial" pitchFamily="34" charset="0"/>
              </a:rPr>
              <a:pPr defTabSz="941388"/>
              <a:t>43</a:t>
            </a:fld>
            <a:endParaRPr lang="en-GB" smtClean="0">
              <a:cs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a:ln w="9525"/>
        </p:spPr>
        <p:txBody>
          <a:bodyPr/>
          <a:lstStyle/>
          <a:p>
            <a:endParaRPr lang="en-SG" smtClean="0">
              <a:cs typeface="Arial" pitchFamily="34" charset="0"/>
            </a:endParaRPr>
          </a:p>
        </p:txBody>
      </p:sp>
      <p:sp>
        <p:nvSpPr>
          <p:cNvPr id="4" name="Header Placeholder 3"/>
          <p:cNvSpPr>
            <a:spLocks noGrp="1"/>
          </p:cNvSpPr>
          <p:nvPr>
            <p:ph type="hdr" sz="quarter"/>
          </p:nvPr>
        </p:nvSpPr>
        <p:spPr/>
        <p:txBody>
          <a:bodyPr/>
          <a:lstStyle/>
          <a:p>
            <a:pPr>
              <a:defRPr/>
            </a:pPr>
            <a:r>
              <a:rPr lang="en-US" smtClean="0"/>
              <a:t>CS1010 Programming Methodology</a:t>
            </a:r>
            <a:endParaRPr lang="en-US"/>
          </a:p>
        </p:txBody>
      </p:sp>
      <p:sp>
        <p:nvSpPr>
          <p:cNvPr id="144389" name="Slide Number Placeholder 4"/>
          <p:cNvSpPr>
            <a:spLocks noGrp="1"/>
          </p:cNvSpPr>
          <p:nvPr>
            <p:ph type="sldNum" sz="quarter" idx="5"/>
          </p:nvPr>
        </p:nvSpPr>
        <p:spPr>
          <a:noFill/>
        </p:spPr>
        <p:txBody>
          <a:bodyPr/>
          <a:lstStyle/>
          <a:p>
            <a:pPr defTabSz="941388"/>
            <a:fld id="{91B4F707-43D3-460E-A7FF-AC3013D1744A}" type="slidenum">
              <a:rPr lang="en-GB" smtClean="0">
                <a:cs typeface="Arial" pitchFamily="34" charset="0"/>
              </a:rPr>
              <a:pPr defTabSz="941388"/>
              <a:t>44</a:t>
            </a:fld>
            <a:endParaRPr lang="en-GB" smtClean="0">
              <a:cs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SG"/>
              <a:t>CS1010</a:t>
            </a:r>
            <a:r>
              <a:t> Programming Methodology</a:t>
            </a: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w="9525"/>
        </p:spPr>
        <p:txBody>
          <a:bodyPr/>
          <a:lstStyle/>
          <a:p>
            <a:pPr marL="225425" indent="-225425" eaLnBrk="1" hangingPunct="1"/>
            <a:endParaRPr lang="en-US" smtClean="0">
              <a:cs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pPr>
              <a:defRPr/>
            </a:pPr>
            <a:r>
              <a:rPr lang="en-SG"/>
              <a:t>CS1010</a:t>
            </a:r>
            <a:r>
              <a:t> Programming Methodology</a:t>
            </a: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w="9525"/>
        </p:spPr>
        <p:txBody>
          <a:bodyPr/>
          <a:lstStyle/>
          <a:p>
            <a:pPr eaLnBrk="1" hangingPunct="1"/>
            <a:endParaRPr lang="en-US" smtClean="0">
              <a:cs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cs typeface="Arial"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en-US" sz="2400">
                  <a:latin typeface="Times New Roman" pitchFamily="18" charset="0"/>
                  <a:cs typeface="Arial" charset="0"/>
                </a:endParaRPr>
              </a:p>
            </p:txBody>
          </p:sp>
        </p:grpSp>
      </p:grpSp>
      <p:sp>
        <p:nvSpPr>
          <p:cNvPr id="29902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29902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8" name="Rectangle 16"/>
          <p:cNvSpPr>
            <a:spLocks noGrp="1" noChangeArrowheads="1"/>
          </p:cNvSpPr>
          <p:nvPr>
            <p:ph type="dt" sz="half" idx="10"/>
          </p:nvPr>
        </p:nvSpPr>
        <p:spPr>
          <a:xfrm>
            <a:off x="37338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lgn="l">
              <a:defRPr/>
            </a:pPr>
            <a:r>
              <a:rPr lang="en-US" dirty="0" smtClean="0"/>
              <a:t>CS1010 (AY2012/3 Semester 1)</a:t>
            </a:r>
            <a:endParaRPr lang="en-US" dirty="0"/>
          </a:p>
        </p:txBody>
      </p:sp>
      <p:sp>
        <p:nvSpPr>
          <p:cNvPr id="20" name="Rectangle 18"/>
          <p:cNvSpPr>
            <a:spLocks noGrp="1" noChangeArrowheads="1"/>
          </p:cNvSpPr>
          <p:nvPr>
            <p:ph type="sldNum" sz="quarter" idx="12"/>
          </p:nvPr>
        </p:nvSpPr>
        <p:spPr/>
        <p:txBody>
          <a:bodyPr/>
          <a:lstStyle>
            <a:lvl1pPr>
              <a:defRPr/>
            </a:lvl1pPr>
          </a:lstStyle>
          <a:p>
            <a:pPr>
              <a:defRPr/>
            </a:pPr>
            <a:r>
              <a:rPr lang="en-US" dirty="0" smtClean="0"/>
              <a:t>Week11 - </a:t>
            </a:r>
            <a:fld id="{CEB92D21-8974-4A20-8854-A42C88659FA2}" type="slidenum">
              <a:rPr lang="en-US" smtClean="0"/>
              <a:pPr>
                <a:defRPr/>
              </a:pPr>
              <a:t>‹#›</a:t>
            </a:fld>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10"/>
          </p:nvPr>
        </p:nvSpPr>
        <p:spPr/>
        <p:txBody>
          <a:bodyPr/>
          <a:lstStyle>
            <a:lvl1pPr algn="l">
              <a:defRPr/>
            </a:lvl1pPr>
          </a:lstStyle>
          <a:p>
            <a:pPr>
              <a:defRPr/>
            </a:pPr>
            <a:r>
              <a:rPr lang="en-US" smtClean="0"/>
              <a:t>CS1010 (AY2012/3 Semester 1)</a:t>
            </a:r>
            <a:endParaRPr lang="en-US" dirty="0"/>
          </a:p>
        </p:txBody>
      </p:sp>
      <p:sp>
        <p:nvSpPr>
          <p:cNvPr id="5" name="Slide Number Placeholder 4"/>
          <p:cNvSpPr>
            <a:spLocks noGrp="1"/>
          </p:cNvSpPr>
          <p:nvPr>
            <p:ph type="sldNum" sz="quarter" idx="11"/>
          </p:nvPr>
        </p:nvSpPr>
        <p:spPr/>
        <p:txBody>
          <a:bodyPr/>
          <a:lstStyle>
            <a:lvl1pPr>
              <a:defRPr/>
            </a:lvl1pPr>
          </a:lstStyle>
          <a:p>
            <a:pPr>
              <a:defRPr/>
            </a:pPr>
            <a:r>
              <a:rPr lang="en-US" dirty="0" smtClean="0"/>
              <a:t>Week11 - </a:t>
            </a:r>
            <a:fld id="{6E90ABC7-7044-4F1F-B273-92F595F59CFE}" type="slidenum">
              <a:rPr lang="en-US" smtClean="0"/>
              <a:pPr>
                <a:defRPr/>
              </a:pPr>
              <a:t>‹#›</a:t>
            </a:fld>
            <a:endParaRPr lang="en-US" dirty="0"/>
          </a:p>
        </p:txBody>
      </p:sp>
      <p:sp>
        <p:nvSpPr>
          <p:cNvPr id="6" name="Date Placeholder 5"/>
          <p:cNvSpPr>
            <a:spLocks noGrp="1"/>
          </p:cNvSpPr>
          <p:nvPr>
            <p:ph type="dt" sz="half" idx="12"/>
          </p:nvPr>
        </p:nvSpPr>
        <p:spPr>
          <a:xfrm>
            <a:off x="3886200" y="6248400"/>
            <a:ext cx="2133600" cy="476250"/>
          </a:xfrm>
        </p:spPr>
        <p:txBody>
          <a:bodyPr/>
          <a:lstStyle>
            <a:lvl1pPr>
              <a:defRPr/>
            </a:lvl1pPr>
          </a:lstStyle>
          <a:p>
            <a:pPr>
              <a:defRPr/>
            </a:pPr>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l">
              <a:defRPr/>
            </a:pPr>
            <a:r>
              <a:rPr lang="en-US" dirty="0" smtClean="0"/>
              <a:t>CS1010 (AY2012/3 Semester 1)</a:t>
            </a:r>
            <a:endParaRPr lang="en-US" dirty="0"/>
          </a:p>
        </p:txBody>
      </p:sp>
      <p:sp>
        <p:nvSpPr>
          <p:cNvPr id="4" name="Slide Number Placeholder 3"/>
          <p:cNvSpPr>
            <a:spLocks noGrp="1"/>
          </p:cNvSpPr>
          <p:nvPr>
            <p:ph type="sldNum" sz="quarter" idx="11"/>
          </p:nvPr>
        </p:nvSpPr>
        <p:spPr/>
        <p:txBody>
          <a:bodyPr/>
          <a:lstStyle>
            <a:lvl1pPr>
              <a:defRPr/>
            </a:lvl1pPr>
          </a:lstStyle>
          <a:p>
            <a:pPr>
              <a:defRPr/>
            </a:pPr>
            <a:r>
              <a:rPr lang="en-US" dirty="0" smtClean="0"/>
              <a:t>Week11 - </a:t>
            </a:r>
            <a:fld id="{05D66EDB-2C3E-401E-918B-C779E0271FC8}" type="slidenum">
              <a:rPr lang="en-US" smtClean="0"/>
              <a:pPr>
                <a:defRPr/>
              </a:pPr>
              <a:t>‹#›</a:t>
            </a:fld>
            <a:endParaRPr lang="en-US" dirty="0"/>
          </a:p>
        </p:txBody>
      </p:sp>
      <p:sp>
        <p:nvSpPr>
          <p:cNvPr id="5" name="Date Placeholder 4"/>
          <p:cNvSpPr>
            <a:spLocks noGrp="1"/>
          </p:cNvSpPr>
          <p:nvPr>
            <p:ph type="dt" sz="half" idx="12"/>
          </p:nvPr>
        </p:nvSpPr>
        <p:spPr>
          <a:xfrm>
            <a:off x="3810000" y="6245225"/>
            <a:ext cx="2133600" cy="476250"/>
          </a:xfrm>
        </p:spPr>
        <p:txBody>
          <a:bodyPr/>
          <a:lstStyle>
            <a:lvl1pPr>
              <a:defRPr/>
            </a:lvl1pPr>
          </a:lstStyle>
          <a:p>
            <a:pPr>
              <a:defRPr/>
            </a:pPr>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7986" name="Rectangle 2"/>
          <p:cNvSpPr>
            <a:spLocks noGrp="1" noChangeArrowheads="1"/>
          </p:cNvSpPr>
          <p:nvPr>
            <p:ph type="ftr" sz="quarter" idx="3"/>
          </p:nvPr>
        </p:nvSpPr>
        <p:spPr bwMode="auto">
          <a:xfrm>
            <a:off x="457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charset="0"/>
                <a:cs typeface="Arial" charset="0"/>
              </a:defRPr>
            </a:lvl1pPr>
          </a:lstStyle>
          <a:p>
            <a:pPr algn="l">
              <a:defRPr/>
            </a:pPr>
            <a:r>
              <a:rPr lang="en-US" dirty="0" smtClean="0"/>
              <a:t>CS1010 (AY2012/3 Semester 1)</a:t>
            </a:r>
            <a:endParaRPr lang="en-US" dirty="0"/>
          </a:p>
        </p:txBody>
      </p:sp>
      <p:sp>
        <p:nvSpPr>
          <p:cNvPr id="29798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charset="0"/>
                <a:cs typeface="Arial" charset="0"/>
              </a:defRPr>
            </a:lvl1pPr>
          </a:lstStyle>
          <a:p>
            <a:pPr>
              <a:defRPr/>
            </a:pPr>
            <a:r>
              <a:rPr lang="en-US" dirty="0" smtClean="0"/>
              <a:t>Week11 - </a:t>
            </a:r>
            <a:fld id="{7ABBFC9A-5E4A-4902-8F48-8B6053D890EC}" type="slidenum">
              <a:rPr lang="en-US" smtClean="0"/>
              <a:pPr>
                <a:defRPr/>
              </a:pPr>
              <a:t>‹#›</a:t>
            </a:fld>
            <a:endParaRPr lang="en-US" dirty="0"/>
          </a:p>
        </p:txBody>
      </p:sp>
      <p:grpSp>
        <p:nvGrpSpPr>
          <p:cNvPr id="2052" name="Group 4"/>
          <p:cNvGrpSpPr>
            <a:grpSpLocks/>
          </p:cNvGrpSpPr>
          <p:nvPr/>
        </p:nvGrpSpPr>
        <p:grpSpPr bwMode="auto">
          <a:xfrm>
            <a:off x="0" y="0"/>
            <a:ext cx="9144000" cy="546100"/>
            <a:chOff x="0" y="0"/>
            <a:chExt cx="5760" cy="344"/>
          </a:xfrm>
        </p:grpSpPr>
        <p:sp>
          <p:nvSpPr>
            <p:cNvPr id="297989"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cs typeface="Arial" charset="0"/>
              </a:endParaRPr>
            </a:p>
          </p:txBody>
        </p:sp>
        <p:sp>
          <p:nvSpPr>
            <p:cNvPr id="297990"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297991"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297992"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297993"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297994"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297995"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297996"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297997"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2053"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4"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98000" name="Rectangle 16"/>
          <p:cNvSpPr>
            <a:spLocks noGrp="1" noChangeArrowheads="1"/>
          </p:cNvSpPr>
          <p:nvPr>
            <p:ph type="dt" sz="half" idx="2"/>
          </p:nvPr>
        </p:nvSpPr>
        <p:spPr bwMode="auto">
          <a:xfrm>
            <a:off x="35814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4795" r:id="rId1"/>
    <p:sldLayoutId id="2147484796" r:id="rId2"/>
    <p:sldLayoutId id="2147484800" r:id="rId3"/>
  </p:sldLayoutIdLst>
  <p:transition>
    <p:fade/>
  </p:transition>
  <p:timing>
    <p:tnLst>
      <p:par>
        <p:cTn id="1" dur="indefinite" restart="never" nodeType="tmRoot"/>
      </p:par>
    </p:tnLst>
  </p:timing>
  <p:hf hd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www.maths.surrey.ac.uk/hosted-sites/R.Knott/Fibonacci/fibnat.html"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762000" y="2590800"/>
            <a:ext cx="8153400" cy="1066800"/>
          </a:xfrm>
        </p:spPr>
        <p:txBody>
          <a:bodyPr/>
          <a:lstStyle/>
          <a:p>
            <a:pPr eaLnBrk="1" hangingPunct="1"/>
            <a:r>
              <a:rPr lang="en-GB" sz="2900" b="1" dirty="0" smtClean="0"/>
              <a:t>Recursion</a:t>
            </a:r>
            <a:endParaRPr lang="en-GB" sz="2900" b="1" dirty="0" smtClean="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381000"/>
            <a:ext cx="8382000" cy="838200"/>
          </a:xfrm>
        </p:spPr>
        <p:txBody>
          <a:bodyPr/>
          <a:lstStyle/>
          <a:p>
            <a:pPr eaLnBrk="1" hangingPunct="1"/>
            <a:r>
              <a:rPr lang="en-GB" sz="4000" dirty="0" smtClean="0">
                <a:solidFill>
                  <a:srgbClr val="9933FF"/>
                </a:solidFill>
                <a:latin typeface="Garamond" pitchFamily="18" charset="0"/>
              </a:rPr>
              <a:t>Week 11: Recursion</a:t>
            </a:r>
            <a:endParaRPr lang="en-GB" dirty="0" smtClean="0">
              <a:solidFill>
                <a:srgbClr val="9933FF"/>
              </a:solidFill>
              <a:latin typeface="Garamond" pitchFamily="18" charset="0"/>
            </a:endParaRPr>
          </a:p>
        </p:txBody>
      </p:sp>
      <p:sp>
        <p:nvSpPr>
          <p:cNvPr id="15363" name="Rectangle 3"/>
          <p:cNvSpPr>
            <a:spLocks noGrp="1" noChangeArrowheads="1"/>
          </p:cNvSpPr>
          <p:nvPr>
            <p:ph type="body" idx="1"/>
          </p:nvPr>
        </p:nvSpPr>
        <p:spPr>
          <a:xfrm>
            <a:off x="673100" y="1430338"/>
            <a:ext cx="7620000" cy="4495800"/>
          </a:xfrm>
        </p:spPr>
        <p:txBody>
          <a:bodyPr/>
          <a:lstStyle/>
          <a:p>
            <a:pPr eaLnBrk="1" hangingPunct="1">
              <a:buSzPct val="120000"/>
              <a:buFont typeface="Wingdings" pitchFamily="2" charset="2"/>
              <a:buNone/>
            </a:pPr>
            <a:r>
              <a:rPr lang="en-GB" sz="2800" dirty="0" smtClean="0">
                <a:solidFill>
                  <a:srgbClr val="C00000"/>
                </a:solidFill>
              </a:rPr>
              <a:t>Objectives:</a:t>
            </a:r>
          </a:p>
          <a:p>
            <a:pPr lvl="1" eaLnBrk="1" hangingPunct="1">
              <a:buSzPct val="120000"/>
              <a:buFont typeface="Wingdings" pitchFamily="2" charset="2"/>
              <a:buChar char="§"/>
            </a:pPr>
            <a:r>
              <a:rPr lang="en-GB" sz="2400" dirty="0" smtClean="0"/>
              <a:t>Understand the nature of recursion</a:t>
            </a:r>
          </a:p>
          <a:p>
            <a:pPr lvl="1" eaLnBrk="1" hangingPunct="1">
              <a:buSzPct val="120000"/>
              <a:buFont typeface="Wingdings" pitchFamily="2" charset="2"/>
              <a:buChar char="§"/>
            </a:pPr>
            <a:r>
              <a:rPr lang="en-GB" sz="2400" dirty="0" smtClean="0"/>
              <a:t>Learn to write recursive functions</a:t>
            </a:r>
          </a:p>
          <a:p>
            <a:pPr lvl="1" eaLnBrk="1" hangingPunct="1">
              <a:buSzPct val="120000"/>
              <a:buFont typeface="Wingdings" pitchFamily="2" charset="2"/>
              <a:buChar char="§"/>
            </a:pPr>
            <a:r>
              <a:rPr lang="en-GB" sz="2400" dirty="0" smtClean="0"/>
              <a:t>Comparing recursive codes with iterative codes</a:t>
            </a:r>
          </a:p>
          <a:p>
            <a:pPr eaLnBrk="1" hangingPunct="1">
              <a:spcBef>
                <a:spcPts val="1200"/>
              </a:spcBef>
              <a:buSzPct val="120000"/>
              <a:buFont typeface="Wingdings" pitchFamily="2" charset="2"/>
              <a:buNone/>
            </a:pPr>
            <a:r>
              <a:rPr lang="en-GB" sz="2800" dirty="0" smtClean="0">
                <a:solidFill>
                  <a:srgbClr val="C00000"/>
                </a:solidFill>
              </a:rPr>
              <a:t>Reference: </a:t>
            </a:r>
          </a:p>
          <a:p>
            <a:pPr lvl="1" eaLnBrk="1" hangingPunct="1">
              <a:spcBef>
                <a:spcPts val="600"/>
              </a:spcBef>
              <a:buSzPct val="120000"/>
              <a:buFont typeface="Wingdings" pitchFamily="2" charset="2"/>
              <a:buChar char="§"/>
            </a:pPr>
            <a:r>
              <a:rPr lang="en-GB" sz="2400" dirty="0" smtClean="0"/>
              <a:t>Chapter 8, Lesson 8.6</a:t>
            </a:r>
          </a:p>
          <a:p>
            <a:pPr eaLnBrk="1" hangingPunct="1">
              <a:buSzPct val="120000"/>
              <a:buFont typeface="Wingdings" pitchFamily="2" charset="2"/>
              <a:buNone/>
            </a:pPr>
            <a:r>
              <a:rPr lang="en-GB" sz="2400" dirty="0" smtClean="0">
                <a:solidFill>
                  <a:srgbClr val="0000FF"/>
                </a:solidFill>
              </a:rPr>
              <a:t> </a:t>
            </a:r>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3400" y="381000"/>
            <a:ext cx="8382000" cy="838200"/>
          </a:xfrm>
        </p:spPr>
        <p:txBody>
          <a:bodyPr/>
          <a:lstStyle/>
          <a:p>
            <a:pPr eaLnBrk="1" hangingPunct="1"/>
            <a:r>
              <a:rPr lang="en-GB" sz="4000" dirty="0" smtClean="0">
                <a:solidFill>
                  <a:srgbClr val="9933FF"/>
                </a:solidFill>
                <a:latin typeface="Garamond" pitchFamily="18" charset="0"/>
              </a:rPr>
              <a:t>Week 11: Outline (1/2)</a:t>
            </a:r>
            <a:endParaRPr lang="en-GB" dirty="0" smtClean="0">
              <a:solidFill>
                <a:srgbClr val="9933FF"/>
              </a:solidFill>
              <a:latin typeface="Garamond" pitchFamily="18" charset="0"/>
            </a:endParaRPr>
          </a:p>
        </p:txBody>
      </p:sp>
      <p:sp>
        <p:nvSpPr>
          <p:cNvPr id="16387" name="Rectangle 3"/>
          <p:cNvSpPr>
            <a:spLocks noGrp="1" noChangeArrowheads="1"/>
          </p:cNvSpPr>
          <p:nvPr>
            <p:ph type="body" idx="1"/>
          </p:nvPr>
        </p:nvSpPr>
        <p:spPr>
          <a:xfrm>
            <a:off x="696913" y="1382713"/>
            <a:ext cx="7948612" cy="4840287"/>
          </a:xfrm>
        </p:spPr>
        <p:txBody>
          <a:bodyPr/>
          <a:lstStyle/>
          <a:p>
            <a:pPr marL="457200" indent="-457200" eaLnBrk="1" hangingPunct="1">
              <a:spcBef>
                <a:spcPts val="1200"/>
              </a:spcBef>
              <a:buClrTx/>
              <a:buSzPct val="100000"/>
              <a:buFont typeface="Wingdings" pitchFamily="2" charset="2"/>
              <a:buAutoNum type="arabicPeriod"/>
            </a:pPr>
            <a:r>
              <a:rPr lang="en-GB" sz="2400" dirty="0" smtClean="0"/>
              <a:t>Week 10 Exercise #3: Module Sorting</a:t>
            </a:r>
          </a:p>
          <a:p>
            <a:pPr marL="457200" indent="-457200" eaLnBrk="1" hangingPunct="1">
              <a:spcBef>
                <a:spcPts val="1200"/>
              </a:spcBef>
              <a:buClrTx/>
              <a:buSzPct val="100000"/>
              <a:buFont typeface="Wingdings" pitchFamily="2" charset="2"/>
              <a:buAutoNum type="arabicPeriod"/>
            </a:pPr>
            <a:r>
              <a:rPr lang="en-GB" sz="2400" dirty="0" smtClean="0">
                <a:solidFill>
                  <a:srgbClr val="C00000"/>
                </a:solidFill>
              </a:rPr>
              <a:t>Introduction</a:t>
            </a:r>
          </a:p>
          <a:p>
            <a:pPr marL="457200" indent="-457200" eaLnBrk="1" hangingPunct="1">
              <a:spcBef>
                <a:spcPts val="1200"/>
              </a:spcBef>
              <a:buClrTx/>
              <a:buSzPct val="100000"/>
              <a:buFont typeface="Wingdings" pitchFamily="2" charset="2"/>
              <a:buAutoNum type="arabicPeriod"/>
            </a:pPr>
            <a:r>
              <a:rPr lang="en-GB" sz="2400" dirty="0" smtClean="0"/>
              <a:t>Two Simple Classic Examples</a:t>
            </a:r>
          </a:p>
          <a:p>
            <a:pPr marL="990600" lvl="1" indent="-457200" eaLnBrk="1" hangingPunct="1">
              <a:spcBef>
                <a:spcPts val="600"/>
              </a:spcBef>
              <a:buClrTx/>
              <a:buSzPct val="100000"/>
              <a:buNone/>
              <a:tabLst>
                <a:tab pos="1162050" algn="l"/>
              </a:tabLst>
            </a:pPr>
            <a:r>
              <a:rPr lang="en-GB" sz="2000" dirty="0" smtClean="0"/>
              <a:t>3.1	Demo #1: Factorial</a:t>
            </a:r>
          </a:p>
          <a:p>
            <a:pPr marL="990600" lvl="1" indent="-457200" eaLnBrk="1" hangingPunct="1">
              <a:spcBef>
                <a:spcPts val="600"/>
              </a:spcBef>
              <a:buClrTx/>
              <a:buSzPct val="100000"/>
              <a:buNone/>
              <a:tabLst>
                <a:tab pos="1162050" algn="l"/>
              </a:tabLst>
            </a:pPr>
            <a:r>
              <a:rPr lang="en-GB" sz="2000" dirty="0" smtClean="0"/>
              <a:t>3.2	Demo #2: Fibonacci</a:t>
            </a:r>
          </a:p>
          <a:p>
            <a:pPr marL="457200" indent="-457200" eaLnBrk="1" hangingPunct="1">
              <a:spcBef>
                <a:spcPts val="1200"/>
              </a:spcBef>
              <a:buClrTx/>
              <a:buSzPct val="100000"/>
              <a:buFont typeface="Wingdings" pitchFamily="2" charset="2"/>
              <a:buAutoNum type="arabicPeriod"/>
            </a:pPr>
            <a:r>
              <a:rPr lang="en-GB" sz="2400" dirty="0" smtClean="0">
                <a:solidFill>
                  <a:srgbClr val="C00000"/>
                </a:solidFill>
              </a:rPr>
              <a:t>Gist of Recursion</a:t>
            </a:r>
          </a:p>
          <a:p>
            <a:pPr marL="457200" indent="-457200" eaLnBrk="1" hangingPunct="1">
              <a:spcBef>
                <a:spcPts val="1200"/>
              </a:spcBef>
              <a:buClrTx/>
              <a:buSzPct val="100000"/>
              <a:buFont typeface="Wingdings" pitchFamily="2" charset="2"/>
              <a:buAutoNum type="arabicPeriod"/>
            </a:pPr>
            <a:r>
              <a:rPr lang="en-GB" sz="2400" dirty="0" smtClean="0"/>
              <a:t>Exercises #1 – 3 </a:t>
            </a:r>
          </a:p>
          <a:p>
            <a:pPr marL="457200" indent="-457200" eaLnBrk="1" hangingPunct="1">
              <a:spcBef>
                <a:spcPts val="1200"/>
              </a:spcBef>
              <a:buClrTx/>
              <a:buSzPct val="100000"/>
              <a:buFont typeface="Wingdings" pitchFamily="2" charset="2"/>
              <a:buAutoNum type="arabicPeriod"/>
            </a:pPr>
            <a:r>
              <a:rPr lang="en-GB" sz="2400" dirty="0" smtClean="0">
                <a:solidFill>
                  <a:srgbClr val="C00000"/>
                </a:solidFill>
              </a:rPr>
              <a:t>Thinking Recursively</a:t>
            </a:r>
          </a:p>
          <a:p>
            <a:pPr marL="979488" lvl="1" indent="-444500" eaLnBrk="1" hangingPunct="1">
              <a:spcBef>
                <a:spcPts val="600"/>
              </a:spcBef>
              <a:buClrTx/>
              <a:buSzPct val="100000"/>
              <a:buNone/>
              <a:tabLst>
                <a:tab pos="1162050" algn="l"/>
              </a:tabLst>
            </a:pPr>
            <a:r>
              <a:rPr lang="en-GB" sz="2000" dirty="0" smtClean="0"/>
              <a:t>6.1	Think: Sum of Squares</a:t>
            </a:r>
          </a:p>
          <a:p>
            <a:pPr marL="979488" lvl="1" indent="-444500" eaLnBrk="1" hangingPunct="1">
              <a:spcBef>
                <a:spcPts val="600"/>
              </a:spcBef>
              <a:buClrTx/>
              <a:buSzPct val="100000"/>
              <a:buNone/>
              <a:tabLst>
                <a:tab pos="1162050" algn="l"/>
              </a:tabLst>
            </a:pPr>
            <a:r>
              <a:rPr lang="en-GB" sz="2000" dirty="0" smtClean="0"/>
              <a:t>6.2 	Demo #3: Counting Occurrences</a:t>
            </a:r>
          </a:p>
          <a:p>
            <a:pPr marL="457200" indent="-457200" eaLnBrk="1" hangingPunct="1">
              <a:buSzPct val="120000"/>
              <a:buNone/>
            </a:pPr>
            <a:endParaRPr lang="en-GB" sz="2000" dirty="0" smtClean="0">
              <a:solidFill>
                <a:srgbClr val="0000FF"/>
              </a:solidFill>
            </a:endParaRPr>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33400" y="381000"/>
            <a:ext cx="8382000" cy="838200"/>
          </a:xfrm>
        </p:spPr>
        <p:txBody>
          <a:bodyPr/>
          <a:lstStyle/>
          <a:p>
            <a:pPr eaLnBrk="1" hangingPunct="1"/>
            <a:r>
              <a:rPr lang="en-GB" sz="4000" dirty="0" smtClean="0">
                <a:solidFill>
                  <a:srgbClr val="9933FF"/>
                </a:solidFill>
                <a:latin typeface="Garamond" pitchFamily="18" charset="0"/>
              </a:rPr>
              <a:t>Week 11: Outline (2/2)</a:t>
            </a:r>
            <a:endParaRPr lang="en-GB" dirty="0" smtClean="0">
              <a:solidFill>
                <a:srgbClr val="9933FF"/>
              </a:solidFill>
              <a:latin typeface="Garamond" pitchFamily="18" charset="0"/>
            </a:endParaRPr>
          </a:p>
        </p:txBody>
      </p:sp>
      <p:sp>
        <p:nvSpPr>
          <p:cNvPr id="17411" name="Rectangle 3"/>
          <p:cNvSpPr>
            <a:spLocks noGrp="1" noChangeArrowheads="1"/>
          </p:cNvSpPr>
          <p:nvPr>
            <p:ph type="body" idx="1"/>
          </p:nvPr>
        </p:nvSpPr>
        <p:spPr>
          <a:xfrm>
            <a:off x="696913" y="1382713"/>
            <a:ext cx="7948612" cy="4840287"/>
          </a:xfrm>
        </p:spPr>
        <p:txBody>
          <a:bodyPr/>
          <a:lstStyle/>
          <a:p>
            <a:pPr marL="457200" indent="-457200" eaLnBrk="1" hangingPunct="1">
              <a:spcBef>
                <a:spcPts val="1200"/>
              </a:spcBef>
              <a:buClrTx/>
              <a:buSzPct val="100000"/>
              <a:buFont typeface="+mj-lt"/>
              <a:buAutoNum type="arabicPeriod" startAt="7"/>
            </a:pPr>
            <a:r>
              <a:rPr lang="en-GB" sz="2400" dirty="0" smtClean="0"/>
              <a:t>Exercise #4 (take-home): Sum Array</a:t>
            </a:r>
          </a:p>
          <a:p>
            <a:pPr marL="457200" indent="-457200" eaLnBrk="1" hangingPunct="1">
              <a:spcBef>
                <a:spcPts val="1200"/>
              </a:spcBef>
              <a:buClrTx/>
              <a:buSzPct val="100000"/>
              <a:buFont typeface="+mj-lt"/>
              <a:buAutoNum type="arabicPeriod" startAt="7"/>
            </a:pPr>
            <a:r>
              <a:rPr lang="en-GB" sz="2400" dirty="0" smtClean="0">
                <a:solidFill>
                  <a:srgbClr val="C00000"/>
                </a:solidFill>
              </a:rPr>
              <a:t>Auxiliary Function</a:t>
            </a:r>
          </a:p>
          <a:p>
            <a:pPr marL="457200" indent="-457200" eaLnBrk="1" hangingPunct="1">
              <a:spcBef>
                <a:spcPts val="1200"/>
              </a:spcBef>
              <a:buClrTx/>
              <a:buSzPct val="100000"/>
              <a:buFont typeface="+mj-lt"/>
              <a:buAutoNum type="arabicPeriod" startAt="7"/>
            </a:pPr>
            <a:r>
              <a:rPr lang="en-GB" sz="2400" dirty="0" smtClean="0"/>
              <a:t>Types of Recursion</a:t>
            </a:r>
          </a:p>
          <a:p>
            <a:pPr marL="457200" indent="-457200" eaLnBrk="1" hangingPunct="1">
              <a:spcBef>
                <a:spcPts val="1200"/>
              </a:spcBef>
              <a:buClrTx/>
              <a:buSzPct val="100000"/>
              <a:buFont typeface="+mj-lt"/>
              <a:buAutoNum type="arabicPeriod" startAt="7"/>
            </a:pPr>
            <a:r>
              <a:rPr lang="en-GB" sz="2400" dirty="0" smtClean="0">
                <a:solidFill>
                  <a:srgbClr val="C00000"/>
                </a:solidFill>
              </a:rPr>
              <a:t>Tracing Recursive Codes</a:t>
            </a:r>
          </a:p>
          <a:p>
            <a:pPr marL="457200" indent="-457200" eaLnBrk="1" hangingPunct="1">
              <a:spcBef>
                <a:spcPts val="1200"/>
              </a:spcBef>
              <a:buClrTx/>
              <a:buSzPct val="100000"/>
              <a:buFont typeface="Arial" pitchFamily="34" charset="0"/>
              <a:buAutoNum type="arabicPeriod" startAt="7"/>
            </a:pPr>
            <a:r>
              <a:rPr lang="en-GB" sz="2400" dirty="0" smtClean="0"/>
              <a:t>Recursion versus Iteration</a:t>
            </a:r>
          </a:p>
          <a:p>
            <a:pPr marL="457200" indent="-457200" eaLnBrk="1" hangingPunct="1">
              <a:spcBef>
                <a:spcPts val="1200"/>
              </a:spcBef>
              <a:buClrTx/>
              <a:buSzPct val="100000"/>
              <a:buFont typeface="Arial" pitchFamily="34" charset="0"/>
              <a:buAutoNum type="arabicPeriod" startAt="7"/>
            </a:pPr>
            <a:r>
              <a:rPr lang="en-GB" sz="2400" dirty="0" smtClean="0">
                <a:solidFill>
                  <a:srgbClr val="C00000"/>
                </a:solidFill>
              </a:rPr>
              <a:t>Towers of Hanoi (separately given)</a:t>
            </a:r>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391886"/>
            <a:ext cx="8425543" cy="1110343"/>
          </a:xfrm>
        </p:spPr>
        <p:txBody>
          <a:bodyPr/>
          <a:lstStyle/>
          <a:p>
            <a:pPr eaLnBrk="1" hangingPunct="1"/>
            <a:r>
              <a:rPr lang="en-GB" sz="3600" dirty="0" smtClean="0">
                <a:solidFill>
                  <a:srgbClr val="9933FF"/>
                </a:solidFill>
                <a:latin typeface="Garamond" pitchFamily="18" charset="0"/>
              </a:rPr>
              <a:t>1. Week 10 Exercise #3: Module Sorting (take-home) (1/2)</a:t>
            </a:r>
          </a:p>
        </p:txBody>
      </p:sp>
      <p:sp>
        <p:nvSpPr>
          <p:cNvPr id="18435" name="Rectangle 8"/>
          <p:cNvSpPr>
            <a:spLocks noChangeArrowheads="1"/>
          </p:cNvSpPr>
          <p:nvPr/>
        </p:nvSpPr>
        <p:spPr bwMode="auto">
          <a:xfrm>
            <a:off x="631371" y="1643743"/>
            <a:ext cx="7772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ts val="600"/>
              </a:spcBef>
              <a:buClr>
                <a:schemeClr val="bg2"/>
              </a:buClr>
              <a:buSzPct val="75000"/>
              <a:buFont typeface="Wingdings" pitchFamily="2" charset="2"/>
              <a:buChar char="n"/>
            </a:pPr>
            <a:r>
              <a:rPr lang="en-US" sz="2000" dirty="0" smtClean="0">
                <a:solidFill>
                  <a:srgbClr val="0000FF"/>
                </a:solidFill>
              </a:rPr>
              <a:t>Week10_SortModules.c</a:t>
            </a:r>
            <a:r>
              <a:rPr lang="en-US" sz="2000" dirty="0" smtClean="0"/>
              <a:t>: Given </a:t>
            </a:r>
            <a:r>
              <a:rPr lang="en-US" sz="2000" dirty="0"/>
              <a:t>two </a:t>
            </a:r>
            <a:r>
              <a:rPr lang="en-US" sz="2000" dirty="0" smtClean="0"/>
              <a:t>arrays: </a:t>
            </a:r>
            <a:r>
              <a:rPr lang="en-US" sz="2000" dirty="0"/>
              <a:t>one containing the </a:t>
            </a:r>
            <a:r>
              <a:rPr lang="en-US" sz="2000" dirty="0" smtClean="0"/>
              <a:t>module codes, </a:t>
            </a:r>
            <a:r>
              <a:rPr lang="en-US" sz="2000" dirty="0"/>
              <a:t>and the other containing the number of students enrolled in </a:t>
            </a:r>
            <a:r>
              <a:rPr lang="en-US" sz="2000" dirty="0" smtClean="0"/>
              <a:t>the modules. </a:t>
            </a:r>
            <a:r>
              <a:rPr lang="en-US" sz="2000" dirty="0"/>
              <a:t>Sort the modules according to the number of </a:t>
            </a:r>
            <a:r>
              <a:rPr lang="en-US" sz="2000" dirty="0" smtClean="0"/>
              <a:t>student enrolment, </a:t>
            </a:r>
            <a:r>
              <a:rPr lang="en-US" sz="2000" dirty="0"/>
              <a:t>using Selection Sort, Bubble Sort, or Insertion Sort </a:t>
            </a:r>
            <a:r>
              <a:rPr lang="en-US" sz="2000" dirty="0" smtClean="0"/>
              <a:t>(if you happen to know it).</a:t>
            </a:r>
            <a:endParaRPr lang="en-US" sz="2000" dirty="0"/>
          </a:p>
          <a:p>
            <a:pPr marL="342900" indent="-342900">
              <a:spcBef>
                <a:spcPts val="1200"/>
              </a:spcBef>
              <a:buClr>
                <a:schemeClr val="bg2"/>
              </a:buClr>
              <a:buSzPct val="75000"/>
              <a:buFont typeface="Wingdings" pitchFamily="2" charset="2"/>
              <a:buChar char="n"/>
            </a:pPr>
            <a:r>
              <a:rPr lang="en-US" sz="2000" dirty="0" smtClean="0"/>
              <a:t>You may assume that there are at most 10 modules and a module code is at most 7 characters long.</a:t>
            </a:r>
          </a:p>
          <a:p>
            <a:pPr marL="342900" indent="-342900">
              <a:spcBef>
                <a:spcPts val="1200"/>
              </a:spcBef>
              <a:buClr>
                <a:schemeClr val="bg2"/>
              </a:buClr>
              <a:buSzPct val="75000"/>
              <a:buFont typeface="Wingdings" pitchFamily="2" charset="2"/>
              <a:buChar char="n"/>
            </a:pPr>
            <a:r>
              <a:rPr lang="en-US" sz="2000" dirty="0" smtClean="0"/>
              <a:t>This is a take-home exercise.</a:t>
            </a:r>
          </a:p>
          <a:p>
            <a:pPr marL="342900" indent="-342900">
              <a:spcBef>
                <a:spcPts val="1200"/>
              </a:spcBef>
              <a:buClr>
                <a:schemeClr val="bg2"/>
              </a:buClr>
              <a:buSzPct val="75000"/>
              <a:buFont typeface="Wingdings" pitchFamily="2" charset="2"/>
              <a:buChar char="n"/>
            </a:pPr>
            <a:r>
              <a:rPr lang="en-US" sz="2000" dirty="0" smtClean="0"/>
              <a:t>This exercise is mounted on </a:t>
            </a:r>
            <a:r>
              <a:rPr lang="en-US" sz="2000" dirty="0" err="1" smtClean="0"/>
              <a:t>CodeCrunch</a:t>
            </a:r>
            <a:r>
              <a:rPr lang="en-US" sz="2000" dirty="0" smtClean="0"/>
              <a:t>.</a:t>
            </a:r>
            <a:endParaRPr lang="en-US" sz="2000" dirty="0"/>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5</a:t>
            </a:fld>
            <a:endParaRPr lang="en-SG" dirty="0">
              <a:solidFill>
                <a:srgbClr val="000000"/>
              </a:solidFill>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381000"/>
            <a:ext cx="8425543" cy="1101749"/>
          </a:xfrm>
        </p:spPr>
        <p:txBody>
          <a:bodyPr/>
          <a:lstStyle/>
          <a:p>
            <a:pPr eaLnBrk="1" hangingPunct="1"/>
            <a:r>
              <a:rPr lang="en-GB" sz="3600" dirty="0" smtClean="0">
                <a:solidFill>
                  <a:srgbClr val="9933FF"/>
                </a:solidFill>
                <a:latin typeface="Garamond" pitchFamily="18" charset="0"/>
              </a:rPr>
              <a:t>1. Week 10 Exercise #3: Module Sorting (take-home) (2/2)</a:t>
            </a:r>
          </a:p>
        </p:txBody>
      </p:sp>
      <p:sp>
        <p:nvSpPr>
          <p:cNvPr id="18435" name="Rectangle 8"/>
          <p:cNvSpPr>
            <a:spLocks noChangeArrowheads="1"/>
          </p:cNvSpPr>
          <p:nvPr/>
        </p:nvSpPr>
        <p:spPr bwMode="auto">
          <a:xfrm>
            <a:off x="631371" y="1482749"/>
            <a:ext cx="7772400" cy="47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ts val="600"/>
              </a:spcBef>
              <a:buClr>
                <a:schemeClr val="bg2"/>
              </a:buClr>
              <a:buSzPct val="75000"/>
              <a:buFont typeface="Wingdings" pitchFamily="2" charset="2"/>
              <a:buChar char="n"/>
            </a:pPr>
            <a:r>
              <a:rPr lang="en-US" sz="2000" dirty="0" smtClean="0"/>
              <a:t>Sample </a:t>
            </a:r>
            <a:r>
              <a:rPr lang="en-US" sz="2000" dirty="0"/>
              <a:t>run: </a:t>
            </a:r>
          </a:p>
        </p:txBody>
      </p:sp>
      <p:sp>
        <p:nvSpPr>
          <p:cNvPr id="3" name="Footer Placeholder 2"/>
          <p:cNvSpPr>
            <a:spLocks noGrp="1"/>
          </p:cNvSpPr>
          <p:nvPr>
            <p:ph type="ftr" sz="quarter" idx="10"/>
          </p:nvPr>
        </p:nvSpPr>
        <p:spPr/>
        <p:txBody>
          <a:bodyPr/>
          <a:lstStyle/>
          <a:p>
            <a:pPr algn="l">
              <a:defRPr/>
            </a:pPr>
            <a:r>
              <a:rPr lang="en-US" dirty="0" smtClean="0">
                <a:solidFill>
                  <a:srgbClr val="000000"/>
                </a:solidFill>
              </a:rPr>
              <a:t>CS1010 (AY2012/3 Semester 1)</a:t>
            </a:r>
            <a:endParaRPr lang="en-US" dirty="0">
              <a:solidFill>
                <a:srgbClr val="000000"/>
              </a:solidFill>
            </a:endParaRPr>
          </a:p>
        </p:txBody>
      </p:sp>
      <p:sp>
        <p:nvSpPr>
          <p:cNvPr id="4" name="Slide Number Placeholder 3"/>
          <p:cNvSpPr>
            <a:spLocks noGrp="1"/>
          </p:cNvSpPr>
          <p:nvPr>
            <p:ph type="sldNum" sz="quarter" idx="11"/>
          </p:nvPr>
        </p:nvSpPr>
        <p:spPr/>
        <p:txBody>
          <a:bodyPr/>
          <a:lstStyle/>
          <a:p>
            <a:pPr>
              <a:defRPr/>
            </a:pPr>
            <a:r>
              <a:rPr lang="en-SG" smtClean="0">
                <a:solidFill>
                  <a:srgbClr val="000000"/>
                </a:solidFill>
              </a:rPr>
              <a:t>Week10 - </a:t>
            </a:r>
            <a:fld id="{CC4E50E2-CD7E-4F2D-86CF-4347527F4E5E}" type="slidenum">
              <a:rPr lang="en-SG" smtClean="0">
                <a:solidFill>
                  <a:srgbClr val="000000"/>
                </a:solidFill>
              </a:rPr>
              <a:pPr>
                <a:defRPr/>
              </a:pPr>
              <a:t>6</a:t>
            </a:fld>
            <a:endParaRPr lang="en-SG" dirty="0">
              <a:solidFill>
                <a:srgbClr val="000000"/>
              </a:solidFill>
            </a:endParaRPr>
          </a:p>
        </p:txBody>
      </p:sp>
      <p:grpSp>
        <p:nvGrpSpPr>
          <p:cNvPr id="2" name="Group 10"/>
          <p:cNvGrpSpPr/>
          <p:nvPr/>
        </p:nvGrpSpPr>
        <p:grpSpPr>
          <a:xfrm>
            <a:off x="631371" y="1958647"/>
            <a:ext cx="6172314" cy="3416320"/>
            <a:chOff x="631371" y="1589315"/>
            <a:chExt cx="6172314" cy="3416320"/>
          </a:xfrm>
        </p:grpSpPr>
        <p:sp>
          <p:nvSpPr>
            <p:cNvPr id="7" name="TextBox 6"/>
            <p:cNvSpPr txBox="1"/>
            <p:nvPr/>
          </p:nvSpPr>
          <p:spPr>
            <a:xfrm>
              <a:off x="1318873" y="1958647"/>
              <a:ext cx="5484812" cy="3046988"/>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dirty="0" smtClean="0">
                  <a:solidFill>
                    <a:srgbClr val="000000"/>
                  </a:solidFill>
                  <a:latin typeface="Courier New" pitchFamily="49" charset="0"/>
                  <a:cs typeface="Courier New" pitchFamily="49" charset="0"/>
                </a:rPr>
                <a:t>Enter number of modules: </a:t>
              </a:r>
              <a:r>
                <a:rPr lang="en-US" sz="1600" b="1" dirty="0" smtClean="0">
                  <a:solidFill>
                    <a:srgbClr val="0000FF"/>
                  </a:solidFill>
                  <a:latin typeface="Courier New" pitchFamily="49" charset="0"/>
                  <a:cs typeface="Courier New" pitchFamily="49" charset="0"/>
                </a:rPr>
                <a:t>10</a:t>
              </a:r>
            </a:p>
            <a:p>
              <a:pPr eaLnBrk="1" hangingPunct="1"/>
              <a:r>
                <a:rPr lang="en-US" sz="1600" b="1" dirty="0" smtClean="0">
                  <a:solidFill>
                    <a:srgbClr val="000000"/>
                  </a:solidFill>
                  <a:latin typeface="Courier New" pitchFamily="49" charset="0"/>
                  <a:cs typeface="Courier New" pitchFamily="49" charset="0"/>
                </a:rPr>
                <a:t>Enter </a:t>
              </a:r>
              <a:r>
                <a:rPr lang="en-US" sz="1600" b="1" dirty="0">
                  <a:solidFill>
                    <a:srgbClr val="000000"/>
                  </a:solidFill>
                  <a:latin typeface="Courier New" pitchFamily="49" charset="0"/>
                  <a:cs typeface="Courier New" pitchFamily="49" charset="0"/>
                </a:rPr>
                <a:t>module codes and </a:t>
              </a:r>
              <a:r>
                <a:rPr lang="en-US" sz="1600" b="1" dirty="0" smtClean="0">
                  <a:solidFill>
                    <a:srgbClr val="000000"/>
                  </a:solidFill>
                  <a:latin typeface="Courier New" pitchFamily="49" charset="0"/>
                  <a:cs typeface="Courier New" pitchFamily="49" charset="0"/>
                </a:rPr>
                <a:t>student enrolment:</a:t>
              </a:r>
              <a:endParaRPr lang="en-US" sz="1600" b="1" dirty="0">
                <a:solidFill>
                  <a:srgbClr val="000000"/>
                </a:solidFill>
                <a:latin typeface="Courier New" pitchFamily="49" charset="0"/>
                <a:cs typeface="Courier New" pitchFamily="49" charset="0"/>
              </a:endParaRPr>
            </a:p>
            <a:p>
              <a:pPr eaLnBrk="1" hangingPunct="1"/>
              <a:r>
                <a:rPr lang="en-US" sz="1600" b="1" dirty="0">
                  <a:solidFill>
                    <a:srgbClr val="0000FF"/>
                  </a:solidFill>
                  <a:latin typeface="Courier New" pitchFamily="49" charset="0"/>
                  <a:cs typeface="Courier New" pitchFamily="49" charset="0"/>
                </a:rPr>
                <a:t>CS1010 292</a:t>
              </a:r>
            </a:p>
            <a:p>
              <a:pPr eaLnBrk="1" hangingPunct="1"/>
              <a:r>
                <a:rPr lang="en-US" sz="1600" b="1" dirty="0">
                  <a:solidFill>
                    <a:srgbClr val="0000FF"/>
                  </a:solidFill>
                  <a:latin typeface="Courier New" pitchFamily="49" charset="0"/>
                  <a:cs typeface="Courier New" pitchFamily="49" charset="0"/>
                </a:rPr>
                <a:t>CS1234 178</a:t>
              </a:r>
            </a:p>
            <a:p>
              <a:pPr eaLnBrk="1" hangingPunct="1"/>
              <a:r>
                <a:rPr lang="en-US" sz="1600" b="1" dirty="0">
                  <a:solidFill>
                    <a:srgbClr val="0000FF"/>
                  </a:solidFill>
                  <a:latin typeface="Courier New" pitchFamily="49" charset="0"/>
                  <a:cs typeface="Courier New" pitchFamily="49" charset="0"/>
                </a:rPr>
                <a:t>CS1010E 358</a:t>
              </a:r>
            </a:p>
            <a:p>
              <a:pPr eaLnBrk="1" hangingPunct="1"/>
              <a:r>
                <a:rPr lang="en-US" sz="1600" b="1" dirty="0">
                  <a:solidFill>
                    <a:srgbClr val="0000FF"/>
                  </a:solidFill>
                  <a:latin typeface="Courier New" pitchFamily="49" charset="0"/>
                  <a:cs typeface="Courier New" pitchFamily="49" charset="0"/>
                </a:rPr>
                <a:t>CS2102 260</a:t>
              </a:r>
            </a:p>
            <a:p>
              <a:pPr eaLnBrk="1" hangingPunct="1"/>
              <a:r>
                <a:rPr lang="en-US" sz="1600" b="1" dirty="0">
                  <a:solidFill>
                    <a:srgbClr val="0000FF"/>
                  </a:solidFill>
                  <a:latin typeface="Courier New" pitchFamily="49" charset="0"/>
                  <a:cs typeface="Courier New" pitchFamily="49" charset="0"/>
                </a:rPr>
                <a:t>IS1103 215</a:t>
              </a:r>
            </a:p>
            <a:p>
              <a:pPr eaLnBrk="1" hangingPunct="1"/>
              <a:r>
                <a:rPr lang="en-US" sz="1600" b="1" dirty="0">
                  <a:solidFill>
                    <a:srgbClr val="0000FF"/>
                  </a:solidFill>
                  <a:latin typeface="Courier New" pitchFamily="49" charset="0"/>
                  <a:cs typeface="Courier New" pitchFamily="49" charset="0"/>
                </a:rPr>
                <a:t>IS2104 93</a:t>
              </a:r>
            </a:p>
            <a:p>
              <a:pPr eaLnBrk="1" hangingPunct="1"/>
              <a:r>
                <a:rPr lang="en-US" sz="1600" b="1" dirty="0">
                  <a:solidFill>
                    <a:srgbClr val="0000FF"/>
                  </a:solidFill>
                  <a:latin typeface="Courier New" pitchFamily="49" charset="0"/>
                  <a:cs typeface="Courier New" pitchFamily="49" charset="0"/>
                </a:rPr>
                <a:t>IS1112 100</a:t>
              </a:r>
            </a:p>
            <a:p>
              <a:pPr eaLnBrk="1" hangingPunct="1"/>
              <a:r>
                <a:rPr lang="en-US" sz="1600" b="1" dirty="0">
                  <a:solidFill>
                    <a:srgbClr val="0000FF"/>
                  </a:solidFill>
                  <a:latin typeface="Courier New" pitchFamily="49" charset="0"/>
                  <a:cs typeface="Courier New" pitchFamily="49" charset="0"/>
                </a:rPr>
                <a:t>GEK1511 83</a:t>
              </a:r>
            </a:p>
            <a:p>
              <a:pPr eaLnBrk="1" hangingPunct="1"/>
              <a:r>
                <a:rPr lang="en-US" sz="1600" b="1" dirty="0">
                  <a:solidFill>
                    <a:srgbClr val="0000FF"/>
                  </a:solidFill>
                  <a:latin typeface="Courier New" pitchFamily="49" charset="0"/>
                  <a:cs typeface="Courier New" pitchFamily="49" charset="0"/>
                </a:rPr>
                <a:t>IT2002 51</a:t>
              </a:r>
            </a:p>
            <a:p>
              <a:pPr eaLnBrk="1" hangingPunct="1"/>
              <a:r>
                <a:rPr lang="en-US" sz="1600" b="1" dirty="0">
                  <a:solidFill>
                    <a:srgbClr val="0000FF"/>
                  </a:solidFill>
                  <a:latin typeface="Courier New" pitchFamily="49" charset="0"/>
                  <a:cs typeface="Courier New" pitchFamily="49" charset="0"/>
                </a:rPr>
                <a:t>MA1101S 123</a:t>
              </a:r>
              <a:endParaRPr lang="en-SG" sz="1600" b="1" dirty="0">
                <a:solidFill>
                  <a:srgbClr val="0000FF"/>
                </a:solidFill>
                <a:latin typeface="Courier New" pitchFamily="49" charset="0"/>
                <a:cs typeface="Courier New" pitchFamily="49" charset="0"/>
              </a:endParaRPr>
            </a:p>
          </p:txBody>
        </p:sp>
        <p:sp>
          <p:nvSpPr>
            <p:cNvPr id="9" name="TextBox 8"/>
            <p:cNvSpPr txBox="1"/>
            <p:nvPr/>
          </p:nvSpPr>
          <p:spPr>
            <a:xfrm>
              <a:off x="631371" y="1589315"/>
              <a:ext cx="870858" cy="369332"/>
            </a:xfrm>
            <a:prstGeom prst="rect">
              <a:avLst/>
            </a:prstGeom>
            <a:solidFill>
              <a:srgbClr val="FFCC99"/>
            </a:solidFill>
          </p:spPr>
          <p:txBody>
            <a:bodyPr wrap="square" rtlCol="0">
              <a:spAutoFit/>
            </a:bodyPr>
            <a:lstStyle/>
            <a:p>
              <a:pPr algn="ctr"/>
              <a:r>
                <a:rPr lang="en-US" i="1" dirty="0" smtClean="0"/>
                <a:t>Input</a:t>
              </a:r>
              <a:endParaRPr lang="en-SG" i="1" dirty="0"/>
            </a:p>
          </p:txBody>
        </p:sp>
      </p:grpSp>
      <p:grpSp>
        <p:nvGrpSpPr>
          <p:cNvPr id="5" name="Group 11"/>
          <p:cNvGrpSpPr/>
          <p:nvPr/>
        </p:nvGrpSpPr>
        <p:grpSpPr>
          <a:xfrm>
            <a:off x="4061279" y="3046827"/>
            <a:ext cx="4342492" cy="2985016"/>
            <a:chOff x="4061279" y="2677495"/>
            <a:chExt cx="4342492" cy="2985016"/>
          </a:xfrm>
        </p:grpSpPr>
        <p:sp>
          <p:nvSpPr>
            <p:cNvPr id="8" name="TextBox 7"/>
            <p:cNvSpPr txBox="1"/>
            <p:nvPr/>
          </p:nvSpPr>
          <p:spPr>
            <a:xfrm>
              <a:off x="4061279" y="2677495"/>
              <a:ext cx="3978275" cy="2800350"/>
            </a:xfrm>
            <a:prstGeom prst="rect">
              <a:avLst/>
            </a:prstGeom>
            <a:solidFill>
              <a:srgbClr val="FFFFCC"/>
            </a:solidFill>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1600" b="1" dirty="0">
                  <a:solidFill>
                    <a:srgbClr val="000000"/>
                  </a:solidFill>
                  <a:latin typeface="Courier New" pitchFamily="49" charset="0"/>
                  <a:cs typeface="Courier New" pitchFamily="49" charset="0"/>
                </a:rPr>
                <a:t>Sorted by student enrolment:</a:t>
              </a:r>
            </a:p>
            <a:p>
              <a:pPr eaLnBrk="1" hangingPunct="1"/>
              <a:r>
                <a:rPr lang="en-US" sz="1600" b="1" dirty="0">
                  <a:latin typeface="Courier New" pitchFamily="49" charset="0"/>
                  <a:cs typeface="Courier New" pitchFamily="49" charset="0"/>
                </a:rPr>
                <a:t>IT2002  </a:t>
              </a:r>
              <a:r>
                <a:rPr lang="en-US" sz="1600" b="1" dirty="0" smtClean="0">
                  <a:latin typeface="Courier New" pitchFamily="49" charset="0"/>
                  <a:cs typeface="Courier New" pitchFamily="49" charset="0"/>
                </a:rPr>
                <a:t> 51</a:t>
              </a:r>
              <a:endParaRPr lang="en-US"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GEK1511 </a:t>
              </a:r>
              <a:r>
                <a:rPr lang="en-US" sz="1600" b="1" dirty="0" smtClean="0">
                  <a:latin typeface="Courier New" pitchFamily="49" charset="0"/>
                  <a:cs typeface="Courier New" pitchFamily="49" charset="0"/>
                </a:rPr>
                <a:t> 83</a:t>
              </a:r>
              <a:endParaRPr lang="en-US"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IS2104  </a:t>
              </a:r>
              <a:r>
                <a:rPr lang="en-US" sz="1600" b="1" dirty="0" smtClean="0">
                  <a:latin typeface="Courier New" pitchFamily="49" charset="0"/>
                  <a:cs typeface="Courier New" pitchFamily="49" charset="0"/>
                </a:rPr>
                <a:t> 93</a:t>
              </a:r>
              <a:endParaRPr lang="en-US"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IS1112  100</a:t>
              </a:r>
            </a:p>
            <a:p>
              <a:pPr eaLnBrk="1" hangingPunct="1"/>
              <a:r>
                <a:rPr lang="en-US" sz="1600" b="1" dirty="0">
                  <a:latin typeface="Courier New" pitchFamily="49" charset="0"/>
                  <a:cs typeface="Courier New" pitchFamily="49" charset="0"/>
                </a:rPr>
                <a:t>MA1101S 123</a:t>
              </a:r>
              <a:endParaRPr lang="en-SG" sz="1600" b="1" dirty="0">
                <a:latin typeface="Courier New" pitchFamily="49" charset="0"/>
                <a:cs typeface="Courier New" pitchFamily="49" charset="0"/>
              </a:endParaRPr>
            </a:p>
            <a:p>
              <a:pPr eaLnBrk="1" hangingPunct="1"/>
              <a:r>
                <a:rPr lang="en-US" sz="1600" b="1" dirty="0">
                  <a:latin typeface="Courier New" pitchFamily="49" charset="0"/>
                  <a:cs typeface="Courier New" pitchFamily="49" charset="0"/>
                </a:rPr>
                <a:t>CS1234  178</a:t>
              </a:r>
            </a:p>
            <a:p>
              <a:pPr eaLnBrk="1" hangingPunct="1"/>
              <a:r>
                <a:rPr lang="en-US" sz="1600" b="1" dirty="0">
                  <a:latin typeface="Courier New" pitchFamily="49" charset="0"/>
                  <a:cs typeface="Courier New" pitchFamily="49" charset="0"/>
                </a:rPr>
                <a:t>IS1103  215</a:t>
              </a:r>
            </a:p>
            <a:p>
              <a:pPr eaLnBrk="1" hangingPunct="1"/>
              <a:r>
                <a:rPr lang="en-US" sz="1600" b="1" dirty="0">
                  <a:latin typeface="Courier New" pitchFamily="49" charset="0"/>
                  <a:cs typeface="Courier New" pitchFamily="49" charset="0"/>
                </a:rPr>
                <a:t>CS2102  260</a:t>
              </a:r>
            </a:p>
            <a:p>
              <a:pPr eaLnBrk="1" hangingPunct="1"/>
              <a:r>
                <a:rPr lang="en-US" sz="1600" b="1" dirty="0">
                  <a:latin typeface="Courier New" pitchFamily="49" charset="0"/>
                  <a:cs typeface="Courier New" pitchFamily="49" charset="0"/>
                </a:rPr>
                <a:t>CS1010  292</a:t>
              </a:r>
            </a:p>
            <a:p>
              <a:pPr eaLnBrk="1" hangingPunct="1"/>
              <a:r>
                <a:rPr lang="en-US" sz="1600" b="1" dirty="0">
                  <a:latin typeface="Courier New" pitchFamily="49" charset="0"/>
                  <a:cs typeface="Courier New" pitchFamily="49" charset="0"/>
                </a:rPr>
                <a:t>CS1010E 358</a:t>
              </a:r>
            </a:p>
          </p:txBody>
        </p:sp>
        <p:sp>
          <p:nvSpPr>
            <p:cNvPr id="10" name="TextBox 9"/>
            <p:cNvSpPr txBox="1"/>
            <p:nvPr/>
          </p:nvSpPr>
          <p:spPr>
            <a:xfrm>
              <a:off x="7293427" y="5293179"/>
              <a:ext cx="1110344" cy="369332"/>
            </a:xfrm>
            <a:prstGeom prst="rect">
              <a:avLst/>
            </a:prstGeom>
            <a:solidFill>
              <a:srgbClr val="FFCC99"/>
            </a:solidFill>
          </p:spPr>
          <p:txBody>
            <a:bodyPr wrap="square" rtlCol="0">
              <a:spAutoFit/>
            </a:bodyPr>
            <a:lstStyle/>
            <a:p>
              <a:pPr algn="ctr"/>
              <a:r>
                <a:rPr lang="en-US" i="1" dirty="0" smtClean="0"/>
                <a:t>Output</a:t>
              </a:r>
              <a:endParaRPr lang="en-SG" i="1" dirty="0"/>
            </a:p>
          </p:txBody>
        </p:sp>
      </p:grpSp>
      <p:sp>
        <p:nvSpPr>
          <p:cNvPr id="13" name="TextBox 12"/>
          <p:cNvSpPr txBox="1"/>
          <p:nvPr/>
        </p:nvSpPr>
        <p:spPr>
          <a:xfrm>
            <a:off x="631371" y="5574247"/>
            <a:ext cx="2764715" cy="369332"/>
          </a:xfrm>
          <a:prstGeom prst="rect">
            <a:avLst/>
          </a:prstGeom>
          <a:solidFill>
            <a:srgbClr val="99FFCC"/>
          </a:solidFill>
        </p:spPr>
        <p:txBody>
          <a:bodyPr wrap="square" rtlCol="0">
            <a:spAutoFit/>
          </a:bodyPr>
          <a:lstStyle/>
          <a:p>
            <a:r>
              <a:rPr lang="en-US" dirty="0" smtClean="0"/>
              <a:t>See input file </a:t>
            </a:r>
            <a:r>
              <a:rPr lang="en-US" dirty="0" err="1" smtClean="0">
                <a:solidFill>
                  <a:srgbClr val="0000FF"/>
                </a:solidFill>
              </a:rPr>
              <a:t>modules.in</a:t>
            </a:r>
            <a:endParaRPr lang="en-US" dirty="0">
              <a:solidFill>
                <a:srgbClr val="0000FF"/>
              </a:solidFill>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457200"/>
            <a:ext cx="8553450" cy="792163"/>
          </a:xfrm>
        </p:spPr>
        <p:txBody>
          <a:bodyPr/>
          <a:lstStyle/>
          <a:p>
            <a:r>
              <a:rPr lang="en-US" sz="4000" dirty="0" smtClean="0">
                <a:solidFill>
                  <a:srgbClr val="9933FF"/>
                </a:solidFill>
                <a:latin typeface="Garamond" pitchFamily="18" charset="0"/>
              </a:rPr>
              <a:t>2. Introduction (1/3)</a:t>
            </a:r>
          </a:p>
        </p:txBody>
      </p:sp>
      <p:sp>
        <p:nvSpPr>
          <p:cNvPr id="9" name="Rectangle 8"/>
          <p:cNvSpPr/>
          <p:nvPr/>
        </p:nvSpPr>
        <p:spPr>
          <a:xfrm>
            <a:off x="282920" y="1192324"/>
            <a:ext cx="3783470" cy="707886"/>
          </a:xfrm>
          <a:prstGeom prst="rect">
            <a:avLst/>
          </a:prstGeom>
          <a:noFill/>
        </p:spPr>
        <p:txBody>
          <a:bodyPr wrap="square" lIns="91440" tIns="45720" rIns="91440" bIns="45720">
            <a:spAutoFit/>
          </a:bodyPr>
          <a:lstStyle/>
          <a:p>
            <a:pPr algn="ctr"/>
            <a:r>
              <a:rPr lang="en-US" sz="4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Recursion</a:t>
            </a:r>
            <a:endParaRPr lang="en-US" sz="4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10" name="Rectangle 9"/>
          <p:cNvSpPr/>
          <p:nvPr/>
        </p:nvSpPr>
        <p:spPr>
          <a:xfrm>
            <a:off x="4087364" y="1289142"/>
            <a:ext cx="4132029" cy="584775"/>
          </a:xfrm>
          <a:prstGeom prst="rect">
            <a:avLst/>
          </a:prstGeom>
          <a:noFill/>
        </p:spPr>
        <p:txBody>
          <a:bodyPr wrap="none" lIns="91440" tIns="45720" rIns="91440" bIns="45720">
            <a:spAutoFit/>
          </a:bodyPr>
          <a:lstStyle/>
          <a:p>
            <a:pPr algn="ct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 </a:t>
            </a:r>
            <a:r>
              <a:rPr lang="en-US" sz="3200" b="1" u="sng"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central</a:t>
            </a: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idea in CS.</a:t>
            </a:r>
            <a:endPar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14" name="Picture 13" descr="692px-Sierpinski_Triangle_svg.png"/>
          <p:cNvPicPr>
            <a:picLocks noChangeAspect="1"/>
          </p:cNvPicPr>
          <p:nvPr/>
        </p:nvPicPr>
        <p:blipFill>
          <a:blip r:embed="rId3" cstate="print"/>
          <a:stretch>
            <a:fillRect/>
          </a:stretch>
        </p:blipFill>
        <p:spPr>
          <a:xfrm>
            <a:off x="2204311" y="2448095"/>
            <a:ext cx="2195567" cy="1900498"/>
          </a:xfrm>
          <a:prstGeom prst="rect">
            <a:avLst/>
          </a:prstGeom>
        </p:spPr>
      </p:pic>
      <p:grpSp>
        <p:nvGrpSpPr>
          <p:cNvPr id="20" name="Group 19"/>
          <p:cNvGrpSpPr/>
          <p:nvPr/>
        </p:nvGrpSpPr>
        <p:grpSpPr>
          <a:xfrm>
            <a:off x="405037" y="3104199"/>
            <a:ext cx="1553359" cy="2708503"/>
            <a:chOff x="630948" y="3201017"/>
            <a:chExt cx="1553359" cy="2708503"/>
          </a:xfrm>
        </p:grpSpPr>
        <p:pic>
          <p:nvPicPr>
            <p:cNvPr id="13" name="Picture 12" descr="droste_effect.gif"/>
            <p:cNvPicPr>
              <a:picLocks noChangeAspect="1"/>
            </p:cNvPicPr>
            <p:nvPr/>
          </p:nvPicPr>
          <p:blipFill>
            <a:blip r:embed="rId4" cstate="print"/>
            <a:stretch>
              <a:fillRect/>
            </a:stretch>
          </p:blipFill>
          <p:spPr>
            <a:xfrm>
              <a:off x="630948" y="3201017"/>
              <a:ext cx="1553359" cy="2379464"/>
            </a:xfrm>
            <a:prstGeom prst="rect">
              <a:avLst/>
            </a:prstGeom>
          </p:spPr>
        </p:pic>
        <p:sp>
          <p:nvSpPr>
            <p:cNvPr id="15" name="TextBox 14"/>
            <p:cNvSpPr txBox="1"/>
            <p:nvPr/>
          </p:nvSpPr>
          <p:spPr>
            <a:xfrm>
              <a:off x="694933" y="5540188"/>
              <a:ext cx="1425388" cy="369332"/>
            </a:xfrm>
            <a:prstGeom prst="rect">
              <a:avLst/>
            </a:prstGeom>
            <a:noFill/>
          </p:spPr>
          <p:txBody>
            <a:bodyPr wrap="square" rtlCol="0">
              <a:spAutoFit/>
            </a:bodyPr>
            <a:lstStyle/>
            <a:p>
              <a:pPr algn="ctr"/>
              <a:r>
                <a:rPr lang="en-US" dirty="0" err="1" smtClean="0">
                  <a:latin typeface="Calibri" pitchFamily="34" charset="0"/>
                </a:rPr>
                <a:t>Droste</a:t>
              </a:r>
              <a:r>
                <a:rPr lang="en-US" dirty="0" smtClean="0">
                  <a:latin typeface="Calibri" pitchFamily="34" charset="0"/>
                </a:rPr>
                <a:t> effect</a:t>
              </a:r>
              <a:endParaRPr lang="en-US" dirty="0">
                <a:latin typeface="Calibri" pitchFamily="34" charset="0"/>
              </a:endParaRPr>
            </a:p>
          </p:txBody>
        </p:sp>
      </p:grpSp>
      <p:sp>
        <p:nvSpPr>
          <p:cNvPr id="16" name="TextBox 15"/>
          <p:cNvSpPr txBox="1"/>
          <p:nvPr/>
        </p:nvSpPr>
        <p:spPr>
          <a:xfrm>
            <a:off x="2377833" y="4369399"/>
            <a:ext cx="1848522" cy="369332"/>
          </a:xfrm>
          <a:prstGeom prst="rect">
            <a:avLst/>
          </a:prstGeom>
          <a:noFill/>
        </p:spPr>
        <p:txBody>
          <a:bodyPr wrap="square" rtlCol="0">
            <a:spAutoFit/>
          </a:bodyPr>
          <a:lstStyle/>
          <a:p>
            <a:pPr algn="ctr"/>
            <a:r>
              <a:rPr lang="en-US" dirty="0" err="1" smtClean="0">
                <a:latin typeface="Calibri" pitchFamily="34" charset="0"/>
              </a:rPr>
              <a:t>Sierpinksi</a:t>
            </a:r>
            <a:r>
              <a:rPr lang="en-US" dirty="0" smtClean="0">
                <a:latin typeface="Calibri" pitchFamily="34" charset="0"/>
              </a:rPr>
              <a:t> triangle</a:t>
            </a:r>
            <a:endParaRPr lang="en-US" dirty="0">
              <a:latin typeface="Calibri" pitchFamily="34" charset="0"/>
            </a:endParaRPr>
          </a:p>
        </p:txBody>
      </p:sp>
      <p:sp>
        <p:nvSpPr>
          <p:cNvPr id="17" name="TextBox 16"/>
          <p:cNvSpPr txBox="1"/>
          <p:nvPr/>
        </p:nvSpPr>
        <p:spPr>
          <a:xfrm>
            <a:off x="258183" y="2054711"/>
            <a:ext cx="7089290" cy="369332"/>
          </a:xfrm>
          <a:prstGeom prst="rect">
            <a:avLst/>
          </a:prstGeom>
          <a:noFill/>
        </p:spPr>
        <p:txBody>
          <a:bodyPr wrap="square" rtlCol="0">
            <a:spAutoFit/>
          </a:bodyPr>
          <a:lstStyle/>
          <a:p>
            <a:r>
              <a:rPr lang="en-US" dirty="0" smtClean="0">
                <a:solidFill>
                  <a:srgbClr val="0000FF"/>
                </a:solidFill>
              </a:rPr>
              <a:t>Some examples of recursion (inside and outside CS):</a:t>
            </a:r>
            <a:endParaRPr lang="en-US" dirty="0">
              <a:solidFill>
                <a:srgbClr val="0000FF"/>
              </a:solidFill>
            </a:endParaRPr>
          </a:p>
        </p:txBody>
      </p:sp>
      <p:grpSp>
        <p:nvGrpSpPr>
          <p:cNvPr id="22" name="Group 21"/>
          <p:cNvGrpSpPr/>
          <p:nvPr/>
        </p:nvGrpSpPr>
        <p:grpSpPr>
          <a:xfrm>
            <a:off x="6425902" y="2485465"/>
            <a:ext cx="2556733" cy="1785320"/>
            <a:chOff x="2456331" y="4809117"/>
            <a:chExt cx="2556733" cy="1785320"/>
          </a:xfrm>
        </p:grpSpPr>
        <p:pic>
          <p:nvPicPr>
            <p:cNvPr id="19" name="Picture 16" descr="garfield_recursion2"/>
            <p:cNvPicPr>
              <a:picLocks noChangeAspect="1" noChangeArrowheads="1"/>
            </p:cNvPicPr>
            <p:nvPr/>
          </p:nvPicPr>
          <p:blipFill>
            <a:blip r:embed="rId5" cstate="print"/>
            <a:srcRect/>
            <a:stretch>
              <a:fillRect/>
            </a:stretch>
          </p:blipFill>
          <p:spPr bwMode="auto">
            <a:xfrm>
              <a:off x="2456331" y="4809117"/>
              <a:ext cx="2040366" cy="1785320"/>
            </a:xfrm>
            <a:prstGeom prst="rect">
              <a:avLst/>
            </a:prstGeom>
            <a:noFill/>
          </p:spPr>
        </p:pic>
        <p:sp>
          <p:nvSpPr>
            <p:cNvPr id="21" name="TextBox 20"/>
            <p:cNvSpPr txBox="1"/>
            <p:nvPr/>
          </p:nvSpPr>
          <p:spPr>
            <a:xfrm>
              <a:off x="3494444" y="6060142"/>
              <a:ext cx="1518620" cy="523220"/>
            </a:xfrm>
            <a:prstGeom prst="rect">
              <a:avLst/>
            </a:prstGeom>
            <a:noFill/>
          </p:spPr>
          <p:txBody>
            <a:bodyPr wrap="square" rtlCol="0">
              <a:spAutoFit/>
            </a:bodyPr>
            <a:lstStyle/>
            <a:p>
              <a:r>
                <a:rPr lang="en-US" sz="1400" dirty="0" smtClean="0">
                  <a:latin typeface="Calibri" pitchFamily="34" charset="0"/>
                </a:rPr>
                <a:t>Garfield dreaming recursively.</a:t>
              </a:r>
              <a:endParaRPr lang="en-US" sz="1400" dirty="0">
                <a:latin typeface="Calibri" pitchFamily="34" charset="0"/>
              </a:endParaRPr>
            </a:p>
          </p:txBody>
        </p:sp>
      </p:grpSp>
      <p:pic>
        <p:nvPicPr>
          <p:cNvPr id="27" name="Picture 26" descr="RecursiveTree.jpg"/>
          <p:cNvPicPr>
            <a:picLocks noChangeAspect="1"/>
          </p:cNvPicPr>
          <p:nvPr/>
        </p:nvPicPr>
        <p:blipFill>
          <a:blip r:embed="rId6" cstate="print"/>
          <a:stretch>
            <a:fillRect/>
          </a:stretch>
        </p:blipFill>
        <p:spPr>
          <a:xfrm>
            <a:off x="4440444" y="3388154"/>
            <a:ext cx="1981872" cy="2612942"/>
          </a:xfrm>
          <a:prstGeom prst="rect">
            <a:avLst/>
          </a:prstGeom>
        </p:spPr>
      </p:pic>
      <p:sp>
        <p:nvSpPr>
          <p:cNvPr id="28" name="TextBox 27"/>
          <p:cNvSpPr txBox="1"/>
          <p:nvPr/>
        </p:nvSpPr>
        <p:spPr>
          <a:xfrm>
            <a:off x="4589412" y="5855747"/>
            <a:ext cx="1683936" cy="369332"/>
          </a:xfrm>
          <a:prstGeom prst="rect">
            <a:avLst/>
          </a:prstGeom>
          <a:noFill/>
        </p:spPr>
        <p:txBody>
          <a:bodyPr wrap="square" rtlCol="0">
            <a:spAutoFit/>
          </a:bodyPr>
          <a:lstStyle/>
          <a:p>
            <a:pPr algn="ctr"/>
            <a:r>
              <a:rPr lang="en-US" dirty="0" smtClean="0">
                <a:latin typeface="Calibri" pitchFamily="34" charset="0"/>
              </a:rPr>
              <a:t>Recursive tree</a:t>
            </a:r>
            <a:endParaRPr lang="en-US" dirty="0">
              <a:latin typeface="Calibri" pitchFamily="34" charset="0"/>
            </a:endParaRPr>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7</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4)">
                                      <p:cBhvr>
                                        <p:cTn id="7" dur="2000"/>
                                        <p:tgtEl>
                                          <p:spTgt spid="9"/>
                                        </p:tgtEl>
                                      </p:cBhvr>
                                    </p:animEffect>
                                  </p:childTnLst>
                                </p:cTn>
                              </p:par>
                            </p:childTnLst>
                          </p:cTn>
                        </p:par>
                        <p:par>
                          <p:cTn id="8" fill="hold">
                            <p:stCondLst>
                              <p:cond delay="2000"/>
                            </p:stCondLst>
                            <p:childTnLst>
                              <p:par>
                                <p:cTn id="9" presetID="5"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checkerboard(across)">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dissolve">
                                      <p:cBhvr>
                                        <p:cTn id="16" dur="500"/>
                                        <p:tgtEl>
                                          <p:spTgt spid="17"/>
                                        </p:tgtEl>
                                      </p:cBhvr>
                                    </p:animEffec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fill="hold"/>
                                        <p:tgtEl>
                                          <p:spTgt spid="20"/>
                                        </p:tgtEl>
                                        <p:attrNameLst>
                                          <p:attrName>ppt_x</p:attrName>
                                        </p:attrNameLst>
                                      </p:cBhvr>
                                      <p:tavLst>
                                        <p:tav tm="0">
                                          <p:val>
                                            <p:strVal val="0-#ppt_w/2"/>
                                          </p:val>
                                        </p:tav>
                                        <p:tav tm="100000">
                                          <p:val>
                                            <p:strVal val="#ppt_x"/>
                                          </p:val>
                                        </p:tav>
                                      </p:tavLst>
                                    </p:anim>
                                    <p:anim calcmode="lin" valueType="num">
                                      <p:cBhvr additive="base">
                                        <p:cTn id="21" dur="500" fill="hold"/>
                                        <p:tgtEl>
                                          <p:spTgt spid="20"/>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1000" fill="hold"/>
                                        <p:tgtEl>
                                          <p:spTgt spid="14"/>
                                        </p:tgtEl>
                                        <p:attrNameLst>
                                          <p:attrName>ppt_w</p:attrName>
                                        </p:attrNameLst>
                                      </p:cBhvr>
                                      <p:tavLst>
                                        <p:tav tm="0">
                                          <p:val>
                                            <p:strVal val="#ppt_w*0.70"/>
                                          </p:val>
                                        </p:tav>
                                        <p:tav tm="100000">
                                          <p:val>
                                            <p:strVal val="#ppt_w"/>
                                          </p:val>
                                        </p:tav>
                                      </p:tavLst>
                                    </p:anim>
                                    <p:anim calcmode="lin" valueType="num">
                                      <p:cBhvr>
                                        <p:cTn id="26" dur="1000" fill="hold"/>
                                        <p:tgtEl>
                                          <p:spTgt spid="14"/>
                                        </p:tgtEl>
                                        <p:attrNameLst>
                                          <p:attrName>ppt_h</p:attrName>
                                        </p:attrNameLst>
                                      </p:cBhvr>
                                      <p:tavLst>
                                        <p:tav tm="0">
                                          <p:val>
                                            <p:strVal val="#ppt_h"/>
                                          </p:val>
                                        </p:tav>
                                        <p:tav tm="100000">
                                          <p:val>
                                            <p:strVal val="#ppt_h"/>
                                          </p:val>
                                        </p:tav>
                                      </p:tavLst>
                                    </p:anim>
                                    <p:animEffect transition="in" filter="fade">
                                      <p:cBhvr>
                                        <p:cTn id="27" dur="1000"/>
                                        <p:tgtEl>
                                          <p:spTgt spid="14"/>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1000" fill="hold"/>
                                        <p:tgtEl>
                                          <p:spTgt spid="16"/>
                                        </p:tgtEl>
                                        <p:attrNameLst>
                                          <p:attrName>ppt_w</p:attrName>
                                        </p:attrNameLst>
                                      </p:cBhvr>
                                      <p:tavLst>
                                        <p:tav tm="0">
                                          <p:val>
                                            <p:strVal val="#ppt_w*0.70"/>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Effect transition="in" filter="fade">
                                      <p:cBhvr>
                                        <p:cTn id="32" dur="1000"/>
                                        <p:tgtEl>
                                          <p:spTgt spid="16"/>
                                        </p:tgtEl>
                                      </p:cBhvr>
                                    </p:animEffect>
                                  </p:childTnLst>
                                </p:cTn>
                              </p:par>
                            </p:childTnLst>
                          </p:cTn>
                        </p:par>
                        <p:par>
                          <p:cTn id="33" fill="hold">
                            <p:stCondLst>
                              <p:cond delay="2000"/>
                            </p:stCondLst>
                            <p:childTnLst>
                              <p:par>
                                <p:cTn id="34" presetID="18" presetClass="entr" presetSubtype="12"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strips(downLeft)">
                                      <p:cBhvr>
                                        <p:cTn id="36" dur="500"/>
                                        <p:tgtEl>
                                          <p:spTgt spid="27"/>
                                        </p:tgtEl>
                                      </p:cBhvr>
                                    </p:animEffect>
                                  </p:childTnLst>
                                </p:cTn>
                              </p:par>
                              <p:par>
                                <p:cTn id="37" presetID="18" presetClass="entr" presetSubtype="12" fill="hold" grpId="1"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strips(downLeft)">
                                      <p:cBhvr>
                                        <p:cTn id="39" dur="500"/>
                                        <p:tgtEl>
                                          <p:spTgt spid="28"/>
                                        </p:tgtEl>
                                      </p:cBhvr>
                                    </p:animEffect>
                                  </p:childTnLst>
                                </p:cTn>
                              </p:par>
                            </p:childTnLst>
                          </p:cTn>
                        </p:par>
                        <p:par>
                          <p:cTn id="40" fill="hold">
                            <p:stCondLst>
                              <p:cond delay="2500"/>
                            </p:stCondLst>
                            <p:childTnLst>
                              <p:par>
                                <p:cTn id="41" presetID="5" presetClass="entr" presetSubtype="10"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checkerboard(across)">
                                      <p:cBhvr>
                                        <p:cTn id="4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6" grpId="0"/>
      <p:bldP spid="17" grpId="0"/>
      <p:bldP spid="28"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457200"/>
            <a:ext cx="8553450" cy="792163"/>
          </a:xfrm>
        </p:spPr>
        <p:txBody>
          <a:bodyPr/>
          <a:lstStyle/>
          <a:p>
            <a:r>
              <a:rPr lang="en-US" sz="4000" dirty="0" smtClean="0">
                <a:solidFill>
                  <a:srgbClr val="9933FF"/>
                </a:solidFill>
                <a:latin typeface="Garamond" pitchFamily="18" charset="0"/>
              </a:rPr>
              <a:t>2. Introduction (2/3)</a:t>
            </a:r>
          </a:p>
        </p:txBody>
      </p:sp>
      <p:sp>
        <p:nvSpPr>
          <p:cNvPr id="9" name="Rectangle 8"/>
          <p:cNvSpPr/>
          <p:nvPr/>
        </p:nvSpPr>
        <p:spPr>
          <a:xfrm>
            <a:off x="282920" y="1192324"/>
            <a:ext cx="3783470" cy="707886"/>
          </a:xfrm>
          <a:prstGeom prst="rect">
            <a:avLst/>
          </a:prstGeom>
          <a:noFill/>
        </p:spPr>
        <p:txBody>
          <a:bodyPr wrap="square" lIns="91440" tIns="45720" rIns="91440" bIns="45720">
            <a:spAutoFit/>
          </a:bodyPr>
          <a:lstStyle/>
          <a:p>
            <a:pPr algn="ctr"/>
            <a:r>
              <a:rPr lang="en-US" sz="4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Recursion</a:t>
            </a:r>
            <a:endParaRPr lang="en-US" sz="4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10" name="Rectangle 9"/>
          <p:cNvSpPr/>
          <p:nvPr/>
        </p:nvSpPr>
        <p:spPr>
          <a:xfrm>
            <a:off x="4087364" y="1289142"/>
            <a:ext cx="4132029" cy="584775"/>
          </a:xfrm>
          <a:prstGeom prst="rect">
            <a:avLst/>
          </a:prstGeom>
          <a:noFill/>
        </p:spPr>
        <p:txBody>
          <a:bodyPr wrap="none" lIns="91440" tIns="45720" rIns="91440" bIns="45720">
            <a:spAutoFit/>
          </a:bodyPr>
          <a:lstStyle/>
          <a:p>
            <a:pPr algn="ct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 </a:t>
            </a:r>
            <a:r>
              <a:rPr lang="en-US" sz="3200" b="1" u="sng"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central</a:t>
            </a: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idea in CS.</a:t>
            </a:r>
            <a:endPar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17" name="TextBox 16"/>
          <p:cNvSpPr txBox="1"/>
          <p:nvPr/>
        </p:nvSpPr>
        <p:spPr>
          <a:xfrm>
            <a:off x="258183" y="2054711"/>
            <a:ext cx="7089290" cy="369332"/>
          </a:xfrm>
          <a:prstGeom prst="rect">
            <a:avLst/>
          </a:prstGeom>
          <a:noFill/>
        </p:spPr>
        <p:txBody>
          <a:bodyPr wrap="square" rtlCol="0">
            <a:spAutoFit/>
          </a:bodyPr>
          <a:lstStyle/>
          <a:p>
            <a:r>
              <a:rPr lang="en-US" dirty="0" smtClean="0">
                <a:solidFill>
                  <a:srgbClr val="0000FF"/>
                </a:solidFill>
              </a:rPr>
              <a:t>Definitions based on recursion:</a:t>
            </a:r>
            <a:endParaRPr lang="en-US" dirty="0">
              <a:solidFill>
                <a:srgbClr val="0000FF"/>
              </a:solidFill>
            </a:endParaRPr>
          </a:p>
        </p:txBody>
      </p:sp>
      <p:sp>
        <p:nvSpPr>
          <p:cNvPr id="24" name="TextBox 23"/>
          <p:cNvSpPr txBox="1"/>
          <p:nvPr/>
        </p:nvSpPr>
        <p:spPr>
          <a:xfrm>
            <a:off x="402771" y="2518954"/>
            <a:ext cx="5355772" cy="1938992"/>
          </a:xfrm>
          <a:prstGeom prst="rect">
            <a:avLst/>
          </a:prstGeom>
          <a:solidFill>
            <a:srgbClr val="CCFFFF"/>
          </a:solidFill>
          <a:ln>
            <a:solidFill>
              <a:schemeClr val="bg1">
                <a:lumMod val="50000"/>
              </a:schemeClr>
            </a:solidFill>
          </a:ln>
        </p:spPr>
        <p:txBody>
          <a:bodyPr wrap="square" rtlCol="0">
            <a:spAutoFit/>
          </a:bodyPr>
          <a:lstStyle/>
          <a:p>
            <a:r>
              <a:rPr lang="en-US" sz="2000" i="1" dirty="0" smtClean="0">
                <a:latin typeface="Calibri" pitchFamily="34" charset="0"/>
              </a:rPr>
              <a:t>Recursive definitions:</a:t>
            </a:r>
          </a:p>
          <a:p>
            <a:pPr marL="228600" indent="-228600">
              <a:buAutoNum type="arabicPeriod"/>
            </a:pPr>
            <a:r>
              <a:rPr lang="en-US" dirty="0" smtClean="0">
                <a:latin typeface="Calibri" pitchFamily="34" charset="0"/>
              </a:rPr>
              <a:t>A person is a </a:t>
            </a:r>
            <a:r>
              <a:rPr lang="en-US" dirty="0" smtClean="0">
                <a:solidFill>
                  <a:srgbClr val="0000FF"/>
                </a:solidFill>
                <a:latin typeface="Calibri" pitchFamily="34" charset="0"/>
              </a:rPr>
              <a:t>descendant</a:t>
            </a:r>
            <a:r>
              <a:rPr lang="en-US" dirty="0" smtClean="0">
                <a:latin typeface="Calibri" pitchFamily="34" charset="0"/>
              </a:rPr>
              <a:t> of another if</a:t>
            </a:r>
          </a:p>
          <a:p>
            <a:pPr marL="403225" lvl="1" indent="-174625">
              <a:buFont typeface="Wingdings" pitchFamily="2" charset="2"/>
              <a:buChar char="§"/>
            </a:pPr>
            <a:r>
              <a:rPr lang="en-US" sz="1600" dirty="0" smtClean="0">
                <a:latin typeface="Calibri" pitchFamily="34" charset="0"/>
              </a:rPr>
              <a:t>the former is the latter’s child, or</a:t>
            </a:r>
          </a:p>
          <a:p>
            <a:pPr marL="403225" lvl="1" indent="-174625">
              <a:buFont typeface="Wingdings" pitchFamily="2" charset="2"/>
              <a:buChar char="§"/>
            </a:pPr>
            <a:r>
              <a:rPr lang="en-US" sz="1600" dirty="0" smtClean="0">
                <a:latin typeface="Calibri" pitchFamily="34" charset="0"/>
              </a:rPr>
              <a:t>the former is one of the </a:t>
            </a:r>
            <a:r>
              <a:rPr lang="en-US" sz="1600" dirty="0" smtClean="0">
                <a:solidFill>
                  <a:srgbClr val="0000FF"/>
                </a:solidFill>
                <a:latin typeface="Calibri" pitchFamily="34" charset="0"/>
              </a:rPr>
              <a:t>descendants</a:t>
            </a:r>
            <a:r>
              <a:rPr lang="en-US" sz="1600" dirty="0" smtClean="0">
                <a:latin typeface="Calibri" pitchFamily="34" charset="0"/>
              </a:rPr>
              <a:t> of the latter’s child.</a:t>
            </a:r>
          </a:p>
          <a:p>
            <a:pPr marL="228600" indent="-228600">
              <a:buAutoNum type="arabicPeriod"/>
            </a:pPr>
            <a:r>
              <a:rPr lang="en-US" dirty="0" smtClean="0">
                <a:latin typeface="Calibri" pitchFamily="34" charset="0"/>
              </a:rPr>
              <a:t>A </a:t>
            </a:r>
            <a:r>
              <a:rPr lang="en-US" dirty="0" smtClean="0">
                <a:solidFill>
                  <a:srgbClr val="C00000"/>
                </a:solidFill>
                <a:latin typeface="Calibri" pitchFamily="34" charset="0"/>
              </a:rPr>
              <a:t>list of numbers</a:t>
            </a:r>
            <a:r>
              <a:rPr lang="en-US" dirty="0" smtClean="0">
                <a:latin typeface="Calibri" pitchFamily="34" charset="0"/>
              </a:rPr>
              <a:t> is</a:t>
            </a:r>
          </a:p>
          <a:p>
            <a:pPr marL="403225" lvl="1" indent="-174625">
              <a:buFont typeface="Wingdings" pitchFamily="2" charset="2"/>
              <a:buChar char="§"/>
            </a:pPr>
            <a:r>
              <a:rPr lang="en-US" sz="1600" dirty="0" smtClean="0">
                <a:latin typeface="Calibri" pitchFamily="34" charset="0"/>
              </a:rPr>
              <a:t>a number, or</a:t>
            </a:r>
          </a:p>
          <a:p>
            <a:pPr marL="403225" lvl="1" indent="-174625">
              <a:buFont typeface="Wingdings" pitchFamily="2" charset="2"/>
              <a:buChar char="§"/>
            </a:pPr>
            <a:r>
              <a:rPr lang="en-US" sz="1600" dirty="0" smtClean="0">
                <a:latin typeface="Calibri" pitchFamily="34" charset="0"/>
              </a:rPr>
              <a:t>a number followed by a </a:t>
            </a:r>
            <a:r>
              <a:rPr lang="en-US" sz="1600" dirty="0" smtClean="0">
                <a:solidFill>
                  <a:srgbClr val="C00000"/>
                </a:solidFill>
                <a:latin typeface="Calibri" pitchFamily="34" charset="0"/>
              </a:rPr>
              <a:t>list of numbers</a:t>
            </a:r>
            <a:r>
              <a:rPr lang="en-US" sz="1600" dirty="0" smtClean="0">
                <a:latin typeface="Calibri" pitchFamily="34" charset="0"/>
              </a:rPr>
              <a:t>.</a:t>
            </a:r>
            <a:endParaRPr lang="en-US" sz="1600" dirty="0">
              <a:latin typeface="Calibri" pitchFamily="34" charset="0"/>
            </a:endParaRPr>
          </a:p>
        </p:txBody>
      </p:sp>
      <p:sp>
        <p:nvSpPr>
          <p:cNvPr id="25" name="TextBox 24"/>
          <p:cNvSpPr txBox="1"/>
          <p:nvPr/>
        </p:nvSpPr>
        <p:spPr>
          <a:xfrm>
            <a:off x="620486" y="4619898"/>
            <a:ext cx="3811665" cy="954107"/>
          </a:xfrm>
          <a:prstGeom prst="rect">
            <a:avLst/>
          </a:prstGeom>
          <a:solidFill>
            <a:srgbClr val="CCFFCC"/>
          </a:solidFill>
          <a:ln>
            <a:solidFill>
              <a:schemeClr val="bg1">
                <a:lumMod val="50000"/>
              </a:schemeClr>
            </a:solidFill>
          </a:ln>
        </p:spPr>
        <p:txBody>
          <a:bodyPr wrap="square" rtlCol="0">
            <a:spAutoFit/>
          </a:bodyPr>
          <a:lstStyle/>
          <a:p>
            <a:r>
              <a:rPr lang="en-US" sz="2000" i="1" dirty="0" smtClean="0">
                <a:latin typeface="Calibri" pitchFamily="34" charset="0"/>
              </a:rPr>
              <a:t>Recursive acronyms:</a:t>
            </a:r>
          </a:p>
          <a:p>
            <a:pPr marL="228600" indent="-228600">
              <a:buAutoNum type="arabicPeriod"/>
            </a:pPr>
            <a:r>
              <a:rPr lang="en-US" dirty="0" smtClean="0">
                <a:solidFill>
                  <a:srgbClr val="0000FF"/>
                </a:solidFill>
                <a:latin typeface="Calibri" pitchFamily="34" charset="0"/>
              </a:rPr>
              <a:t>GNU</a:t>
            </a:r>
            <a:r>
              <a:rPr lang="en-US" dirty="0" smtClean="0">
                <a:latin typeface="Calibri" pitchFamily="34" charset="0"/>
              </a:rPr>
              <a:t> = </a:t>
            </a:r>
            <a:r>
              <a:rPr lang="en-US" dirty="0" smtClean="0">
                <a:solidFill>
                  <a:srgbClr val="0000FF"/>
                </a:solidFill>
                <a:latin typeface="Calibri" pitchFamily="34" charset="0"/>
              </a:rPr>
              <a:t>GNU</a:t>
            </a:r>
            <a:r>
              <a:rPr lang="en-US" dirty="0" smtClean="0">
                <a:latin typeface="Calibri" pitchFamily="34" charset="0"/>
              </a:rPr>
              <a:t>’s Not Unix</a:t>
            </a:r>
          </a:p>
          <a:p>
            <a:pPr marL="228600" indent="-228600">
              <a:buAutoNum type="arabicPeriod"/>
            </a:pPr>
            <a:r>
              <a:rPr lang="en-US" dirty="0" smtClean="0">
                <a:solidFill>
                  <a:srgbClr val="C00000"/>
                </a:solidFill>
                <a:latin typeface="Calibri" pitchFamily="34" charset="0"/>
              </a:rPr>
              <a:t>PHP</a:t>
            </a:r>
            <a:r>
              <a:rPr lang="en-US" dirty="0" smtClean="0">
                <a:latin typeface="Calibri" pitchFamily="34" charset="0"/>
              </a:rPr>
              <a:t> = </a:t>
            </a:r>
            <a:r>
              <a:rPr lang="en-US" dirty="0" smtClean="0">
                <a:solidFill>
                  <a:srgbClr val="C00000"/>
                </a:solidFill>
                <a:latin typeface="Calibri" pitchFamily="34" charset="0"/>
              </a:rPr>
              <a:t>PHP</a:t>
            </a:r>
            <a:r>
              <a:rPr lang="en-US" dirty="0" smtClean="0">
                <a:latin typeface="Calibri" pitchFamily="34" charset="0"/>
              </a:rPr>
              <a:t>: Hypertext Preprocessor</a:t>
            </a:r>
            <a:endParaRPr lang="en-US" dirty="0">
              <a:latin typeface="Calibri" pitchFamily="34" charset="0"/>
            </a:endParaRPr>
          </a:p>
        </p:txBody>
      </p:sp>
      <p:sp>
        <p:nvSpPr>
          <p:cNvPr id="27" name="Rectangle 26"/>
          <p:cNvSpPr/>
          <p:nvPr/>
        </p:nvSpPr>
        <p:spPr>
          <a:xfrm>
            <a:off x="5051012" y="3827947"/>
            <a:ext cx="3856319" cy="2062103"/>
          </a:xfrm>
          <a:prstGeom prst="rect">
            <a:avLst/>
          </a:prstGeom>
          <a:solidFill>
            <a:srgbClr val="993366"/>
          </a:solidFill>
        </p:spPr>
        <p:style>
          <a:lnRef idx="3">
            <a:schemeClr val="lt1"/>
          </a:lnRef>
          <a:fillRef idx="1">
            <a:schemeClr val="accent6"/>
          </a:fillRef>
          <a:effectRef idx="1">
            <a:schemeClr val="accent6"/>
          </a:effectRef>
          <a:fontRef idx="minor">
            <a:schemeClr val="lt1"/>
          </a:fontRef>
        </p:style>
        <p:txBody>
          <a:bodyPr wrap="square" lIns="91440" tIns="45720" rIns="91440" bIns="45720">
            <a:spAutoFit/>
          </a:bodyPr>
          <a:lstStyle/>
          <a:p>
            <a:pPr algn="ctr"/>
            <a:r>
              <a:rPr lang="en-US" sz="32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To understand recursion, you must first understand recursion. </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9" name="TextBox 28"/>
          <p:cNvSpPr txBox="1"/>
          <p:nvPr/>
        </p:nvSpPr>
        <p:spPr>
          <a:xfrm>
            <a:off x="5463221" y="2319554"/>
            <a:ext cx="2734107" cy="677108"/>
          </a:xfrm>
          <a:prstGeom prst="rect">
            <a:avLst/>
          </a:prstGeom>
          <a:solidFill>
            <a:srgbClr val="FFFFCC"/>
          </a:solidFill>
          <a:ln>
            <a:solidFill>
              <a:schemeClr val="tx1">
                <a:lumMod val="50000"/>
                <a:lumOff val="50000"/>
              </a:schemeClr>
            </a:solidFill>
          </a:ln>
        </p:spPr>
        <p:txBody>
          <a:bodyPr wrap="square" rtlCol="0">
            <a:spAutoFit/>
          </a:bodyPr>
          <a:lstStyle/>
          <a:p>
            <a:r>
              <a:rPr lang="en-US" sz="2000" i="1" dirty="0" smtClean="0">
                <a:latin typeface="Calibri" pitchFamily="34" charset="0"/>
              </a:rPr>
              <a:t>Dictionary entry:</a:t>
            </a:r>
          </a:p>
          <a:p>
            <a:pPr marL="228600" indent="-228600"/>
            <a:r>
              <a:rPr lang="en-US" dirty="0" smtClean="0">
                <a:solidFill>
                  <a:srgbClr val="0000FF"/>
                </a:solidFill>
                <a:latin typeface="Calibri" pitchFamily="34" charset="0"/>
              </a:rPr>
              <a:t>Recursion</a:t>
            </a:r>
            <a:r>
              <a:rPr lang="en-US" dirty="0" smtClean="0">
                <a:latin typeface="Calibri" pitchFamily="34" charset="0"/>
              </a:rPr>
              <a:t>: See recursion.</a:t>
            </a:r>
            <a:endParaRPr lang="en-US" dirty="0">
              <a:latin typeface="Calibri" pitchFamily="34" charset="0"/>
            </a:endParaRPr>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8</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1"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diamond(in)">
                                      <p:cBhvr>
                                        <p:cTn id="17" dur="10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7" presetClass="entr" presetSubtype="4"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1000" fill="hold"/>
                                        <p:tgtEl>
                                          <p:spTgt spid="27"/>
                                        </p:tgtEl>
                                        <p:attrNameLst>
                                          <p:attrName>ppt_x</p:attrName>
                                        </p:attrNameLst>
                                      </p:cBhvr>
                                      <p:tavLst>
                                        <p:tav tm="0">
                                          <p:val>
                                            <p:strVal val="#ppt_x"/>
                                          </p:val>
                                        </p:tav>
                                        <p:tav tm="100000">
                                          <p:val>
                                            <p:strVal val="#ppt_x"/>
                                          </p:val>
                                        </p:tav>
                                      </p:tavLst>
                                    </p:anim>
                                    <p:anim calcmode="lin" valueType="num">
                                      <p:cBhvr additive="base">
                                        <p:cTn id="23" dur="10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7" grpId="0" animBg="1"/>
      <p:bldP spid="2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2. Introduction</a:t>
            </a:r>
            <a:r>
              <a:rPr lang="en-US" sz="4000" dirty="0" smtClean="0">
                <a:solidFill>
                  <a:srgbClr val="9933FF"/>
                </a:solidFill>
                <a:latin typeface="Garamond" pitchFamily="18" charset="0"/>
                <a:sym typeface="Wingdings" pitchFamily="2" charset="2"/>
              </a:rPr>
              <a:t> (3/3)</a:t>
            </a:r>
            <a:endParaRPr lang="en-US" sz="4000" dirty="0" smtClean="0">
              <a:solidFill>
                <a:srgbClr val="9933FF"/>
              </a:solidFill>
              <a:latin typeface="Garamond" pitchFamily="18" charset="0"/>
            </a:endParaRPr>
          </a:p>
        </p:txBody>
      </p:sp>
      <p:sp>
        <p:nvSpPr>
          <p:cNvPr id="16387" name="Content Placeholder 2"/>
          <p:cNvSpPr>
            <a:spLocks noGrp="1"/>
          </p:cNvSpPr>
          <p:nvPr>
            <p:ph idx="1"/>
          </p:nvPr>
        </p:nvSpPr>
        <p:spPr>
          <a:xfrm>
            <a:off x="334963" y="1304925"/>
            <a:ext cx="8229600" cy="2492524"/>
          </a:xfrm>
        </p:spPr>
        <p:txBody>
          <a:bodyPr/>
          <a:lstStyle/>
          <a:p>
            <a:pPr>
              <a:spcBef>
                <a:spcPts val="600"/>
              </a:spcBef>
            </a:pPr>
            <a:r>
              <a:rPr lang="en-US" sz="2400" dirty="0" smtClean="0"/>
              <a:t>There is </a:t>
            </a:r>
            <a:r>
              <a:rPr lang="en-US" sz="2400" u="sng" dirty="0" smtClean="0"/>
              <a:t>NO</a:t>
            </a:r>
            <a:r>
              <a:rPr lang="en-US" sz="2400" dirty="0" smtClean="0"/>
              <a:t> new syntax needed for recursion.</a:t>
            </a:r>
          </a:p>
          <a:p>
            <a:pPr>
              <a:spcBef>
                <a:spcPts val="600"/>
              </a:spcBef>
            </a:pPr>
            <a:r>
              <a:rPr lang="en-US" sz="2400" dirty="0" smtClean="0">
                <a:solidFill>
                  <a:srgbClr val="0000FF"/>
                </a:solidFill>
              </a:rPr>
              <a:t>Recursion </a:t>
            </a:r>
            <a:r>
              <a:rPr lang="en-US" sz="2400" dirty="0" smtClean="0"/>
              <a:t>is a form of (algorithm) design; it is a </a:t>
            </a:r>
            <a:r>
              <a:rPr lang="en-US" sz="2400" u="sng" dirty="0" smtClean="0"/>
              <a:t>problem-solving technique</a:t>
            </a:r>
            <a:r>
              <a:rPr lang="en-US" sz="2400" dirty="0" smtClean="0"/>
              <a:t> for </a:t>
            </a:r>
            <a:r>
              <a:rPr lang="en-US" sz="2400" u="sng" dirty="0" smtClean="0"/>
              <a:t>divide-and-conquer</a:t>
            </a:r>
            <a:r>
              <a:rPr lang="en-US" sz="2400" dirty="0" smtClean="0"/>
              <a:t> paradigm</a:t>
            </a:r>
          </a:p>
          <a:p>
            <a:pPr lvl="1">
              <a:spcBef>
                <a:spcPts val="600"/>
              </a:spcBef>
            </a:pPr>
            <a:r>
              <a:rPr lang="en-US" sz="2000" dirty="0" smtClean="0"/>
              <a:t>Very important paradigm – many CS problems solved using it</a:t>
            </a:r>
          </a:p>
          <a:p>
            <a:pPr>
              <a:spcBef>
                <a:spcPts val="1200"/>
              </a:spcBef>
            </a:pPr>
            <a:r>
              <a:rPr lang="en-US" sz="2400" dirty="0" smtClean="0"/>
              <a:t>Recursion is:</a:t>
            </a:r>
          </a:p>
        </p:txBody>
      </p:sp>
      <p:sp>
        <p:nvSpPr>
          <p:cNvPr id="6" name="Rectangle 5"/>
          <p:cNvSpPr/>
          <p:nvPr/>
        </p:nvSpPr>
        <p:spPr>
          <a:xfrm>
            <a:off x="1878114" y="3526733"/>
            <a:ext cx="5770573" cy="2246769"/>
          </a:xfrm>
          <a:prstGeom prst="rect">
            <a:avLst/>
          </a:prstGeom>
          <a:noFill/>
          <a:ln w="28575">
            <a:solidFill>
              <a:srgbClr val="800000"/>
            </a:solidFill>
          </a:ln>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A method where </a:t>
            </a:r>
            <a:b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br>
            <a: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the solution to a problem </a:t>
            </a:r>
            <a:b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br>
            <a: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depends on </a:t>
            </a:r>
            <a:b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br>
            <a: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solutions to </a:t>
            </a:r>
            <a:r>
              <a:rPr lang="en-US" sz="2800" b="1" u="sng"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smaller instances </a:t>
            </a:r>
            <a:br>
              <a:rPr lang="en-US" sz="2800" b="1" u="sng"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br>
            <a:r>
              <a:rPr lang="en-US" sz="2800" b="1" cap="none" spc="0"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of the </a:t>
            </a:r>
            <a:r>
              <a:rPr lang="en-US" sz="2800" b="1" u="sng" cap="all" spc="0" dirty="0" smtClean="0">
                <a:ln>
                  <a:prstDash val="solid"/>
                </a:ln>
                <a:solidFill>
                  <a:srgbClr val="993366"/>
                </a:solidFill>
                <a:effectLst>
                  <a:outerShdw blurRad="88000" dist="50800" dir="5040000" algn="tl">
                    <a:schemeClr val="accent4">
                      <a:tint val="80000"/>
                      <a:satMod val="250000"/>
                      <a:alpha val="45000"/>
                    </a:schemeClr>
                  </a:outerShdw>
                </a:effectLst>
              </a:rPr>
              <a:t>s</a:t>
            </a:r>
            <a:r>
              <a:rPr lang="en-US" sz="2800" b="1" u="sng" cap="all" dirty="0" smtClean="0">
                <a:ln>
                  <a:prstDash val="solid"/>
                </a:ln>
                <a:solidFill>
                  <a:srgbClr val="993366"/>
                </a:solidFill>
                <a:effectLst>
                  <a:outerShdw blurRad="88000" dist="50800" dir="5040000" algn="tl">
                    <a:schemeClr val="accent4">
                      <a:tint val="80000"/>
                      <a:satMod val="250000"/>
                      <a:alpha val="45000"/>
                    </a:schemeClr>
                  </a:outerShdw>
                </a:effectLst>
              </a:rPr>
              <a:t>ame</a:t>
            </a:r>
            <a:r>
              <a:rPr lang="en-US" sz="2800" b="1" dirty="0" smtClean="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rPr>
              <a:t> problem.</a:t>
            </a:r>
            <a:endParaRPr lang="en-US" sz="2800" b="1" cap="none" spc="0" dirty="0">
              <a:ln>
                <a:prstDash val="solid"/>
              </a:ln>
              <a:solidFill>
                <a:schemeClr val="tx1">
                  <a:lumMod val="85000"/>
                  <a:lumOff val="15000"/>
                </a:schemeClr>
              </a:solidFill>
              <a:effectLst>
                <a:outerShdw blurRad="88000" dist="50800" dir="5040000" algn="tl">
                  <a:schemeClr val="accent4">
                    <a:tint val="80000"/>
                    <a:satMod val="250000"/>
                    <a:alpha val="45000"/>
                  </a:schemeClr>
                </a:outerShdw>
              </a:effectLst>
            </a:endParaRPr>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9</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3. Two Simple Classic Examples</a:t>
            </a:r>
          </a:p>
        </p:txBody>
      </p:sp>
      <p:sp>
        <p:nvSpPr>
          <p:cNvPr id="16387" name="Content Placeholder 2"/>
          <p:cNvSpPr>
            <a:spLocks noGrp="1"/>
          </p:cNvSpPr>
          <p:nvPr>
            <p:ph idx="1"/>
          </p:nvPr>
        </p:nvSpPr>
        <p:spPr>
          <a:xfrm>
            <a:off x="334963" y="1304925"/>
            <a:ext cx="8229600" cy="843189"/>
          </a:xfrm>
        </p:spPr>
        <p:txBody>
          <a:bodyPr/>
          <a:lstStyle/>
          <a:p>
            <a:pPr>
              <a:spcBef>
                <a:spcPts val="600"/>
              </a:spcBef>
            </a:pPr>
            <a:r>
              <a:rPr lang="en-US" sz="2400" dirty="0" smtClean="0"/>
              <a:t>From these two examples, you will see how a </a:t>
            </a:r>
            <a:r>
              <a:rPr lang="en-US" sz="2400" dirty="0" smtClean="0">
                <a:solidFill>
                  <a:srgbClr val="0000FF"/>
                </a:solidFill>
              </a:rPr>
              <a:t>recursive algorithm </a:t>
            </a:r>
            <a:r>
              <a:rPr lang="en-US" sz="2400" dirty="0" smtClean="0"/>
              <a:t>works</a:t>
            </a:r>
            <a:endParaRPr lang="en-US" sz="2000" dirty="0" smtClean="0"/>
          </a:p>
        </p:txBody>
      </p:sp>
      <p:sp>
        <p:nvSpPr>
          <p:cNvPr id="7" name="TextBox 6"/>
          <p:cNvSpPr txBox="1"/>
          <p:nvPr/>
        </p:nvSpPr>
        <p:spPr>
          <a:xfrm>
            <a:off x="936171" y="2601686"/>
            <a:ext cx="5366657" cy="163121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sz="1600" dirty="0" smtClean="0"/>
          </a:p>
          <a:p>
            <a:r>
              <a:rPr lang="en-US" sz="2800" dirty="0" smtClean="0"/>
              <a:t>Invoking/calling ‘itself’ to solve smaller or simpler instance(s) of a problem …</a:t>
            </a:r>
          </a:p>
        </p:txBody>
      </p:sp>
      <p:sp>
        <p:nvSpPr>
          <p:cNvPr id="8" name="TextBox 7"/>
          <p:cNvSpPr txBox="1"/>
          <p:nvPr/>
        </p:nvSpPr>
        <p:spPr>
          <a:xfrm>
            <a:off x="3309256" y="3940628"/>
            <a:ext cx="4896281" cy="163121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smtClean="0"/>
              <a:t>… and then building up the answer(s) of the simpler instance(s).</a:t>
            </a:r>
          </a:p>
          <a:p>
            <a:endParaRPr lang="en-SG" sz="1600" dirty="0"/>
          </a:p>
        </p:txBody>
      </p:sp>
      <p:sp>
        <p:nvSpPr>
          <p:cNvPr id="9" name="TextBox 8"/>
          <p:cNvSpPr txBox="1"/>
          <p:nvPr/>
        </p:nvSpPr>
        <p:spPr>
          <a:xfrm>
            <a:off x="435429" y="2296886"/>
            <a:ext cx="2688770" cy="523220"/>
          </a:xfrm>
          <a:prstGeom prst="rect">
            <a:avLst/>
          </a:prstGeom>
          <a:solidFill>
            <a:srgbClr val="FFCC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i="1" dirty="0" smtClean="0"/>
              <a:t>Winding phase</a:t>
            </a:r>
            <a:endParaRPr lang="en-SG" sz="2800" i="1" dirty="0"/>
          </a:p>
        </p:txBody>
      </p:sp>
      <p:sp>
        <p:nvSpPr>
          <p:cNvPr id="10" name="TextBox 9"/>
          <p:cNvSpPr txBox="1"/>
          <p:nvPr/>
        </p:nvSpPr>
        <p:spPr>
          <a:xfrm>
            <a:off x="5736770" y="5214258"/>
            <a:ext cx="3037115" cy="523220"/>
          </a:xfrm>
          <a:prstGeom prst="rect">
            <a:avLst/>
          </a:prstGeom>
          <a:solidFill>
            <a:srgbClr val="FFCCCC"/>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i="1" dirty="0" smtClean="0"/>
              <a:t>Unwinding phase</a:t>
            </a:r>
            <a:endParaRPr lang="en-SG" sz="2800" i="1" dirty="0"/>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10</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ppt_x</p:attrName>
                                        </p:attrNameLst>
                                      </p:cBhvr>
                                      <p:tavLst>
                                        <p:tav tm="0">
                                          <p:val>
                                            <p:strVal val="#ppt_x-.2"/>
                                          </p:val>
                                        </p:tav>
                                        <p:tav tm="100000">
                                          <p:val>
                                            <p:strVal val="#ppt_x"/>
                                          </p:val>
                                        </p:tav>
                                      </p:tavLst>
                                    </p:anim>
                                    <p:anim calcmode="lin" valueType="num">
                                      <p:cBhvr>
                                        <p:cTn id="15"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3.1 Demo #1: Factorial (1/3)</a:t>
            </a:r>
          </a:p>
        </p:txBody>
      </p:sp>
      <p:sp>
        <p:nvSpPr>
          <p:cNvPr id="12" name="TextBox 11"/>
          <p:cNvSpPr txBox="1"/>
          <p:nvPr/>
        </p:nvSpPr>
        <p:spPr>
          <a:xfrm>
            <a:off x="337457" y="1571858"/>
            <a:ext cx="5301343" cy="461665"/>
          </a:xfrm>
          <a:prstGeom prst="rect">
            <a:avLst/>
          </a:prstGeom>
          <a:ln w="12700"/>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400" i="1" dirty="0" smtClean="0"/>
              <a:t>n</a:t>
            </a:r>
            <a:r>
              <a:rPr lang="en-US" sz="2400" dirty="0" smtClean="0"/>
              <a:t>! = </a:t>
            </a:r>
            <a:r>
              <a:rPr lang="en-US" sz="2400" i="1" dirty="0" smtClean="0"/>
              <a:t>n</a:t>
            </a:r>
            <a:r>
              <a:rPr lang="en-US" sz="2400" dirty="0" smtClean="0"/>
              <a:t> </a:t>
            </a:r>
            <a:r>
              <a:rPr lang="en-US" sz="2400" dirty="0" smtClean="0">
                <a:sym typeface="Symbol"/>
              </a:rPr>
              <a:t> </a:t>
            </a:r>
            <a:r>
              <a:rPr lang="en-US" sz="2400" i="1" dirty="0" smtClean="0">
                <a:sym typeface="Symbol"/>
              </a:rPr>
              <a:t>(n</a:t>
            </a:r>
            <a:r>
              <a:rPr lang="en-US" sz="2400" dirty="0" smtClean="0">
                <a:sym typeface="Symbol"/>
              </a:rPr>
              <a:t> – 1</a:t>
            </a:r>
            <a:r>
              <a:rPr lang="en-US" sz="2400" i="1" dirty="0" smtClean="0">
                <a:sym typeface="Symbol"/>
              </a:rPr>
              <a:t>)</a:t>
            </a:r>
            <a:r>
              <a:rPr lang="en-US" sz="2400" dirty="0" smtClean="0">
                <a:sym typeface="Symbol"/>
              </a:rPr>
              <a:t>  </a:t>
            </a:r>
            <a:r>
              <a:rPr lang="en-US" sz="2400" i="1" dirty="0" smtClean="0">
                <a:sym typeface="Symbol"/>
              </a:rPr>
              <a:t>(n</a:t>
            </a:r>
            <a:r>
              <a:rPr lang="en-US" sz="2400" dirty="0" smtClean="0">
                <a:sym typeface="Symbol"/>
              </a:rPr>
              <a:t> – 2</a:t>
            </a:r>
            <a:r>
              <a:rPr lang="en-US" sz="2400" i="1" dirty="0" smtClean="0">
                <a:sym typeface="Symbol"/>
              </a:rPr>
              <a:t>)</a:t>
            </a:r>
            <a:r>
              <a:rPr lang="en-US" sz="2400" dirty="0" smtClean="0">
                <a:sym typeface="Symbol"/>
              </a:rPr>
              <a:t>  …  2  1</a:t>
            </a:r>
            <a:r>
              <a:rPr lang="en-US" sz="2400" dirty="0" smtClean="0"/>
              <a:t>  </a:t>
            </a:r>
            <a:endParaRPr lang="en-SG" sz="2400" dirty="0"/>
          </a:p>
        </p:txBody>
      </p:sp>
      <p:grpSp>
        <p:nvGrpSpPr>
          <p:cNvPr id="18" name="Group 17"/>
          <p:cNvGrpSpPr/>
          <p:nvPr/>
        </p:nvGrpSpPr>
        <p:grpSpPr>
          <a:xfrm>
            <a:off x="467795" y="2231571"/>
            <a:ext cx="4467061" cy="2734609"/>
            <a:chOff x="583910" y="2231571"/>
            <a:chExt cx="4268506" cy="2734609"/>
          </a:xfrm>
        </p:grpSpPr>
        <p:sp>
          <p:nvSpPr>
            <p:cNvPr id="14" name="TextBox 13"/>
            <p:cNvSpPr txBox="1"/>
            <p:nvPr/>
          </p:nvSpPr>
          <p:spPr>
            <a:xfrm>
              <a:off x="583910" y="2231571"/>
              <a:ext cx="3901440" cy="461665"/>
            </a:xfrm>
            <a:prstGeom prst="rect">
              <a:avLst/>
            </a:prstGeom>
            <a:noFill/>
          </p:spPr>
          <p:txBody>
            <a:bodyPr wrap="square" rtlCol="0">
              <a:spAutoFit/>
            </a:bodyPr>
            <a:lstStyle/>
            <a:p>
              <a:r>
                <a:rPr lang="en-US" sz="2400" dirty="0" smtClean="0"/>
                <a:t>Iterative code (version 1):</a:t>
              </a:r>
              <a:endParaRPr lang="en-SG" sz="2400" dirty="0"/>
            </a:p>
          </p:txBody>
        </p:sp>
        <p:sp>
          <p:nvSpPr>
            <p:cNvPr id="15" name="TextBox 14"/>
            <p:cNvSpPr txBox="1"/>
            <p:nvPr/>
          </p:nvSpPr>
          <p:spPr>
            <a:xfrm>
              <a:off x="841248" y="2657856"/>
              <a:ext cx="4011168" cy="230832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b="1" dirty="0" smtClean="0">
                  <a:solidFill>
                    <a:srgbClr val="800000"/>
                  </a:solidFill>
                  <a:latin typeface="Courier New" pitchFamily="49" charset="0"/>
                  <a:cs typeface="Courier New" pitchFamily="49" charset="0"/>
                </a:rPr>
                <a:t>// Pre-</a:t>
              </a:r>
              <a:r>
                <a:rPr lang="en-US" b="1" dirty="0" err="1" smtClean="0">
                  <a:solidFill>
                    <a:srgbClr val="800000"/>
                  </a:solidFill>
                  <a:latin typeface="Courier New" pitchFamily="49" charset="0"/>
                  <a:cs typeface="Courier New" pitchFamily="49" charset="0"/>
                </a:rPr>
                <a:t>cond</a:t>
              </a:r>
              <a:r>
                <a:rPr lang="en-US" b="1" dirty="0" smtClean="0">
                  <a:solidFill>
                    <a:srgbClr val="800000"/>
                  </a:solidFill>
                  <a:latin typeface="Courier New" pitchFamily="49" charset="0"/>
                  <a:cs typeface="Courier New" pitchFamily="49" charset="0"/>
                </a:rPr>
                <a:t>: n &gt;= 0</a:t>
              </a:r>
            </a:p>
            <a:p>
              <a:pPr>
                <a:tabLst>
                  <a:tab pos="268288" algn="l"/>
                  <a:tab pos="536575" algn="l"/>
                  <a:tab pos="804863" algn="l"/>
                </a:tabLst>
              </a:pP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factorial_iter1(</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n) {</a:t>
              </a:r>
            </a:p>
            <a:p>
              <a:pPr>
                <a:tabLst>
                  <a:tab pos="268288" algn="l"/>
                  <a:tab pos="536575" algn="l"/>
                  <a:tab pos="804863" algn="l"/>
                </a:tabLst>
              </a:pPr>
              <a:r>
                <a:rPr lang="en-US" b="1" dirty="0" smtClean="0">
                  <a:latin typeface="Courier New" pitchFamily="49" charset="0"/>
                  <a:cs typeface="Courier New" pitchFamily="49" charset="0"/>
                </a:rPr>
                <a:t>	</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ans</a:t>
              </a:r>
              <a:r>
                <a:rPr lang="en-US" b="1" dirty="0" smtClean="0">
                  <a:latin typeface="Courier New" pitchFamily="49" charset="0"/>
                  <a:cs typeface="Courier New" pitchFamily="49" charset="0"/>
                </a:rPr>
                <a:t> = </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i</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for</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i</a:t>
              </a:r>
              <a:r>
                <a:rPr lang="en-US" b="1" dirty="0" smtClean="0">
                  <a:latin typeface="Courier New" pitchFamily="49" charset="0"/>
                  <a:cs typeface="Courier New" pitchFamily="49" charset="0"/>
                </a:rPr>
                <a:t>=</a:t>
              </a:r>
              <a:r>
                <a:rPr lang="en-US" b="1" dirty="0" smtClean="0">
                  <a:solidFill>
                    <a:srgbClr val="006600"/>
                  </a:solidFill>
                  <a:latin typeface="Courier New" pitchFamily="49" charset="0"/>
                  <a:cs typeface="Courier New" pitchFamily="49" charset="0"/>
                </a:rPr>
                <a:t>2</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i</a:t>
              </a:r>
              <a:r>
                <a:rPr lang="en-US" b="1" dirty="0" smtClean="0">
                  <a:latin typeface="Courier New" pitchFamily="49" charset="0"/>
                  <a:cs typeface="Courier New" pitchFamily="49" charset="0"/>
                </a:rPr>
                <a:t>&lt;=n; </a:t>
              </a:r>
              <a:r>
                <a:rPr lang="en-US" b="1" dirty="0" err="1" smtClean="0">
                  <a:latin typeface="Courier New" pitchFamily="49" charset="0"/>
                  <a:cs typeface="Courier New" pitchFamily="49" charset="0"/>
                </a:rPr>
                <a:t>i</a:t>
              </a: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ans</a:t>
              </a:r>
              <a:r>
                <a:rPr lang="en-US" b="1" dirty="0" smtClean="0">
                  <a:latin typeface="Courier New" pitchFamily="49" charset="0"/>
                  <a:cs typeface="Courier New" pitchFamily="49" charset="0"/>
                </a:rPr>
                <a:t> *= </a:t>
              </a:r>
              <a:r>
                <a:rPr lang="en-US" b="1" dirty="0" err="1" smtClean="0">
                  <a:latin typeface="Courier New" pitchFamily="49" charset="0"/>
                  <a:cs typeface="Courier New" pitchFamily="49" charset="0"/>
                </a:rPr>
                <a:t>i</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ans</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a:t>
              </a:r>
            </a:p>
          </p:txBody>
        </p:sp>
      </p:grpSp>
      <p:grpSp>
        <p:nvGrpSpPr>
          <p:cNvPr id="19" name="Group 18"/>
          <p:cNvGrpSpPr/>
          <p:nvPr/>
        </p:nvGrpSpPr>
        <p:grpSpPr>
          <a:xfrm>
            <a:off x="4480560" y="3058450"/>
            <a:ext cx="4373154" cy="3007689"/>
            <a:chOff x="4480560" y="3058450"/>
            <a:chExt cx="4157472" cy="3007689"/>
          </a:xfrm>
        </p:grpSpPr>
        <p:sp>
          <p:nvSpPr>
            <p:cNvPr id="16" name="TextBox 15"/>
            <p:cNvSpPr txBox="1"/>
            <p:nvPr/>
          </p:nvSpPr>
          <p:spPr>
            <a:xfrm>
              <a:off x="4962144" y="3058450"/>
              <a:ext cx="3675888" cy="461665"/>
            </a:xfrm>
            <a:prstGeom prst="rect">
              <a:avLst/>
            </a:prstGeom>
            <a:noFill/>
          </p:spPr>
          <p:txBody>
            <a:bodyPr wrap="square" rtlCol="0">
              <a:spAutoFit/>
            </a:bodyPr>
            <a:lstStyle/>
            <a:p>
              <a:r>
                <a:rPr lang="en-US" sz="2400" dirty="0" smtClean="0"/>
                <a:t>Iterative code (version 2):</a:t>
              </a:r>
              <a:endParaRPr lang="en-SG" sz="2400" dirty="0"/>
            </a:p>
          </p:txBody>
        </p:sp>
        <p:sp>
          <p:nvSpPr>
            <p:cNvPr id="17" name="TextBox 16"/>
            <p:cNvSpPr txBox="1"/>
            <p:nvPr/>
          </p:nvSpPr>
          <p:spPr>
            <a:xfrm>
              <a:off x="4480560" y="3480816"/>
              <a:ext cx="4011168" cy="258532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b="1" dirty="0" smtClean="0">
                  <a:solidFill>
                    <a:srgbClr val="800000"/>
                  </a:solidFill>
                  <a:latin typeface="Courier New" pitchFamily="49" charset="0"/>
                  <a:cs typeface="Courier New" pitchFamily="49" charset="0"/>
                </a:rPr>
                <a:t>// Pre-</a:t>
              </a:r>
              <a:r>
                <a:rPr lang="en-US" b="1" dirty="0" err="1" smtClean="0">
                  <a:solidFill>
                    <a:srgbClr val="800000"/>
                  </a:solidFill>
                  <a:latin typeface="Courier New" pitchFamily="49" charset="0"/>
                  <a:cs typeface="Courier New" pitchFamily="49" charset="0"/>
                </a:rPr>
                <a:t>cond</a:t>
              </a:r>
              <a:r>
                <a:rPr lang="en-US" b="1" dirty="0" smtClean="0">
                  <a:solidFill>
                    <a:srgbClr val="800000"/>
                  </a:solidFill>
                  <a:latin typeface="Courier New" pitchFamily="49" charset="0"/>
                  <a:cs typeface="Courier New" pitchFamily="49" charset="0"/>
                </a:rPr>
                <a:t>: n &gt;= 0</a:t>
              </a:r>
            </a:p>
            <a:p>
              <a:pPr>
                <a:tabLst>
                  <a:tab pos="268288" algn="l"/>
                  <a:tab pos="536575" algn="l"/>
                  <a:tab pos="804863" algn="l"/>
                </a:tabLst>
              </a:pP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factorial_iter2(</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n) {</a:t>
              </a:r>
            </a:p>
            <a:p>
              <a:pPr>
                <a:tabLst>
                  <a:tab pos="268288" algn="l"/>
                  <a:tab pos="536575" algn="l"/>
                  <a:tab pos="804863" algn="l"/>
                </a:tabLst>
              </a:pPr>
              <a:r>
                <a:rPr lang="en-US" b="1" dirty="0" smtClean="0">
                  <a:latin typeface="Courier New" pitchFamily="49" charset="0"/>
                  <a:cs typeface="Courier New" pitchFamily="49" charset="0"/>
                </a:rPr>
                <a:t>	</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ans</a:t>
              </a:r>
              <a:r>
                <a:rPr lang="en-US" b="1" dirty="0" smtClean="0">
                  <a:latin typeface="Courier New" pitchFamily="49" charset="0"/>
                  <a:cs typeface="Courier New" pitchFamily="49" charset="0"/>
                </a:rPr>
                <a:t> = </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while</a:t>
              </a:r>
              <a:r>
                <a:rPr lang="en-US" b="1" dirty="0" smtClean="0">
                  <a:latin typeface="Courier New" pitchFamily="49" charset="0"/>
                  <a:cs typeface="Courier New" pitchFamily="49" charset="0"/>
                </a:rPr>
                <a:t> (n &gt; </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ans</a:t>
              </a:r>
              <a:r>
                <a:rPr lang="en-US" b="1" dirty="0" smtClean="0">
                  <a:latin typeface="Courier New" pitchFamily="49" charset="0"/>
                  <a:cs typeface="Courier New" pitchFamily="49" charset="0"/>
                </a:rPr>
                <a:t> *= n;</a:t>
              </a:r>
            </a:p>
            <a:p>
              <a:pPr>
                <a:tabLst>
                  <a:tab pos="268288" algn="l"/>
                  <a:tab pos="536575" algn="l"/>
                  <a:tab pos="804863" algn="l"/>
                </a:tabLst>
              </a:pPr>
              <a:r>
                <a:rPr lang="en-US" b="1" dirty="0" smtClean="0">
                  <a:latin typeface="Courier New" pitchFamily="49" charset="0"/>
                  <a:cs typeface="Courier New" pitchFamily="49" charset="0"/>
                </a:rPr>
                <a:t>		n--;</a:t>
              </a:r>
            </a:p>
            <a:p>
              <a:pPr>
                <a:tabLst>
                  <a:tab pos="268288" algn="l"/>
                  <a:tab pos="536575" algn="l"/>
                  <a:tab pos="804863" algn="l"/>
                </a:tabLst>
              </a:pP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ans</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a:t>
              </a:r>
            </a:p>
          </p:txBody>
        </p:sp>
      </p:grpSp>
      <p:sp>
        <p:nvSpPr>
          <p:cNvPr id="20" name="TextBox 19"/>
          <p:cNvSpPr txBox="1"/>
          <p:nvPr/>
        </p:nvSpPr>
        <p:spPr>
          <a:xfrm>
            <a:off x="413657" y="5508171"/>
            <a:ext cx="2242457" cy="369332"/>
          </a:xfrm>
          <a:prstGeom prst="rect">
            <a:avLst/>
          </a:prstGeom>
          <a:solidFill>
            <a:srgbClr val="CCFF99"/>
          </a:solidFill>
          <a:ln>
            <a:solidFill>
              <a:schemeClr val="tx1"/>
            </a:solidFill>
          </a:ln>
        </p:spPr>
        <p:txBody>
          <a:bodyPr wrap="square" rtlCol="0">
            <a:spAutoFit/>
          </a:bodyPr>
          <a:lstStyle/>
          <a:p>
            <a:r>
              <a:rPr lang="en-US" dirty="0" smtClean="0"/>
              <a:t>Week11_factorial.c</a:t>
            </a:r>
            <a:endParaRPr lang="en-SG" dirty="0"/>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11</a:t>
            </a:fld>
            <a:endParaRPr lang="en-US" dirty="0"/>
          </a:p>
        </p:txBody>
      </p:sp>
      <p:sp>
        <p:nvSpPr>
          <p:cNvPr id="5" name="Footer Placeholder 4"/>
          <p:cNvSpPr>
            <a:spLocks noGrp="1"/>
          </p:cNvSpPr>
          <p:nvPr>
            <p:ph type="ftr" sz="quarter" idx="10"/>
          </p:nvPr>
        </p:nvSpPr>
        <p:spPr/>
        <p:txBody>
          <a:bodyPr/>
          <a:lstStyle/>
          <a:p>
            <a:pPr>
              <a:defRPr/>
            </a:pPr>
            <a:r>
              <a:rPr lang="en-US" dirty="0"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3.1 Demo #1: Factorial (2/3)</a:t>
            </a:r>
          </a:p>
        </p:txBody>
      </p:sp>
      <p:sp>
        <p:nvSpPr>
          <p:cNvPr id="12" name="TextBox 11"/>
          <p:cNvSpPr txBox="1"/>
          <p:nvPr/>
        </p:nvSpPr>
        <p:spPr>
          <a:xfrm>
            <a:off x="337457" y="1550592"/>
            <a:ext cx="5301343" cy="461665"/>
          </a:xfrm>
          <a:prstGeom prst="rect">
            <a:avLst/>
          </a:prstGeom>
          <a:ln w="12700"/>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400" i="1" dirty="0" smtClean="0"/>
              <a:t>n</a:t>
            </a:r>
            <a:r>
              <a:rPr lang="en-US" sz="2400" dirty="0" smtClean="0"/>
              <a:t>! = </a:t>
            </a:r>
            <a:r>
              <a:rPr lang="en-US" sz="2400" i="1" dirty="0" smtClean="0"/>
              <a:t>n</a:t>
            </a:r>
            <a:r>
              <a:rPr lang="en-US" sz="2400" dirty="0" smtClean="0"/>
              <a:t> </a:t>
            </a:r>
            <a:r>
              <a:rPr lang="en-US" sz="2400" dirty="0" smtClean="0">
                <a:sym typeface="Symbol"/>
              </a:rPr>
              <a:t> </a:t>
            </a:r>
            <a:r>
              <a:rPr lang="en-US" sz="2400" i="1" dirty="0" smtClean="0">
                <a:sym typeface="Symbol"/>
              </a:rPr>
              <a:t>(n</a:t>
            </a:r>
            <a:r>
              <a:rPr lang="en-US" sz="2400" dirty="0" smtClean="0">
                <a:sym typeface="Symbol"/>
              </a:rPr>
              <a:t> – 1</a:t>
            </a:r>
            <a:r>
              <a:rPr lang="en-US" sz="2400" i="1" dirty="0" smtClean="0">
                <a:sym typeface="Symbol"/>
              </a:rPr>
              <a:t>)</a:t>
            </a:r>
            <a:r>
              <a:rPr lang="en-US" sz="2400" dirty="0" smtClean="0">
                <a:sym typeface="Symbol"/>
              </a:rPr>
              <a:t>  </a:t>
            </a:r>
            <a:r>
              <a:rPr lang="en-US" sz="2400" i="1" dirty="0" smtClean="0">
                <a:sym typeface="Symbol"/>
              </a:rPr>
              <a:t>(n</a:t>
            </a:r>
            <a:r>
              <a:rPr lang="en-US" sz="2400" dirty="0" smtClean="0">
                <a:sym typeface="Symbol"/>
              </a:rPr>
              <a:t> – 2</a:t>
            </a:r>
            <a:r>
              <a:rPr lang="en-US" sz="2400" i="1" dirty="0" smtClean="0">
                <a:sym typeface="Symbol"/>
              </a:rPr>
              <a:t>)</a:t>
            </a:r>
            <a:r>
              <a:rPr lang="en-US" sz="2400" dirty="0" smtClean="0">
                <a:sym typeface="Symbol"/>
              </a:rPr>
              <a:t>  …  2  1</a:t>
            </a:r>
            <a:r>
              <a:rPr lang="en-US" sz="2400" dirty="0" smtClean="0"/>
              <a:t>  </a:t>
            </a:r>
            <a:endParaRPr lang="en-SG" sz="2400" dirty="0"/>
          </a:p>
        </p:txBody>
      </p:sp>
      <p:sp>
        <p:nvSpPr>
          <p:cNvPr id="13" name="TextBox 12"/>
          <p:cNvSpPr txBox="1"/>
          <p:nvPr/>
        </p:nvSpPr>
        <p:spPr>
          <a:xfrm>
            <a:off x="6150428" y="1389581"/>
            <a:ext cx="2612572" cy="1138773"/>
          </a:xfrm>
          <a:prstGeom prst="rect">
            <a:avLst/>
          </a:prstGeom>
          <a:solidFill>
            <a:srgbClr val="FFFF99"/>
          </a:solidFill>
        </p:spPr>
        <p:txBody>
          <a:bodyPr wrap="square" rtlCol="0">
            <a:spAutoFit/>
          </a:bodyPr>
          <a:lstStyle/>
          <a:p>
            <a:r>
              <a:rPr lang="en-US" sz="2000" dirty="0" smtClean="0"/>
              <a:t>Recurrence relation:</a:t>
            </a:r>
          </a:p>
          <a:p>
            <a:r>
              <a:rPr lang="en-US" sz="2400" i="1" dirty="0" smtClean="0">
                <a:solidFill>
                  <a:srgbClr val="0000FF"/>
                </a:solidFill>
              </a:rPr>
              <a:t>n</a:t>
            </a:r>
            <a:r>
              <a:rPr lang="en-US" sz="2400" dirty="0" smtClean="0">
                <a:solidFill>
                  <a:srgbClr val="0000FF"/>
                </a:solidFill>
              </a:rPr>
              <a:t>! = </a:t>
            </a:r>
            <a:r>
              <a:rPr lang="en-US" sz="2400" i="1" dirty="0" smtClean="0">
                <a:solidFill>
                  <a:srgbClr val="0000FF"/>
                </a:solidFill>
              </a:rPr>
              <a:t>n</a:t>
            </a:r>
            <a:r>
              <a:rPr lang="en-US" sz="2400" dirty="0" smtClean="0">
                <a:solidFill>
                  <a:srgbClr val="0000FF"/>
                </a:solidFill>
              </a:rPr>
              <a:t> </a:t>
            </a:r>
            <a:r>
              <a:rPr lang="en-US" sz="2400" dirty="0" smtClean="0">
                <a:solidFill>
                  <a:srgbClr val="0000FF"/>
                </a:solidFill>
                <a:sym typeface="Symbol"/>
              </a:rPr>
              <a:t> (</a:t>
            </a:r>
            <a:r>
              <a:rPr lang="en-US" sz="2400" i="1" dirty="0" smtClean="0">
                <a:solidFill>
                  <a:srgbClr val="0000FF"/>
                </a:solidFill>
                <a:sym typeface="Symbol"/>
              </a:rPr>
              <a:t>n</a:t>
            </a:r>
            <a:r>
              <a:rPr lang="en-US" sz="2400" dirty="0" smtClean="0">
                <a:solidFill>
                  <a:srgbClr val="0000FF"/>
                </a:solidFill>
                <a:sym typeface="Symbol"/>
              </a:rPr>
              <a:t> – 1)!</a:t>
            </a:r>
          </a:p>
          <a:p>
            <a:r>
              <a:rPr lang="en-US" sz="2400" dirty="0" smtClean="0">
                <a:sym typeface="Symbol"/>
              </a:rPr>
              <a:t>0! = 1</a:t>
            </a:r>
            <a:endParaRPr lang="en-SG" sz="2400" dirty="0"/>
          </a:p>
        </p:txBody>
      </p:sp>
      <p:sp>
        <p:nvSpPr>
          <p:cNvPr id="14" name="TextBox 13"/>
          <p:cNvSpPr txBox="1"/>
          <p:nvPr/>
        </p:nvSpPr>
        <p:spPr>
          <a:xfrm>
            <a:off x="344423" y="2129051"/>
            <a:ext cx="3901440" cy="461665"/>
          </a:xfrm>
          <a:prstGeom prst="rect">
            <a:avLst/>
          </a:prstGeom>
          <a:noFill/>
        </p:spPr>
        <p:txBody>
          <a:bodyPr wrap="square" rtlCol="0">
            <a:spAutoFit/>
          </a:bodyPr>
          <a:lstStyle/>
          <a:p>
            <a:r>
              <a:rPr lang="en-US" sz="2400" dirty="0" smtClean="0"/>
              <a:t>Doing it the recursive way?</a:t>
            </a:r>
            <a:endParaRPr lang="en-SG" sz="2400" dirty="0"/>
          </a:p>
        </p:txBody>
      </p:sp>
      <p:sp>
        <p:nvSpPr>
          <p:cNvPr id="15" name="TextBox 14"/>
          <p:cNvSpPr txBox="1"/>
          <p:nvPr/>
        </p:nvSpPr>
        <p:spPr>
          <a:xfrm>
            <a:off x="841248" y="2817351"/>
            <a:ext cx="4401312"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b="1" dirty="0" smtClean="0">
                <a:solidFill>
                  <a:srgbClr val="800000"/>
                </a:solidFill>
                <a:latin typeface="Courier New" pitchFamily="49" charset="0"/>
                <a:cs typeface="Courier New" pitchFamily="49" charset="0"/>
              </a:rPr>
              <a:t>// Pre-</a:t>
            </a:r>
            <a:r>
              <a:rPr lang="en-US" b="1" dirty="0" err="1" smtClean="0">
                <a:solidFill>
                  <a:srgbClr val="800000"/>
                </a:solidFill>
                <a:latin typeface="Courier New" pitchFamily="49" charset="0"/>
                <a:cs typeface="Courier New" pitchFamily="49" charset="0"/>
              </a:rPr>
              <a:t>cond</a:t>
            </a:r>
            <a:r>
              <a:rPr lang="en-US" b="1" dirty="0" smtClean="0">
                <a:solidFill>
                  <a:srgbClr val="800000"/>
                </a:solidFill>
                <a:latin typeface="Courier New" pitchFamily="49" charset="0"/>
                <a:cs typeface="Courier New" pitchFamily="49" charset="0"/>
              </a:rPr>
              <a:t>: n &gt;= 0</a:t>
            </a:r>
          </a:p>
          <a:p>
            <a:pPr>
              <a:tabLst>
                <a:tab pos="268288" algn="l"/>
                <a:tab pos="536575" algn="l"/>
                <a:tab pos="804863" algn="l"/>
              </a:tabLst>
            </a:pP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factorial(</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n) {</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if</a:t>
            </a:r>
            <a:r>
              <a:rPr lang="en-US" b="1" dirty="0" smtClean="0">
                <a:latin typeface="Courier New" pitchFamily="49" charset="0"/>
                <a:cs typeface="Courier New" pitchFamily="49" charset="0"/>
              </a:rPr>
              <a:t> (n == </a:t>
            </a:r>
            <a:r>
              <a:rPr lang="en-US" b="1" dirty="0" smtClean="0">
                <a:solidFill>
                  <a:srgbClr val="006600"/>
                </a:solidFill>
                <a:latin typeface="Courier New" pitchFamily="49" charset="0"/>
                <a:cs typeface="Courier New" pitchFamily="49" charset="0"/>
              </a:rPr>
              <a:t>0</a:t>
            </a: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else</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n * factorial(n-</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a:t>
            </a:r>
          </a:p>
        </p:txBody>
      </p:sp>
      <p:sp>
        <p:nvSpPr>
          <p:cNvPr id="19" name="TextBox 18"/>
          <p:cNvSpPr txBox="1"/>
          <p:nvPr/>
        </p:nvSpPr>
        <p:spPr>
          <a:xfrm>
            <a:off x="5620511" y="3012424"/>
            <a:ext cx="3032759" cy="1569660"/>
          </a:xfrm>
          <a:prstGeom prst="rect">
            <a:avLst/>
          </a:prstGeom>
          <a:noFill/>
        </p:spPr>
        <p:txBody>
          <a:bodyPr wrap="square" rtlCol="0">
            <a:spAutoFit/>
          </a:bodyPr>
          <a:lstStyle/>
          <a:p>
            <a:r>
              <a:rPr lang="en-US" sz="2400" dirty="0" smtClean="0"/>
              <a:t>No loop!</a:t>
            </a:r>
          </a:p>
          <a:p>
            <a:r>
              <a:rPr lang="en-US" sz="2400" dirty="0" smtClean="0"/>
              <a:t>But calling itself (recursively)  brings out repetition.</a:t>
            </a:r>
            <a:endParaRPr lang="en-SG" sz="2400" dirty="0"/>
          </a:p>
        </p:txBody>
      </p:sp>
      <p:sp>
        <p:nvSpPr>
          <p:cNvPr id="20" name="TextBox 19"/>
          <p:cNvSpPr txBox="1"/>
          <p:nvPr/>
        </p:nvSpPr>
        <p:spPr>
          <a:xfrm>
            <a:off x="743712" y="5091482"/>
            <a:ext cx="7909558" cy="923330"/>
          </a:xfrm>
          <a:prstGeom prst="rect">
            <a:avLst/>
          </a:prstGeom>
          <a:noFill/>
          <a:ln>
            <a:solidFill>
              <a:schemeClr val="tx1">
                <a:lumMod val="50000"/>
                <a:lumOff val="50000"/>
              </a:schemeClr>
            </a:solidFill>
          </a:ln>
        </p:spPr>
        <p:txBody>
          <a:bodyPr wrap="square" rtlCol="0">
            <a:spAutoFit/>
          </a:bodyPr>
          <a:lstStyle/>
          <a:p>
            <a:r>
              <a:rPr lang="en-US" dirty="0" smtClean="0"/>
              <a:t>Note: All the three versions work only for n &lt; 13, due to the range of values permissible for type int. This is the limitation of the data type, not a limitation of the problem-solving model.</a:t>
            </a:r>
            <a:endParaRPr lang="en-SG" dirty="0"/>
          </a:p>
        </p:txBody>
      </p:sp>
      <p:sp>
        <p:nvSpPr>
          <p:cNvPr id="4" name="Slide Number Placeholder 3"/>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12</a:t>
            </a:fld>
            <a:endParaRPr lang="en-US" dirty="0"/>
          </a:p>
        </p:txBody>
      </p:sp>
      <p:sp>
        <p:nvSpPr>
          <p:cNvPr id="5" name="Footer Placeholder 4"/>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dissolve">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P spid="19" grpId="0"/>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3.1 Demo #1: Factorial (3/3)</a:t>
            </a:r>
          </a:p>
        </p:txBody>
      </p:sp>
      <p:sp>
        <p:nvSpPr>
          <p:cNvPr id="11" name="Content Placeholder 2"/>
          <p:cNvSpPr>
            <a:spLocks noGrp="1"/>
          </p:cNvSpPr>
          <p:nvPr>
            <p:ph idx="1"/>
          </p:nvPr>
        </p:nvSpPr>
        <p:spPr>
          <a:xfrm>
            <a:off x="334963" y="1304925"/>
            <a:ext cx="5826351" cy="806904"/>
          </a:xfrm>
        </p:spPr>
        <p:txBody>
          <a:bodyPr/>
          <a:lstStyle/>
          <a:p>
            <a:pPr>
              <a:spcBef>
                <a:spcPts val="600"/>
              </a:spcBef>
            </a:pPr>
            <a:r>
              <a:rPr lang="en-US" sz="2400" dirty="0" smtClean="0"/>
              <a:t>Trace factorial(3). For simplicity, we write f(3).</a:t>
            </a:r>
            <a:endParaRPr lang="en-US" sz="2000" dirty="0" smtClean="0"/>
          </a:p>
        </p:txBody>
      </p:sp>
      <p:sp>
        <p:nvSpPr>
          <p:cNvPr id="16" name="TextBox 15"/>
          <p:cNvSpPr txBox="1"/>
          <p:nvPr/>
        </p:nvSpPr>
        <p:spPr>
          <a:xfrm>
            <a:off x="344423" y="2155371"/>
            <a:ext cx="1473491" cy="461665"/>
          </a:xfrm>
          <a:prstGeom prst="rect">
            <a:avLst/>
          </a:prstGeom>
          <a:noFill/>
        </p:spPr>
        <p:txBody>
          <a:bodyPr wrap="square" rtlCol="0">
            <a:spAutoFit/>
          </a:bodyPr>
          <a:lstStyle/>
          <a:p>
            <a:r>
              <a:rPr lang="en-US" sz="2400" dirty="0" smtClean="0">
                <a:solidFill>
                  <a:srgbClr val="0000FF"/>
                </a:solidFill>
              </a:rPr>
              <a:t>Winding:</a:t>
            </a:r>
            <a:endParaRPr lang="en-SG" sz="2400" dirty="0">
              <a:solidFill>
                <a:srgbClr val="0000FF"/>
              </a:solidFill>
            </a:endParaRPr>
          </a:p>
        </p:txBody>
      </p:sp>
      <p:sp>
        <p:nvSpPr>
          <p:cNvPr id="17" name="TextBox 16"/>
          <p:cNvSpPr txBox="1"/>
          <p:nvPr/>
        </p:nvSpPr>
        <p:spPr>
          <a:xfrm>
            <a:off x="665163" y="2597831"/>
            <a:ext cx="3743551" cy="143033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600"/>
              </a:spcAft>
              <a:tabLst>
                <a:tab pos="358775" algn="l"/>
                <a:tab pos="719138" algn="l"/>
                <a:tab pos="1077913" algn="l"/>
                <a:tab pos="1436688" algn="l"/>
              </a:tabLst>
              <a:defRPr/>
            </a:pPr>
            <a:r>
              <a:rPr lang="en-US" dirty="0" smtClean="0">
                <a:solidFill>
                  <a:srgbClr val="0000FF"/>
                </a:solidFill>
                <a:latin typeface="Calibri" pitchFamily="34" charset="0"/>
              </a:rPr>
              <a:t>f(3</a:t>
            </a:r>
            <a:r>
              <a:rPr lang="en-US" dirty="0">
                <a:solidFill>
                  <a:schemeClr val="tx1"/>
                </a:solidFill>
                <a:latin typeface="Calibri" pitchFamily="34" charset="0"/>
              </a:rPr>
              <a:t>): Since 3 ≠ 0, call 3 * </a:t>
            </a:r>
            <a:r>
              <a:rPr lang="en-US" dirty="0" smtClean="0">
                <a:solidFill>
                  <a:schemeClr val="tx1"/>
                </a:solidFill>
                <a:latin typeface="Calibri" pitchFamily="34" charset="0"/>
              </a:rPr>
              <a:t>f(2</a:t>
            </a:r>
            <a:r>
              <a:rPr lang="en-US" dirty="0">
                <a:solidFill>
                  <a:schemeClr val="tx1"/>
                </a:solidFill>
                <a:latin typeface="Calibri" pitchFamily="34" charset="0"/>
              </a:rPr>
              <a:t>)</a:t>
            </a:r>
          </a:p>
          <a:p>
            <a:pPr>
              <a:spcAft>
                <a:spcPts val="600"/>
              </a:spcAft>
              <a:tabLst>
                <a:tab pos="358775" algn="l"/>
                <a:tab pos="719138" algn="l"/>
                <a:tab pos="1077913" algn="l"/>
                <a:tab pos="1436688" algn="l"/>
              </a:tabLst>
              <a:defRPr/>
            </a:pPr>
            <a:r>
              <a:rPr lang="en-US" dirty="0">
                <a:solidFill>
                  <a:srgbClr val="0000FF"/>
                </a:solidFill>
                <a:latin typeface="Calibri" pitchFamily="34" charset="0"/>
              </a:rPr>
              <a:t>	</a:t>
            </a:r>
            <a:r>
              <a:rPr lang="en-US" dirty="0" smtClean="0">
                <a:solidFill>
                  <a:srgbClr val="0000FF"/>
                </a:solidFill>
                <a:latin typeface="Calibri" pitchFamily="34" charset="0"/>
              </a:rPr>
              <a:t>f(2</a:t>
            </a:r>
            <a:r>
              <a:rPr lang="en-US" dirty="0">
                <a:solidFill>
                  <a:srgbClr val="0000FF"/>
                </a:solidFill>
                <a:latin typeface="Calibri" pitchFamily="34" charset="0"/>
              </a:rPr>
              <a:t>)</a:t>
            </a:r>
            <a:r>
              <a:rPr lang="en-US" dirty="0">
                <a:solidFill>
                  <a:schemeClr val="tx1"/>
                </a:solidFill>
                <a:latin typeface="Calibri" pitchFamily="34" charset="0"/>
              </a:rPr>
              <a:t>: Since 2 ≠ 0, call 2 * </a:t>
            </a:r>
            <a:r>
              <a:rPr lang="en-US" dirty="0" smtClean="0">
                <a:solidFill>
                  <a:schemeClr val="tx1"/>
                </a:solidFill>
                <a:latin typeface="Calibri" pitchFamily="34" charset="0"/>
              </a:rPr>
              <a:t>f(1</a:t>
            </a:r>
            <a:r>
              <a:rPr lang="en-US" dirty="0">
                <a:solidFill>
                  <a:schemeClr val="tx1"/>
                </a:solidFill>
                <a:latin typeface="Calibri" pitchFamily="34" charset="0"/>
              </a:rPr>
              <a:t>)</a:t>
            </a:r>
          </a:p>
          <a:p>
            <a:pPr>
              <a:spcAft>
                <a:spcPts val="600"/>
              </a:spcAft>
              <a:tabLst>
                <a:tab pos="358775" algn="l"/>
                <a:tab pos="719138" algn="l"/>
                <a:tab pos="1077913" algn="l"/>
                <a:tab pos="1436688" algn="l"/>
              </a:tabLst>
              <a:defRPr/>
            </a:pPr>
            <a:r>
              <a:rPr lang="en-US" dirty="0">
                <a:solidFill>
                  <a:srgbClr val="0000FF"/>
                </a:solidFill>
                <a:latin typeface="Calibri" pitchFamily="34" charset="0"/>
              </a:rPr>
              <a:t>		</a:t>
            </a:r>
            <a:r>
              <a:rPr lang="en-US" dirty="0" smtClean="0">
                <a:solidFill>
                  <a:srgbClr val="0000FF"/>
                </a:solidFill>
                <a:latin typeface="Calibri" pitchFamily="34" charset="0"/>
              </a:rPr>
              <a:t>f(1</a:t>
            </a:r>
            <a:r>
              <a:rPr lang="en-US" dirty="0">
                <a:solidFill>
                  <a:srgbClr val="0000FF"/>
                </a:solidFill>
                <a:latin typeface="Calibri" pitchFamily="34" charset="0"/>
              </a:rPr>
              <a:t>)</a:t>
            </a:r>
            <a:r>
              <a:rPr lang="en-US" dirty="0">
                <a:solidFill>
                  <a:schemeClr val="tx1"/>
                </a:solidFill>
                <a:latin typeface="Calibri" pitchFamily="34" charset="0"/>
              </a:rPr>
              <a:t>: Since 1 ≠ 0, call 1 * </a:t>
            </a:r>
            <a:r>
              <a:rPr lang="en-US" dirty="0" smtClean="0">
                <a:solidFill>
                  <a:schemeClr val="tx1"/>
                </a:solidFill>
                <a:latin typeface="Calibri" pitchFamily="34" charset="0"/>
              </a:rPr>
              <a:t>f(0</a:t>
            </a:r>
            <a:r>
              <a:rPr lang="en-US" dirty="0">
                <a:solidFill>
                  <a:schemeClr val="tx1"/>
                </a:solidFill>
                <a:latin typeface="Calibri" pitchFamily="34" charset="0"/>
              </a:rPr>
              <a:t>)</a:t>
            </a:r>
          </a:p>
          <a:p>
            <a:pPr>
              <a:spcAft>
                <a:spcPts val="600"/>
              </a:spcAft>
              <a:tabLst>
                <a:tab pos="358775" algn="l"/>
                <a:tab pos="719138" algn="l"/>
                <a:tab pos="1077913" algn="l"/>
                <a:tab pos="1436688" algn="l"/>
              </a:tabLst>
              <a:defRPr/>
            </a:pPr>
            <a:r>
              <a:rPr lang="en-US" dirty="0">
                <a:solidFill>
                  <a:srgbClr val="0000FF"/>
                </a:solidFill>
                <a:latin typeface="Calibri" pitchFamily="34" charset="0"/>
              </a:rPr>
              <a:t>			</a:t>
            </a:r>
            <a:r>
              <a:rPr lang="en-US" dirty="0" smtClean="0">
                <a:solidFill>
                  <a:srgbClr val="0000FF"/>
                </a:solidFill>
                <a:latin typeface="Calibri" pitchFamily="34" charset="0"/>
              </a:rPr>
              <a:t>f(0)</a:t>
            </a:r>
            <a:r>
              <a:rPr lang="en-US" dirty="0" smtClean="0">
                <a:solidFill>
                  <a:schemeClr val="tx1"/>
                </a:solidFill>
                <a:latin typeface="Calibri" pitchFamily="34" charset="0"/>
              </a:rPr>
              <a:t>: Since 0 == 0, …</a:t>
            </a:r>
            <a:endParaRPr lang="en-US" dirty="0">
              <a:solidFill>
                <a:schemeClr val="tx1"/>
              </a:solidFill>
              <a:latin typeface="Calibri" pitchFamily="34" charset="0"/>
            </a:endParaRPr>
          </a:p>
        </p:txBody>
      </p:sp>
      <p:sp>
        <p:nvSpPr>
          <p:cNvPr id="18" name="TextBox 17"/>
          <p:cNvSpPr txBox="1"/>
          <p:nvPr/>
        </p:nvSpPr>
        <p:spPr>
          <a:xfrm>
            <a:off x="6360307" y="1144741"/>
            <a:ext cx="2522437" cy="1384995"/>
          </a:xfrm>
          <a:prstGeom prst="rect">
            <a:avLst/>
          </a:prstGeom>
          <a:solidFill>
            <a:srgbClr val="CCECFF"/>
          </a:solidFill>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174625" algn="l"/>
                <a:tab pos="358775" algn="l"/>
                <a:tab pos="536575" algn="l"/>
              </a:tabLst>
            </a:pP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f(</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 {</a:t>
            </a:r>
          </a:p>
          <a:p>
            <a:pPr>
              <a:tabLst>
                <a:tab pos="174625" algn="l"/>
                <a:tab pos="358775" algn="l"/>
                <a:tab pos="536575"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if</a:t>
            </a:r>
            <a:r>
              <a:rPr lang="en-US" sz="1400" b="1" dirty="0" smtClean="0">
                <a:latin typeface="Courier New" pitchFamily="49" charset="0"/>
                <a:cs typeface="Courier New" pitchFamily="49" charset="0"/>
              </a:rPr>
              <a:t> (n == </a:t>
            </a:r>
            <a:r>
              <a:rPr lang="en-US" sz="1400" b="1" dirty="0" smtClean="0">
                <a:solidFill>
                  <a:srgbClr val="006600"/>
                </a:solidFill>
                <a:latin typeface="Courier New" pitchFamily="49" charset="0"/>
                <a:cs typeface="Courier New" pitchFamily="49" charset="0"/>
              </a:rPr>
              <a:t>0</a:t>
            </a:r>
            <a:r>
              <a:rPr lang="en-US" sz="1400" b="1" dirty="0" smtClean="0">
                <a:latin typeface="Courier New" pitchFamily="49" charset="0"/>
                <a:cs typeface="Courier New" pitchFamily="49" charset="0"/>
              </a:rPr>
              <a:t>) </a:t>
            </a:r>
          </a:p>
          <a:p>
            <a:pPr>
              <a:tabLst>
                <a:tab pos="174625" algn="l"/>
                <a:tab pos="358775" algn="l"/>
                <a:tab pos="536575"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return</a:t>
            </a:r>
            <a:r>
              <a:rPr lang="en-US" sz="1400" b="1" dirty="0" smtClean="0">
                <a:latin typeface="Courier New" pitchFamily="49" charset="0"/>
                <a:cs typeface="Courier New" pitchFamily="49" charset="0"/>
              </a:rPr>
              <a:t> </a:t>
            </a:r>
            <a:r>
              <a:rPr lang="en-US" sz="1400" b="1" dirty="0" smtClean="0">
                <a:solidFill>
                  <a:srgbClr val="006600"/>
                </a:solidFill>
                <a:latin typeface="Courier New" pitchFamily="49" charset="0"/>
                <a:cs typeface="Courier New" pitchFamily="49" charset="0"/>
              </a:rPr>
              <a:t>1</a:t>
            </a:r>
            <a:r>
              <a:rPr lang="en-US" sz="1400" b="1" dirty="0" smtClean="0">
                <a:latin typeface="Courier New" pitchFamily="49" charset="0"/>
                <a:cs typeface="Courier New" pitchFamily="49" charset="0"/>
              </a:rPr>
              <a:t>;</a:t>
            </a:r>
          </a:p>
          <a:p>
            <a:pPr>
              <a:tabLst>
                <a:tab pos="174625" algn="l"/>
                <a:tab pos="358775" algn="l"/>
                <a:tab pos="536575"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else</a:t>
            </a:r>
          </a:p>
          <a:p>
            <a:pPr>
              <a:tabLst>
                <a:tab pos="174625" algn="l"/>
                <a:tab pos="358775" algn="l"/>
                <a:tab pos="536575"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return</a:t>
            </a:r>
            <a:r>
              <a:rPr lang="en-US" sz="1400" b="1" dirty="0" smtClean="0">
                <a:latin typeface="Courier New" pitchFamily="49" charset="0"/>
                <a:cs typeface="Courier New" pitchFamily="49" charset="0"/>
              </a:rPr>
              <a:t> n * f(n-</a:t>
            </a:r>
            <a:r>
              <a:rPr lang="en-US" sz="1400" b="1" dirty="0" smtClean="0">
                <a:solidFill>
                  <a:srgbClr val="006600"/>
                </a:solidFill>
                <a:latin typeface="Courier New" pitchFamily="49" charset="0"/>
                <a:cs typeface="Courier New" pitchFamily="49" charset="0"/>
              </a:rPr>
              <a:t>1</a:t>
            </a:r>
            <a:r>
              <a:rPr lang="en-US" sz="1400" b="1" dirty="0" smtClean="0">
                <a:latin typeface="Courier New" pitchFamily="49" charset="0"/>
                <a:cs typeface="Courier New" pitchFamily="49" charset="0"/>
              </a:rPr>
              <a:t>);</a:t>
            </a:r>
          </a:p>
          <a:p>
            <a:pPr>
              <a:tabLst>
                <a:tab pos="174625" algn="l"/>
                <a:tab pos="358775" algn="l"/>
                <a:tab pos="536575" algn="l"/>
              </a:tabLst>
            </a:pPr>
            <a:r>
              <a:rPr lang="en-US" sz="1400" b="1" dirty="0" smtClean="0">
                <a:latin typeface="Courier New" pitchFamily="49" charset="0"/>
                <a:cs typeface="Courier New" pitchFamily="49" charset="0"/>
              </a:rPr>
              <a:t>}</a:t>
            </a:r>
          </a:p>
        </p:txBody>
      </p:sp>
      <p:sp>
        <p:nvSpPr>
          <p:cNvPr id="22" name="TextBox 21"/>
          <p:cNvSpPr txBox="1"/>
          <p:nvPr/>
        </p:nvSpPr>
        <p:spPr>
          <a:xfrm>
            <a:off x="344423" y="4125685"/>
            <a:ext cx="1898034" cy="461665"/>
          </a:xfrm>
          <a:prstGeom prst="rect">
            <a:avLst/>
          </a:prstGeom>
          <a:noFill/>
        </p:spPr>
        <p:txBody>
          <a:bodyPr wrap="square" rtlCol="0">
            <a:spAutoFit/>
          </a:bodyPr>
          <a:lstStyle/>
          <a:p>
            <a:r>
              <a:rPr lang="en-US" sz="2400" dirty="0" smtClean="0">
                <a:solidFill>
                  <a:srgbClr val="0000FF"/>
                </a:solidFill>
              </a:rPr>
              <a:t>Unwinding:</a:t>
            </a:r>
            <a:endParaRPr lang="en-SG" sz="2400" dirty="0">
              <a:solidFill>
                <a:srgbClr val="0000FF"/>
              </a:solidFill>
            </a:endParaRPr>
          </a:p>
        </p:txBody>
      </p:sp>
      <p:sp>
        <p:nvSpPr>
          <p:cNvPr id="23" name="TextBox 22"/>
          <p:cNvSpPr txBox="1"/>
          <p:nvPr/>
        </p:nvSpPr>
        <p:spPr>
          <a:xfrm>
            <a:off x="665164" y="4568827"/>
            <a:ext cx="3732666" cy="143033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spcAft>
                <a:spcPts val="600"/>
              </a:spcAft>
              <a:tabLst>
                <a:tab pos="358775" algn="l"/>
                <a:tab pos="719138" algn="l"/>
                <a:tab pos="1077913" algn="l"/>
                <a:tab pos="1436688" algn="l"/>
              </a:tabLst>
              <a:defRPr/>
            </a:pPr>
            <a:r>
              <a:rPr lang="en-US" dirty="0">
                <a:solidFill>
                  <a:srgbClr val="006600"/>
                </a:solidFill>
                <a:latin typeface="Calibri" pitchFamily="34" charset="0"/>
              </a:rPr>
              <a:t>			</a:t>
            </a:r>
            <a:r>
              <a:rPr lang="en-US" dirty="0" smtClean="0">
                <a:solidFill>
                  <a:srgbClr val="006600"/>
                </a:solidFill>
                <a:latin typeface="Calibri" pitchFamily="34" charset="0"/>
              </a:rPr>
              <a:t>f(0</a:t>
            </a:r>
            <a:r>
              <a:rPr lang="en-US" dirty="0">
                <a:solidFill>
                  <a:srgbClr val="006600"/>
                </a:solidFill>
                <a:latin typeface="Calibri" pitchFamily="34" charset="0"/>
              </a:rPr>
              <a:t>)</a:t>
            </a:r>
            <a:r>
              <a:rPr lang="en-US" dirty="0">
                <a:solidFill>
                  <a:schemeClr val="tx1"/>
                </a:solidFill>
                <a:latin typeface="Calibri" pitchFamily="34" charset="0"/>
              </a:rPr>
              <a:t>: </a:t>
            </a:r>
            <a:r>
              <a:rPr lang="en-US" dirty="0" smtClean="0">
                <a:solidFill>
                  <a:schemeClr val="tx1"/>
                </a:solidFill>
                <a:latin typeface="Calibri" pitchFamily="34" charset="0"/>
              </a:rPr>
              <a:t>Return </a:t>
            </a:r>
            <a:r>
              <a:rPr lang="en-US" dirty="0">
                <a:solidFill>
                  <a:srgbClr val="660066"/>
                </a:solidFill>
                <a:latin typeface="Calibri" pitchFamily="34" charset="0"/>
              </a:rPr>
              <a:t>1</a:t>
            </a:r>
          </a:p>
          <a:p>
            <a:pPr>
              <a:spcAft>
                <a:spcPts val="600"/>
              </a:spcAft>
              <a:tabLst>
                <a:tab pos="358775" algn="l"/>
                <a:tab pos="719138" algn="l"/>
                <a:tab pos="1077913" algn="l"/>
                <a:tab pos="1436688" algn="l"/>
              </a:tabLst>
              <a:defRPr/>
            </a:pPr>
            <a:r>
              <a:rPr lang="en-US" dirty="0">
                <a:solidFill>
                  <a:srgbClr val="006600"/>
                </a:solidFill>
                <a:latin typeface="Calibri" pitchFamily="34" charset="0"/>
              </a:rPr>
              <a:t>		</a:t>
            </a:r>
            <a:r>
              <a:rPr lang="en-US" dirty="0" smtClean="0">
                <a:solidFill>
                  <a:srgbClr val="006600"/>
                </a:solidFill>
                <a:latin typeface="Calibri" pitchFamily="34" charset="0"/>
              </a:rPr>
              <a:t>f(1</a:t>
            </a:r>
            <a:r>
              <a:rPr lang="en-US" dirty="0">
                <a:solidFill>
                  <a:srgbClr val="006600"/>
                </a:solidFill>
                <a:latin typeface="Calibri" pitchFamily="34" charset="0"/>
              </a:rPr>
              <a:t>)</a:t>
            </a:r>
            <a:r>
              <a:rPr lang="en-US" dirty="0">
                <a:solidFill>
                  <a:schemeClr val="tx1"/>
                </a:solidFill>
                <a:latin typeface="Calibri" pitchFamily="34" charset="0"/>
              </a:rPr>
              <a:t>: Return 1 * </a:t>
            </a:r>
            <a:r>
              <a:rPr lang="en-US" dirty="0" smtClean="0">
                <a:solidFill>
                  <a:schemeClr val="tx1"/>
                </a:solidFill>
                <a:latin typeface="Calibri" pitchFamily="34" charset="0"/>
              </a:rPr>
              <a:t>f(0</a:t>
            </a:r>
            <a:r>
              <a:rPr lang="en-US" dirty="0">
                <a:solidFill>
                  <a:schemeClr val="tx1"/>
                </a:solidFill>
                <a:latin typeface="Calibri" pitchFamily="34" charset="0"/>
              </a:rPr>
              <a:t>) = 1 * </a:t>
            </a:r>
            <a:r>
              <a:rPr lang="en-US" dirty="0" smtClean="0">
                <a:solidFill>
                  <a:schemeClr val="tx1"/>
                </a:solidFill>
                <a:latin typeface="Calibri" pitchFamily="34" charset="0"/>
              </a:rPr>
              <a:t>1 = </a:t>
            </a:r>
            <a:r>
              <a:rPr lang="en-US" dirty="0" smtClean="0">
                <a:solidFill>
                  <a:srgbClr val="660066"/>
                </a:solidFill>
                <a:latin typeface="Calibri" pitchFamily="34" charset="0"/>
              </a:rPr>
              <a:t>1</a:t>
            </a:r>
            <a:endParaRPr lang="en-US" dirty="0">
              <a:solidFill>
                <a:srgbClr val="660066"/>
              </a:solidFill>
              <a:latin typeface="Calibri" pitchFamily="34" charset="0"/>
            </a:endParaRPr>
          </a:p>
          <a:p>
            <a:pPr>
              <a:spcAft>
                <a:spcPts val="600"/>
              </a:spcAft>
              <a:tabLst>
                <a:tab pos="358775" algn="l"/>
                <a:tab pos="719138" algn="l"/>
                <a:tab pos="1077913" algn="l"/>
                <a:tab pos="1436688" algn="l"/>
              </a:tabLst>
              <a:defRPr/>
            </a:pPr>
            <a:r>
              <a:rPr lang="en-US" dirty="0">
                <a:solidFill>
                  <a:srgbClr val="006600"/>
                </a:solidFill>
                <a:latin typeface="Calibri" pitchFamily="34" charset="0"/>
              </a:rPr>
              <a:t>	</a:t>
            </a:r>
            <a:r>
              <a:rPr lang="en-US" dirty="0" smtClean="0">
                <a:solidFill>
                  <a:srgbClr val="006600"/>
                </a:solidFill>
                <a:latin typeface="Calibri" pitchFamily="34" charset="0"/>
              </a:rPr>
              <a:t>f(2</a:t>
            </a:r>
            <a:r>
              <a:rPr lang="en-US" dirty="0">
                <a:solidFill>
                  <a:srgbClr val="006600"/>
                </a:solidFill>
                <a:latin typeface="Calibri" pitchFamily="34" charset="0"/>
              </a:rPr>
              <a:t>)</a:t>
            </a:r>
            <a:r>
              <a:rPr lang="en-US" dirty="0">
                <a:solidFill>
                  <a:schemeClr val="tx1"/>
                </a:solidFill>
                <a:latin typeface="Calibri" pitchFamily="34" charset="0"/>
              </a:rPr>
              <a:t>:</a:t>
            </a:r>
            <a:r>
              <a:rPr lang="en-US" dirty="0">
                <a:solidFill>
                  <a:srgbClr val="006600"/>
                </a:solidFill>
                <a:latin typeface="Calibri" pitchFamily="34" charset="0"/>
              </a:rPr>
              <a:t> </a:t>
            </a:r>
            <a:r>
              <a:rPr lang="en-US" dirty="0">
                <a:solidFill>
                  <a:schemeClr val="tx1"/>
                </a:solidFill>
                <a:latin typeface="Calibri" pitchFamily="34" charset="0"/>
              </a:rPr>
              <a:t>Return 2 * </a:t>
            </a:r>
            <a:r>
              <a:rPr lang="en-US" dirty="0" smtClean="0">
                <a:solidFill>
                  <a:schemeClr val="tx1"/>
                </a:solidFill>
                <a:latin typeface="Calibri" pitchFamily="34" charset="0"/>
              </a:rPr>
              <a:t>f(1</a:t>
            </a:r>
            <a:r>
              <a:rPr lang="en-US" dirty="0">
                <a:solidFill>
                  <a:schemeClr val="tx1"/>
                </a:solidFill>
                <a:latin typeface="Calibri" pitchFamily="34" charset="0"/>
              </a:rPr>
              <a:t>) = 2 * </a:t>
            </a:r>
            <a:r>
              <a:rPr lang="en-US" dirty="0" smtClean="0">
                <a:solidFill>
                  <a:schemeClr val="tx1"/>
                </a:solidFill>
                <a:latin typeface="Calibri" pitchFamily="34" charset="0"/>
              </a:rPr>
              <a:t>1 = </a:t>
            </a:r>
            <a:r>
              <a:rPr lang="en-US" dirty="0" smtClean="0">
                <a:solidFill>
                  <a:srgbClr val="660066"/>
                </a:solidFill>
                <a:latin typeface="Calibri" pitchFamily="34" charset="0"/>
              </a:rPr>
              <a:t>2</a:t>
            </a:r>
            <a:endParaRPr lang="en-US" dirty="0">
              <a:solidFill>
                <a:srgbClr val="660066"/>
              </a:solidFill>
              <a:latin typeface="Calibri" pitchFamily="34" charset="0"/>
            </a:endParaRPr>
          </a:p>
          <a:p>
            <a:pPr>
              <a:spcAft>
                <a:spcPts val="600"/>
              </a:spcAft>
              <a:tabLst>
                <a:tab pos="358775" algn="l"/>
                <a:tab pos="719138" algn="l"/>
                <a:tab pos="1077913" algn="l"/>
                <a:tab pos="1436688" algn="l"/>
              </a:tabLst>
              <a:defRPr/>
            </a:pPr>
            <a:r>
              <a:rPr lang="en-US" dirty="0" smtClean="0">
                <a:solidFill>
                  <a:srgbClr val="006600"/>
                </a:solidFill>
                <a:latin typeface="Calibri" pitchFamily="34" charset="0"/>
              </a:rPr>
              <a:t>f(3</a:t>
            </a:r>
            <a:r>
              <a:rPr lang="en-US" dirty="0">
                <a:solidFill>
                  <a:srgbClr val="006600"/>
                </a:solidFill>
                <a:latin typeface="Calibri" pitchFamily="34" charset="0"/>
              </a:rPr>
              <a:t>)</a:t>
            </a:r>
            <a:r>
              <a:rPr lang="en-US" dirty="0">
                <a:solidFill>
                  <a:schemeClr val="tx1"/>
                </a:solidFill>
                <a:latin typeface="Calibri" pitchFamily="34" charset="0"/>
              </a:rPr>
              <a:t>: Return 3 * </a:t>
            </a:r>
            <a:r>
              <a:rPr lang="en-US" dirty="0" smtClean="0">
                <a:solidFill>
                  <a:schemeClr val="tx1"/>
                </a:solidFill>
                <a:latin typeface="Calibri" pitchFamily="34" charset="0"/>
              </a:rPr>
              <a:t>f(2</a:t>
            </a:r>
            <a:r>
              <a:rPr lang="en-US" dirty="0">
                <a:solidFill>
                  <a:schemeClr val="tx1"/>
                </a:solidFill>
                <a:latin typeface="Calibri" pitchFamily="34" charset="0"/>
              </a:rPr>
              <a:t>) = 3 * </a:t>
            </a:r>
            <a:r>
              <a:rPr lang="en-US" dirty="0" smtClean="0">
                <a:solidFill>
                  <a:schemeClr val="tx1"/>
                </a:solidFill>
                <a:latin typeface="Calibri" pitchFamily="34" charset="0"/>
              </a:rPr>
              <a:t>2 </a:t>
            </a:r>
            <a:r>
              <a:rPr lang="en-US" dirty="0">
                <a:solidFill>
                  <a:schemeClr val="tx1"/>
                </a:solidFill>
                <a:latin typeface="Calibri" pitchFamily="34" charset="0"/>
              </a:rPr>
              <a:t>= </a:t>
            </a:r>
            <a:r>
              <a:rPr lang="en-US" dirty="0">
                <a:solidFill>
                  <a:srgbClr val="660066"/>
                </a:solidFill>
                <a:latin typeface="Calibri" pitchFamily="34" charset="0"/>
              </a:rPr>
              <a:t>6</a:t>
            </a:r>
          </a:p>
        </p:txBody>
      </p:sp>
      <p:sp>
        <p:nvSpPr>
          <p:cNvPr id="24" name="TextBox 23"/>
          <p:cNvSpPr txBox="1"/>
          <p:nvPr/>
        </p:nvSpPr>
        <p:spPr>
          <a:xfrm>
            <a:off x="5170714" y="2699657"/>
            <a:ext cx="751115" cy="400110"/>
          </a:xfrm>
          <a:prstGeom prst="rect">
            <a:avLst/>
          </a:prstGeom>
          <a:noFill/>
          <a:ln>
            <a:solidFill>
              <a:schemeClr val="tx1"/>
            </a:solidFill>
          </a:ln>
        </p:spPr>
        <p:txBody>
          <a:bodyPr wrap="square" rtlCol="0">
            <a:spAutoFit/>
          </a:bodyPr>
          <a:lstStyle/>
          <a:p>
            <a:r>
              <a:rPr lang="en-US" sz="2000" dirty="0" smtClean="0"/>
              <a:t>f(3)</a:t>
            </a:r>
            <a:endParaRPr lang="en-SG" sz="2000" dirty="0"/>
          </a:p>
        </p:txBody>
      </p:sp>
      <p:cxnSp>
        <p:nvCxnSpPr>
          <p:cNvPr id="26" name="Straight Arrow Connector 25"/>
          <p:cNvCxnSpPr/>
          <p:nvPr/>
        </p:nvCxnSpPr>
        <p:spPr bwMode="auto">
          <a:xfrm>
            <a:off x="5671457" y="3113314"/>
            <a:ext cx="0" cy="304800"/>
          </a:xfrm>
          <a:prstGeom prst="straightConnector1">
            <a:avLst/>
          </a:prstGeom>
          <a:solidFill>
            <a:schemeClr val="accent1"/>
          </a:solidFill>
          <a:ln w="12700" cap="sq" cmpd="sng" algn="ctr">
            <a:solidFill>
              <a:schemeClr val="tx1"/>
            </a:solidFill>
            <a:prstDash val="solid"/>
            <a:round/>
            <a:headEnd type="none" w="med" len="med"/>
            <a:tailEnd type="triangle" w="med" len="med"/>
          </a:ln>
          <a:effectLst/>
        </p:spPr>
      </p:cxnSp>
      <p:sp>
        <p:nvSpPr>
          <p:cNvPr id="27" name="TextBox 26"/>
          <p:cNvSpPr txBox="1"/>
          <p:nvPr/>
        </p:nvSpPr>
        <p:spPr>
          <a:xfrm>
            <a:off x="5464629" y="3396343"/>
            <a:ext cx="620486" cy="400110"/>
          </a:xfrm>
          <a:prstGeom prst="rect">
            <a:avLst/>
          </a:prstGeom>
          <a:noFill/>
          <a:ln>
            <a:noFill/>
          </a:ln>
        </p:spPr>
        <p:txBody>
          <a:bodyPr wrap="square" rtlCol="0">
            <a:spAutoFit/>
          </a:bodyPr>
          <a:lstStyle/>
          <a:p>
            <a:r>
              <a:rPr lang="en-US" sz="2000" dirty="0" smtClean="0"/>
              <a:t>3 *</a:t>
            </a:r>
            <a:endParaRPr lang="en-SG" sz="2000" dirty="0"/>
          </a:p>
        </p:txBody>
      </p:sp>
      <p:sp>
        <p:nvSpPr>
          <p:cNvPr id="28" name="TextBox 27"/>
          <p:cNvSpPr txBox="1"/>
          <p:nvPr/>
        </p:nvSpPr>
        <p:spPr>
          <a:xfrm>
            <a:off x="5910943" y="3396342"/>
            <a:ext cx="751115" cy="400110"/>
          </a:xfrm>
          <a:prstGeom prst="rect">
            <a:avLst/>
          </a:prstGeom>
          <a:noFill/>
          <a:ln>
            <a:solidFill>
              <a:schemeClr val="tx1"/>
            </a:solidFill>
          </a:ln>
        </p:spPr>
        <p:txBody>
          <a:bodyPr wrap="square" rtlCol="0">
            <a:spAutoFit/>
          </a:bodyPr>
          <a:lstStyle/>
          <a:p>
            <a:r>
              <a:rPr lang="en-US" sz="2000" dirty="0" smtClean="0"/>
              <a:t>f(2)</a:t>
            </a:r>
            <a:endParaRPr lang="en-SG" sz="2000" dirty="0"/>
          </a:p>
        </p:txBody>
      </p:sp>
      <p:cxnSp>
        <p:nvCxnSpPr>
          <p:cNvPr id="29" name="Straight Arrow Connector 28"/>
          <p:cNvCxnSpPr/>
          <p:nvPr/>
        </p:nvCxnSpPr>
        <p:spPr bwMode="auto">
          <a:xfrm>
            <a:off x="6444343" y="3810000"/>
            <a:ext cx="0" cy="304800"/>
          </a:xfrm>
          <a:prstGeom prst="straightConnector1">
            <a:avLst/>
          </a:prstGeom>
          <a:solidFill>
            <a:schemeClr val="accent1"/>
          </a:solidFill>
          <a:ln w="12700" cap="sq" cmpd="sng" algn="ctr">
            <a:solidFill>
              <a:schemeClr val="tx1"/>
            </a:solidFill>
            <a:prstDash val="solid"/>
            <a:round/>
            <a:headEnd type="none" w="med" len="med"/>
            <a:tailEnd type="triangle" w="med" len="med"/>
          </a:ln>
          <a:effectLst/>
        </p:spPr>
      </p:cxnSp>
      <p:sp>
        <p:nvSpPr>
          <p:cNvPr id="30" name="TextBox 29"/>
          <p:cNvSpPr txBox="1"/>
          <p:nvPr/>
        </p:nvSpPr>
        <p:spPr>
          <a:xfrm>
            <a:off x="6237515" y="4093029"/>
            <a:ext cx="620486" cy="400110"/>
          </a:xfrm>
          <a:prstGeom prst="rect">
            <a:avLst/>
          </a:prstGeom>
          <a:noFill/>
          <a:ln>
            <a:noFill/>
          </a:ln>
        </p:spPr>
        <p:txBody>
          <a:bodyPr wrap="square" rtlCol="0">
            <a:spAutoFit/>
          </a:bodyPr>
          <a:lstStyle/>
          <a:p>
            <a:r>
              <a:rPr lang="en-US" sz="2000" dirty="0" smtClean="0"/>
              <a:t>2 *</a:t>
            </a:r>
            <a:endParaRPr lang="en-SG" sz="2000" dirty="0"/>
          </a:p>
        </p:txBody>
      </p:sp>
      <p:sp>
        <p:nvSpPr>
          <p:cNvPr id="31" name="TextBox 30"/>
          <p:cNvSpPr txBox="1"/>
          <p:nvPr/>
        </p:nvSpPr>
        <p:spPr>
          <a:xfrm>
            <a:off x="6683829" y="4093028"/>
            <a:ext cx="751115" cy="400110"/>
          </a:xfrm>
          <a:prstGeom prst="rect">
            <a:avLst/>
          </a:prstGeom>
          <a:noFill/>
          <a:ln>
            <a:solidFill>
              <a:schemeClr val="tx1"/>
            </a:solidFill>
          </a:ln>
        </p:spPr>
        <p:txBody>
          <a:bodyPr wrap="square" rtlCol="0">
            <a:spAutoFit/>
          </a:bodyPr>
          <a:lstStyle/>
          <a:p>
            <a:r>
              <a:rPr lang="en-US" sz="2000" dirty="0" smtClean="0"/>
              <a:t>f(1)</a:t>
            </a:r>
            <a:endParaRPr lang="en-SG" sz="2000" dirty="0"/>
          </a:p>
        </p:txBody>
      </p:sp>
      <p:cxnSp>
        <p:nvCxnSpPr>
          <p:cNvPr id="32" name="Straight Arrow Connector 31"/>
          <p:cNvCxnSpPr/>
          <p:nvPr/>
        </p:nvCxnSpPr>
        <p:spPr bwMode="auto">
          <a:xfrm>
            <a:off x="7271658" y="4506686"/>
            <a:ext cx="0" cy="304800"/>
          </a:xfrm>
          <a:prstGeom prst="straightConnector1">
            <a:avLst/>
          </a:prstGeom>
          <a:solidFill>
            <a:schemeClr val="accent1"/>
          </a:solidFill>
          <a:ln w="12700" cap="sq" cmpd="sng" algn="ctr">
            <a:solidFill>
              <a:schemeClr val="tx1"/>
            </a:solidFill>
            <a:prstDash val="solid"/>
            <a:round/>
            <a:headEnd type="none" w="med" len="med"/>
            <a:tailEnd type="triangle" w="med" len="med"/>
          </a:ln>
          <a:effectLst/>
        </p:spPr>
      </p:cxnSp>
      <p:sp>
        <p:nvSpPr>
          <p:cNvPr id="33" name="TextBox 32"/>
          <p:cNvSpPr txBox="1"/>
          <p:nvPr/>
        </p:nvSpPr>
        <p:spPr>
          <a:xfrm>
            <a:off x="7064830" y="4789715"/>
            <a:ext cx="620486" cy="400110"/>
          </a:xfrm>
          <a:prstGeom prst="rect">
            <a:avLst/>
          </a:prstGeom>
          <a:noFill/>
          <a:ln>
            <a:noFill/>
          </a:ln>
        </p:spPr>
        <p:txBody>
          <a:bodyPr wrap="square" rtlCol="0">
            <a:spAutoFit/>
          </a:bodyPr>
          <a:lstStyle/>
          <a:p>
            <a:r>
              <a:rPr lang="en-US" sz="2000" dirty="0" smtClean="0"/>
              <a:t>1 *</a:t>
            </a:r>
            <a:endParaRPr lang="en-SG" sz="2000" dirty="0"/>
          </a:p>
        </p:txBody>
      </p:sp>
      <p:sp>
        <p:nvSpPr>
          <p:cNvPr id="34" name="TextBox 33"/>
          <p:cNvSpPr txBox="1"/>
          <p:nvPr/>
        </p:nvSpPr>
        <p:spPr>
          <a:xfrm>
            <a:off x="7511144" y="4789714"/>
            <a:ext cx="751115" cy="400110"/>
          </a:xfrm>
          <a:prstGeom prst="rect">
            <a:avLst/>
          </a:prstGeom>
          <a:noFill/>
          <a:ln>
            <a:solidFill>
              <a:schemeClr val="tx1"/>
            </a:solidFill>
          </a:ln>
        </p:spPr>
        <p:txBody>
          <a:bodyPr wrap="square" rtlCol="0">
            <a:spAutoFit/>
          </a:bodyPr>
          <a:lstStyle/>
          <a:p>
            <a:r>
              <a:rPr lang="en-US" sz="2000" dirty="0" smtClean="0"/>
              <a:t>f(0)</a:t>
            </a:r>
            <a:endParaRPr lang="en-SG" sz="2000" dirty="0"/>
          </a:p>
        </p:txBody>
      </p:sp>
      <p:cxnSp>
        <p:nvCxnSpPr>
          <p:cNvPr id="36" name="Straight Connector 35"/>
          <p:cNvCxnSpPr/>
          <p:nvPr/>
        </p:nvCxnSpPr>
        <p:spPr bwMode="auto">
          <a:xfrm flipH="1">
            <a:off x="7511143" y="4778829"/>
            <a:ext cx="729343" cy="413657"/>
          </a:xfrm>
          <a:prstGeom prst="line">
            <a:avLst/>
          </a:prstGeom>
          <a:solidFill>
            <a:schemeClr val="accent1"/>
          </a:solidFill>
          <a:ln w="28575" cap="sq" cmpd="sng" algn="ctr">
            <a:solidFill>
              <a:srgbClr val="FF3300"/>
            </a:solidFill>
            <a:prstDash val="solid"/>
            <a:round/>
            <a:headEnd type="none" w="sm" len="sm"/>
            <a:tailEnd type="none" w="sm" len="sm"/>
          </a:ln>
          <a:effectLst/>
        </p:spPr>
      </p:cxnSp>
      <p:sp>
        <p:nvSpPr>
          <p:cNvPr id="37" name="TextBox 36"/>
          <p:cNvSpPr txBox="1"/>
          <p:nvPr/>
        </p:nvSpPr>
        <p:spPr>
          <a:xfrm>
            <a:off x="8338457" y="4789715"/>
            <a:ext cx="337457" cy="369332"/>
          </a:xfrm>
          <a:prstGeom prst="rect">
            <a:avLst/>
          </a:prstGeom>
          <a:noFill/>
          <a:ln>
            <a:noFill/>
          </a:ln>
        </p:spPr>
        <p:txBody>
          <a:bodyPr wrap="square" rtlCol="0">
            <a:spAutoFit/>
          </a:bodyPr>
          <a:lstStyle/>
          <a:p>
            <a:r>
              <a:rPr lang="en-US" dirty="0" smtClean="0">
                <a:solidFill>
                  <a:srgbClr val="660066"/>
                </a:solidFill>
              </a:rPr>
              <a:t>1</a:t>
            </a:r>
            <a:endParaRPr lang="en-SG" dirty="0">
              <a:solidFill>
                <a:srgbClr val="660066"/>
              </a:solidFill>
            </a:endParaRPr>
          </a:p>
        </p:txBody>
      </p:sp>
      <p:cxnSp>
        <p:nvCxnSpPr>
          <p:cNvPr id="38" name="Straight Connector 37"/>
          <p:cNvCxnSpPr/>
          <p:nvPr/>
        </p:nvCxnSpPr>
        <p:spPr bwMode="auto">
          <a:xfrm flipH="1">
            <a:off x="6694714" y="4082143"/>
            <a:ext cx="729343" cy="413657"/>
          </a:xfrm>
          <a:prstGeom prst="line">
            <a:avLst/>
          </a:prstGeom>
          <a:solidFill>
            <a:schemeClr val="accent1"/>
          </a:solidFill>
          <a:ln w="28575" cap="sq" cmpd="sng" algn="ctr">
            <a:solidFill>
              <a:srgbClr val="FF3300"/>
            </a:solidFill>
            <a:prstDash val="solid"/>
            <a:round/>
            <a:headEnd type="none" w="sm" len="sm"/>
            <a:tailEnd type="none" w="sm" len="sm"/>
          </a:ln>
          <a:effectLst/>
        </p:spPr>
      </p:cxnSp>
      <p:sp>
        <p:nvSpPr>
          <p:cNvPr id="39" name="TextBox 38"/>
          <p:cNvSpPr txBox="1"/>
          <p:nvPr/>
        </p:nvSpPr>
        <p:spPr>
          <a:xfrm>
            <a:off x="7522028" y="4114800"/>
            <a:ext cx="337457" cy="369332"/>
          </a:xfrm>
          <a:prstGeom prst="rect">
            <a:avLst/>
          </a:prstGeom>
          <a:noFill/>
          <a:ln>
            <a:noFill/>
          </a:ln>
        </p:spPr>
        <p:txBody>
          <a:bodyPr wrap="square" rtlCol="0">
            <a:spAutoFit/>
          </a:bodyPr>
          <a:lstStyle/>
          <a:p>
            <a:r>
              <a:rPr lang="en-US" dirty="0" smtClean="0">
                <a:solidFill>
                  <a:srgbClr val="660066"/>
                </a:solidFill>
              </a:rPr>
              <a:t>1</a:t>
            </a:r>
            <a:endParaRPr lang="en-SG" dirty="0">
              <a:solidFill>
                <a:srgbClr val="660066"/>
              </a:solidFill>
            </a:endParaRPr>
          </a:p>
        </p:txBody>
      </p:sp>
      <p:cxnSp>
        <p:nvCxnSpPr>
          <p:cNvPr id="41" name="Straight Connector 40"/>
          <p:cNvCxnSpPr/>
          <p:nvPr/>
        </p:nvCxnSpPr>
        <p:spPr bwMode="auto">
          <a:xfrm flipH="1">
            <a:off x="5943600" y="3385457"/>
            <a:ext cx="729343" cy="413657"/>
          </a:xfrm>
          <a:prstGeom prst="line">
            <a:avLst/>
          </a:prstGeom>
          <a:solidFill>
            <a:schemeClr val="accent1"/>
          </a:solidFill>
          <a:ln w="28575" cap="sq" cmpd="sng" algn="ctr">
            <a:solidFill>
              <a:srgbClr val="FF3300"/>
            </a:solidFill>
            <a:prstDash val="solid"/>
            <a:round/>
            <a:headEnd type="none" w="sm" len="sm"/>
            <a:tailEnd type="none" w="sm" len="sm"/>
          </a:ln>
          <a:effectLst/>
        </p:spPr>
      </p:cxnSp>
      <p:sp>
        <p:nvSpPr>
          <p:cNvPr id="42" name="TextBox 41"/>
          <p:cNvSpPr txBox="1"/>
          <p:nvPr/>
        </p:nvSpPr>
        <p:spPr>
          <a:xfrm>
            <a:off x="6770914" y="3418114"/>
            <a:ext cx="337457" cy="369332"/>
          </a:xfrm>
          <a:prstGeom prst="rect">
            <a:avLst/>
          </a:prstGeom>
          <a:noFill/>
          <a:ln>
            <a:noFill/>
          </a:ln>
        </p:spPr>
        <p:txBody>
          <a:bodyPr wrap="square" rtlCol="0">
            <a:spAutoFit/>
          </a:bodyPr>
          <a:lstStyle/>
          <a:p>
            <a:r>
              <a:rPr lang="en-US" dirty="0" smtClean="0">
                <a:solidFill>
                  <a:srgbClr val="660066"/>
                </a:solidFill>
              </a:rPr>
              <a:t>2</a:t>
            </a:r>
            <a:endParaRPr lang="en-SG" dirty="0">
              <a:solidFill>
                <a:srgbClr val="660066"/>
              </a:solidFill>
            </a:endParaRPr>
          </a:p>
        </p:txBody>
      </p:sp>
      <p:cxnSp>
        <p:nvCxnSpPr>
          <p:cNvPr id="43" name="Straight Connector 42"/>
          <p:cNvCxnSpPr/>
          <p:nvPr/>
        </p:nvCxnSpPr>
        <p:spPr bwMode="auto">
          <a:xfrm flipH="1">
            <a:off x="5203371" y="2688771"/>
            <a:ext cx="729343" cy="413657"/>
          </a:xfrm>
          <a:prstGeom prst="line">
            <a:avLst/>
          </a:prstGeom>
          <a:solidFill>
            <a:schemeClr val="accent1"/>
          </a:solidFill>
          <a:ln w="28575" cap="sq" cmpd="sng" algn="ctr">
            <a:solidFill>
              <a:srgbClr val="FF3300"/>
            </a:solidFill>
            <a:prstDash val="solid"/>
            <a:round/>
            <a:headEnd type="none" w="sm" len="sm"/>
            <a:tailEnd type="none" w="sm" len="sm"/>
          </a:ln>
          <a:effectLst/>
        </p:spPr>
      </p:cxnSp>
      <p:sp>
        <p:nvSpPr>
          <p:cNvPr id="44" name="TextBox 43"/>
          <p:cNvSpPr txBox="1"/>
          <p:nvPr/>
        </p:nvSpPr>
        <p:spPr>
          <a:xfrm>
            <a:off x="6030685" y="2721428"/>
            <a:ext cx="337457" cy="369332"/>
          </a:xfrm>
          <a:prstGeom prst="rect">
            <a:avLst/>
          </a:prstGeom>
          <a:noFill/>
          <a:ln>
            <a:noFill/>
          </a:ln>
        </p:spPr>
        <p:txBody>
          <a:bodyPr wrap="square" rtlCol="0">
            <a:spAutoFit/>
          </a:bodyPr>
          <a:lstStyle/>
          <a:p>
            <a:r>
              <a:rPr lang="en-US" dirty="0" smtClean="0">
                <a:solidFill>
                  <a:srgbClr val="660066"/>
                </a:solidFill>
              </a:rPr>
              <a:t>6</a:t>
            </a:r>
            <a:endParaRPr lang="en-SG" dirty="0">
              <a:solidFill>
                <a:srgbClr val="660066"/>
              </a:solidFill>
            </a:endParaRPr>
          </a:p>
        </p:txBody>
      </p:sp>
      <p:sp>
        <p:nvSpPr>
          <p:cNvPr id="35" name="TextBox 34"/>
          <p:cNvSpPr txBox="1"/>
          <p:nvPr/>
        </p:nvSpPr>
        <p:spPr>
          <a:xfrm>
            <a:off x="4415680" y="2198913"/>
            <a:ext cx="1680320" cy="461665"/>
          </a:xfrm>
          <a:prstGeom prst="rect">
            <a:avLst/>
          </a:prstGeom>
          <a:noFill/>
        </p:spPr>
        <p:txBody>
          <a:bodyPr wrap="square" rtlCol="0">
            <a:spAutoFit/>
          </a:bodyPr>
          <a:lstStyle/>
          <a:p>
            <a:r>
              <a:rPr lang="en-US" sz="2400" dirty="0" smtClean="0">
                <a:solidFill>
                  <a:srgbClr val="0000FF"/>
                </a:solidFill>
              </a:rPr>
              <a:t>Trace tree:</a:t>
            </a:r>
            <a:endParaRPr lang="en-SG" sz="2400" dirty="0">
              <a:solidFill>
                <a:srgbClr val="0000FF"/>
              </a:solidFill>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13</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bg/>
                                          </p:spTgt>
                                        </p:tgtEl>
                                        <p:attrNameLst>
                                          <p:attrName>style.visibility</p:attrName>
                                        </p:attrNameLst>
                                      </p:cBhvr>
                                      <p:to>
                                        <p:strVal val="visible"/>
                                      </p:to>
                                    </p:set>
                                    <p:animEffect transition="in" filter="dissolve">
                                      <p:cBhvr>
                                        <p:cTn id="12" dur="500"/>
                                        <p:tgtEl>
                                          <p:spTgt spid="17">
                                            <p:bg/>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ssolve">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animEffect transition="in" filter="dissolve">
                                      <p:cBhvr>
                                        <p:cTn id="25" dur="500"/>
                                        <p:tgtEl>
                                          <p:spTgt spid="1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dissolve">
                                      <p:cBhvr>
                                        <p:cTn id="30" dur="500"/>
                                        <p:tgtEl>
                                          <p:spTgt spid="26"/>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dissolve">
                                      <p:cBhvr>
                                        <p:cTn id="33" dur="500"/>
                                        <p:tgtEl>
                                          <p:spTgt spid="27"/>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7">
                                            <p:txEl>
                                              <p:pRg st="1" end="1"/>
                                            </p:txEl>
                                          </p:spTgt>
                                        </p:tgtEl>
                                        <p:attrNameLst>
                                          <p:attrName>style.visibility</p:attrName>
                                        </p:attrNameLst>
                                      </p:cBhvr>
                                      <p:to>
                                        <p:strVal val="visible"/>
                                      </p:to>
                                    </p:set>
                                    <p:animEffect transition="in" filter="dissolve">
                                      <p:cBhvr>
                                        <p:cTn id="41" dur="500"/>
                                        <p:tgtEl>
                                          <p:spTgt spid="17">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dissolve">
                                      <p:cBhvr>
                                        <p:cTn id="46" dur="500"/>
                                        <p:tgtEl>
                                          <p:spTgt spid="2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dissolve">
                                      <p:cBhvr>
                                        <p:cTn id="49" dur="500"/>
                                        <p:tgtEl>
                                          <p:spTgt spid="3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7">
                                            <p:txEl>
                                              <p:pRg st="2" end="2"/>
                                            </p:txEl>
                                          </p:spTgt>
                                        </p:tgtEl>
                                        <p:attrNameLst>
                                          <p:attrName>style.visibility</p:attrName>
                                        </p:attrNameLst>
                                      </p:cBhvr>
                                      <p:to>
                                        <p:strVal val="visible"/>
                                      </p:to>
                                    </p:set>
                                    <p:animEffect transition="in" filter="dissolve">
                                      <p:cBhvr>
                                        <p:cTn id="57" dur="500"/>
                                        <p:tgtEl>
                                          <p:spTgt spid="17">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dissolve">
                                      <p:cBhvr>
                                        <p:cTn id="62" dur="500"/>
                                        <p:tgtEl>
                                          <p:spTgt spid="32"/>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dissolve">
                                      <p:cBhvr>
                                        <p:cTn id="65" dur="500"/>
                                        <p:tgtEl>
                                          <p:spTgt spid="33"/>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dissolve">
                                      <p:cBhvr>
                                        <p:cTn id="68" dur="500"/>
                                        <p:tgtEl>
                                          <p:spTgt spid="34"/>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17">
                                            <p:txEl>
                                              <p:pRg st="3" end="3"/>
                                            </p:txEl>
                                          </p:spTgt>
                                        </p:tgtEl>
                                        <p:attrNameLst>
                                          <p:attrName>style.visibility</p:attrName>
                                        </p:attrNameLst>
                                      </p:cBhvr>
                                      <p:to>
                                        <p:strVal val="visible"/>
                                      </p:to>
                                    </p:set>
                                    <p:animEffect transition="in" filter="dissolve">
                                      <p:cBhvr>
                                        <p:cTn id="73" dur="500"/>
                                        <p:tgtEl>
                                          <p:spTgt spid="17">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dissolve">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3">
                                            <p:bg/>
                                          </p:spTgt>
                                        </p:tgtEl>
                                        <p:attrNameLst>
                                          <p:attrName>style.visibility</p:attrName>
                                        </p:attrNameLst>
                                      </p:cBhvr>
                                      <p:to>
                                        <p:strVal val="visible"/>
                                      </p:to>
                                    </p:set>
                                    <p:animEffect transition="in" filter="dissolve">
                                      <p:cBhvr>
                                        <p:cTn id="83" dur="500"/>
                                        <p:tgtEl>
                                          <p:spTgt spid="23">
                                            <p:bg/>
                                          </p:spTgt>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23">
                                            <p:txEl>
                                              <p:pRg st="0" end="0"/>
                                            </p:txEl>
                                          </p:spTgt>
                                        </p:tgtEl>
                                        <p:attrNameLst>
                                          <p:attrName>style.visibility</p:attrName>
                                        </p:attrNameLst>
                                      </p:cBhvr>
                                      <p:to>
                                        <p:strVal val="visible"/>
                                      </p:to>
                                    </p:set>
                                    <p:animEffect transition="in" filter="dissolve">
                                      <p:cBhvr>
                                        <p:cTn id="86" dur="500"/>
                                        <p:tgtEl>
                                          <p:spTgt spid="23">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dissolve">
                                      <p:cBhvr>
                                        <p:cTn id="91" dur="500"/>
                                        <p:tgtEl>
                                          <p:spTgt spid="36"/>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dissolve">
                                      <p:cBhvr>
                                        <p:cTn id="94" dur="500"/>
                                        <p:tgtEl>
                                          <p:spTgt spid="37"/>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23">
                                            <p:txEl>
                                              <p:pRg st="1" end="1"/>
                                            </p:txEl>
                                          </p:spTgt>
                                        </p:tgtEl>
                                        <p:attrNameLst>
                                          <p:attrName>style.visibility</p:attrName>
                                        </p:attrNameLst>
                                      </p:cBhvr>
                                      <p:to>
                                        <p:strVal val="visible"/>
                                      </p:to>
                                    </p:set>
                                    <p:animEffect transition="in" filter="dissolve">
                                      <p:cBhvr>
                                        <p:cTn id="99" dur="500"/>
                                        <p:tgtEl>
                                          <p:spTgt spid="23">
                                            <p:txEl>
                                              <p:pRg st="1" end="1"/>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nodeType="click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dissolve">
                                      <p:cBhvr>
                                        <p:cTn id="104" dur="500"/>
                                        <p:tgtEl>
                                          <p:spTgt spid="38"/>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dissolve">
                                      <p:cBhvr>
                                        <p:cTn id="107" dur="500"/>
                                        <p:tgtEl>
                                          <p:spTgt spid="39"/>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23">
                                            <p:txEl>
                                              <p:pRg st="2" end="2"/>
                                            </p:txEl>
                                          </p:spTgt>
                                        </p:tgtEl>
                                        <p:attrNameLst>
                                          <p:attrName>style.visibility</p:attrName>
                                        </p:attrNameLst>
                                      </p:cBhvr>
                                      <p:to>
                                        <p:strVal val="visible"/>
                                      </p:to>
                                    </p:set>
                                    <p:animEffect transition="in" filter="dissolve">
                                      <p:cBhvr>
                                        <p:cTn id="112" dur="500"/>
                                        <p:tgtEl>
                                          <p:spTgt spid="23">
                                            <p:txEl>
                                              <p:pRg st="2" end="2"/>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dissolve">
                                      <p:cBhvr>
                                        <p:cTn id="117" dur="500"/>
                                        <p:tgtEl>
                                          <p:spTgt spid="42"/>
                                        </p:tgtEl>
                                      </p:cBhvr>
                                    </p:animEffect>
                                  </p:childTnLst>
                                </p:cTn>
                              </p:par>
                              <p:par>
                                <p:cTn id="118" presetID="9"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dissolve">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9" presetClass="entr" presetSubtype="0" fill="hold" grpId="0" nodeType="clickEffect">
                                  <p:stCondLst>
                                    <p:cond delay="0"/>
                                  </p:stCondLst>
                                  <p:childTnLst>
                                    <p:set>
                                      <p:cBhvr>
                                        <p:cTn id="124" dur="1" fill="hold">
                                          <p:stCondLst>
                                            <p:cond delay="0"/>
                                          </p:stCondLst>
                                        </p:cTn>
                                        <p:tgtEl>
                                          <p:spTgt spid="23">
                                            <p:txEl>
                                              <p:pRg st="3" end="3"/>
                                            </p:txEl>
                                          </p:spTgt>
                                        </p:tgtEl>
                                        <p:attrNameLst>
                                          <p:attrName>style.visibility</p:attrName>
                                        </p:attrNameLst>
                                      </p:cBhvr>
                                      <p:to>
                                        <p:strVal val="visible"/>
                                      </p:to>
                                    </p:set>
                                    <p:animEffect transition="in" filter="dissolve">
                                      <p:cBhvr>
                                        <p:cTn id="125" dur="500"/>
                                        <p:tgtEl>
                                          <p:spTgt spid="23">
                                            <p:txEl>
                                              <p:pRg st="3" end="3"/>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9" presetClass="entr" presetSubtype="0" fill="hold" grpId="0" nodeType="clickEffect">
                                  <p:stCondLst>
                                    <p:cond delay="0"/>
                                  </p:stCondLst>
                                  <p:childTnLst>
                                    <p:set>
                                      <p:cBhvr>
                                        <p:cTn id="129" dur="1" fill="hold">
                                          <p:stCondLst>
                                            <p:cond delay="0"/>
                                          </p:stCondLst>
                                        </p:cTn>
                                        <p:tgtEl>
                                          <p:spTgt spid="44"/>
                                        </p:tgtEl>
                                        <p:attrNameLst>
                                          <p:attrName>style.visibility</p:attrName>
                                        </p:attrNameLst>
                                      </p:cBhvr>
                                      <p:to>
                                        <p:strVal val="visible"/>
                                      </p:to>
                                    </p:set>
                                    <p:animEffect transition="in" filter="dissolve">
                                      <p:cBhvr>
                                        <p:cTn id="130" dur="500"/>
                                        <p:tgtEl>
                                          <p:spTgt spid="44"/>
                                        </p:tgtEl>
                                      </p:cBhvr>
                                    </p:animEffect>
                                  </p:childTnLst>
                                </p:cTn>
                              </p:par>
                              <p:par>
                                <p:cTn id="131" presetID="9" presetClass="entr" presetSubtype="0" fill="hold"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dissolve">
                                      <p:cBhvr>
                                        <p:cTn id="13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uiExpand="1" build="p" animBg="1"/>
      <p:bldP spid="22" grpId="0"/>
      <p:bldP spid="23" grpId="0" uiExpand="1" build="p" animBg="1"/>
      <p:bldP spid="24" grpId="0" animBg="1"/>
      <p:bldP spid="27" grpId="0"/>
      <p:bldP spid="28" grpId="0" animBg="1"/>
      <p:bldP spid="30" grpId="0"/>
      <p:bldP spid="31" grpId="0" animBg="1"/>
      <p:bldP spid="33" grpId="0"/>
      <p:bldP spid="34" grpId="0" animBg="1"/>
      <p:bldP spid="37" grpId="0"/>
      <p:bldP spid="39" grpId="0"/>
      <p:bldP spid="42" grpId="0"/>
      <p:bldP spid="44" grpId="0"/>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457200"/>
            <a:ext cx="8229600" cy="903288"/>
          </a:xfrm>
        </p:spPr>
        <p:txBody>
          <a:bodyPr/>
          <a:lstStyle/>
          <a:p>
            <a:r>
              <a:rPr lang="en-US" sz="4000" dirty="0" smtClean="0">
                <a:solidFill>
                  <a:srgbClr val="9933FF"/>
                </a:solidFill>
                <a:latin typeface="Garamond" pitchFamily="18" charset="0"/>
              </a:rPr>
              <a:t>3.2 Demo #2: Fibonacci (1/3)</a:t>
            </a:r>
          </a:p>
        </p:txBody>
      </p:sp>
      <p:pic>
        <p:nvPicPr>
          <p:cNvPr id="35846" name="Picture 5" descr="FibonacciSunflower.jpg"/>
          <p:cNvPicPr>
            <a:picLocks noChangeAspect="1"/>
          </p:cNvPicPr>
          <p:nvPr/>
        </p:nvPicPr>
        <p:blipFill>
          <a:blip r:embed="rId3" cstate="print"/>
          <a:srcRect/>
          <a:stretch>
            <a:fillRect/>
          </a:stretch>
        </p:blipFill>
        <p:spPr bwMode="auto">
          <a:xfrm>
            <a:off x="7908925" y="479425"/>
            <a:ext cx="1012825" cy="758825"/>
          </a:xfrm>
          <a:prstGeom prst="rect">
            <a:avLst/>
          </a:prstGeom>
          <a:noFill/>
          <a:ln w="9525">
            <a:noFill/>
            <a:miter lim="800000"/>
            <a:headEnd/>
            <a:tailEnd/>
          </a:ln>
        </p:spPr>
      </p:pic>
      <p:pic>
        <p:nvPicPr>
          <p:cNvPr id="35847" name="Picture 6" descr="Fibonacci.png"/>
          <p:cNvPicPr>
            <a:picLocks noChangeAspect="1"/>
          </p:cNvPicPr>
          <p:nvPr/>
        </p:nvPicPr>
        <p:blipFill>
          <a:blip r:embed="rId4" cstate="print"/>
          <a:srcRect/>
          <a:stretch>
            <a:fillRect/>
          </a:stretch>
        </p:blipFill>
        <p:spPr bwMode="auto">
          <a:xfrm>
            <a:off x="7894638" y="1431925"/>
            <a:ext cx="1036637" cy="642938"/>
          </a:xfrm>
          <a:prstGeom prst="rect">
            <a:avLst/>
          </a:prstGeom>
          <a:noFill/>
          <a:ln w="9525">
            <a:noFill/>
            <a:miter lim="800000"/>
            <a:headEnd/>
            <a:tailEnd/>
          </a:ln>
        </p:spPr>
      </p:pic>
      <p:pic>
        <p:nvPicPr>
          <p:cNvPr id="35851" name="Picture 7" descr="fibrab.gif"/>
          <p:cNvPicPr>
            <a:picLocks noChangeAspect="1"/>
          </p:cNvPicPr>
          <p:nvPr/>
        </p:nvPicPr>
        <p:blipFill>
          <a:blip r:embed="rId5" cstate="print"/>
          <a:srcRect/>
          <a:stretch>
            <a:fillRect/>
          </a:stretch>
        </p:blipFill>
        <p:spPr bwMode="auto">
          <a:xfrm>
            <a:off x="5197066" y="2432050"/>
            <a:ext cx="3599272" cy="3021013"/>
          </a:xfrm>
          <a:prstGeom prst="rect">
            <a:avLst/>
          </a:prstGeom>
          <a:noFill/>
          <a:ln w="9525">
            <a:noFill/>
            <a:miter lim="800000"/>
            <a:headEnd/>
            <a:tailEnd/>
          </a:ln>
        </p:spPr>
      </p:pic>
      <p:sp>
        <p:nvSpPr>
          <p:cNvPr id="10" name="Rectangle 3"/>
          <p:cNvSpPr txBox="1">
            <a:spLocks noChangeArrowheads="1"/>
          </p:cNvSpPr>
          <p:nvPr/>
        </p:nvSpPr>
        <p:spPr bwMode="auto">
          <a:xfrm>
            <a:off x="850900" y="5586413"/>
            <a:ext cx="7880350" cy="512762"/>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defRPr/>
            </a:pPr>
            <a:r>
              <a:rPr lang="en-US" kern="0" dirty="0">
                <a:latin typeface="+mn-lt"/>
                <a:cs typeface="+mn-cs"/>
                <a:hlinkClick r:id="rId6"/>
              </a:rPr>
              <a:t>http://www.maths.surrey.ac.uk/hosted-sites/R.Knott/Fibonacci/fibnat.html</a:t>
            </a:r>
            <a:endParaRPr lang="en-US" kern="0" dirty="0">
              <a:latin typeface="+mn-lt"/>
              <a:cs typeface="+mn-cs"/>
            </a:endParaRPr>
          </a:p>
        </p:txBody>
      </p:sp>
      <p:sp>
        <p:nvSpPr>
          <p:cNvPr id="11" name="Rectangle 3"/>
          <p:cNvSpPr txBox="1">
            <a:spLocks noChangeArrowheads="1"/>
          </p:cNvSpPr>
          <p:nvPr/>
        </p:nvSpPr>
        <p:spPr bwMode="auto">
          <a:xfrm>
            <a:off x="431800" y="4427310"/>
            <a:ext cx="4786313" cy="1463675"/>
          </a:xfrm>
          <a:prstGeom prst="rect">
            <a:avLst/>
          </a:prstGeom>
          <a:noFill/>
          <a:ln w="9525">
            <a:noFill/>
            <a:miter lim="800000"/>
            <a:headEnd/>
            <a:tailEnd/>
          </a:ln>
        </p:spPr>
        <p:txBody>
          <a:bodyPr/>
          <a:lstStyle/>
          <a:p>
            <a:pPr marL="342900" indent="-342900" eaLnBrk="0" hangingPunct="0">
              <a:spcBef>
                <a:spcPct val="20000"/>
              </a:spcBef>
              <a:buClr>
                <a:schemeClr val="bg2"/>
              </a:buClr>
              <a:buSzPct val="75000"/>
              <a:buFont typeface="Wingdings" pitchFamily="2" charset="2"/>
              <a:buChar char="n"/>
              <a:defRPr/>
            </a:pPr>
            <a:r>
              <a:rPr lang="en-US" sz="2400" kern="0" dirty="0">
                <a:latin typeface="+mn-lt"/>
                <a:cs typeface="+mn-cs"/>
              </a:rPr>
              <a:t>Fibonacci numbers are found in nature (sea-shells, sunflowers, etc)</a:t>
            </a:r>
          </a:p>
        </p:txBody>
      </p:sp>
      <p:sp>
        <p:nvSpPr>
          <p:cNvPr id="39939" name="Rectangle 3"/>
          <p:cNvSpPr>
            <a:spLocks noGrp="1" noChangeArrowheads="1"/>
          </p:cNvSpPr>
          <p:nvPr>
            <p:ph type="body" idx="1"/>
          </p:nvPr>
        </p:nvSpPr>
        <p:spPr>
          <a:xfrm>
            <a:off x="431800" y="1384754"/>
            <a:ext cx="6959600" cy="1587046"/>
          </a:xfrm>
        </p:spPr>
        <p:txBody>
          <a:bodyPr/>
          <a:lstStyle/>
          <a:p>
            <a:r>
              <a:rPr lang="en-US" sz="2800" dirty="0" smtClean="0"/>
              <a:t>The </a:t>
            </a:r>
            <a:r>
              <a:rPr lang="en-US" sz="2800" dirty="0" smtClean="0">
                <a:solidFill>
                  <a:srgbClr val="0000FF"/>
                </a:solidFill>
              </a:rPr>
              <a:t>Fibonacci series </a:t>
            </a:r>
            <a:r>
              <a:rPr lang="en-US" sz="2800" dirty="0" smtClean="0"/>
              <a:t>models the rabbit population each time they mate:</a:t>
            </a:r>
          </a:p>
          <a:p>
            <a:pPr lvl="1">
              <a:buNone/>
            </a:pPr>
            <a:r>
              <a:rPr lang="en-US" sz="2400" dirty="0" smtClean="0"/>
              <a:t>	</a:t>
            </a:r>
            <a:r>
              <a:rPr lang="en-US" dirty="0" smtClean="0"/>
              <a:t>1, 1, 2, 3, 5, 8, 13, 21, …</a:t>
            </a:r>
          </a:p>
          <a:p>
            <a:endParaRPr lang="en-US" dirty="0" smtClean="0"/>
          </a:p>
        </p:txBody>
      </p:sp>
      <p:sp>
        <p:nvSpPr>
          <p:cNvPr id="13" name="Rectangle 3"/>
          <p:cNvSpPr txBox="1">
            <a:spLocks noChangeArrowheads="1"/>
          </p:cNvSpPr>
          <p:nvPr/>
        </p:nvSpPr>
        <p:spPr bwMode="auto">
          <a:xfrm>
            <a:off x="431800" y="3037114"/>
            <a:ext cx="5490029" cy="12736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itchFamily="2" charset="2"/>
              <a:buChar char="n"/>
              <a:tabLst/>
              <a:defRPr/>
            </a:pPr>
            <a:r>
              <a:rPr kumimoji="0" lang="en-US" sz="2800" b="0" i="0" u="none" strike="noStrike" kern="0" cap="none" spc="0" normalizeH="0" baseline="0" noProof="0" dirty="0" smtClean="0">
                <a:ln>
                  <a:noFill/>
                </a:ln>
                <a:solidFill>
                  <a:schemeClr val="tx1"/>
                </a:solidFill>
                <a:effectLst/>
                <a:uLnTx/>
                <a:uFillTx/>
                <a:latin typeface="+mn-lt"/>
                <a:ea typeface="+mn-ea"/>
                <a:cs typeface="+mn-cs"/>
              </a:rPr>
              <a:t>The</a:t>
            </a:r>
            <a:r>
              <a:rPr kumimoji="0" lang="en-US" sz="2800" b="0" i="0" u="none" strike="noStrike" kern="0" cap="none" spc="0" normalizeH="0" noProof="0" dirty="0" smtClean="0">
                <a:ln>
                  <a:noFill/>
                </a:ln>
                <a:solidFill>
                  <a:schemeClr val="tx1"/>
                </a:solidFill>
                <a:effectLst/>
                <a:uLnTx/>
                <a:uFillTx/>
                <a:latin typeface="+mn-lt"/>
                <a:ea typeface="+mn-ea"/>
                <a:cs typeface="+mn-cs"/>
              </a:rPr>
              <a:t> modern version is</a:t>
            </a:r>
            <a:r>
              <a:rPr kumimoji="0" lang="en-US" sz="2800" b="0" i="0" u="none" strike="noStrike" kern="0" cap="none" spc="0" normalizeH="0" baseline="0" noProof="0" dirty="0" smtClean="0">
                <a:ln>
                  <a:noFill/>
                </a:ln>
                <a:solidFill>
                  <a:schemeClr val="tx1"/>
                </a:solidFill>
                <a:effectLst/>
                <a:uLnTx/>
                <a:uFillTx/>
                <a:latin typeface="+mn-lt"/>
                <a:ea typeface="+mn-ea"/>
                <a:cs typeface="+mn-cs"/>
              </a:rPr>
              <a:t>:</a:t>
            </a: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itchFamily="2" charset="2"/>
              <a:buNone/>
              <a:tabLst/>
              <a:defRPr/>
            </a:pPr>
            <a:r>
              <a:rPr kumimoji="0" lang="en-US" sz="2400" b="0" i="0" u="none" strike="noStrike" kern="0" cap="none" spc="0" normalizeH="0" baseline="0" noProof="0" dirty="0" smtClean="0">
                <a:ln>
                  <a:noFill/>
                </a:ln>
                <a:solidFill>
                  <a:schemeClr val="tx1"/>
                </a:solidFill>
                <a:effectLst/>
                <a:uLnTx/>
                <a:uFillTx/>
                <a:latin typeface="+mn-lt"/>
                <a:cs typeface="+mn-cs"/>
              </a:rPr>
              <a:t>	</a:t>
            </a:r>
            <a:r>
              <a:rPr kumimoji="0" lang="en-US" sz="2800" b="0" i="0" u="none" strike="noStrike" kern="0" cap="none" spc="0" normalizeH="0" baseline="0" noProof="0" dirty="0" smtClean="0">
                <a:ln>
                  <a:noFill/>
                </a:ln>
                <a:solidFill>
                  <a:schemeClr val="tx1"/>
                </a:solidFill>
                <a:effectLst/>
                <a:uLnTx/>
                <a:uFillTx/>
                <a:latin typeface="+mn-lt"/>
                <a:cs typeface="+mn-cs"/>
              </a:rPr>
              <a:t>0,</a:t>
            </a:r>
            <a:r>
              <a:rPr kumimoji="0" lang="en-US" sz="2800" b="0" i="0" u="none" strike="noStrike" kern="0" cap="none" spc="0" normalizeH="0" noProof="0" dirty="0" smtClean="0">
                <a:ln>
                  <a:noFill/>
                </a:ln>
                <a:solidFill>
                  <a:schemeClr val="tx1"/>
                </a:solidFill>
                <a:effectLst/>
                <a:uLnTx/>
                <a:uFillTx/>
                <a:latin typeface="+mn-lt"/>
                <a:cs typeface="+mn-cs"/>
              </a:rPr>
              <a:t> 1</a:t>
            </a:r>
            <a:r>
              <a:rPr kumimoji="0" lang="en-US" sz="2800" b="0" i="0" u="none" strike="noStrike" kern="0" cap="none" spc="0" normalizeH="0" baseline="0" noProof="0" dirty="0" smtClean="0">
                <a:ln>
                  <a:noFill/>
                </a:ln>
                <a:solidFill>
                  <a:schemeClr val="tx1"/>
                </a:solidFill>
                <a:effectLst/>
                <a:uLnTx/>
                <a:uFillTx/>
                <a:latin typeface="+mn-lt"/>
                <a:cs typeface="+mn-cs"/>
              </a:rPr>
              <a:t>, 1, 2, 3, 5, 8, 13, 21, …</a:t>
            </a: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itchFamily="2" charset="2"/>
              <a:buChar char="n"/>
              <a:tabLst/>
              <a:defRPr/>
            </a:pPr>
            <a:endParaRPr kumimoji="0" lang="en-US" sz="32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14</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5851"/>
                                        </p:tgtEl>
                                        <p:attrNameLst>
                                          <p:attrName>style.visibility</p:attrName>
                                        </p:attrNameLst>
                                      </p:cBhvr>
                                      <p:to>
                                        <p:strVal val="visible"/>
                                      </p:to>
                                    </p:set>
                                    <p:animEffect transition="in" filter="wipe(up)">
                                      <p:cBhvr>
                                        <p:cTn id="7" dur="2000"/>
                                        <p:tgtEl>
                                          <p:spTgt spid="358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457200"/>
            <a:ext cx="8229600" cy="903288"/>
          </a:xfrm>
        </p:spPr>
        <p:txBody>
          <a:bodyPr/>
          <a:lstStyle/>
          <a:p>
            <a:r>
              <a:rPr lang="en-US" sz="4000" dirty="0" smtClean="0">
                <a:solidFill>
                  <a:srgbClr val="9933FF"/>
                </a:solidFill>
                <a:latin typeface="Garamond" pitchFamily="18" charset="0"/>
              </a:rPr>
              <a:t>3.2 Demo #2: Fibonacci (2/3)</a:t>
            </a:r>
          </a:p>
        </p:txBody>
      </p:sp>
      <p:sp>
        <p:nvSpPr>
          <p:cNvPr id="7" name="TextBox 6"/>
          <p:cNvSpPr txBox="1"/>
          <p:nvPr/>
        </p:nvSpPr>
        <p:spPr>
          <a:xfrm>
            <a:off x="337457" y="1295400"/>
            <a:ext cx="3537857" cy="400110"/>
          </a:xfrm>
          <a:prstGeom prst="rect">
            <a:avLst/>
          </a:prstGeom>
          <a:ln w="12700"/>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sz="2000" dirty="0" smtClean="0">
                <a:sym typeface="Symbol"/>
              </a:rPr>
              <a:t>0, 1, 1, 2, 3, 5, 8, 13, 21, …</a:t>
            </a:r>
            <a:r>
              <a:rPr lang="en-US" sz="2000" dirty="0" smtClean="0"/>
              <a:t>  </a:t>
            </a:r>
            <a:endParaRPr lang="en-SG" sz="2000" dirty="0"/>
          </a:p>
        </p:txBody>
      </p:sp>
      <p:grpSp>
        <p:nvGrpSpPr>
          <p:cNvPr id="12" name="Group 11"/>
          <p:cNvGrpSpPr/>
          <p:nvPr/>
        </p:nvGrpSpPr>
        <p:grpSpPr>
          <a:xfrm>
            <a:off x="409739" y="1857102"/>
            <a:ext cx="3833077" cy="4326064"/>
            <a:chOff x="409739" y="1857102"/>
            <a:chExt cx="3833077" cy="4326064"/>
          </a:xfrm>
        </p:grpSpPr>
        <p:sp>
          <p:nvSpPr>
            <p:cNvPr id="8" name="TextBox 7"/>
            <p:cNvSpPr txBox="1"/>
            <p:nvPr/>
          </p:nvSpPr>
          <p:spPr>
            <a:xfrm>
              <a:off x="409739" y="1857102"/>
              <a:ext cx="1854490" cy="400110"/>
            </a:xfrm>
            <a:prstGeom prst="rect">
              <a:avLst/>
            </a:prstGeom>
            <a:noFill/>
          </p:spPr>
          <p:txBody>
            <a:bodyPr wrap="square" rtlCol="0">
              <a:spAutoFit/>
            </a:bodyPr>
            <a:lstStyle/>
            <a:p>
              <a:r>
                <a:rPr lang="en-US" sz="2000" dirty="0" smtClean="0"/>
                <a:t>Iterative code:</a:t>
              </a:r>
              <a:endParaRPr lang="en-SG" sz="2000" dirty="0"/>
            </a:p>
          </p:txBody>
        </p:sp>
        <p:sp>
          <p:nvSpPr>
            <p:cNvPr id="9" name="TextBox 8"/>
            <p:cNvSpPr txBox="1"/>
            <p:nvPr/>
          </p:nvSpPr>
          <p:spPr>
            <a:xfrm>
              <a:off x="682752" y="2212848"/>
              <a:ext cx="3560064" cy="39703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b="1" dirty="0" smtClean="0">
                  <a:solidFill>
                    <a:srgbClr val="800000"/>
                  </a:solidFill>
                  <a:latin typeface="Courier New" pitchFamily="49" charset="0"/>
                  <a:cs typeface="Courier New" pitchFamily="49" charset="0"/>
                </a:rPr>
                <a:t>// Pre-</a:t>
              </a:r>
              <a:r>
                <a:rPr lang="en-US" b="1" dirty="0" err="1" smtClean="0">
                  <a:solidFill>
                    <a:srgbClr val="800000"/>
                  </a:solidFill>
                  <a:latin typeface="Courier New" pitchFamily="49" charset="0"/>
                  <a:cs typeface="Courier New" pitchFamily="49" charset="0"/>
                </a:rPr>
                <a:t>cond</a:t>
              </a:r>
              <a:r>
                <a:rPr lang="en-US" b="1" dirty="0" smtClean="0">
                  <a:solidFill>
                    <a:srgbClr val="800000"/>
                  </a:solidFill>
                  <a:latin typeface="Courier New" pitchFamily="49" charset="0"/>
                  <a:cs typeface="Courier New" pitchFamily="49" charset="0"/>
                </a:rPr>
                <a:t>: n &gt;= 0</a:t>
              </a:r>
            </a:p>
            <a:p>
              <a:pPr>
                <a:tabLst>
                  <a:tab pos="268288" algn="l"/>
                  <a:tab pos="536575" algn="l"/>
                  <a:tab pos="804863" algn="l"/>
                </a:tabLst>
              </a:pP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fib_iter</a:t>
              </a:r>
              <a:r>
                <a:rPr lang="en-US" b="1" dirty="0" smtClean="0">
                  <a:latin typeface="Courier New" pitchFamily="49" charset="0"/>
                  <a:cs typeface="Courier New" pitchFamily="49" charset="0"/>
                </a:rPr>
                <a:t>(</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n) {</a:t>
              </a:r>
            </a:p>
            <a:p>
              <a:pPr>
                <a:tabLst>
                  <a:tab pos="268288" algn="l"/>
                  <a:tab pos="536575" algn="l"/>
                  <a:tab pos="804863" algn="l"/>
                </a:tabLst>
              </a:pPr>
              <a:r>
                <a:rPr lang="en-US" b="1" dirty="0" smtClean="0">
                  <a:latin typeface="Courier New" pitchFamily="49" charset="0"/>
                  <a:cs typeface="Courier New" pitchFamily="49" charset="0"/>
                </a:rPr>
                <a:t>	</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prev1 = </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prev2 = </a:t>
              </a:r>
              <a:r>
                <a:rPr lang="en-US" b="1" dirty="0" smtClean="0">
                  <a:solidFill>
                    <a:srgbClr val="006600"/>
                  </a:solidFill>
                  <a:latin typeface="Courier New" pitchFamily="49" charset="0"/>
                  <a:cs typeface="Courier New" pitchFamily="49" charset="0"/>
                </a:rPr>
                <a:t>0</a:t>
              </a:r>
              <a:r>
                <a:rPr lang="en-US" b="1" dirty="0" smtClean="0">
                  <a:latin typeface="Courier New" pitchFamily="49" charset="0"/>
                  <a:cs typeface="Courier New" pitchFamily="49" charset="0"/>
                </a:rPr>
                <a:t>, sum;</a:t>
              </a:r>
            </a:p>
            <a:p>
              <a:pPr>
                <a:tabLst>
                  <a:tab pos="268288" algn="l"/>
                  <a:tab pos="536575" algn="l"/>
                  <a:tab pos="804863" algn="l"/>
                </a:tabLst>
              </a:pPr>
              <a:endParaRPr lang="en-US" b="1" dirty="0" smtClean="0">
                <a:latin typeface="Courier New" pitchFamily="49" charset="0"/>
                <a:cs typeface="Courier New" pitchFamily="49" charset="0"/>
              </a:endParaRP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if</a:t>
              </a:r>
              <a:r>
                <a:rPr lang="en-US" b="1" dirty="0" smtClean="0">
                  <a:latin typeface="Courier New" pitchFamily="49" charset="0"/>
                  <a:cs typeface="Courier New" pitchFamily="49" charset="0"/>
                </a:rPr>
                <a:t> (n &lt; </a:t>
              </a:r>
              <a:r>
                <a:rPr lang="en-US" b="1" dirty="0" smtClean="0">
                  <a:solidFill>
                    <a:srgbClr val="006600"/>
                  </a:solidFill>
                  <a:latin typeface="Courier New" pitchFamily="49" charset="0"/>
                  <a:cs typeface="Courier New" pitchFamily="49" charset="0"/>
                </a:rPr>
                <a:t>2</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n;</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for</a:t>
              </a:r>
              <a:r>
                <a:rPr lang="en-US" b="1" dirty="0" smtClean="0">
                  <a:latin typeface="Courier New" pitchFamily="49" charset="0"/>
                  <a:cs typeface="Courier New" pitchFamily="49" charset="0"/>
                </a:rPr>
                <a:t> (; n&gt;</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 n--) {</a:t>
              </a:r>
            </a:p>
            <a:p>
              <a:pPr>
                <a:tabLst>
                  <a:tab pos="268288" algn="l"/>
                  <a:tab pos="536575" algn="l"/>
                  <a:tab pos="804863" algn="l"/>
                </a:tabLst>
              </a:pPr>
              <a:r>
                <a:rPr lang="en-US" b="1" dirty="0" smtClean="0">
                  <a:latin typeface="Courier New" pitchFamily="49" charset="0"/>
                  <a:cs typeface="Courier New" pitchFamily="49" charset="0"/>
                </a:rPr>
                <a:t>		sum = prev1 + prev2;</a:t>
              </a:r>
            </a:p>
            <a:p>
              <a:pPr>
                <a:tabLst>
                  <a:tab pos="268288" algn="l"/>
                  <a:tab pos="536575" algn="l"/>
                  <a:tab pos="804863" algn="l"/>
                </a:tabLst>
              </a:pPr>
              <a:r>
                <a:rPr lang="en-US" b="1" dirty="0" smtClean="0">
                  <a:latin typeface="Courier New" pitchFamily="49" charset="0"/>
                  <a:cs typeface="Courier New" pitchFamily="49" charset="0"/>
                </a:rPr>
                <a:t>		prev2 = prev1;</a:t>
              </a:r>
            </a:p>
            <a:p>
              <a:pPr>
                <a:tabLst>
                  <a:tab pos="268288" algn="l"/>
                  <a:tab pos="536575" algn="l"/>
                  <a:tab pos="804863" algn="l"/>
                </a:tabLst>
              </a:pPr>
              <a:r>
                <a:rPr lang="en-US" b="1" dirty="0" smtClean="0">
                  <a:latin typeface="Courier New" pitchFamily="49" charset="0"/>
                  <a:cs typeface="Courier New" pitchFamily="49" charset="0"/>
                </a:rPr>
                <a:t>		prev1 = sum;</a:t>
              </a:r>
            </a:p>
            <a:p>
              <a:pPr>
                <a:tabLst>
                  <a:tab pos="268288" algn="l"/>
                  <a:tab pos="536575" algn="l"/>
                  <a:tab pos="804863" algn="l"/>
                </a:tabLst>
              </a:pPr>
              <a:r>
                <a:rPr lang="en-US" b="1" dirty="0" smtClean="0">
                  <a:latin typeface="Courier New" pitchFamily="49" charset="0"/>
                  <a:cs typeface="Courier New" pitchFamily="49" charset="0"/>
                </a:rPr>
                <a:t>	}</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sum;</a:t>
              </a:r>
            </a:p>
            <a:p>
              <a:pPr>
                <a:tabLst>
                  <a:tab pos="268288" algn="l"/>
                  <a:tab pos="536575" algn="l"/>
                  <a:tab pos="804863" algn="l"/>
                </a:tabLst>
              </a:pPr>
              <a:r>
                <a:rPr lang="en-US" b="1" dirty="0" smtClean="0">
                  <a:latin typeface="Courier New" pitchFamily="49" charset="0"/>
                  <a:cs typeface="Courier New" pitchFamily="49" charset="0"/>
                </a:rPr>
                <a:t>}</a:t>
              </a:r>
            </a:p>
          </p:txBody>
        </p:sp>
      </p:grpSp>
      <p:grpSp>
        <p:nvGrpSpPr>
          <p:cNvPr id="13" name="Group 12"/>
          <p:cNvGrpSpPr/>
          <p:nvPr/>
        </p:nvGrpSpPr>
        <p:grpSpPr>
          <a:xfrm>
            <a:off x="4134394" y="1857102"/>
            <a:ext cx="4802342" cy="2387071"/>
            <a:chOff x="4134394" y="1857102"/>
            <a:chExt cx="4802342" cy="2387071"/>
          </a:xfrm>
        </p:grpSpPr>
        <p:sp>
          <p:nvSpPr>
            <p:cNvPr id="10" name="TextBox 9"/>
            <p:cNvSpPr txBox="1"/>
            <p:nvPr/>
          </p:nvSpPr>
          <p:spPr>
            <a:xfrm>
              <a:off x="4134394" y="1857102"/>
              <a:ext cx="2205445" cy="400110"/>
            </a:xfrm>
            <a:prstGeom prst="rect">
              <a:avLst/>
            </a:prstGeom>
            <a:noFill/>
          </p:spPr>
          <p:txBody>
            <a:bodyPr wrap="square" rtlCol="0">
              <a:spAutoFit/>
            </a:bodyPr>
            <a:lstStyle/>
            <a:p>
              <a:r>
                <a:rPr lang="en-US" sz="2000" dirty="0" smtClean="0"/>
                <a:t>Recursive code:</a:t>
              </a:r>
              <a:endParaRPr lang="en-SG" sz="2000" dirty="0"/>
            </a:p>
          </p:txBody>
        </p:sp>
        <p:sp>
          <p:nvSpPr>
            <p:cNvPr id="11" name="TextBox 10"/>
            <p:cNvSpPr txBox="1"/>
            <p:nvPr/>
          </p:nvSpPr>
          <p:spPr>
            <a:xfrm>
              <a:off x="4407408" y="2212848"/>
              <a:ext cx="4529328"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b="1" dirty="0" smtClean="0">
                  <a:solidFill>
                    <a:srgbClr val="800000"/>
                  </a:solidFill>
                  <a:latin typeface="Courier New" pitchFamily="49" charset="0"/>
                  <a:cs typeface="Courier New" pitchFamily="49" charset="0"/>
                </a:rPr>
                <a:t>// Pre-</a:t>
              </a:r>
              <a:r>
                <a:rPr lang="en-US" b="1" dirty="0" err="1" smtClean="0">
                  <a:solidFill>
                    <a:srgbClr val="800000"/>
                  </a:solidFill>
                  <a:latin typeface="Courier New" pitchFamily="49" charset="0"/>
                  <a:cs typeface="Courier New" pitchFamily="49" charset="0"/>
                </a:rPr>
                <a:t>cond</a:t>
              </a:r>
              <a:r>
                <a:rPr lang="en-US" b="1" dirty="0" smtClean="0">
                  <a:solidFill>
                    <a:srgbClr val="800000"/>
                  </a:solidFill>
                  <a:latin typeface="Courier New" pitchFamily="49" charset="0"/>
                  <a:cs typeface="Courier New" pitchFamily="49" charset="0"/>
                </a:rPr>
                <a:t>: n &gt;= 0</a:t>
              </a:r>
            </a:p>
            <a:p>
              <a:pPr>
                <a:tabLst>
                  <a:tab pos="268288" algn="l"/>
                  <a:tab pos="536575" algn="l"/>
                  <a:tab pos="804863" algn="l"/>
                </a:tabLst>
              </a:pP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fib(</a:t>
              </a:r>
              <a:r>
                <a:rPr lang="en-US" b="1" dirty="0" err="1" smtClean="0">
                  <a:solidFill>
                    <a:srgbClr val="0000FF"/>
                  </a:solidFill>
                  <a:latin typeface="Courier New" pitchFamily="49" charset="0"/>
                  <a:cs typeface="Courier New" pitchFamily="49" charset="0"/>
                </a:rPr>
                <a:t>int</a:t>
              </a:r>
              <a:r>
                <a:rPr lang="en-US" b="1" dirty="0" smtClean="0">
                  <a:latin typeface="Courier New" pitchFamily="49" charset="0"/>
                  <a:cs typeface="Courier New" pitchFamily="49" charset="0"/>
                </a:rPr>
                <a:t> n) {</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if</a:t>
              </a:r>
              <a:r>
                <a:rPr lang="en-US" b="1" dirty="0" smtClean="0">
                  <a:latin typeface="Courier New" pitchFamily="49" charset="0"/>
                  <a:cs typeface="Courier New" pitchFamily="49" charset="0"/>
                </a:rPr>
                <a:t> (n &lt; </a:t>
              </a:r>
              <a:r>
                <a:rPr lang="en-US" b="1" dirty="0" smtClean="0">
                  <a:solidFill>
                    <a:srgbClr val="006600"/>
                  </a:solidFill>
                  <a:latin typeface="Courier New" pitchFamily="49" charset="0"/>
                  <a:cs typeface="Courier New" pitchFamily="49" charset="0"/>
                </a:rPr>
                <a:t>2</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n;</a:t>
              </a: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else</a:t>
              </a:r>
              <a:endParaRPr lang="en-US" b="1" dirty="0" smtClean="0">
                <a:latin typeface="Courier New" pitchFamily="49" charset="0"/>
                <a:cs typeface="Courier New" pitchFamily="49" charset="0"/>
              </a:endParaRPr>
            </a:p>
            <a:p>
              <a:pPr>
                <a:tabLst>
                  <a:tab pos="268288" algn="l"/>
                  <a:tab pos="536575" algn="l"/>
                  <a:tab pos="804863" algn="l"/>
                </a:tabLst>
              </a:pPr>
              <a:r>
                <a:rPr lang="en-US" b="1" dirty="0" smtClean="0">
                  <a:latin typeface="Courier New" pitchFamily="49" charset="0"/>
                  <a:cs typeface="Courier New" pitchFamily="49" charset="0"/>
                </a:rPr>
                <a:t>		</a:t>
              </a:r>
              <a:r>
                <a:rPr lang="en-US" b="1" dirty="0" smtClean="0">
                  <a:solidFill>
                    <a:srgbClr val="0000FF"/>
                  </a:solidFill>
                  <a:latin typeface="Courier New" pitchFamily="49" charset="0"/>
                  <a:cs typeface="Courier New" pitchFamily="49" charset="0"/>
                </a:rPr>
                <a:t>return</a:t>
              </a:r>
              <a:r>
                <a:rPr lang="en-US" b="1" dirty="0" smtClean="0">
                  <a:latin typeface="Courier New" pitchFamily="49" charset="0"/>
                  <a:cs typeface="Courier New" pitchFamily="49" charset="0"/>
                </a:rPr>
                <a:t> fib(n-</a:t>
              </a:r>
              <a:r>
                <a:rPr lang="en-US" b="1" dirty="0" smtClean="0">
                  <a:solidFill>
                    <a:srgbClr val="006600"/>
                  </a:solidFill>
                  <a:latin typeface="Courier New" pitchFamily="49" charset="0"/>
                  <a:cs typeface="Courier New" pitchFamily="49" charset="0"/>
                </a:rPr>
                <a:t>1</a:t>
              </a:r>
              <a:r>
                <a:rPr lang="en-US" b="1" dirty="0" smtClean="0">
                  <a:latin typeface="Courier New" pitchFamily="49" charset="0"/>
                  <a:cs typeface="Courier New" pitchFamily="49" charset="0"/>
                </a:rPr>
                <a:t>) + fib(n-</a:t>
              </a:r>
              <a:r>
                <a:rPr lang="en-US" b="1" dirty="0" smtClean="0">
                  <a:solidFill>
                    <a:srgbClr val="006600"/>
                  </a:solidFill>
                  <a:latin typeface="Courier New" pitchFamily="49" charset="0"/>
                  <a:cs typeface="Courier New" pitchFamily="49" charset="0"/>
                </a:rPr>
                <a:t>2</a:t>
              </a:r>
              <a:r>
                <a:rPr lang="en-US" b="1" dirty="0" smtClean="0">
                  <a:latin typeface="Courier New" pitchFamily="49" charset="0"/>
                  <a:cs typeface="Courier New" pitchFamily="49" charset="0"/>
                </a:rPr>
                <a:t>);</a:t>
              </a:r>
            </a:p>
            <a:p>
              <a:pPr>
                <a:tabLst>
                  <a:tab pos="268288" algn="l"/>
                  <a:tab pos="536575" algn="l"/>
                  <a:tab pos="804863" algn="l"/>
                </a:tabLst>
              </a:pPr>
              <a:r>
                <a:rPr lang="en-US" b="1" dirty="0" smtClean="0">
                  <a:latin typeface="Courier New" pitchFamily="49" charset="0"/>
                  <a:cs typeface="Courier New" pitchFamily="49" charset="0"/>
                </a:rPr>
                <a:t>}</a:t>
              </a:r>
            </a:p>
          </p:txBody>
        </p:sp>
      </p:grpSp>
      <p:sp>
        <p:nvSpPr>
          <p:cNvPr id="14" name="TextBox 13"/>
          <p:cNvSpPr txBox="1"/>
          <p:nvPr/>
        </p:nvSpPr>
        <p:spPr>
          <a:xfrm>
            <a:off x="4804229" y="4336143"/>
            <a:ext cx="2677886" cy="1323439"/>
          </a:xfrm>
          <a:prstGeom prst="rect">
            <a:avLst/>
          </a:prstGeom>
          <a:solidFill>
            <a:srgbClr val="FFFF99"/>
          </a:solidFill>
        </p:spPr>
        <p:txBody>
          <a:bodyPr wrap="square" rtlCol="0">
            <a:spAutoFit/>
          </a:bodyPr>
          <a:lstStyle/>
          <a:p>
            <a:r>
              <a:rPr lang="en-US" sz="2000" dirty="0" smtClean="0"/>
              <a:t>Recurrence relation:</a:t>
            </a:r>
          </a:p>
          <a:p>
            <a:pPr lvl="1">
              <a:buFontTx/>
              <a:buNone/>
            </a:pPr>
            <a:r>
              <a:rPr lang="en-US" sz="2000" dirty="0" smtClean="0">
                <a:solidFill>
                  <a:srgbClr val="800000"/>
                </a:solidFill>
                <a:latin typeface="Calibri" pitchFamily="34" charset="0"/>
              </a:rPr>
              <a:t>f</a:t>
            </a:r>
            <a:r>
              <a:rPr lang="en-US" sz="2000" baseline="-25000" dirty="0" smtClean="0">
                <a:solidFill>
                  <a:srgbClr val="800000"/>
                </a:solidFill>
                <a:latin typeface="Calibri" pitchFamily="34" charset="0"/>
              </a:rPr>
              <a:t>n</a:t>
            </a:r>
            <a:r>
              <a:rPr lang="en-US" sz="2000" dirty="0" smtClean="0">
                <a:solidFill>
                  <a:srgbClr val="800000"/>
                </a:solidFill>
                <a:latin typeface="Calibri" pitchFamily="34" charset="0"/>
              </a:rPr>
              <a:t> = f</a:t>
            </a:r>
            <a:r>
              <a:rPr lang="en-US" sz="2000" baseline="-25000" dirty="0" smtClean="0">
                <a:solidFill>
                  <a:srgbClr val="800000"/>
                </a:solidFill>
                <a:latin typeface="Calibri" pitchFamily="34" charset="0"/>
              </a:rPr>
              <a:t>n-1</a:t>
            </a:r>
            <a:r>
              <a:rPr lang="en-US" sz="2000" dirty="0" smtClean="0">
                <a:solidFill>
                  <a:srgbClr val="800000"/>
                </a:solidFill>
                <a:latin typeface="Calibri" pitchFamily="34" charset="0"/>
              </a:rPr>
              <a:t> + f</a:t>
            </a:r>
            <a:r>
              <a:rPr lang="en-US" sz="2000" baseline="-25000" dirty="0" smtClean="0">
                <a:solidFill>
                  <a:srgbClr val="800000"/>
                </a:solidFill>
                <a:latin typeface="Calibri" pitchFamily="34" charset="0"/>
              </a:rPr>
              <a:t>n-2  </a:t>
            </a:r>
            <a:r>
              <a:rPr lang="en-US" sz="2000" dirty="0" smtClean="0">
                <a:solidFill>
                  <a:srgbClr val="800000"/>
                </a:solidFill>
                <a:latin typeface="Calibri" pitchFamily="34" charset="0"/>
              </a:rPr>
              <a:t>n</a:t>
            </a:r>
            <a:r>
              <a:rPr lang="en-US" sz="2000" dirty="0" smtClean="0">
                <a:solidFill>
                  <a:srgbClr val="800000"/>
                </a:solidFill>
                <a:latin typeface="Calibri" pitchFamily="34" charset="0"/>
                <a:sym typeface="Symbol" pitchFamily="18" charset="2"/>
              </a:rPr>
              <a:t>≥ 2</a:t>
            </a:r>
          </a:p>
          <a:p>
            <a:pPr lvl="1">
              <a:buFontTx/>
              <a:buNone/>
            </a:pPr>
            <a:r>
              <a:rPr lang="en-US" sz="2000" dirty="0" smtClean="0">
                <a:solidFill>
                  <a:srgbClr val="800000"/>
                </a:solidFill>
                <a:latin typeface="Calibri" pitchFamily="34" charset="0"/>
                <a:sym typeface="Symbol" pitchFamily="18" charset="2"/>
              </a:rPr>
              <a:t>f</a:t>
            </a:r>
            <a:r>
              <a:rPr lang="en-US" sz="2000" baseline="-25000" dirty="0" smtClean="0">
                <a:solidFill>
                  <a:srgbClr val="800000"/>
                </a:solidFill>
                <a:latin typeface="Calibri" pitchFamily="34" charset="0"/>
                <a:sym typeface="Symbol" pitchFamily="18" charset="2"/>
              </a:rPr>
              <a:t>0 </a:t>
            </a:r>
            <a:r>
              <a:rPr lang="en-US" sz="2000" dirty="0" smtClean="0">
                <a:solidFill>
                  <a:srgbClr val="800000"/>
                </a:solidFill>
                <a:latin typeface="Calibri" pitchFamily="34" charset="0"/>
                <a:sym typeface="Symbol" pitchFamily="18" charset="2"/>
              </a:rPr>
              <a:t>= 0</a:t>
            </a:r>
          </a:p>
          <a:p>
            <a:pPr lvl="1">
              <a:buFontTx/>
              <a:buNone/>
            </a:pPr>
            <a:r>
              <a:rPr lang="en-US" sz="2000" dirty="0" smtClean="0">
                <a:solidFill>
                  <a:srgbClr val="800000"/>
                </a:solidFill>
                <a:latin typeface="Calibri" pitchFamily="34" charset="0"/>
                <a:sym typeface="Symbol" pitchFamily="18" charset="2"/>
              </a:rPr>
              <a:t>f</a:t>
            </a:r>
            <a:r>
              <a:rPr lang="en-US" sz="2000" baseline="-25000" dirty="0" smtClean="0">
                <a:solidFill>
                  <a:srgbClr val="800000"/>
                </a:solidFill>
                <a:latin typeface="Calibri" pitchFamily="34" charset="0"/>
                <a:sym typeface="Symbol" pitchFamily="18" charset="2"/>
              </a:rPr>
              <a:t>1</a:t>
            </a:r>
            <a:r>
              <a:rPr lang="en-US" sz="2000" dirty="0" smtClean="0">
                <a:solidFill>
                  <a:srgbClr val="800000"/>
                </a:solidFill>
                <a:latin typeface="Calibri" pitchFamily="34" charset="0"/>
                <a:sym typeface="Symbol" pitchFamily="18" charset="2"/>
              </a:rPr>
              <a:t> = 1</a:t>
            </a:r>
          </a:p>
        </p:txBody>
      </p:sp>
      <p:sp>
        <p:nvSpPr>
          <p:cNvPr id="16" name="TextBox 15"/>
          <p:cNvSpPr txBox="1"/>
          <p:nvPr/>
        </p:nvSpPr>
        <p:spPr>
          <a:xfrm>
            <a:off x="6531429" y="1415142"/>
            <a:ext cx="2242457" cy="369332"/>
          </a:xfrm>
          <a:prstGeom prst="rect">
            <a:avLst/>
          </a:prstGeom>
          <a:solidFill>
            <a:srgbClr val="CCFF99"/>
          </a:solidFill>
          <a:ln>
            <a:solidFill>
              <a:schemeClr val="tx1"/>
            </a:solidFill>
          </a:ln>
        </p:spPr>
        <p:txBody>
          <a:bodyPr wrap="square" rtlCol="0">
            <a:spAutoFit/>
          </a:bodyPr>
          <a:lstStyle/>
          <a:p>
            <a:r>
              <a:rPr lang="en-US" dirty="0" smtClean="0"/>
              <a:t>Week11_fibonacci.c</a:t>
            </a:r>
            <a:endParaRPr lang="en-SG" dirty="0"/>
          </a:p>
        </p:txBody>
      </p:sp>
      <p:sp>
        <p:nvSpPr>
          <p:cNvPr id="3" name="Slide Number Placeholder 2"/>
          <p:cNvSpPr>
            <a:spLocks noGrp="1"/>
          </p:cNvSpPr>
          <p:nvPr>
            <p:ph type="sldNum" sz="quarter" idx="11"/>
          </p:nvPr>
        </p:nvSpPr>
        <p:spPr/>
        <p:txBody>
          <a:bodyPr/>
          <a:lstStyle/>
          <a:p>
            <a:pPr>
              <a:defRPr/>
            </a:pPr>
            <a:r>
              <a:rPr lang="en-US" dirty="0" smtClean="0"/>
              <a:t>Week11 - </a:t>
            </a:r>
            <a:fld id="{6E90ABC7-7044-4F1F-B273-92F595F59CFE}" type="slidenum">
              <a:rPr lang="en-US" smtClean="0"/>
              <a:pPr>
                <a:defRPr/>
              </a:pPr>
              <a:t>15</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dissolve">
                                      <p:cBhvr>
                                        <p:cTn id="16" dur="500"/>
                                        <p:tgtEl>
                                          <p:spTgt spid="13"/>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dissolv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3.2 Fibonacci (3/3)</a:t>
            </a:r>
          </a:p>
        </p:txBody>
      </p:sp>
      <p:sp>
        <p:nvSpPr>
          <p:cNvPr id="40963" name="Rectangle 3"/>
          <p:cNvSpPr>
            <a:spLocks noGrp="1" noChangeArrowheads="1"/>
          </p:cNvSpPr>
          <p:nvPr>
            <p:ph type="body" idx="1"/>
          </p:nvPr>
        </p:nvSpPr>
        <p:spPr>
          <a:xfrm>
            <a:off x="457200" y="1373189"/>
            <a:ext cx="7053943" cy="923698"/>
          </a:xfrm>
        </p:spPr>
        <p:txBody>
          <a:bodyPr/>
          <a:lstStyle/>
          <a:p>
            <a:pPr>
              <a:spcBef>
                <a:spcPts val="600"/>
              </a:spcBef>
            </a:pPr>
            <a:r>
              <a:rPr lang="en-US" sz="2000" dirty="0" smtClean="0"/>
              <a:t>fib(n) makes 2 recursive calls: fib(n-1) and fib(n-2)</a:t>
            </a:r>
          </a:p>
          <a:p>
            <a:pPr>
              <a:spcBef>
                <a:spcPts val="600"/>
              </a:spcBef>
            </a:pPr>
            <a:r>
              <a:rPr lang="en-US" sz="2000" dirty="0" smtClean="0">
                <a:solidFill>
                  <a:srgbClr val="0000FF"/>
                </a:solidFill>
              </a:rPr>
              <a:t>Trace tree </a:t>
            </a:r>
            <a:r>
              <a:rPr lang="en-US" sz="2000" dirty="0" smtClean="0"/>
              <a:t>(or </a:t>
            </a:r>
            <a:r>
              <a:rPr lang="en-US" sz="2000" dirty="0" smtClean="0">
                <a:solidFill>
                  <a:srgbClr val="0000FF"/>
                </a:solidFill>
              </a:rPr>
              <a:t>call tree</a:t>
            </a:r>
            <a:r>
              <a:rPr lang="en-US" sz="2000" dirty="0" smtClean="0"/>
              <a:t>) for fib(5)</a:t>
            </a:r>
          </a:p>
        </p:txBody>
      </p:sp>
      <p:sp>
        <p:nvSpPr>
          <p:cNvPr id="11" name="Text Box 4"/>
          <p:cNvSpPr txBox="1">
            <a:spLocks noChangeArrowheads="1"/>
          </p:cNvSpPr>
          <p:nvPr/>
        </p:nvSpPr>
        <p:spPr bwMode="auto">
          <a:xfrm>
            <a:off x="4393210" y="2520190"/>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fib(5</a:t>
            </a:r>
            <a:r>
              <a:rPr lang="en-US" sz="1600" dirty="0"/>
              <a:t>)</a:t>
            </a:r>
          </a:p>
        </p:txBody>
      </p:sp>
      <p:sp>
        <p:nvSpPr>
          <p:cNvPr id="12" name="Line 13"/>
          <p:cNvSpPr>
            <a:spLocks noChangeShapeType="1"/>
          </p:cNvSpPr>
          <p:nvPr/>
        </p:nvSpPr>
        <p:spPr bwMode="auto">
          <a:xfrm flipV="1">
            <a:off x="3380887" y="2879341"/>
            <a:ext cx="1012848" cy="432949"/>
          </a:xfrm>
          <a:prstGeom prst="line">
            <a:avLst/>
          </a:prstGeom>
          <a:noFill/>
          <a:ln w="31750" cap="sq">
            <a:solidFill>
              <a:srgbClr val="006600"/>
            </a:solidFill>
            <a:round/>
            <a:headEnd type="none" w="sm" len="sm"/>
            <a:tailEnd type="triangle" w="med" len="med"/>
          </a:ln>
        </p:spPr>
        <p:txBody>
          <a:bodyPr/>
          <a:lstStyle/>
          <a:p>
            <a:endParaRPr lang="en-SG"/>
          </a:p>
        </p:txBody>
      </p:sp>
      <p:sp>
        <p:nvSpPr>
          <p:cNvPr id="13" name="Text Box 15"/>
          <p:cNvSpPr txBox="1">
            <a:spLocks noChangeArrowheads="1"/>
          </p:cNvSpPr>
          <p:nvPr/>
        </p:nvSpPr>
        <p:spPr bwMode="auto">
          <a:xfrm>
            <a:off x="3626202" y="2866333"/>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3</a:t>
            </a:r>
            <a:endParaRPr lang="en-US" b="1" dirty="0"/>
          </a:p>
        </p:txBody>
      </p:sp>
      <p:sp>
        <p:nvSpPr>
          <p:cNvPr id="14" name="Text Box 16"/>
          <p:cNvSpPr txBox="1">
            <a:spLocks noChangeArrowheads="1"/>
          </p:cNvSpPr>
          <p:nvPr/>
        </p:nvSpPr>
        <p:spPr bwMode="auto">
          <a:xfrm>
            <a:off x="5824207" y="2899254"/>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2</a:t>
            </a:r>
            <a:endParaRPr lang="en-US" b="1" dirty="0"/>
          </a:p>
        </p:txBody>
      </p:sp>
      <p:sp>
        <p:nvSpPr>
          <p:cNvPr id="15" name="Text Box 18"/>
          <p:cNvSpPr txBox="1">
            <a:spLocks noChangeArrowheads="1"/>
          </p:cNvSpPr>
          <p:nvPr/>
        </p:nvSpPr>
        <p:spPr bwMode="auto">
          <a:xfrm>
            <a:off x="1950158" y="3709409"/>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2</a:t>
            </a:r>
            <a:endParaRPr lang="en-US" b="1" dirty="0"/>
          </a:p>
        </p:txBody>
      </p:sp>
      <p:sp>
        <p:nvSpPr>
          <p:cNvPr id="16" name="Text Box 20"/>
          <p:cNvSpPr txBox="1">
            <a:spLocks noChangeArrowheads="1"/>
          </p:cNvSpPr>
          <p:nvPr/>
        </p:nvSpPr>
        <p:spPr bwMode="auto">
          <a:xfrm>
            <a:off x="3757624" y="3787451"/>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1</a:t>
            </a:r>
            <a:endParaRPr lang="en-US" b="1" dirty="0"/>
          </a:p>
        </p:txBody>
      </p:sp>
      <p:sp>
        <p:nvSpPr>
          <p:cNvPr id="17" name="Text Box 22"/>
          <p:cNvSpPr txBox="1">
            <a:spLocks noChangeArrowheads="1"/>
          </p:cNvSpPr>
          <p:nvPr/>
        </p:nvSpPr>
        <p:spPr bwMode="auto">
          <a:xfrm>
            <a:off x="841732" y="4653878"/>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1</a:t>
            </a:r>
            <a:endParaRPr lang="en-US" b="1" dirty="0"/>
          </a:p>
        </p:txBody>
      </p:sp>
      <p:sp>
        <p:nvSpPr>
          <p:cNvPr id="59" name="Line 21"/>
          <p:cNvSpPr>
            <a:spLocks noChangeShapeType="1"/>
          </p:cNvSpPr>
          <p:nvPr/>
        </p:nvSpPr>
        <p:spPr bwMode="auto">
          <a:xfrm flipV="1">
            <a:off x="854741" y="4577694"/>
            <a:ext cx="635363"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60" name="Line 23"/>
          <p:cNvSpPr>
            <a:spLocks noChangeShapeType="1"/>
          </p:cNvSpPr>
          <p:nvPr/>
        </p:nvSpPr>
        <p:spPr bwMode="auto">
          <a:xfrm flipH="1" flipV="1">
            <a:off x="1924643" y="4577693"/>
            <a:ext cx="635363"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19" name="Text Box 24"/>
          <p:cNvSpPr txBox="1">
            <a:spLocks noChangeArrowheads="1"/>
          </p:cNvSpPr>
          <p:nvPr/>
        </p:nvSpPr>
        <p:spPr bwMode="auto">
          <a:xfrm>
            <a:off x="2315485" y="4675649"/>
            <a:ext cx="304784" cy="280930"/>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a:t>1</a:t>
            </a:r>
          </a:p>
        </p:txBody>
      </p:sp>
      <p:sp>
        <p:nvSpPr>
          <p:cNvPr id="20" name="Text Box 26"/>
          <p:cNvSpPr txBox="1">
            <a:spLocks noChangeArrowheads="1"/>
          </p:cNvSpPr>
          <p:nvPr/>
        </p:nvSpPr>
        <p:spPr bwMode="auto">
          <a:xfrm>
            <a:off x="5936497" y="3776565"/>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1</a:t>
            </a:r>
            <a:endParaRPr lang="en-US" b="1" dirty="0"/>
          </a:p>
        </p:txBody>
      </p:sp>
      <p:sp>
        <p:nvSpPr>
          <p:cNvPr id="21" name="Line 17"/>
          <p:cNvSpPr>
            <a:spLocks noChangeShapeType="1"/>
          </p:cNvSpPr>
          <p:nvPr/>
        </p:nvSpPr>
        <p:spPr bwMode="auto">
          <a:xfrm flipV="1">
            <a:off x="1807059" y="3711267"/>
            <a:ext cx="838156" cy="481263"/>
          </a:xfrm>
          <a:prstGeom prst="line">
            <a:avLst/>
          </a:prstGeom>
          <a:noFill/>
          <a:ln w="31750" cap="sq">
            <a:solidFill>
              <a:srgbClr val="006600"/>
            </a:solidFill>
            <a:round/>
            <a:headEnd type="none" w="sm" len="sm"/>
            <a:tailEnd type="triangle" w="med" len="med"/>
          </a:ln>
        </p:spPr>
        <p:txBody>
          <a:bodyPr/>
          <a:lstStyle/>
          <a:p>
            <a:endParaRPr lang="en-SG"/>
          </a:p>
        </p:txBody>
      </p:sp>
      <p:sp>
        <p:nvSpPr>
          <p:cNvPr id="22" name="Line 19"/>
          <p:cNvSpPr>
            <a:spLocks noChangeShapeType="1"/>
          </p:cNvSpPr>
          <p:nvPr/>
        </p:nvSpPr>
        <p:spPr bwMode="auto">
          <a:xfrm flipH="1" flipV="1">
            <a:off x="3222133" y="3700382"/>
            <a:ext cx="838156" cy="481263"/>
          </a:xfrm>
          <a:prstGeom prst="line">
            <a:avLst/>
          </a:prstGeom>
          <a:noFill/>
          <a:ln w="31750" cap="sq">
            <a:solidFill>
              <a:srgbClr val="006600"/>
            </a:solidFill>
            <a:round/>
            <a:headEnd type="none" w="sm" len="sm"/>
            <a:tailEnd type="triangle" w="med" len="med"/>
          </a:ln>
        </p:spPr>
        <p:txBody>
          <a:bodyPr/>
          <a:lstStyle/>
          <a:p>
            <a:endParaRPr lang="en-SG">
              <a:ln>
                <a:solidFill>
                  <a:srgbClr val="006600"/>
                </a:solidFill>
              </a:ln>
            </a:endParaRPr>
          </a:p>
        </p:txBody>
      </p:sp>
      <p:sp>
        <p:nvSpPr>
          <p:cNvPr id="57" name="Line 25"/>
          <p:cNvSpPr>
            <a:spLocks noChangeShapeType="1"/>
          </p:cNvSpPr>
          <p:nvPr/>
        </p:nvSpPr>
        <p:spPr bwMode="auto">
          <a:xfrm flipV="1">
            <a:off x="5938355" y="3700381"/>
            <a:ext cx="711410" cy="481263"/>
          </a:xfrm>
          <a:prstGeom prst="line">
            <a:avLst/>
          </a:prstGeom>
          <a:noFill/>
          <a:ln w="31750" cap="sq">
            <a:solidFill>
              <a:srgbClr val="006600"/>
            </a:solidFill>
            <a:round/>
            <a:headEnd type="none" w="sm" len="sm"/>
            <a:tailEnd type="triangle" w="med" len="med"/>
          </a:ln>
        </p:spPr>
        <p:txBody>
          <a:bodyPr/>
          <a:lstStyle/>
          <a:p>
            <a:endParaRPr lang="en-SG"/>
          </a:p>
        </p:txBody>
      </p:sp>
      <p:sp>
        <p:nvSpPr>
          <p:cNvPr id="58" name="Line 27"/>
          <p:cNvSpPr>
            <a:spLocks noChangeShapeType="1"/>
          </p:cNvSpPr>
          <p:nvPr/>
        </p:nvSpPr>
        <p:spPr bwMode="auto">
          <a:xfrm flipH="1" flipV="1">
            <a:off x="7105044" y="3711267"/>
            <a:ext cx="711410" cy="481263"/>
          </a:xfrm>
          <a:prstGeom prst="line">
            <a:avLst/>
          </a:prstGeom>
          <a:noFill/>
          <a:ln w="31750" cap="sq">
            <a:solidFill>
              <a:srgbClr val="006600"/>
            </a:solidFill>
            <a:round/>
            <a:headEnd type="none" w="sm" len="sm"/>
            <a:tailEnd type="triangle" w="med" len="med"/>
          </a:ln>
        </p:spPr>
        <p:txBody>
          <a:bodyPr/>
          <a:lstStyle/>
          <a:p>
            <a:endParaRPr lang="en-SG"/>
          </a:p>
        </p:txBody>
      </p:sp>
      <p:sp>
        <p:nvSpPr>
          <p:cNvPr id="24" name="Text Box 28"/>
          <p:cNvSpPr txBox="1">
            <a:spLocks noChangeArrowheads="1"/>
          </p:cNvSpPr>
          <p:nvPr/>
        </p:nvSpPr>
        <p:spPr bwMode="auto">
          <a:xfrm>
            <a:off x="7543263" y="3787451"/>
            <a:ext cx="304784" cy="280930"/>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a:t>1</a:t>
            </a:r>
          </a:p>
        </p:txBody>
      </p:sp>
      <p:sp>
        <p:nvSpPr>
          <p:cNvPr id="25" name="Line 29"/>
          <p:cNvSpPr>
            <a:spLocks noChangeShapeType="1"/>
          </p:cNvSpPr>
          <p:nvPr/>
        </p:nvSpPr>
        <p:spPr bwMode="auto">
          <a:xfrm flipV="1">
            <a:off x="4883837" y="2056720"/>
            <a:ext cx="1859" cy="440383"/>
          </a:xfrm>
          <a:prstGeom prst="line">
            <a:avLst/>
          </a:prstGeom>
          <a:noFill/>
          <a:ln w="31750" cap="sq">
            <a:solidFill>
              <a:srgbClr val="006600"/>
            </a:solidFill>
            <a:round/>
            <a:headEnd type="none" w="sm" len="sm"/>
            <a:tailEnd type="triangle" w="med" len="med"/>
          </a:ln>
        </p:spPr>
        <p:txBody>
          <a:bodyPr/>
          <a:lstStyle/>
          <a:p>
            <a:endParaRPr lang="en-SG"/>
          </a:p>
        </p:txBody>
      </p:sp>
      <p:sp>
        <p:nvSpPr>
          <p:cNvPr id="26" name="Text Box 30"/>
          <p:cNvSpPr txBox="1">
            <a:spLocks noChangeArrowheads="1"/>
          </p:cNvSpPr>
          <p:nvPr/>
        </p:nvSpPr>
        <p:spPr bwMode="auto">
          <a:xfrm>
            <a:off x="4885696" y="2176432"/>
            <a:ext cx="304784" cy="284211"/>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5</a:t>
            </a:r>
            <a:endParaRPr lang="en-US" b="1" dirty="0"/>
          </a:p>
        </p:txBody>
      </p:sp>
      <p:sp>
        <p:nvSpPr>
          <p:cNvPr id="27" name="Line 13"/>
          <p:cNvSpPr>
            <a:spLocks noChangeShapeType="1"/>
          </p:cNvSpPr>
          <p:nvPr/>
        </p:nvSpPr>
        <p:spPr bwMode="auto">
          <a:xfrm flipH="1" flipV="1">
            <a:off x="5314996" y="2897397"/>
            <a:ext cx="1012848" cy="432949"/>
          </a:xfrm>
          <a:prstGeom prst="line">
            <a:avLst/>
          </a:prstGeom>
          <a:noFill/>
          <a:ln w="31750" cap="sq">
            <a:solidFill>
              <a:srgbClr val="006600"/>
            </a:solidFill>
            <a:round/>
            <a:headEnd type="none" w="sm" len="sm"/>
            <a:tailEnd type="triangle" w="med" len="med"/>
          </a:ln>
        </p:spPr>
        <p:txBody>
          <a:bodyPr/>
          <a:lstStyle/>
          <a:p>
            <a:endParaRPr lang="en-SG"/>
          </a:p>
        </p:txBody>
      </p:sp>
      <p:sp>
        <p:nvSpPr>
          <p:cNvPr id="55" name="Line 21"/>
          <p:cNvSpPr>
            <a:spLocks noChangeShapeType="1"/>
          </p:cNvSpPr>
          <p:nvPr/>
        </p:nvSpPr>
        <p:spPr bwMode="auto">
          <a:xfrm flipV="1">
            <a:off x="441889" y="5487664"/>
            <a:ext cx="475909"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56" name="Line 23"/>
          <p:cNvSpPr>
            <a:spLocks noChangeShapeType="1"/>
          </p:cNvSpPr>
          <p:nvPr/>
        </p:nvSpPr>
        <p:spPr bwMode="auto">
          <a:xfrm flipH="1" flipV="1">
            <a:off x="1341507" y="5487664"/>
            <a:ext cx="475909"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29" name="Text Box 24"/>
          <p:cNvSpPr txBox="1">
            <a:spLocks noChangeArrowheads="1"/>
          </p:cNvSpPr>
          <p:nvPr/>
        </p:nvSpPr>
        <p:spPr bwMode="auto">
          <a:xfrm>
            <a:off x="1568384" y="5552699"/>
            <a:ext cx="304784" cy="284269"/>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0</a:t>
            </a:r>
            <a:endParaRPr lang="en-US" b="1" dirty="0"/>
          </a:p>
        </p:txBody>
      </p:sp>
      <p:sp>
        <p:nvSpPr>
          <p:cNvPr id="30" name="Text Box 24"/>
          <p:cNvSpPr txBox="1">
            <a:spLocks noChangeArrowheads="1"/>
          </p:cNvSpPr>
          <p:nvPr/>
        </p:nvSpPr>
        <p:spPr bwMode="auto">
          <a:xfrm>
            <a:off x="404720" y="5563847"/>
            <a:ext cx="304784" cy="280930"/>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a:t>1</a:t>
            </a:r>
          </a:p>
        </p:txBody>
      </p:sp>
      <p:sp>
        <p:nvSpPr>
          <p:cNvPr id="31" name="Text Box 4"/>
          <p:cNvSpPr txBox="1">
            <a:spLocks noChangeArrowheads="1"/>
          </p:cNvSpPr>
          <p:nvPr/>
        </p:nvSpPr>
        <p:spPr bwMode="auto">
          <a:xfrm>
            <a:off x="2460436" y="3341494"/>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fib(4</a:t>
            </a:r>
            <a:r>
              <a:rPr lang="en-US" sz="1600" dirty="0"/>
              <a:t>)</a:t>
            </a:r>
          </a:p>
        </p:txBody>
      </p:sp>
      <p:sp>
        <p:nvSpPr>
          <p:cNvPr id="32" name="Text Box 4"/>
          <p:cNvSpPr txBox="1">
            <a:spLocks noChangeArrowheads="1"/>
          </p:cNvSpPr>
          <p:nvPr/>
        </p:nvSpPr>
        <p:spPr bwMode="auto">
          <a:xfrm>
            <a:off x="6262799" y="3341495"/>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fib(3</a:t>
            </a:r>
            <a:r>
              <a:rPr lang="en-US" sz="1600" dirty="0"/>
              <a:t>)</a:t>
            </a:r>
          </a:p>
        </p:txBody>
      </p:sp>
      <p:sp>
        <p:nvSpPr>
          <p:cNvPr id="33" name="Text Box 4"/>
          <p:cNvSpPr txBox="1">
            <a:spLocks noChangeArrowheads="1"/>
          </p:cNvSpPr>
          <p:nvPr/>
        </p:nvSpPr>
        <p:spPr bwMode="auto">
          <a:xfrm>
            <a:off x="1230150" y="4196246"/>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fib(3</a:t>
            </a:r>
            <a:r>
              <a:rPr lang="en-US" sz="1600" dirty="0"/>
              <a:t>)</a:t>
            </a:r>
          </a:p>
        </p:txBody>
      </p:sp>
      <p:sp>
        <p:nvSpPr>
          <p:cNvPr id="34" name="Text Box 4"/>
          <p:cNvSpPr txBox="1">
            <a:spLocks noChangeArrowheads="1"/>
          </p:cNvSpPr>
          <p:nvPr/>
        </p:nvSpPr>
        <p:spPr bwMode="auto">
          <a:xfrm>
            <a:off x="3594084" y="4218543"/>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fib(2</a:t>
            </a:r>
            <a:r>
              <a:rPr lang="en-US" sz="1600" dirty="0"/>
              <a:t>)</a:t>
            </a:r>
          </a:p>
        </p:txBody>
      </p:sp>
      <p:sp>
        <p:nvSpPr>
          <p:cNvPr id="35" name="Text Box 4"/>
          <p:cNvSpPr txBox="1">
            <a:spLocks noChangeArrowheads="1"/>
          </p:cNvSpPr>
          <p:nvPr/>
        </p:nvSpPr>
        <p:spPr bwMode="auto">
          <a:xfrm>
            <a:off x="5887396" y="4203678"/>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fib(2</a:t>
            </a:r>
            <a:r>
              <a:rPr lang="en-US" sz="1600" dirty="0"/>
              <a:t>)</a:t>
            </a:r>
          </a:p>
        </p:txBody>
      </p:sp>
      <p:sp>
        <p:nvSpPr>
          <p:cNvPr id="36" name="Text Box 4"/>
          <p:cNvSpPr txBox="1">
            <a:spLocks noChangeArrowheads="1"/>
          </p:cNvSpPr>
          <p:nvPr/>
        </p:nvSpPr>
        <p:spPr bwMode="auto">
          <a:xfrm>
            <a:off x="7403882" y="4203678"/>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fib(1</a:t>
            </a:r>
            <a:r>
              <a:rPr lang="en-US" sz="1600" dirty="0"/>
              <a:t>)</a:t>
            </a:r>
          </a:p>
        </p:txBody>
      </p:sp>
      <p:sp>
        <p:nvSpPr>
          <p:cNvPr id="37" name="Text Box 4"/>
          <p:cNvSpPr txBox="1">
            <a:spLocks noChangeArrowheads="1"/>
          </p:cNvSpPr>
          <p:nvPr/>
        </p:nvSpPr>
        <p:spPr bwMode="auto">
          <a:xfrm>
            <a:off x="575980" y="5125323"/>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fib(2</a:t>
            </a:r>
            <a:r>
              <a:rPr lang="en-US" sz="1600" dirty="0"/>
              <a:t>)</a:t>
            </a:r>
          </a:p>
        </p:txBody>
      </p:sp>
      <p:sp>
        <p:nvSpPr>
          <p:cNvPr id="38" name="Text Box 4"/>
          <p:cNvSpPr txBox="1">
            <a:spLocks noChangeArrowheads="1"/>
          </p:cNvSpPr>
          <p:nvPr/>
        </p:nvSpPr>
        <p:spPr bwMode="auto">
          <a:xfrm>
            <a:off x="1936358" y="5125323"/>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fib(1</a:t>
            </a:r>
            <a:r>
              <a:rPr lang="en-US" sz="1600" dirty="0"/>
              <a:t>)</a:t>
            </a:r>
          </a:p>
        </p:txBody>
      </p:sp>
      <p:sp>
        <p:nvSpPr>
          <p:cNvPr id="39" name="Text Box 4"/>
          <p:cNvSpPr txBox="1">
            <a:spLocks noChangeArrowheads="1"/>
          </p:cNvSpPr>
          <p:nvPr/>
        </p:nvSpPr>
        <p:spPr bwMode="auto">
          <a:xfrm>
            <a:off x="349250" y="6013522"/>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fib(1</a:t>
            </a:r>
            <a:r>
              <a:rPr lang="en-US" sz="1600" dirty="0"/>
              <a:t>)</a:t>
            </a:r>
          </a:p>
        </p:txBody>
      </p:sp>
      <p:sp>
        <p:nvSpPr>
          <p:cNvPr id="40" name="Text Box 4"/>
          <p:cNvSpPr txBox="1">
            <a:spLocks noChangeArrowheads="1"/>
          </p:cNvSpPr>
          <p:nvPr/>
        </p:nvSpPr>
        <p:spPr bwMode="auto">
          <a:xfrm>
            <a:off x="1542368" y="6013522"/>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fib(0</a:t>
            </a:r>
            <a:r>
              <a:rPr lang="en-US" sz="1600" dirty="0"/>
              <a:t>)</a:t>
            </a:r>
          </a:p>
        </p:txBody>
      </p:sp>
      <p:sp>
        <p:nvSpPr>
          <p:cNvPr id="53" name="Line 21"/>
          <p:cNvSpPr>
            <a:spLocks noChangeShapeType="1"/>
          </p:cNvSpPr>
          <p:nvPr/>
        </p:nvSpPr>
        <p:spPr bwMode="auto">
          <a:xfrm flipV="1">
            <a:off x="3444870" y="4592034"/>
            <a:ext cx="475909"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54" name="Line 23"/>
          <p:cNvSpPr>
            <a:spLocks noChangeShapeType="1"/>
          </p:cNvSpPr>
          <p:nvPr/>
        </p:nvSpPr>
        <p:spPr bwMode="auto">
          <a:xfrm flipH="1" flipV="1">
            <a:off x="4344487" y="4592034"/>
            <a:ext cx="475909"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42" name="Text Box 24"/>
          <p:cNvSpPr txBox="1">
            <a:spLocks noChangeArrowheads="1"/>
          </p:cNvSpPr>
          <p:nvPr/>
        </p:nvSpPr>
        <p:spPr bwMode="auto">
          <a:xfrm>
            <a:off x="4571364" y="4657069"/>
            <a:ext cx="304784" cy="284269"/>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0</a:t>
            </a:r>
            <a:endParaRPr lang="en-US" b="1" dirty="0"/>
          </a:p>
        </p:txBody>
      </p:sp>
      <p:sp>
        <p:nvSpPr>
          <p:cNvPr id="43" name="Text Box 24"/>
          <p:cNvSpPr txBox="1">
            <a:spLocks noChangeArrowheads="1"/>
          </p:cNvSpPr>
          <p:nvPr/>
        </p:nvSpPr>
        <p:spPr bwMode="auto">
          <a:xfrm>
            <a:off x="3407701" y="4668217"/>
            <a:ext cx="304784" cy="280930"/>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a:t>1</a:t>
            </a:r>
          </a:p>
        </p:txBody>
      </p:sp>
      <p:sp>
        <p:nvSpPr>
          <p:cNvPr id="44" name="Text Box 4"/>
          <p:cNvSpPr txBox="1">
            <a:spLocks noChangeArrowheads="1"/>
          </p:cNvSpPr>
          <p:nvPr/>
        </p:nvSpPr>
        <p:spPr bwMode="auto">
          <a:xfrm>
            <a:off x="3188943" y="5117892"/>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fib(1</a:t>
            </a:r>
            <a:r>
              <a:rPr lang="en-US" sz="1600" dirty="0"/>
              <a:t>)</a:t>
            </a:r>
          </a:p>
        </p:txBody>
      </p:sp>
      <p:sp>
        <p:nvSpPr>
          <p:cNvPr id="45" name="Text Box 4"/>
          <p:cNvSpPr txBox="1">
            <a:spLocks noChangeArrowheads="1"/>
          </p:cNvSpPr>
          <p:nvPr/>
        </p:nvSpPr>
        <p:spPr bwMode="auto">
          <a:xfrm>
            <a:off x="4382061" y="5117892"/>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fib(0</a:t>
            </a:r>
            <a:r>
              <a:rPr lang="en-US" sz="1600" dirty="0"/>
              <a:t>)</a:t>
            </a:r>
          </a:p>
        </p:txBody>
      </p:sp>
      <p:sp>
        <p:nvSpPr>
          <p:cNvPr id="51" name="Line 21"/>
          <p:cNvSpPr>
            <a:spLocks noChangeShapeType="1"/>
          </p:cNvSpPr>
          <p:nvPr/>
        </p:nvSpPr>
        <p:spPr bwMode="auto">
          <a:xfrm flipV="1">
            <a:off x="5806145" y="4577168"/>
            <a:ext cx="475909"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52" name="Line 23"/>
          <p:cNvSpPr>
            <a:spLocks noChangeShapeType="1"/>
          </p:cNvSpPr>
          <p:nvPr/>
        </p:nvSpPr>
        <p:spPr bwMode="auto">
          <a:xfrm flipH="1" flipV="1">
            <a:off x="6716648" y="4577168"/>
            <a:ext cx="475909" cy="518426"/>
          </a:xfrm>
          <a:prstGeom prst="line">
            <a:avLst/>
          </a:prstGeom>
          <a:noFill/>
          <a:ln w="31750" cap="sq">
            <a:solidFill>
              <a:srgbClr val="006600"/>
            </a:solidFill>
            <a:round/>
            <a:headEnd type="none" w="sm" len="sm"/>
            <a:tailEnd type="triangle" w="med" len="med"/>
          </a:ln>
        </p:spPr>
        <p:txBody>
          <a:bodyPr/>
          <a:lstStyle/>
          <a:p>
            <a:endParaRPr lang="en-SG"/>
          </a:p>
        </p:txBody>
      </p:sp>
      <p:sp>
        <p:nvSpPr>
          <p:cNvPr id="47" name="Text Box 24"/>
          <p:cNvSpPr txBox="1">
            <a:spLocks noChangeArrowheads="1"/>
          </p:cNvSpPr>
          <p:nvPr/>
        </p:nvSpPr>
        <p:spPr bwMode="auto">
          <a:xfrm>
            <a:off x="6943525" y="4642203"/>
            <a:ext cx="304784" cy="284269"/>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smtClean="0"/>
              <a:t>0</a:t>
            </a:r>
            <a:endParaRPr lang="en-US" b="1" dirty="0"/>
          </a:p>
        </p:txBody>
      </p:sp>
      <p:sp>
        <p:nvSpPr>
          <p:cNvPr id="48" name="Text Box 24"/>
          <p:cNvSpPr txBox="1">
            <a:spLocks noChangeArrowheads="1"/>
          </p:cNvSpPr>
          <p:nvPr/>
        </p:nvSpPr>
        <p:spPr bwMode="auto">
          <a:xfrm>
            <a:off x="5768976" y="4653351"/>
            <a:ext cx="304784" cy="280930"/>
          </a:xfrm>
          <a:prstGeom prst="rect">
            <a:avLst/>
          </a:prstGeom>
          <a:noFill/>
          <a:ln w="12700" cap="sq">
            <a:noFill/>
            <a:miter lim="800000"/>
            <a:headEnd type="none" w="sm" len="sm"/>
            <a:tailEnd type="none" w="sm" len="sm"/>
          </a:ln>
        </p:spPr>
        <p:txBody>
          <a:bodyPr lIns="3600" tIns="3600" rIns="3600" bIns="3600">
            <a:spAutoFit/>
          </a:bodyPr>
          <a:lstStyle/>
          <a:p>
            <a:pPr algn="ctr">
              <a:spcBef>
                <a:spcPct val="50000"/>
              </a:spcBef>
            </a:pPr>
            <a:r>
              <a:rPr lang="en-US" b="1" dirty="0"/>
              <a:t>1</a:t>
            </a:r>
          </a:p>
        </p:txBody>
      </p:sp>
      <p:sp>
        <p:nvSpPr>
          <p:cNvPr id="49" name="Text Box 4"/>
          <p:cNvSpPr txBox="1">
            <a:spLocks noChangeArrowheads="1"/>
          </p:cNvSpPr>
          <p:nvPr/>
        </p:nvSpPr>
        <p:spPr bwMode="auto">
          <a:xfrm>
            <a:off x="5593762" y="5103026"/>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fib(1</a:t>
            </a:r>
            <a:r>
              <a:rPr lang="en-US" sz="1600" dirty="0"/>
              <a:t>)</a:t>
            </a:r>
          </a:p>
        </p:txBody>
      </p:sp>
      <p:sp>
        <p:nvSpPr>
          <p:cNvPr id="50" name="Text Box 4"/>
          <p:cNvSpPr txBox="1">
            <a:spLocks noChangeArrowheads="1"/>
          </p:cNvSpPr>
          <p:nvPr/>
        </p:nvSpPr>
        <p:spPr bwMode="auto">
          <a:xfrm>
            <a:off x="6786879" y="5103026"/>
            <a:ext cx="992406" cy="349178"/>
          </a:xfrm>
          <a:prstGeom prst="rect">
            <a:avLst/>
          </a:prstGeom>
          <a:solidFill>
            <a:srgbClr val="CC99FF"/>
          </a:solidFill>
          <a:ln w="12700" cap="sq">
            <a:solidFill>
              <a:schemeClr val="tx1"/>
            </a:solidFill>
            <a:miter lim="800000"/>
            <a:headEnd type="none" w="sm" len="sm"/>
            <a:tailEnd type="none" w="sm" len="sm"/>
          </a:ln>
        </p:spPr>
        <p:txBody>
          <a:bodyPr>
            <a:spAutoFit/>
          </a:bodyPr>
          <a:lstStyle/>
          <a:p>
            <a:pPr algn="ctr">
              <a:spcBef>
                <a:spcPct val="50000"/>
              </a:spcBef>
            </a:pPr>
            <a:r>
              <a:rPr lang="en-US" sz="1600" dirty="0" smtClean="0"/>
              <a:t>fib(0</a:t>
            </a:r>
            <a:r>
              <a:rPr lang="en-US" sz="1600" dirty="0"/>
              <a:t>)</a:t>
            </a:r>
          </a:p>
        </p:txBody>
      </p:sp>
      <p:sp>
        <p:nvSpPr>
          <p:cNvPr id="61" name="Line 13"/>
          <p:cNvSpPr>
            <a:spLocks noChangeShapeType="1"/>
          </p:cNvSpPr>
          <p:nvPr/>
        </p:nvSpPr>
        <p:spPr bwMode="auto">
          <a:xfrm flipH="1">
            <a:off x="3489745" y="2933770"/>
            <a:ext cx="1012848" cy="432949"/>
          </a:xfrm>
          <a:prstGeom prst="line">
            <a:avLst/>
          </a:prstGeom>
          <a:noFill/>
          <a:ln w="31750" cap="sq">
            <a:solidFill>
              <a:srgbClr val="0000FF"/>
            </a:solidFill>
            <a:round/>
            <a:headEnd type="none" w="sm" len="sm"/>
            <a:tailEnd type="triangle" w="med" len="med"/>
          </a:ln>
        </p:spPr>
        <p:txBody>
          <a:bodyPr/>
          <a:lstStyle/>
          <a:p>
            <a:endParaRPr lang="en-SG"/>
          </a:p>
        </p:txBody>
      </p:sp>
      <p:sp>
        <p:nvSpPr>
          <p:cNvPr id="62" name="Line 17"/>
          <p:cNvSpPr>
            <a:spLocks noChangeShapeType="1"/>
          </p:cNvSpPr>
          <p:nvPr/>
        </p:nvSpPr>
        <p:spPr bwMode="auto">
          <a:xfrm flipH="1">
            <a:off x="1959460" y="3711267"/>
            <a:ext cx="838156" cy="481263"/>
          </a:xfrm>
          <a:prstGeom prst="line">
            <a:avLst/>
          </a:prstGeom>
          <a:noFill/>
          <a:ln w="31750" cap="sq">
            <a:solidFill>
              <a:srgbClr val="0000FF"/>
            </a:solidFill>
            <a:round/>
            <a:headEnd type="none" w="sm" len="sm"/>
            <a:tailEnd type="triangle" w="med" len="med"/>
          </a:ln>
        </p:spPr>
        <p:txBody>
          <a:bodyPr/>
          <a:lstStyle/>
          <a:p>
            <a:endParaRPr lang="en-SG"/>
          </a:p>
        </p:txBody>
      </p:sp>
      <p:sp>
        <p:nvSpPr>
          <p:cNvPr id="63" name="Line 21"/>
          <p:cNvSpPr>
            <a:spLocks noChangeShapeType="1"/>
          </p:cNvSpPr>
          <p:nvPr/>
        </p:nvSpPr>
        <p:spPr bwMode="auto">
          <a:xfrm flipH="1">
            <a:off x="1007141" y="4588579"/>
            <a:ext cx="635363"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64" name="Line 23"/>
          <p:cNvSpPr>
            <a:spLocks noChangeShapeType="1"/>
          </p:cNvSpPr>
          <p:nvPr/>
        </p:nvSpPr>
        <p:spPr bwMode="auto">
          <a:xfrm>
            <a:off x="1804899" y="4599466"/>
            <a:ext cx="635363"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65" name="Line 21"/>
          <p:cNvSpPr>
            <a:spLocks noChangeShapeType="1"/>
          </p:cNvSpPr>
          <p:nvPr/>
        </p:nvSpPr>
        <p:spPr bwMode="auto">
          <a:xfrm flipH="1">
            <a:off x="550747" y="5509435"/>
            <a:ext cx="475909"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66" name="Line 23"/>
          <p:cNvSpPr>
            <a:spLocks noChangeShapeType="1"/>
          </p:cNvSpPr>
          <p:nvPr/>
        </p:nvSpPr>
        <p:spPr bwMode="auto">
          <a:xfrm>
            <a:off x="1265307" y="5509435"/>
            <a:ext cx="475909"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67" name="Line 19"/>
          <p:cNvSpPr>
            <a:spLocks noChangeShapeType="1"/>
          </p:cNvSpPr>
          <p:nvPr/>
        </p:nvSpPr>
        <p:spPr bwMode="auto">
          <a:xfrm>
            <a:off x="3069733" y="3711267"/>
            <a:ext cx="838156" cy="481263"/>
          </a:xfrm>
          <a:prstGeom prst="line">
            <a:avLst/>
          </a:prstGeom>
          <a:noFill/>
          <a:ln w="31750" cap="sq">
            <a:solidFill>
              <a:srgbClr val="0000FF"/>
            </a:solidFill>
            <a:round/>
            <a:headEnd type="none" w="sm" len="sm"/>
            <a:tailEnd type="triangle" w="med" len="med"/>
          </a:ln>
        </p:spPr>
        <p:txBody>
          <a:bodyPr/>
          <a:lstStyle/>
          <a:p>
            <a:endParaRPr lang="en-SG"/>
          </a:p>
        </p:txBody>
      </p:sp>
      <p:sp>
        <p:nvSpPr>
          <p:cNvPr id="68" name="Line 25"/>
          <p:cNvSpPr>
            <a:spLocks noChangeShapeType="1"/>
          </p:cNvSpPr>
          <p:nvPr/>
        </p:nvSpPr>
        <p:spPr bwMode="auto">
          <a:xfrm flipH="1">
            <a:off x="6047212" y="3722153"/>
            <a:ext cx="711410" cy="481263"/>
          </a:xfrm>
          <a:prstGeom prst="line">
            <a:avLst/>
          </a:prstGeom>
          <a:noFill/>
          <a:ln w="31750" cap="sq">
            <a:solidFill>
              <a:srgbClr val="0000FF"/>
            </a:solidFill>
            <a:round/>
            <a:headEnd type="none" w="sm" len="sm"/>
            <a:tailEnd type="triangle" w="med" len="med"/>
          </a:ln>
        </p:spPr>
        <p:txBody>
          <a:bodyPr/>
          <a:lstStyle/>
          <a:p>
            <a:endParaRPr lang="en-SG"/>
          </a:p>
        </p:txBody>
      </p:sp>
      <p:sp>
        <p:nvSpPr>
          <p:cNvPr id="69" name="Line 27"/>
          <p:cNvSpPr>
            <a:spLocks noChangeShapeType="1"/>
          </p:cNvSpPr>
          <p:nvPr/>
        </p:nvSpPr>
        <p:spPr bwMode="auto">
          <a:xfrm>
            <a:off x="7017958" y="3733039"/>
            <a:ext cx="711410" cy="481263"/>
          </a:xfrm>
          <a:prstGeom prst="line">
            <a:avLst/>
          </a:prstGeom>
          <a:noFill/>
          <a:ln w="31750" cap="sq">
            <a:solidFill>
              <a:srgbClr val="0000FF"/>
            </a:solidFill>
            <a:round/>
            <a:headEnd type="none" w="sm" len="sm"/>
            <a:tailEnd type="triangle" w="med" len="med"/>
          </a:ln>
        </p:spPr>
        <p:txBody>
          <a:bodyPr/>
          <a:lstStyle/>
          <a:p>
            <a:endParaRPr lang="en-SG"/>
          </a:p>
        </p:txBody>
      </p:sp>
      <p:sp>
        <p:nvSpPr>
          <p:cNvPr id="70" name="Line 21"/>
          <p:cNvSpPr>
            <a:spLocks noChangeShapeType="1"/>
          </p:cNvSpPr>
          <p:nvPr/>
        </p:nvSpPr>
        <p:spPr bwMode="auto">
          <a:xfrm flipH="1">
            <a:off x="3542842" y="4613805"/>
            <a:ext cx="475909"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71" name="Line 23"/>
          <p:cNvSpPr>
            <a:spLocks noChangeShapeType="1"/>
          </p:cNvSpPr>
          <p:nvPr/>
        </p:nvSpPr>
        <p:spPr bwMode="auto">
          <a:xfrm>
            <a:off x="4268287" y="4613805"/>
            <a:ext cx="475909"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72" name="Line 21"/>
          <p:cNvSpPr>
            <a:spLocks noChangeShapeType="1"/>
          </p:cNvSpPr>
          <p:nvPr/>
        </p:nvSpPr>
        <p:spPr bwMode="auto">
          <a:xfrm flipH="1">
            <a:off x="5915002" y="4598940"/>
            <a:ext cx="475909"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73" name="Line 23"/>
          <p:cNvSpPr>
            <a:spLocks noChangeShapeType="1"/>
          </p:cNvSpPr>
          <p:nvPr/>
        </p:nvSpPr>
        <p:spPr bwMode="auto">
          <a:xfrm>
            <a:off x="6607790" y="4588054"/>
            <a:ext cx="475909" cy="518426"/>
          </a:xfrm>
          <a:prstGeom prst="line">
            <a:avLst/>
          </a:prstGeom>
          <a:noFill/>
          <a:ln w="31750" cap="sq">
            <a:solidFill>
              <a:srgbClr val="0000FF"/>
            </a:solidFill>
            <a:round/>
            <a:headEnd type="none" w="sm" len="sm"/>
            <a:tailEnd type="triangle" w="med" len="med"/>
          </a:ln>
        </p:spPr>
        <p:txBody>
          <a:bodyPr/>
          <a:lstStyle/>
          <a:p>
            <a:endParaRPr lang="en-SG"/>
          </a:p>
        </p:txBody>
      </p:sp>
      <p:sp>
        <p:nvSpPr>
          <p:cNvPr id="74" name="Line 13"/>
          <p:cNvSpPr>
            <a:spLocks noChangeShapeType="1"/>
          </p:cNvSpPr>
          <p:nvPr/>
        </p:nvSpPr>
        <p:spPr bwMode="auto">
          <a:xfrm>
            <a:off x="5195253" y="2930054"/>
            <a:ext cx="1012848" cy="432949"/>
          </a:xfrm>
          <a:prstGeom prst="line">
            <a:avLst/>
          </a:prstGeom>
          <a:noFill/>
          <a:ln w="31750" cap="sq">
            <a:solidFill>
              <a:srgbClr val="0000FF"/>
            </a:solidFill>
            <a:round/>
            <a:headEnd type="none" w="sm" len="sm"/>
            <a:tailEnd type="triangle" w="med" len="med"/>
          </a:ln>
        </p:spPr>
        <p:txBody>
          <a:bodyPr/>
          <a:lstStyle/>
          <a:p>
            <a:endParaRPr lang="en-SG"/>
          </a:p>
        </p:txBody>
      </p:sp>
      <p:grpSp>
        <p:nvGrpSpPr>
          <p:cNvPr id="79" name="Group 78"/>
          <p:cNvGrpSpPr/>
          <p:nvPr/>
        </p:nvGrpSpPr>
        <p:grpSpPr>
          <a:xfrm>
            <a:off x="7681220" y="1578429"/>
            <a:ext cx="1223294" cy="881743"/>
            <a:chOff x="7681220" y="1578429"/>
            <a:chExt cx="1223294" cy="881743"/>
          </a:xfrm>
        </p:grpSpPr>
        <p:sp>
          <p:nvSpPr>
            <p:cNvPr id="75" name="Line 13"/>
            <p:cNvSpPr>
              <a:spLocks noChangeShapeType="1"/>
            </p:cNvSpPr>
            <p:nvPr/>
          </p:nvSpPr>
          <p:spPr bwMode="auto">
            <a:xfrm>
              <a:off x="7681220" y="1594827"/>
              <a:ext cx="4094" cy="386373"/>
            </a:xfrm>
            <a:prstGeom prst="line">
              <a:avLst/>
            </a:prstGeom>
            <a:noFill/>
            <a:ln w="31750" cap="sq">
              <a:solidFill>
                <a:srgbClr val="0000FF"/>
              </a:solidFill>
              <a:round/>
              <a:headEnd type="none" w="sm" len="sm"/>
              <a:tailEnd type="triangle" w="med" len="med"/>
            </a:ln>
          </p:spPr>
          <p:txBody>
            <a:bodyPr/>
            <a:lstStyle/>
            <a:p>
              <a:endParaRPr lang="en-SG"/>
            </a:p>
          </p:txBody>
        </p:sp>
        <p:sp>
          <p:nvSpPr>
            <p:cNvPr id="76" name="TextBox 75"/>
            <p:cNvSpPr txBox="1"/>
            <p:nvPr/>
          </p:nvSpPr>
          <p:spPr>
            <a:xfrm>
              <a:off x="7728856" y="1578429"/>
              <a:ext cx="1001487" cy="338554"/>
            </a:xfrm>
            <a:prstGeom prst="rect">
              <a:avLst/>
            </a:prstGeom>
            <a:noFill/>
          </p:spPr>
          <p:txBody>
            <a:bodyPr wrap="square" rtlCol="0">
              <a:spAutoFit/>
            </a:bodyPr>
            <a:lstStyle/>
            <a:p>
              <a:pPr algn="ctr"/>
              <a:r>
                <a:rPr lang="en-US" sz="1600" dirty="0" smtClean="0"/>
                <a:t>Winding</a:t>
              </a:r>
              <a:endParaRPr lang="en-SG" sz="1600" dirty="0"/>
            </a:p>
          </p:txBody>
        </p:sp>
        <p:sp>
          <p:nvSpPr>
            <p:cNvPr id="77" name="Line 13"/>
            <p:cNvSpPr>
              <a:spLocks noChangeShapeType="1"/>
            </p:cNvSpPr>
            <p:nvPr/>
          </p:nvSpPr>
          <p:spPr bwMode="auto">
            <a:xfrm flipH="1" flipV="1">
              <a:off x="7681220" y="2073799"/>
              <a:ext cx="4094" cy="386373"/>
            </a:xfrm>
            <a:prstGeom prst="line">
              <a:avLst/>
            </a:prstGeom>
            <a:noFill/>
            <a:ln w="31750" cap="sq">
              <a:solidFill>
                <a:srgbClr val="006600"/>
              </a:solidFill>
              <a:round/>
              <a:headEnd type="none" w="sm" len="sm"/>
              <a:tailEnd type="triangle" w="med" len="med"/>
            </a:ln>
          </p:spPr>
          <p:txBody>
            <a:bodyPr/>
            <a:lstStyle/>
            <a:p>
              <a:endParaRPr lang="en-SG"/>
            </a:p>
          </p:txBody>
        </p:sp>
        <p:sp>
          <p:nvSpPr>
            <p:cNvPr id="78" name="TextBox 77"/>
            <p:cNvSpPr txBox="1"/>
            <p:nvPr/>
          </p:nvSpPr>
          <p:spPr>
            <a:xfrm>
              <a:off x="7728856" y="2057401"/>
              <a:ext cx="1175658" cy="338554"/>
            </a:xfrm>
            <a:prstGeom prst="rect">
              <a:avLst/>
            </a:prstGeom>
            <a:noFill/>
          </p:spPr>
          <p:txBody>
            <a:bodyPr wrap="square" rtlCol="0">
              <a:spAutoFit/>
            </a:bodyPr>
            <a:lstStyle/>
            <a:p>
              <a:pPr algn="ctr"/>
              <a:r>
                <a:rPr lang="en-US" sz="1600" dirty="0" smtClean="0"/>
                <a:t>Unwinding</a:t>
              </a:r>
              <a:endParaRPr lang="en-SG" sz="1600" dirty="0"/>
            </a:p>
          </p:txBody>
        </p:sp>
      </p:grpSp>
      <p:sp>
        <p:nvSpPr>
          <p:cNvPr id="80" name="TextBox 79"/>
          <p:cNvSpPr txBox="1"/>
          <p:nvPr/>
        </p:nvSpPr>
        <p:spPr>
          <a:xfrm>
            <a:off x="5637493" y="155448"/>
            <a:ext cx="3288792" cy="1200329"/>
          </a:xfrm>
          <a:prstGeom prst="rect">
            <a:avLst/>
          </a:prstGeom>
          <a:solidFill>
            <a:srgbClr val="CCECFF"/>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fib(</a:t>
            </a:r>
            <a:r>
              <a:rPr lang="en-US" sz="1200" b="1" dirty="0" err="1" smtClean="0">
                <a:solidFill>
                  <a:srgbClr val="0000FF"/>
                </a:solidFill>
                <a:latin typeface="Courier New" pitchFamily="49" charset="0"/>
                <a:cs typeface="Courier New" pitchFamily="49" charset="0"/>
              </a:rPr>
              <a:t>int</a:t>
            </a:r>
            <a:r>
              <a:rPr lang="en-US" sz="1200" b="1" dirty="0" smtClean="0">
                <a:latin typeface="Courier New" pitchFamily="49" charset="0"/>
                <a:cs typeface="Courier New" pitchFamily="49" charset="0"/>
              </a:rPr>
              <a:t> n) {</a:t>
            </a:r>
          </a:p>
          <a:p>
            <a:pPr>
              <a:tabLst>
                <a:tab pos="268288" algn="l"/>
                <a:tab pos="536575" algn="l"/>
                <a:tab pos="804863"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if</a:t>
            </a:r>
            <a:r>
              <a:rPr lang="en-US" sz="1200" b="1" dirty="0" smtClean="0">
                <a:latin typeface="Courier New" pitchFamily="49" charset="0"/>
                <a:cs typeface="Courier New" pitchFamily="49" charset="0"/>
              </a:rPr>
              <a:t> (n &lt; </a:t>
            </a:r>
            <a:r>
              <a:rPr lang="en-US" sz="1200" b="1" dirty="0" smtClean="0">
                <a:solidFill>
                  <a:srgbClr val="006600"/>
                </a:solidFill>
                <a:latin typeface="Courier New" pitchFamily="49" charset="0"/>
                <a:cs typeface="Courier New" pitchFamily="49" charset="0"/>
              </a:rPr>
              <a:t>2</a:t>
            </a:r>
            <a:r>
              <a:rPr lang="en-US" sz="1200" b="1" dirty="0" smtClean="0">
                <a:latin typeface="Courier New" pitchFamily="49" charset="0"/>
                <a:cs typeface="Courier New" pitchFamily="49" charset="0"/>
              </a:rPr>
              <a:t>)</a:t>
            </a:r>
          </a:p>
          <a:p>
            <a:pPr>
              <a:tabLst>
                <a:tab pos="268288" algn="l"/>
                <a:tab pos="536575" algn="l"/>
                <a:tab pos="804863"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return</a:t>
            </a:r>
            <a:r>
              <a:rPr lang="en-US" sz="1200" b="1" dirty="0" smtClean="0">
                <a:latin typeface="Courier New" pitchFamily="49" charset="0"/>
                <a:cs typeface="Courier New" pitchFamily="49" charset="0"/>
              </a:rPr>
              <a:t> n;</a:t>
            </a:r>
          </a:p>
          <a:p>
            <a:pPr>
              <a:tabLst>
                <a:tab pos="268288" algn="l"/>
                <a:tab pos="536575" algn="l"/>
                <a:tab pos="804863"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else</a:t>
            </a:r>
            <a:endParaRPr lang="en-US" sz="1200" b="1" dirty="0" smtClean="0">
              <a:latin typeface="Courier New" pitchFamily="49" charset="0"/>
              <a:cs typeface="Courier New" pitchFamily="49" charset="0"/>
            </a:endParaRPr>
          </a:p>
          <a:p>
            <a:pPr>
              <a:tabLst>
                <a:tab pos="268288" algn="l"/>
                <a:tab pos="536575" algn="l"/>
                <a:tab pos="804863" algn="l"/>
              </a:tabLst>
            </a:pPr>
            <a:r>
              <a:rPr lang="en-US" sz="1200" b="1" dirty="0" smtClean="0">
                <a:latin typeface="Courier New" pitchFamily="49" charset="0"/>
                <a:cs typeface="Courier New" pitchFamily="49" charset="0"/>
              </a:rPr>
              <a:t>		</a:t>
            </a:r>
            <a:r>
              <a:rPr lang="en-US" sz="1200" b="1" dirty="0" smtClean="0">
                <a:solidFill>
                  <a:srgbClr val="0000FF"/>
                </a:solidFill>
                <a:latin typeface="Courier New" pitchFamily="49" charset="0"/>
                <a:cs typeface="Courier New" pitchFamily="49" charset="0"/>
              </a:rPr>
              <a:t>return</a:t>
            </a:r>
            <a:r>
              <a:rPr lang="en-US" sz="1200" b="1" dirty="0" smtClean="0">
                <a:latin typeface="Courier New" pitchFamily="49" charset="0"/>
                <a:cs typeface="Courier New" pitchFamily="49" charset="0"/>
              </a:rPr>
              <a:t> fib(n-</a:t>
            </a:r>
            <a:r>
              <a:rPr lang="en-US" sz="1200" b="1" dirty="0" smtClean="0">
                <a:solidFill>
                  <a:srgbClr val="006600"/>
                </a:solidFill>
                <a:latin typeface="Courier New" pitchFamily="49" charset="0"/>
                <a:cs typeface="Courier New" pitchFamily="49" charset="0"/>
              </a:rPr>
              <a:t>1</a:t>
            </a:r>
            <a:r>
              <a:rPr lang="en-US" sz="1200" b="1" dirty="0" smtClean="0">
                <a:latin typeface="Courier New" pitchFamily="49" charset="0"/>
                <a:cs typeface="Courier New" pitchFamily="49" charset="0"/>
              </a:rPr>
              <a:t>) + fib(n-</a:t>
            </a:r>
            <a:r>
              <a:rPr lang="en-US" sz="1200" b="1" dirty="0" smtClean="0">
                <a:solidFill>
                  <a:srgbClr val="006600"/>
                </a:solidFill>
                <a:latin typeface="Courier New" pitchFamily="49" charset="0"/>
                <a:cs typeface="Courier New" pitchFamily="49" charset="0"/>
              </a:rPr>
              <a:t>2</a:t>
            </a:r>
            <a:r>
              <a:rPr lang="en-US" sz="1200" b="1" dirty="0" smtClean="0">
                <a:latin typeface="Courier New" pitchFamily="49" charset="0"/>
                <a:cs typeface="Courier New" pitchFamily="49" charset="0"/>
              </a:rPr>
              <a:t>);</a:t>
            </a:r>
          </a:p>
          <a:p>
            <a:pPr>
              <a:tabLst>
                <a:tab pos="268288" algn="l"/>
                <a:tab pos="536575" algn="l"/>
                <a:tab pos="804863" algn="l"/>
              </a:tabLst>
            </a:pPr>
            <a:r>
              <a:rPr lang="en-US" sz="1200" b="1" dirty="0" smtClean="0">
                <a:latin typeface="Courier New" pitchFamily="49" charset="0"/>
                <a:cs typeface="Courier New" pitchFamily="49" charset="0"/>
              </a:rPr>
              <a:t>}</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16</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dissolve">
                                      <p:cBhvr>
                                        <p:cTn id="7" dur="500"/>
                                        <p:tgtEl>
                                          <p:spTgt spid="40963">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animEffect transition="in" filter="dissolve">
                                      <p:cBhvr>
                                        <p:cTn id="11" dur="500"/>
                                        <p:tgtEl>
                                          <p:spTgt spid="4096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wipe(up)">
                                      <p:cBhvr>
                                        <p:cTn id="21" dur="500"/>
                                        <p:tgtEl>
                                          <p:spTgt spid="61"/>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up)">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wipe(up)">
                                      <p:cBhvr>
                                        <p:cTn id="30" dur="500"/>
                                        <p:tgtEl>
                                          <p:spTgt spid="62"/>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wipe(up)">
                                      <p:cBhvr>
                                        <p:cTn id="39" dur="500"/>
                                        <p:tgtEl>
                                          <p:spTgt spid="63"/>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up)">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wipe(up)">
                                      <p:cBhvr>
                                        <p:cTn id="48" dur="500"/>
                                        <p:tgtEl>
                                          <p:spTgt spid="65"/>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up)">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wipe(down)">
                                      <p:cBhvr>
                                        <p:cTn id="57" dur="500"/>
                                        <p:tgtEl>
                                          <p:spTgt spid="55"/>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down)">
                                      <p:cBhvr>
                                        <p:cTn id="60" dur="50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wipe(up)">
                                      <p:cBhvr>
                                        <p:cTn id="65" dur="500"/>
                                        <p:tgtEl>
                                          <p:spTgt spid="66"/>
                                        </p:tgtEl>
                                      </p:cBhvr>
                                    </p:animEffect>
                                  </p:childTnLst>
                                </p:cTn>
                              </p:par>
                            </p:childTnLst>
                          </p:cTn>
                        </p:par>
                        <p:par>
                          <p:cTn id="66" fill="hold">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wipe(up)">
                                      <p:cBhvr>
                                        <p:cTn id="69" dur="500"/>
                                        <p:tgtEl>
                                          <p:spTgt spid="4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wipe(down)">
                                      <p:cBhvr>
                                        <p:cTn id="74" dur="500"/>
                                        <p:tgtEl>
                                          <p:spTgt spid="56"/>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ipe(down)">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wipe(down)">
                                      <p:cBhvr>
                                        <p:cTn id="82" dur="500"/>
                                        <p:tgtEl>
                                          <p:spTgt spid="59"/>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wipe(down)">
                                      <p:cBhvr>
                                        <p:cTn id="85" dur="500"/>
                                        <p:tgtEl>
                                          <p:spTgt spid="1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64"/>
                                        </p:tgtEl>
                                        <p:attrNameLst>
                                          <p:attrName>style.visibility</p:attrName>
                                        </p:attrNameLst>
                                      </p:cBhvr>
                                      <p:to>
                                        <p:strVal val="visible"/>
                                      </p:to>
                                    </p:set>
                                    <p:animEffect transition="in" filter="wipe(up)">
                                      <p:cBhvr>
                                        <p:cTn id="90" dur="500"/>
                                        <p:tgtEl>
                                          <p:spTgt spid="64"/>
                                        </p:tgtEl>
                                      </p:cBhvr>
                                    </p:animEffect>
                                  </p:childTnLst>
                                </p:cTn>
                              </p:par>
                            </p:childTnLst>
                          </p:cTn>
                        </p:par>
                        <p:par>
                          <p:cTn id="91" fill="hold">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wipe(up)">
                                      <p:cBhvr>
                                        <p:cTn id="94" dur="500"/>
                                        <p:tgtEl>
                                          <p:spTgt spid="38"/>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60"/>
                                        </p:tgtEl>
                                        <p:attrNameLst>
                                          <p:attrName>style.visibility</p:attrName>
                                        </p:attrNameLst>
                                      </p:cBhvr>
                                      <p:to>
                                        <p:strVal val="visible"/>
                                      </p:to>
                                    </p:set>
                                    <p:animEffect transition="in" filter="wipe(down)">
                                      <p:cBhvr>
                                        <p:cTn id="99" dur="500"/>
                                        <p:tgtEl>
                                          <p:spTgt spid="60"/>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wipe(down)">
                                      <p:cBhvr>
                                        <p:cTn id="102" dur="500"/>
                                        <p:tgtEl>
                                          <p:spTgt spid="1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21"/>
                                        </p:tgtEl>
                                        <p:attrNameLst>
                                          <p:attrName>style.visibility</p:attrName>
                                        </p:attrNameLst>
                                      </p:cBhvr>
                                      <p:to>
                                        <p:strVal val="visible"/>
                                      </p:to>
                                    </p:set>
                                    <p:animEffect transition="in" filter="wipe(down)">
                                      <p:cBhvr>
                                        <p:cTn id="107" dur="500"/>
                                        <p:tgtEl>
                                          <p:spTgt spid="21"/>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15"/>
                                        </p:tgtEl>
                                        <p:attrNameLst>
                                          <p:attrName>style.visibility</p:attrName>
                                        </p:attrNameLst>
                                      </p:cBhvr>
                                      <p:to>
                                        <p:strVal val="visible"/>
                                      </p:to>
                                    </p:set>
                                    <p:animEffect transition="in" filter="wipe(down)">
                                      <p:cBhvr>
                                        <p:cTn id="110" dur="500"/>
                                        <p:tgtEl>
                                          <p:spTgt spid="1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grpId="0" nodeType="clickEffect">
                                  <p:stCondLst>
                                    <p:cond delay="0"/>
                                  </p:stCondLst>
                                  <p:childTnLst>
                                    <p:set>
                                      <p:cBhvr>
                                        <p:cTn id="114" dur="1" fill="hold">
                                          <p:stCondLst>
                                            <p:cond delay="0"/>
                                          </p:stCondLst>
                                        </p:cTn>
                                        <p:tgtEl>
                                          <p:spTgt spid="67"/>
                                        </p:tgtEl>
                                        <p:attrNameLst>
                                          <p:attrName>style.visibility</p:attrName>
                                        </p:attrNameLst>
                                      </p:cBhvr>
                                      <p:to>
                                        <p:strVal val="visible"/>
                                      </p:to>
                                    </p:set>
                                    <p:animEffect transition="in" filter="wipe(up)">
                                      <p:cBhvr>
                                        <p:cTn id="115" dur="500"/>
                                        <p:tgtEl>
                                          <p:spTgt spid="67"/>
                                        </p:tgtEl>
                                      </p:cBhvr>
                                    </p:animEffect>
                                  </p:childTnLst>
                                </p:cTn>
                              </p:par>
                            </p:childTnLst>
                          </p:cTn>
                        </p:par>
                        <p:par>
                          <p:cTn id="116" fill="hold">
                            <p:stCondLst>
                              <p:cond delay="500"/>
                            </p:stCondLst>
                            <p:childTnLst>
                              <p:par>
                                <p:cTn id="117" presetID="22" presetClass="entr" presetSubtype="1" fill="hold" grpId="0" nodeType="afterEffect">
                                  <p:stCondLst>
                                    <p:cond delay="0"/>
                                  </p:stCondLst>
                                  <p:childTnLst>
                                    <p:set>
                                      <p:cBhvr>
                                        <p:cTn id="118" dur="1" fill="hold">
                                          <p:stCondLst>
                                            <p:cond delay="0"/>
                                          </p:stCondLst>
                                        </p:cTn>
                                        <p:tgtEl>
                                          <p:spTgt spid="34"/>
                                        </p:tgtEl>
                                        <p:attrNameLst>
                                          <p:attrName>style.visibility</p:attrName>
                                        </p:attrNameLst>
                                      </p:cBhvr>
                                      <p:to>
                                        <p:strVal val="visible"/>
                                      </p:to>
                                    </p:set>
                                    <p:animEffect transition="in" filter="wipe(up)">
                                      <p:cBhvr>
                                        <p:cTn id="119" dur="500"/>
                                        <p:tgtEl>
                                          <p:spTgt spid="3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70"/>
                                        </p:tgtEl>
                                        <p:attrNameLst>
                                          <p:attrName>style.visibility</p:attrName>
                                        </p:attrNameLst>
                                      </p:cBhvr>
                                      <p:to>
                                        <p:strVal val="visible"/>
                                      </p:to>
                                    </p:set>
                                    <p:animEffect transition="in" filter="wipe(up)">
                                      <p:cBhvr>
                                        <p:cTn id="124" dur="500"/>
                                        <p:tgtEl>
                                          <p:spTgt spid="70"/>
                                        </p:tgtEl>
                                      </p:cBhvr>
                                    </p:animEffect>
                                  </p:childTnLst>
                                </p:cTn>
                              </p:par>
                            </p:childTnLst>
                          </p:cTn>
                        </p:par>
                        <p:par>
                          <p:cTn id="125" fill="hold">
                            <p:stCondLst>
                              <p:cond delay="500"/>
                            </p:stCondLst>
                            <p:childTnLst>
                              <p:par>
                                <p:cTn id="126" presetID="22" presetClass="entr" presetSubtype="1" fill="hold" grpId="0" nodeType="afterEffect">
                                  <p:stCondLst>
                                    <p:cond delay="0"/>
                                  </p:stCondLst>
                                  <p:childTnLst>
                                    <p:set>
                                      <p:cBhvr>
                                        <p:cTn id="127" dur="1" fill="hold">
                                          <p:stCondLst>
                                            <p:cond delay="0"/>
                                          </p:stCondLst>
                                        </p:cTn>
                                        <p:tgtEl>
                                          <p:spTgt spid="44"/>
                                        </p:tgtEl>
                                        <p:attrNameLst>
                                          <p:attrName>style.visibility</p:attrName>
                                        </p:attrNameLst>
                                      </p:cBhvr>
                                      <p:to>
                                        <p:strVal val="visible"/>
                                      </p:to>
                                    </p:set>
                                    <p:animEffect transition="in" filter="wipe(up)">
                                      <p:cBhvr>
                                        <p:cTn id="128" dur="500"/>
                                        <p:tgtEl>
                                          <p:spTgt spid="44"/>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53"/>
                                        </p:tgtEl>
                                        <p:attrNameLst>
                                          <p:attrName>style.visibility</p:attrName>
                                        </p:attrNameLst>
                                      </p:cBhvr>
                                      <p:to>
                                        <p:strVal val="visible"/>
                                      </p:to>
                                    </p:set>
                                    <p:animEffect transition="in" filter="wipe(down)">
                                      <p:cBhvr>
                                        <p:cTn id="133" dur="500"/>
                                        <p:tgtEl>
                                          <p:spTgt spid="53"/>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43"/>
                                        </p:tgtEl>
                                        <p:attrNameLst>
                                          <p:attrName>style.visibility</p:attrName>
                                        </p:attrNameLst>
                                      </p:cBhvr>
                                      <p:to>
                                        <p:strVal val="visible"/>
                                      </p:to>
                                    </p:set>
                                    <p:animEffect transition="in" filter="wipe(down)">
                                      <p:cBhvr>
                                        <p:cTn id="136" dur="500"/>
                                        <p:tgtEl>
                                          <p:spTgt spid="43"/>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71"/>
                                        </p:tgtEl>
                                        <p:attrNameLst>
                                          <p:attrName>style.visibility</p:attrName>
                                        </p:attrNameLst>
                                      </p:cBhvr>
                                      <p:to>
                                        <p:strVal val="visible"/>
                                      </p:to>
                                    </p:set>
                                    <p:animEffect transition="in" filter="wipe(up)">
                                      <p:cBhvr>
                                        <p:cTn id="141" dur="500"/>
                                        <p:tgtEl>
                                          <p:spTgt spid="71"/>
                                        </p:tgtEl>
                                      </p:cBhvr>
                                    </p:animEffect>
                                  </p:childTnLst>
                                </p:cTn>
                              </p:par>
                            </p:childTnLst>
                          </p:cTn>
                        </p:par>
                        <p:par>
                          <p:cTn id="142" fill="hold">
                            <p:stCondLst>
                              <p:cond delay="500"/>
                            </p:stCondLst>
                            <p:childTnLst>
                              <p:par>
                                <p:cTn id="143" presetID="22" presetClass="entr" presetSubtype="1" fill="hold" grpId="0" nodeType="afterEffect">
                                  <p:stCondLst>
                                    <p:cond delay="0"/>
                                  </p:stCondLst>
                                  <p:childTnLst>
                                    <p:set>
                                      <p:cBhvr>
                                        <p:cTn id="144" dur="1" fill="hold">
                                          <p:stCondLst>
                                            <p:cond delay="0"/>
                                          </p:stCondLst>
                                        </p:cTn>
                                        <p:tgtEl>
                                          <p:spTgt spid="45"/>
                                        </p:tgtEl>
                                        <p:attrNameLst>
                                          <p:attrName>style.visibility</p:attrName>
                                        </p:attrNameLst>
                                      </p:cBhvr>
                                      <p:to>
                                        <p:strVal val="visible"/>
                                      </p:to>
                                    </p:set>
                                    <p:animEffect transition="in" filter="wipe(up)">
                                      <p:cBhvr>
                                        <p:cTn id="145" dur="500"/>
                                        <p:tgtEl>
                                          <p:spTgt spid="45"/>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grpId="0" nodeType="clickEffect">
                                  <p:stCondLst>
                                    <p:cond delay="0"/>
                                  </p:stCondLst>
                                  <p:childTnLst>
                                    <p:set>
                                      <p:cBhvr>
                                        <p:cTn id="149" dur="1" fill="hold">
                                          <p:stCondLst>
                                            <p:cond delay="0"/>
                                          </p:stCondLst>
                                        </p:cTn>
                                        <p:tgtEl>
                                          <p:spTgt spid="54"/>
                                        </p:tgtEl>
                                        <p:attrNameLst>
                                          <p:attrName>style.visibility</p:attrName>
                                        </p:attrNameLst>
                                      </p:cBhvr>
                                      <p:to>
                                        <p:strVal val="visible"/>
                                      </p:to>
                                    </p:set>
                                    <p:animEffect transition="in" filter="wipe(down)">
                                      <p:cBhvr>
                                        <p:cTn id="150" dur="500"/>
                                        <p:tgtEl>
                                          <p:spTgt spid="54"/>
                                        </p:tgtEl>
                                      </p:cBhvr>
                                    </p:animEffect>
                                  </p:childTnLst>
                                </p:cTn>
                              </p:par>
                              <p:par>
                                <p:cTn id="151" presetID="22" presetClass="entr" presetSubtype="4" fill="hold" grpId="0" nodeType="withEffect">
                                  <p:stCondLst>
                                    <p:cond delay="0"/>
                                  </p:stCondLst>
                                  <p:childTnLst>
                                    <p:set>
                                      <p:cBhvr>
                                        <p:cTn id="152" dur="1" fill="hold">
                                          <p:stCondLst>
                                            <p:cond delay="0"/>
                                          </p:stCondLst>
                                        </p:cTn>
                                        <p:tgtEl>
                                          <p:spTgt spid="42"/>
                                        </p:tgtEl>
                                        <p:attrNameLst>
                                          <p:attrName>style.visibility</p:attrName>
                                        </p:attrNameLst>
                                      </p:cBhvr>
                                      <p:to>
                                        <p:strVal val="visible"/>
                                      </p:to>
                                    </p:set>
                                    <p:animEffect transition="in" filter="wipe(down)">
                                      <p:cBhvr>
                                        <p:cTn id="153" dur="500"/>
                                        <p:tgtEl>
                                          <p:spTgt spid="42"/>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4" fill="hold" grpId="0" nodeType="clickEffect">
                                  <p:stCondLst>
                                    <p:cond delay="0"/>
                                  </p:stCondLst>
                                  <p:childTnLst>
                                    <p:set>
                                      <p:cBhvr>
                                        <p:cTn id="157" dur="1" fill="hold">
                                          <p:stCondLst>
                                            <p:cond delay="0"/>
                                          </p:stCondLst>
                                        </p:cTn>
                                        <p:tgtEl>
                                          <p:spTgt spid="22"/>
                                        </p:tgtEl>
                                        <p:attrNameLst>
                                          <p:attrName>style.visibility</p:attrName>
                                        </p:attrNameLst>
                                      </p:cBhvr>
                                      <p:to>
                                        <p:strVal val="visible"/>
                                      </p:to>
                                    </p:set>
                                    <p:animEffect transition="in" filter="wipe(down)">
                                      <p:cBhvr>
                                        <p:cTn id="158" dur="500"/>
                                        <p:tgtEl>
                                          <p:spTgt spid="22"/>
                                        </p:tgtEl>
                                      </p:cBhvr>
                                    </p:animEffect>
                                  </p:childTnLst>
                                </p:cTn>
                              </p:par>
                              <p:par>
                                <p:cTn id="159" presetID="22" presetClass="entr" presetSubtype="4" fill="hold" grpId="0" nodeType="withEffect">
                                  <p:stCondLst>
                                    <p:cond delay="0"/>
                                  </p:stCondLst>
                                  <p:childTnLst>
                                    <p:set>
                                      <p:cBhvr>
                                        <p:cTn id="160" dur="1" fill="hold">
                                          <p:stCondLst>
                                            <p:cond delay="0"/>
                                          </p:stCondLst>
                                        </p:cTn>
                                        <p:tgtEl>
                                          <p:spTgt spid="16"/>
                                        </p:tgtEl>
                                        <p:attrNameLst>
                                          <p:attrName>style.visibility</p:attrName>
                                        </p:attrNameLst>
                                      </p:cBhvr>
                                      <p:to>
                                        <p:strVal val="visible"/>
                                      </p:to>
                                    </p:set>
                                    <p:animEffect transition="in" filter="wipe(down)">
                                      <p:cBhvr>
                                        <p:cTn id="161" dur="500"/>
                                        <p:tgtEl>
                                          <p:spTgt spid="16"/>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4" fill="hold" grpId="0" nodeType="clickEffect">
                                  <p:stCondLst>
                                    <p:cond delay="0"/>
                                  </p:stCondLst>
                                  <p:childTnLst>
                                    <p:set>
                                      <p:cBhvr>
                                        <p:cTn id="165" dur="1" fill="hold">
                                          <p:stCondLst>
                                            <p:cond delay="0"/>
                                          </p:stCondLst>
                                        </p:cTn>
                                        <p:tgtEl>
                                          <p:spTgt spid="12"/>
                                        </p:tgtEl>
                                        <p:attrNameLst>
                                          <p:attrName>style.visibility</p:attrName>
                                        </p:attrNameLst>
                                      </p:cBhvr>
                                      <p:to>
                                        <p:strVal val="visible"/>
                                      </p:to>
                                    </p:set>
                                    <p:animEffect transition="in" filter="wipe(down)">
                                      <p:cBhvr>
                                        <p:cTn id="166" dur="500"/>
                                        <p:tgtEl>
                                          <p:spTgt spid="12"/>
                                        </p:tgtEl>
                                      </p:cBhvr>
                                    </p:animEffect>
                                  </p:childTnLst>
                                </p:cTn>
                              </p:par>
                              <p:par>
                                <p:cTn id="167" presetID="22" presetClass="entr" presetSubtype="4" fill="hold" grpId="0" nodeType="withEffect">
                                  <p:stCondLst>
                                    <p:cond delay="0"/>
                                  </p:stCondLst>
                                  <p:childTnLst>
                                    <p:set>
                                      <p:cBhvr>
                                        <p:cTn id="168" dur="1" fill="hold">
                                          <p:stCondLst>
                                            <p:cond delay="0"/>
                                          </p:stCondLst>
                                        </p:cTn>
                                        <p:tgtEl>
                                          <p:spTgt spid="13"/>
                                        </p:tgtEl>
                                        <p:attrNameLst>
                                          <p:attrName>style.visibility</p:attrName>
                                        </p:attrNameLst>
                                      </p:cBhvr>
                                      <p:to>
                                        <p:strVal val="visible"/>
                                      </p:to>
                                    </p:set>
                                    <p:animEffect transition="in" filter="wipe(down)">
                                      <p:cBhvr>
                                        <p:cTn id="169" dur="500"/>
                                        <p:tgtEl>
                                          <p:spTgt spid="13"/>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74"/>
                                        </p:tgtEl>
                                        <p:attrNameLst>
                                          <p:attrName>style.visibility</p:attrName>
                                        </p:attrNameLst>
                                      </p:cBhvr>
                                      <p:to>
                                        <p:strVal val="visible"/>
                                      </p:to>
                                    </p:set>
                                    <p:animEffect transition="in" filter="wipe(up)">
                                      <p:cBhvr>
                                        <p:cTn id="174" dur="500"/>
                                        <p:tgtEl>
                                          <p:spTgt spid="74"/>
                                        </p:tgtEl>
                                      </p:cBhvr>
                                    </p:animEffect>
                                  </p:childTnLst>
                                </p:cTn>
                              </p:par>
                            </p:childTnLst>
                          </p:cTn>
                        </p:par>
                        <p:par>
                          <p:cTn id="175" fill="hold">
                            <p:stCondLst>
                              <p:cond delay="500"/>
                            </p:stCondLst>
                            <p:childTnLst>
                              <p:par>
                                <p:cTn id="176" presetID="22" presetClass="entr" presetSubtype="1" fill="hold" grpId="0" nodeType="afterEffect">
                                  <p:stCondLst>
                                    <p:cond delay="0"/>
                                  </p:stCondLst>
                                  <p:childTnLst>
                                    <p:set>
                                      <p:cBhvr>
                                        <p:cTn id="177" dur="1" fill="hold">
                                          <p:stCondLst>
                                            <p:cond delay="0"/>
                                          </p:stCondLst>
                                        </p:cTn>
                                        <p:tgtEl>
                                          <p:spTgt spid="32"/>
                                        </p:tgtEl>
                                        <p:attrNameLst>
                                          <p:attrName>style.visibility</p:attrName>
                                        </p:attrNameLst>
                                      </p:cBhvr>
                                      <p:to>
                                        <p:strVal val="visible"/>
                                      </p:to>
                                    </p:set>
                                    <p:animEffect transition="in" filter="wipe(up)">
                                      <p:cBhvr>
                                        <p:cTn id="178" dur="500"/>
                                        <p:tgtEl>
                                          <p:spTgt spid="32"/>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grpId="0" nodeType="clickEffect">
                                  <p:stCondLst>
                                    <p:cond delay="0"/>
                                  </p:stCondLst>
                                  <p:childTnLst>
                                    <p:set>
                                      <p:cBhvr>
                                        <p:cTn id="182" dur="1" fill="hold">
                                          <p:stCondLst>
                                            <p:cond delay="0"/>
                                          </p:stCondLst>
                                        </p:cTn>
                                        <p:tgtEl>
                                          <p:spTgt spid="68"/>
                                        </p:tgtEl>
                                        <p:attrNameLst>
                                          <p:attrName>style.visibility</p:attrName>
                                        </p:attrNameLst>
                                      </p:cBhvr>
                                      <p:to>
                                        <p:strVal val="visible"/>
                                      </p:to>
                                    </p:set>
                                    <p:animEffect transition="in" filter="wipe(up)">
                                      <p:cBhvr>
                                        <p:cTn id="183" dur="500"/>
                                        <p:tgtEl>
                                          <p:spTgt spid="68"/>
                                        </p:tgtEl>
                                      </p:cBhvr>
                                    </p:animEffect>
                                  </p:childTnLst>
                                </p:cTn>
                              </p:par>
                            </p:childTnLst>
                          </p:cTn>
                        </p:par>
                        <p:par>
                          <p:cTn id="184" fill="hold">
                            <p:stCondLst>
                              <p:cond delay="500"/>
                            </p:stCondLst>
                            <p:childTnLst>
                              <p:par>
                                <p:cTn id="185" presetID="22" presetClass="entr" presetSubtype="1" fill="hold" grpId="0" nodeType="afterEffect">
                                  <p:stCondLst>
                                    <p:cond delay="0"/>
                                  </p:stCondLst>
                                  <p:childTnLst>
                                    <p:set>
                                      <p:cBhvr>
                                        <p:cTn id="186" dur="1" fill="hold">
                                          <p:stCondLst>
                                            <p:cond delay="0"/>
                                          </p:stCondLst>
                                        </p:cTn>
                                        <p:tgtEl>
                                          <p:spTgt spid="35"/>
                                        </p:tgtEl>
                                        <p:attrNameLst>
                                          <p:attrName>style.visibility</p:attrName>
                                        </p:attrNameLst>
                                      </p:cBhvr>
                                      <p:to>
                                        <p:strVal val="visible"/>
                                      </p:to>
                                    </p:set>
                                    <p:animEffect transition="in" filter="wipe(up)">
                                      <p:cBhvr>
                                        <p:cTn id="187" dur="500"/>
                                        <p:tgtEl>
                                          <p:spTgt spid="35"/>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1" fill="hold" grpId="0" nodeType="clickEffect">
                                  <p:stCondLst>
                                    <p:cond delay="0"/>
                                  </p:stCondLst>
                                  <p:childTnLst>
                                    <p:set>
                                      <p:cBhvr>
                                        <p:cTn id="191" dur="1" fill="hold">
                                          <p:stCondLst>
                                            <p:cond delay="0"/>
                                          </p:stCondLst>
                                        </p:cTn>
                                        <p:tgtEl>
                                          <p:spTgt spid="72"/>
                                        </p:tgtEl>
                                        <p:attrNameLst>
                                          <p:attrName>style.visibility</p:attrName>
                                        </p:attrNameLst>
                                      </p:cBhvr>
                                      <p:to>
                                        <p:strVal val="visible"/>
                                      </p:to>
                                    </p:set>
                                    <p:animEffect transition="in" filter="wipe(up)">
                                      <p:cBhvr>
                                        <p:cTn id="192" dur="500"/>
                                        <p:tgtEl>
                                          <p:spTgt spid="72"/>
                                        </p:tgtEl>
                                      </p:cBhvr>
                                    </p:animEffect>
                                  </p:childTnLst>
                                </p:cTn>
                              </p:par>
                            </p:childTnLst>
                          </p:cTn>
                        </p:par>
                        <p:par>
                          <p:cTn id="193" fill="hold">
                            <p:stCondLst>
                              <p:cond delay="500"/>
                            </p:stCondLst>
                            <p:childTnLst>
                              <p:par>
                                <p:cTn id="194" presetID="22" presetClass="entr" presetSubtype="1" fill="hold" grpId="0" nodeType="afterEffect">
                                  <p:stCondLst>
                                    <p:cond delay="0"/>
                                  </p:stCondLst>
                                  <p:childTnLst>
                                    <p:set>
                                      <p:cBhvr>
                                        <p:cTn id="195" dur="1" fill="hold">
                                          <p:stCondLst>
                                            <p:cond delay="0"/>
                                          </p:stCondLst>
                                        </p:cTn>
                                        <p:tgtEl>
                                          <p:spTgt spid="49"/>
                                        </p:tgtEl>
                                        <p:attrNameLst>
                                          <p:attrName>style.visibility</p:attrName>
                                        </p:attrNameLst>
                                      </p:cBhvr>
                                      <p:to>
                                        <p:strVal val="visible"/>
                                      </p:to>
                                    </p:set>
                                    <p:animEffect transition="in" filter="wipe(up)">
                                      <p:cBhvr>
                                        <p:cTn id="196" dur="500"/>
                                        <p:tgtEl>
                                          <p:spTgt spid="49"/>
                                        </p:tgtEl>
                                      </p:cBhvr>
                                    </p:animEffect>
                                  </p:childTnLst>
                                </p:cTn>
                              </p:par>
                            </p:childTnLst>
                          </p:cTn>
                        </p:par>
                      </p:childTnLst>
                    </p:cTn>
                  </p:par>
                  <p:par>
                    <p:cTn id="197" fill="hold">
                      <p:stCondLst>
                        <p:cond delay="indefinite"/>
                      </p:stCondLst>
                      <p:childTnLst>
                        <p:par>
                          <p:cTn id="198" fill="hold">
                            <p:stCondLst>
                              <p:cond delay="0"/>
                            </p:stCondLst>
                            <p:childTnLst>
                              <p:par>
                                <p:cTn id="199" presetID="22" presetClass="entr" presetSubtype="4" fill="hold" grpId="0" nodeType="clickEffect">
                                  <p:stCondLst>
                                    <p:cond delay="0"/>
                                  </p:stCondLst>
                                  <p:childTnLst>
                                    <p:set>
                                      <p:cBhvr>
                                        <p:cTn id="200" dur="1" fill="hold">
                                          <p:stCondLst>
                                            <p:cond delay="0"/>
                                          </p:stCondLst>
                                        </p:cTn>
                                        <p:tgtEl>
                                          <p:spTgt spid="51"/>
                                        </p:tgtEl>
                                        <p:attrNameLst>
                                          <p:attrName>style.visibility</p:attrName>
                                        </p:attrNameLst>
                                      </p:cBhvr>
                                      <p:to>
                                        <p:strVal val="visible"/>
                                      </p:to>
                                    </p:set>
                                    <p:animEffect transition="in" filter="wipe(down)">
                                      <p:cBhvr>
                                        <p:cTn id="201" dur="500"/>
                                        <p:tgtEl>
                                          <p:spTgt spid="51"/>
                                        </p:tgtEl>
                                      </p:cBhvr>
                                    </p:animEffect>
                                  </p:childTnLst>
                                </p:cTn>
                              </p:par>
                              <p:par>
                                <p:cTn id="202" presetID="22" presetClass="entr" presetSubtype="4" fill="hold" grpId="0" nodeType="withEffect">
                                  <p:stCondLst>
                                    <p:cond delay="0"/>
                                  </p:stCondLst>
                                  <p:childTnLst>
                                    <p:set>
                                      <p:cBhvr>
                                        <p:cTn id="203" dur="1" fill="hold">
                                          <p:stCondLst>
                                            <p:cond delay="0"/>
                                          </p:stCondLst>
                                        </p:cTn>
                                        <p:tgtEl>
                                          <p:spTgt spid="48"/>
                                        </p:tgtEl>
                                        <p:attrNameLst>
                                          <p:attrName>style.visibility</p:attrName>
                                        </p:attrNameLst>
                                      </p:cBhvr>
                                      <p:to>
                                        <p:strVal val="visible"/>
                                      </p:to>
                                    </p:set>
                                    <p:animEffect transition="in" filter="wipe(down)">
                                      <p:cBhvr>
                                        <p:cTn id="204" dur="500"/>
                                        <p:tgtEl>
                                          <p:spTgt spid="48"/>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1" fill="hold" grpId="0" nodeType="clickEffect">
                                  <p:stCondLst>
                                    <p:cond delay="0"/>
                                  </p:stCondLst>
                                  <p:childTnLst>
                                    <p:set>
                                      <p:cBhvr>
                                        <p:cTn id="208" dur="1" fill="hold">
                                          <p:stCondLst>
                                            <p:cond delay="0"/>
                                          </p:stCondLst>
                                        </p:cTn>
                                        <p:tgtEl>
                                          <p:spTgt spid="73"/>
                                        </p:tgtEl>
                                        <p:attrNameLst>
                                          <p:attrName>style.visibility</p:attrName>
                                        </p:attrNameLst>
                                      </p:cBhvr>
                                      <p:to>
                                        <p:strVal val="visible"/>
                                      </p:to>
                                    </p:set>
                                    <p:animEffect transition="in" filter="wipe(up)">
                                      <p:cBhvr>
                                        <p:cTn id="209" dur="500"/>
                                        <p:tgtEl>
                                          <p:spTgt spid="73"/>
                                        </p:tgtEl>
                                      </p:cBhvr>
                                    </p:animEffect>
                                  </p:childTnLst>
                                </p:cTn>
                              </p:par>
                            </p:childTnLst>
                          </p:cTn>
                        </p:par>
                        <p:par>
                          <p:cTn id="210" fill="hold">
                            <p:stCondLst>
                              <p:cond delay="500"/>
                            </p:stCondLst>
                            <p:childTnLst>
                              <p:par>
                                <p:cTn id="211" presetID="22" presetClass="entr" presetSubtype="1" fill="hold" grpId="0" nodeType="afterEffect">
                                  <p:stCondLst>
                                    <p:cond delay="0"/>
                                  </p:stCondLst>
                                  <p:childTnLst>
                                    <p:set>
                                      <p:cBhvr>
                                        <p:cTn id="212" dur="1" fill="hold">
                                          <p:stCondLst>
                                            <p:cond delay="0"/>
                                          </p:stCondLst>
                                        </p:cTn>
                                        <p:tgtEl>
                                          <p:spTgt spid="50"/>
                                        </p:tgtEl>
                                        <p:attrNameLst>
                                          <p:attrName>style.visibility</p:attrName>
                                        </p:attrNameLst>
                                      </p:cBhvr>
                                      <p:to>
                                        <p:strVal val="visible"/>
                                      </p:to>
                                    </p:set>
                                    <p:animEffect transition="in" filter="wipe(up)">
                                      <p:cBhvr>
                                        <p:cTn id="213" dur="500"/>
                                        <p:tgtEl>
                                          <p:spTgt spid="50"/>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4" fill="hold" grpId="0" nodeType="clickEffect">
                                  <p:stCondLst>
                                    <p:cond delay="0"/>
                                  </p:stCondLst>
                                  <p:childTnLst>
                                    <p:set>
                                      <p:cBhvr>
                                        <p:cTn id="217" dur="1" fill="hold">
                                          <p:stCondLst>
                                            <p:cond delay="0"/>
                                          </p:stCondLst>
                                        </p:cTn>
                                        <p:tgtEl>
                                          <p:spTgt spid="52"/>
                                        </p:tgtEl>
                                        <p:attrNameLst>
                                          <p:attrName>style.visibility</p:attrName>
                                        </p:attrNameLst>
                                      </p:cBhvr>
                                      <p:to>
                                        <p:strVal val="visible"/>
                                      </p:to>
                                    </p:set>
                                    <p:animEffect transition="in" filter="wipe(down)">
                                      <p:cBhvr>
                                        <p:cTn id="218" dur="500"/>
                                        <p:tgtEl>
                                          <p:spTgt spid="52"/>
                                        </p:tgtEl>
                                      </p:cBhvr>
                                    </p:animEffect>
                                  </p:childTnLst>
                                </p:cTn>
                              </p:par>
                            </p:childTnLst>
                          </p:cTn>
                        </p:par>
                        <p:par>
                          <p:cTn id="219" fill="hold">
                            <p:stCondLst>
                              <p:cond delay="500"/>
                            </p:stCondLst>
                            <p:childTnLst>
                              <p:par>
                                <p:cTn id="220" presetID="22" presetClass="entr" presetSubtype="4" fill="hold" grpId="0" nodeType="after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wipe(down)">
                                      <p:cBhvr>
                                        <p:cTn id="222" dur="500"/>
                                        <p:tgtEl>
                                          <p:spTgt spid="47"/>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4" fill="hold" grpId="0" nodeType="clickEffect">
                                  <p:stCondLst>
                                    <p:cond delay="0"/>
                                  </p:stCondLst>
                                  <p:childTnLst>
                                    <p:set>
                                      <p:cBhvr>
                                        <p:cTn id="226" dur="1" fill="hold">
                                          <p:stCondLst>
                                            <p:cond delay="0"/>
                                          </p:stCondLst>
                                        </p:cTn>
                                        <p:tgtEl>
                                          <p:spTgt spid="57"/>
                                        </p:tgtEl>
                                        <p:attrNameLst>
                                          <p:attrName>style.visibility</p:attrName>
                                        </p:attrNameLst>
                                      </p:cBhvr>
                                      <p:to>
                                        <p:strVal val="visible"/>
                                      </p:to>
                                    </p:set>
                                    <p:animEffect transition="in" filter="wipe(down)">
                                      <p:cBhvr>
                                        <p:cTn id="227" dur="500"/>
                                        <p:tgtEl>
                                          <p:spTgt spid="57"/>
                                        </p:tgtEl>
                                      </p:cBhvr>
                                    </p:animEffect>
                                  </p:childTnLst>
                                </p:cTn>
                              </p:par>
                              <p:par>
                                <p:cTn id="228" presetID="22" presetClass="entr" presetSubtype="4" fill="hold" grpId="0" nodeType="withEffect">
                                  <p:stCondLst>
                                    <p:cond delay="0"/>
                                  </p:stCondLst>
                                  <p:childTnLst>
                                    <p:set>
                                      <p:cBhvr>
                                        <p:cTn id="229" dur="1" fill="hold">
                                          <p:stCondLst>
                                            <p:cond delay="0"/>
                                          </p:stCondLst>
                                        </p:cTn>
                                        <p:tgtEl>
                                          <p:spTgt spid="20"/>
                                        </p:tgtEl>
                                        <p:attrNameLst>
                                          <p:attrName>style.visibility</p:attrName>
                                        </p:attrNameLst>
                                      </p:cBhvr>
                                      <p:to>
                                        <p:strVal val="visible"/>
                                      </p:to>
                                    </p:set>
                                    <p:animEffect transition="in" filter="wipe(down)">
                                      <p:cBhvr>
                                        <p:cTn id="230" dur="500"/>
                                        <p:tgtEl>
                                          <p:spTgt spid="20"/>
                                        </p:tgtEl>
                                      </p:cBhvr>
                                    </p:animEffect>
                                  </p:childTnLst>
                                </p:cTn>
                              </p:par>
                            </p:childTnLst>
                          </p:cTn>
                        </p:par>
                      </p:childTnLst>
                    </p:cTn>
                  </p:par>
                  <p:par>
                    <p:cTn id="231" fill="hold">
                      <p:stCondLst>
                        <p:cond delay="indefinite"/>
                      </p:stCondLst>
                      <p:childTnLst>
                        <p:par>
                          <p:cTn id="232" fill="hold">
                            <p:stCondLst>
                              <p:cond delay="0"/>
                            </p:stCondLst>
                            <p:childTnLst>
                              <p:par>
                                <p:cTn id="233" presetID="22" presetClass="entr" presetSubtype="1" fill="hold" grpId="0" nodeType="clickEffect">
                                  <p:stCondLst>
                                    <p:cond delay="0"/>
                                  </p:stCondLst>
                                  <p:childTnLst>
                                    <p:set>
                                      <p:cBhvr>
                                        <p:cTn id="234" dur="1" fill="hold">
                                          <p:stCondLst>
                                            <p:cond delay="0"/>
                                          </p:stCondLst>
                                        </p:cTn>
                                        <p:tgtEl>
                                          <p:spTgt spid="69"/>
                                        </p:tgtEl>
                                        <p:attrNameLst>
                                          <p:attrName>style.visibility</p:attrName>
                                        </p:attrNameLst>
                                      </p:cBhvr>
                                      <p:to>
                                        <p:strVal val="visible"/>
                                      </p:to>
                                    </p:set>
                                    <p:animEffect transition="in" filter="wipe(up)">
                                      <p:cBhvr>
                                        <p:cTn id="235" dur="500"/>
                                        <p:tgtEl>
                                          <p:spTgt spid="69"/>
                                        </p:tgtEl>
                                      </p:cBhvr>
                                    </p:animEffect>
                                  </p:childTnLst>
                                </p:cTn>
                              </p:par>
                            </p:childTnLst>
                          </p:cTn>
                        </p:par>
                        <p:par>
                          <p:cTn id="236" fill="hold">
                            <p:stCondLst>
                              <p:cond delay="500"/>
                            </p:stCondLst>
                            <p:childTnLst>
                              <p:par>
                                <p:cTn id="237" presetID="22" presetClass="entr" presetSubtype="1" fill="hold" grpId="0" nodeType="afterEffect">
                                  <p:stCondLst>
                                    <p:cond delay="0"/>
                                  </p:stCondLst>
                                  <p:childTnLst>
                                    <p:set>
                                      <p:cBhvr>
                                        <p:cTn id="238" dur="1" fill="hold">
                                          <p:stCondLst>
                                            <p:cond delay="0"/>
                                          </p:stCondLst>
                                        </p:cTn>
                                        <p:tgtEl>
                                          <p:spTgt spid="36"/>
                                        </p:tgtEl>
                                        <p:attrNameLst>
                                          <p:attrName>style.visibility</p:attrName>
                                        </p:attrNameLst>
                                      </p:cBhvr>
                                      <p:to>
                                        <p:strVal val="visible"/>
                                      </p:to>
                                    </p:set>
                                    <p:animEffect transition="in" filter="wipe(up)">
                                      <p:cBhvr>
                                        <p:cTn id="239" dur="500"/>
                                        <p:tgtEl>
                                          <p:spTgt spid="36"/>
                                        </p:tgtEl>
                                      </p:cBhvr>
                                    </p:animEffect>
                                  </p:childTnLst>
                                </p:cTn>
                              </p:par>
                            </p:childTnLst>
                          </p:cTn>
                        </p:par>
                      </p:childTnLst>
                    </p:cTn>
                  </p:par>
                  <p:par>
                    <p:cTn id="240" fill="hold">
                      <p:stCondLst>
                        <p:cond delay="indefinite"/>
                      </p:stCondLst>
                      <p:childTnLst>
                        <p:par>
                          <p:cTn id="241" fill="hold">
                            <p:stCondLst>
                              <p:cond delay="0"/>
                            </p:stCondLst>
                            <p:childTnLst>
                              <p:par>
                                <p:cTn id="242" presetID="22" presetClass="entr" presetSubtype="4" fill="hold" grpId="0" nodeType="clickEffect">
                                  <p:stCondLst>
                                    <p:cond delay="0"/>
                                  </p:stCondLst>
                                  <p:childTnLst>
                                    <p:set>
                                      <p:cBhvr>
                                        <p:cTn id="243" dur="1" fill="hold">
                                          <p:stCondLst>
                                            <p:cond delay="0"/>
                                          </p:stCondLst>
                                        </p:cTn>
                                        <p:tgtEl>
                                          <p:spTgt spid="58"/>
                                        </p:tgtEl>
                                        <p:attrNameLst>
                                          <p:attrName>style.visibility</p:attrName>
                                        </p:attrNameLst>
                                      </p:cBhvr>
                                      <p:to>
                                        <p:strVal val="visible"/>
                                      </p:to>
                                    </p:set>
                                    <p:animEffect transition="in" filter="wipe(down)">
                                      <p:cBhvr>
                                        <p:cTn id="244" dur="500"/>
                                        <p:tgtEl>
                                          <p:spTgt spid="58"/>
                                        </p:tgtEl>
                                      </p:cBhvr>
                                    </p:animEffect>
                                  </p:childTnLst>
                                </p:cTn>
                              </p:par>
                              <p:par>
                                <p:cTn id="245" presetID="22" presetClass="entr" presetSubtype="4" fill="hold" grpId="0" nodeType="withEffect">
                                  <p:stCondLst>
                                    <p:cond delay="0"/>
                                  </p:stCondLst>
                                  <p:childTnLst>
                                    <p:set>
                                      <p:cBhvr>
                                        <p:cTn id="246" dur="1" fill="hold">
                                          <p:stCondLst>
                                            <p:cond delay="0"/>
                                          </p:stCondLst>
                                        </p:cTn>
                                        <p:tgtEl>
                                          <p:spTgt spid="24"/>
                                        </p:tgtEl>
                                        <p:attrNameLst>
                                          <p:attrName>style.visibility</p:attrName>
                                        </p:attrNameLst>
                                      </p:cBhvr>
                                      <p:to>
                                        <p:strVal val="visible"/>
                                      </p:to>
                                    </p:set>
                                    <p:animEffect transition="in" filter="wipe(down)">
                                      <p:cBhvr>
                                        <p:cTn id="247" dur="500"/>
                                        <p:tgtEl>
                                          <p:spTgt spid="24"/>
                                        </p:tgtEl>
                                      </p:cBhvr>
                                    </p:animEffect>
                                  </p:childTnLst>
                                </p:cTn>
                              </p:par>
                            </p:childTnLst>
                          </p:cTn>
                        </p:par>
                      </p:childTnLst>
                    </p:cTn>
                  </p:par>
                  <p:par>
                    <p:cTn id="248" fill="hold">
                      <p:stCondLst>
                        <p:cond delay="indefinite"/>
                      </p:stCondLst>
                      <p:childTnLst>
                        <p:par>
                          <p:cTn id="249" fill="hold">
                            <p:stCondLst>
                              <p:cond delay="0"/>
                            </p:stCondLst>
                            <p:childTnLst>
                              <p:par>
                                <p:cTn id="250" presetID="22" presetClass="entr" presetSubtype="4" fill="hold" grpId="0" nodeType="clickEffect">
                                  <p:stCondLst>
                                    <p:cond delay="0"/>
                                  </p:stCondLst>
                                  <p:childTnLst>
                                    <p:set>
                                      <p:cBhvr>
                                        <p:cTn id="251" dur="1" fill="hold">
                                          <p:stCondLst>
                                            <p:cond delay="0"/>
                                          </p:stCondLst>
                                        </p:cTn>
                                        <p:tgtEl>
                                          <p:spTgt spid="27"/>
                                        </p:tgtEl>
                                        <p:attrNameLst>
                                          <p:attrName>style.visibility</p:attrName>
                                        </p:attrNameLst>
                                      </p:cBhvr>
                                      <p:to>
                                        <p:strVal val="visible"/>
                                      </p:to>
                                    </p:set>
                                    <p:animEffect transition="in" filter="wipe(down)">
                                      <p:cBhvr>
                                        <p:cTn id="252" dur="500"/>
                                        <p:tgtEl>
                                          <p:spTgt spid="27"/>
                                        </p:tgtEl>
                                      </p:cBhvr>
                                    </p:animEffect>
                                  </p:childTnLst>
                                </p:cTn>
                              </p:par>
                              <p:par>
                                <p:cTn id="253" presetID="22" presetClass="entr" presetSubtype="4" fill="hold" grpId="0" nodeType="withEffect">
                                  <p:stCondLst>
                                    <p:cond delay="0"/>
                                  </p:stCondLst>
                                  <p:childTnLst>
                                    <p:set>
                                      <p:cBhvr>
                                        <p:cTn id="254" dur="1" fill="hold">
                                          <p:stCondLst>
                                            <p:cond delay="0"/>
                                          </p:stCondLst>
                                        </p:cTn>
                                        <p:tgtEl>
                                          <p:spTgt spid="14"/>
                                        </p:tgtEl>
                                        <p:attrNameLst>
                                          <p:attrName>style.visibility</p:attrName>
                                        </p:attrNameLst>
                                      </p:cBhvr>
                                      <p:to>
                                        <p:strVal val="visible"/>
                                      </p:to>
                                    </p:set>
                                    <p:animEffect transition="in" filter="wipe(down)">
                                      <p:cBhvr>
                                        <p:cTn id="255" dur="500"/>
                                        <p:tgtEl>
                                          <p:spTgt spid="14"/>
                                        </p:tgtEl>
                                      </p:cBhvr>
                                    </p:animEffect>
                                  </p:childTnLst>
                                </p:cTn>
                              </p:par>
                            </p:childTnLst>
                          </p:cTn>
                        </p:par>
                      </p:childTnLst>
                    </p:cTn>
                  </p:par>
                  <p:par>
                    <p:cTn id="256" fill="hold">
                      <p:stCondLst>
                        <p:cond delay="indefinite"/>
                      </p:stCondLst>
                      <p:childTnLst>
                        <p:par>
                          <p:cTn id="257" fill="hold">
                            <p:stCondLst>
                              <p:cond delay="0"/>
                            </p:stCondLst>
                            <p:childTnLst>
                              <p:par>
                                <p:cTn id="258" presetID="22" presetClass="entr" presetSubtype="4" fill="hold" grpId="0" nodeType="clickEffect">
                                  <p:stCondLst>
                                    <p:cond delay="0"/>
                                  </p:stCondLst>
                                  <p:childTnLst>
                                    <p:set>
                                      <p:cBhvr>
                                        <p:cTn id="259" dur="1" fill="hold">
                                          <p:stCondLst>
                                            <p:cond delay="0"/>
                                          </p:stCondLst>
                                        </p:cTn>
                                        <p:tgtEl>
                                          <p:spTgt spid="25"/>
                                        </p:tgtEl>
                                        <p:attrNameLst>
                                          <p:attrName>style.visibility</p:attrName>
                                        </p:attrNameLst>
                                      </p:cBhvr>
                                      <p:to>
                                        <p:strVal val="visible"/>
                                      </p:to>
                                    </p:set>
                                    <p:animEffect transition="in" filter="wipe(down)">
                                      <p:cBhvr>
                                        <p:cTn id="260" dur="500"/>
                                        <p:tgtEl>
                                          <p:spTgt spid="25"/>
                                        </p:tgtEl>
                                      </p:cBhvr>
                                    </p:animEffect>
                                  </p:childTnLst>
                                </p:cTn>
                              </p:par>
                              <p:par>
                                <p:cTn id="261" presetID="22" presetClass="entr" presetSubtype="4" fill="hold" grpId="0" nodeType="withEffect">
                                  <p:stCondLst>
                                    <p:cond delay="0"/>
                                  </p:stCondLst>
                                  <p:childTnLst>
                                    <p:set>
                                      <p:cBhvr>
                                        <p:cTn id="262" dur="1" fill="hold">
                                          <p:stCondLst>
                                            <p:cond delay="0"/>
                                          </p:stCondLst>
                                        </p:cTn>
                                        <p:tgtEl>
                                          <p:spTgt spid="26"/>
                                        </p:tgtEl>
                                        <p:attrNameLst>
                                          <p:attrName>style.visibility</p:attrName>
                                        </p:attrNameLst>
                                      </p:cBhvr>
                                      <p:to>
                                        <p:strVal val="visible"/>
                                      </p:to>
                                    </p:set>
                                    <p:animEffect transition="in" filter="wipe(down)">
                                      <p:cBhvr>
                                        <p:cTn id="26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P spid="11" grpId="0" animBg="1"/>
      <p:bldP spid="12" grpId="0" animBg="1"/>
      <p:bldP spid="13" grpId="0"/>
      <p:bldP spid="14" grpId="0"/>
      <p:bldP spid="15" grpId="0"/>
      <p:bldP spid="16" grpId="0"/>
      <p:bldP spid="17" grpId="0"/>
      <p:bldP spid="59" grpId="0" animBg="1"/>
      <p:bldP spid="60" grpId="0" animBg="1"/>
      <p:bldP spid="19" grpId="0"/>
      <p:bldP spid="20" grpId="0"/>
      <p:bldP spid="21" grpId="0" animBg="1"/>
      <p:bldP spid="22" grpId="0" animBg="1"/>
      <p:bldP spid="57" grpId="0" animBg="1"/>
      <p:bldP spid="58" grpId="0" animBg="1"/>
      <p:bldP spid="24" grpId="0"/>
      <p:bldP spid="25" grpId="0" animBg="1"/>
      <p:bldP spid="26" grpId="0"/>
      <p:bldP spid="27" grpId="0" animBg="1"/>
      <p:bldP spid="55" grpId="0" animBg="1"/>
      <p:bldP spid="56" grpId="0" animBg="1"/>
      <p:bldP spid="29" grpId="0"/>
      <p:bldP spid="30" grpId="0"/>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53" grpId="0" animBg="1"/>
      <p:bldP spid="54" grpId="0" animBg="1"/>
      <p:bldP spid="42" grpId="0"/>
      <p:bldP spid="43" grpId="0"/>
      <p:bldP spid="44" grpId="0" animBg="1"/>
      <p:bldP spid="45" grpId="0" animBg="1"/>
      <p:bldP spid="51" grpId="0" animBg="1"/>
      <p:bldP spid="52" grpId="0" animBg="1"/>
      <p:bldP spid="47" grpId="0"/>
      <p:bldP spid="48" grpId="0"/>
      <p:bldP spid="49" grpId="0" animBg="1"/>
      <p:bldP spid="5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4. Gist of Recursion (1/6)</a:t>
            </a:r>
          </a:p>
        </p:txBody>
      </p:sp>
      <p:sp>
        <p:nvSpPr>
          <p:cNvPr id="16387" name="Content Placeholder 2"/>
          <p:cNvSpPr>
            <a:spLocks noGrp="1"/>
          </p:cNvSpPr>
          <p:nvPr>
            <p:ph idx="1"/>
          </p:nvPr>
        </p:nvSpPr>
        <p:spPr>
          <a:xfrm>
            <a:off x="334962" y="1304925"/>
            <a:ext cx="7513638" cy="556532"/>
          </a:xfrm>
        </p:spPr>
        <p:txBody>
          <a:bodyPr/>
          <a:lstStyle/>
          <a:p>
            <a:pPr>
              <a:spcBef>
                <a:spcPts val="600"/>
              </a:spcBef>
              <a:buNone/>
            </a:pPr>
            <a:r>
              <a:rPr lang="en-US" sz="2400" dirty="0" smtClean="0"/>
              <a:t>Iteration </a:t>
            </a:r>
            <a:r>
              <a:rPr lang="en-US" sz="2400" dirty="0" err="1" smtClean="0"/>
              <a:t>vs</a:t>
            </a:r>
            <a:r>
              <a:rPr lang="en-US" sz="2400" dirty="0" smtClean="0"/>
              <a:t> Recursion: How to compute factorial(3)?</a:t>
            </a:r>
          </a:p>
        </p:txBody>
      </p:sp>
      <p:sp>
        <p:nvSpPr>
          <p:cNvPr id="9" name="TextBox 8"/>
          <p:cNvSpPr txBox="1"/>
          <p:nvPr/>
        </p:nvSpPr>
        <p:spPr>
          <a:xfrm>
            <a:off x="377080" y="2939143"/>
            <a:ext cx="2377006" cy="461665"/>
          </a:xfrm>
          <a:prstGeom prst="rect">
            <a:avLst/>
          </a:prstGeom>
          <a:noFill/>
        </p:spPr>
        <p:txBody>
          <a:bodyPr wrap="square" rtlCol="0">
            <a:spAutoFit/>
          </a:bodyPr>
          <a:lstStyle/>
          <a:p>
            <a:r>
              <a:rPr lang="en-US" sz="2400" dirty="0" smtClean="0">
                <a:solidFill>
                  <a:srgbClr val="0000FF"/>
                </a:solidFill>
              </a:rPr>
              <a:t>Iteration man</a:t>
            </a:r>
            <a:endParaRPr lang="en-SG" sz="2400" dirty="0">
              <a:solidFill>
                <a:srgbClr val="0000FF"/>
              </a:solidFill>
            </a:endParaRPr>
          </a:p>
        </p:txBody>
      </p:sp>
      <p:pic>
        <p:nvPicPr>
          <p:cNvPr id="10" name="Picture 9" descr="question_clipart.gif"/>
          <p:cNvPicPr>
            <a:picLocks noChangeAspect="1"/>
          </p:cNvPicPr>
          <p:nvPr/>
        </p:nvPicPr>
        <p:blipFill>
          <a:blip r:embed="rId3" cstate="print"/>
          <a:stretch>
            <a:fillRect/>
          </a:stretch>
        </p:blipFill>
        <p:spPr>
          <a:xfrm>
            <a:off x="1659910" y="1819165"/>
            <a:ext cx="420206" cy="1022007"/>
          </a:xfrm>
          <a:prstGeom prst="rect">
            <a:avLst/>
          </a:prstGeom>
        </p:spPr>
      </p:pic>
      <p:sp>
        <p:nvSpPr>
          <p:cNvPr id="13" name="TextBox 12"/>
          <p:cNvSpPr txBox="1"/>
          <p:nvPr/>
        </p:nvSpPr>
        <p:spPr>
          <a:xfrm>
            <a:off x="6179166" y="1883228"/>
            <a:ext cx="2377006" cy="461665"/>
          </a:xfrm>
          <a:prstGeom prst="rect">
            <a:avLst/>
          </a:prstGeom>
          <a:noFill/>
        </p:spPr>
        <p:txBody>
          <a:bodyPr wrap="square" rtlCol="0">
            <a:spAutoFit/>
          </a:bodyPr>
          <a:lstStyle/>
          <a:p>
            <a:r>
              <a:rPr lang="en-US" sz="2400" dirty="0" smtClean="0">
                <a:solidFill>
                  <a:srgbClr val="0000FF"/>
                </a:solidFill>
              </a:rPr>
              <a:t>Recursion man</a:t>
            </a:r>
            <a:endParaRPr lang="en-SG" sz="2400" dirty="0">
              <a:solidFill>
                <a:srgbClr val="0000FF"/>
              </a:solidFill>
            </a:endParaRPr>
          </a:p>
        </p:txBody>
      </p:sp>
      <p:grpSp>
        <p:nvGrpSpPr>
          <p:cNvPr id="34" name="Group 33"/>
          <p:cNvGrpSpPr/>
          <p:nvPr/>
        </p:nvGrpSpPr>
        <p:grpSpPr>
          <a:xfrm>
            <a:off x="408895" y="3461657"/>
            <a:ext cx="2334306" cy="2547257"/>
            <a:chOff x="408895" y="3461657"/>
            <a:chExt cx="2334306" cy="2547257"/>
          </a:xfrm>
        </p:grpSpPr>
        <p:pic>
          <p:nvPicPr>
            <p:cNvPr id="11" name="Picture 10" descr="imagesCAI79LF5.jpg"/>
            <p:cNvPicPr>
              <a:picLocks noChangeAspect="1"/>
            </p:cNvPicPr>
            <p:nvPr/>
          </p:nvPicPr>
          <p:blipFill>
            <a:blip r:embed="rId4" cstate="print"/>
            <a:stretch>
              <a:fillRect/>
            </a:stretch>
          </p:blipFill>
          <p:spPr>
            <a:xfrm>
              <a:off x="408895" y="4512809"/>
              <a:ext cx="1496105" cy="1496105"/>
            </a:xfrm>
            <a:prstGeom prst="rect">
              <a:avLst/>
            </a:prstGeom>
          </p:spPr>
        </p:pic>
        <p:sp>
          <p:nvSpPr>
            <p:cNvPr id="12" name="Oval Callout 11"/>
            <p:cNvSpPr/>
            <p:nvPr/>
          </p:nvSpPr>
          <p:spPr bwMode="auto">
            <a:xfrm>
              <a:off x="533399" y="3461657"/>
              <a:ext cx="2209802" cy="990599"/>
            </a:xfrm>
            <a:prstGeom prst="wedgeEllipseCallout">
              <a:avLst/>
            </a:prstGeom>
            <a:solidFill>
              <a:srgbClr val="66FFFF"/>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600" i="0" u="none" strike="noStrike" cap="none" normalizeH="0" baseline="0" dirty="0" smtClean="0">
                  <a:ln>
                    <a:noFill/>
                  </a:ln>
                  <a:solidFill>
                    <a:schemeClr val="tx1"/>
                  </a:solidFill>
                  <a:effectLst/>
                  <a:latin typeface="Arial" charset="0"/>
                  <a:cs typeface="Arial" charset="0"/>
                </a:rPr>
                <a:t>I do f(3) all by</a:t>
              </a:r>
              <a:r>
                <a:rPr kumimoji="0" lang="en-US" sz="1600" i="0" u="none" strike="noStrike" cap="none" normalizeH="0" dirty="0" smtClean="0">
                  <a:ln>
                    <a:noFill/>
                  </a:ln>
                  <a:solidFill>
                    <a:schemeClr val="tx1"/>
                  </a:solidFill>
                  <a:effectLst/>
                  <a:latin typeface="Arial" charset="0"/>
                  <a:cs typeface="Arial" charset="0"/>
                </a:rPr>
                <a:t> myself…return 6 to my boss.</a:t>
              </a:r>
              <a:endParaRPr kumimoji="0" lang="en-SG" sz="1600" i="0" u="none" strike="noStrike" cap="none" normalizeH="0" baseline="0" dirty="0" smtClean="0">
                <a:ln>
                  <a:noFill/>
                </a:ln>
                <a:solidFill>
                  <a:schemeClr val="tx1"/>
                </a:solidFill>
                <a:effectLst/>
                <a:latin typeface="Arial" charset="0"/>
                <a:cs typeface="Arial" charset="0"/>
              </a:endParaRPr>
            </a:p>
          </p:txBody>
        </p:sp>
        <p:sp>
          <p:nvSpPr>
            <p:cNvPr id="29" name="TextBox 28"/>
            <p:cNvSpPr txBox="1"/>
            <p:nvPr/>
          </p:nvSpPr>
          <p:spPr>
            <a:xfrm>
              <a:off x="827314" y="5050971"/>
              <a:ext cx="511629" cy="307777"/>
            </a:xfrm>
            <a:prstGeom prst="rect">
              <a:avLst/>
            </a:prstGeom>
            <a:noFill/>
          </p:spPr>
          <p:txBody>
            <a:bodyPr wrap="square" rtlCol="0">
              <a:spAutoFit/>
            </a:bodyPr>
            <a:lstStyle/>
            <a:p>
              <a:pPr algn="ctr"/>
              <a:r>
                <a:rPr lang="en-US" sz="1400" dirty="0" smtClean="0">
                  <a:latin typeface="Calibri" pitchFamily="34" charset="0"/>
                </a:rPr>
                <a:t>f(3)</a:t>
              </a:r>
              <a:endParaRPr lang="en-SG" sz="1400" dirty="0">
                <a:latin typeface="Calibri" pitchFamily="34" charset="0"/>
              </a:endParaRPr>
            </a:p>
          </p:txBody>
        </p:sp>
      </p:grpSp>
      <p:grpSp>
        <p:nvGrpSpPr>
          <p:cNvPr id="35" name="Group 34"/>
          <p:cNvGrpSpPr/>
          <p:nvPr/>
        </p:nvGrpSpPr>
        <p:grpSpPr>
          <a:xfrm>
            <a:off x="3407229" y="1992085"/>
            <a:ext cx="2427514" cy="2547258"/>
            <a:chOff x="3407229" y="1992085"/>
            <a:chExt cx="2427514" cy="2547258"/>
          </a:xfrm>
        </p:grpSpPr>
        <p:pic>
          <p:nvPicPr>
            <p:cNvPr id="14" name="Picture 13" descr="imagesCAI79LF5.jpg"/>
            <p:cNvPicPr>
              <a:picLocks noChangeAspect="1"/>
            </p:cNvPicPr>
            <p:nvPr/>
          </p:nvPicPr>
          <p:blipFill>
            <a:blip r:embed="rId4" cstate="print"/>
            <a:stretch>
              <a:fillRect/>
            </a:stretch>
          </p:blipFill>
          <p:spPr>
            <a:xfrm>
              <a:off x="3435124" y="3043238"/>
              <a:ext cx="1496105" cy="1496105"/>
            </a:xfrm>
            <a:prstGeom prst="rect">
              <a:avLst/>
            </a:prstGeom>
          </p:spPr>
        </p:pic>
        <p:sp>
          <p:nvSpPr>
            <p:cNvPr id="15" name="Oval Callout 14"/>
            <p:cNvSpPr/>
            <p:nvPr/>
          </p:nvSpPr>
          <p:spPr bwMode="auto">
            <a:xfrm>
              <a:off x="3407229" y="1992085"/>
              <a:ext cx="2427514" cy="990599"/>
            </a:xfrm>
            <a:prstGeom prst="wedgeEllipseCallout">
              <a:avLst/>
            </a:prstGeom>
            <a:solidFill>
              <a:srgbClr val="FFFF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cs typeface="Arial" charset="0"/>
                </a:rPr>
                <a:t>You, do f(2) for me. I’ll return 3 * your answer</a:t>
              </a:r>
              <a:r>
                <a:rPr kumimoji="0" lang="en-US" sz="1400" b="0" i="0" u="none" strike="noStrike" cap="none" normalizeH="0" dirty="0" smtClean="0">
                  <a:ln>
                    <a:noFill/>
                  </a:ln>
                  <a:solidFill>
                    <a:schemeClr val="tx1"/>
                  </a:solidFill>
                  <a:effectLst/>
                  <a:latin typeface="Arial" charset="0"/>
                  <a:cs typeface="Arial" charset="0"/>
                </a:rPr>
                <a:t> to my boss.</a:t>
              </a:r>
              <a:endParaRPr kumimoji="0" lang="en-SG" sz="1400" b="0" i="0" u="none" strike="noStrike" cap="none" normalizeH="0" baseline="0" dirty="0" smtClean="0">
                <a:ln>
                  <a:noFill/>
                </a:ln>
                <a:solidFill>
                  <a:schemeClr val="tx1"/>
                </a:solidFill>
                <a:effectLst/>
                <a:latin typeface="Arial" charset="0"/>
                <a:cs typeface="Arial" charset="0"/>
              </a:endParaRPr>
            </a:p>
          </p:txBody>
        </p:sp>
        <p:sp>
          <p:nvSpPr>
            <p:cNvPr id="30" name="TextBox 29"/>
            <p:cNvSpPr txBox="1"/>
            <p:nvPr/>
          </p:nvSpPr>
          <p:spPr>
            <a:xfrm>
              <a:off x="3864428" y="3603171"/>
              <a:ext cx="511629" cy="307777"/>
            </a:xfrm>
            <a:prstGeom prst="rect">
              <a:avLst/>
            </a:prstGeom>
            <a:noFill/>
          </p:spPr>
          <p:txBody>
            <a:bodyPr wrap="square" rtlCol="0">
              <a:spAutoFit/>
            </a:bodyPr>
            <a:lstStyle/>
            <a:p>
              <a:pPr algn="ctr"/>
              <a:r>
                <a:rPr lang="en-US" sz="1400" dirty="0" smtClean="0">
                  <a:latin typeface="Calibri" pitchFamily="34" charset="0"/>
                </a:rPr>
                <a:t>f(3)</a:t>
              </a:r>
              <a:endParaRPr lang="en-SG" sz="1400" dirty="0">
                <a:latin typeface="Calibri" pitchFamily="34" charset="0"/>
              </a:endParaRPr>
            </a:p>
          </p:txBody>
        </p:sp>
      </p:grpSp>
      <p:grpSp>
        <p:nvGrpSpPr>
          <p:cNvPr id="36" name="Group 35"/>
          <p:cNvGrpSpPr/>
          <p:nvPr/>
        </p:nvGrpSpPr>
        <p:grpSpPr>
          <a:xfrm>
            <a:off x="4659085" y="2764971"/>
            <a:ext cx="2427514" cy="2286001"/>
            <a:chOff x="4659085" y="2764971"/>
            <a:chExt cx="2427514" cy="2286001"/>
          </a:xfrm>
        </p:grpSpPr>
        <p:pic>
          <p:nvPicPr>
            <p:cNvPr id="16" name="Picture 15" descr="imagesCAI79LF5.jpg"/>
            <p:cNvPicPr>
              <a:picLocks noChangeAspect="1"/>
            </p:cNvPicPr>
            <p:nvPr/>
          </p:nvPicPr>
          <p:blipFill>
            <a:blip r:embed="rId4" cstate="print"/>
            <a:stretch>
              <a:fillRect/>
            </a:stretch>
          </p:blipFill>
          <p:spPr>
            <a:xfrm>
              <a:off x="4708754" y="3892324"/>
              <a:ext cx="1158648" cy="1158648"/>
            </a:xfrm>
            <a:prstGeom prst="rect">
              <a:avLst/>
            </a:prstGeom>
          </p:spPr>
        </p:pic>
        <p:sp>
          <p:nvSpPr>
            <p:cNvPr id="18" name="Oval Callout 17"/>
            <p:cNvSpPr/>
            <p:nvPr/>
          </p:nvSpPr>
          <p:spPr bwMode="auto">
            <a:xfrm>
              <a:off x="4659085" y="2764971"/>
              <a:ext cx="2427514" cy="990599"/>
            </a:xfrm>
            <a:prstGeom prst="wedgeEllipseCallout">
              <a:avLst/>
            </a:prstGeom>
            <a:solidFill>
              <a:srgbClr val="FFFF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cs typeface="Arial" charset="0"/>
                </a:rPr>
                <a:t>You, do f(1) for me. I’ll return 2 * your answer</a:t>
              </a:r>
              <a:r>
                <a:rPr kumimoji="0" lang="en-US" sz="1400" b="0" i="0" u="none" strike="noStrike" cap="none" normalizeH="0" dirty="0" smtClean="0">
                  <a:ln>
                    <a:noFill/>
                  </a:ln>
                  <a:solidFill>
                    <a:schemeClr val="tx1"/>
                  </a:solidFill>
                  <a:effectLst/>
                  <a:latin typeface="Arial" charset="0"/>
                  <a:cs typeface="Arial" charset="0"/>
                </a:rPr>
                <a:t> to my boss.</a:t>
              </a:r>
              <a:endParaRPr kumimoji="0" lang="en-SG" sz="1400" b="0" i="0" u="none" strike="noStrike" cap="none" normalizeH="0" baseline="0" dirty="0" smtClean="0">
                <a:ln>
                  <a:noFill/>
                </a:ln>
                <a:solidFill>
                  <a:schemeClr val="tx1"/>
                </a:solidFill>
                <a:effectLst/>
                <a:latin typeface="Arial" charset="0"/>
                <a:cs typeface="Arial" charset="0"/>
              </a:endParaRPr>
            </a:p>
          </p:txBody>
        </p:sp>
        <p:sp>
          <p:nvSpPr>
            <p:cNvPr id="31" name="TextBox 30"/>
            <p:cNvSpPr txBox="1"/>
            <p:nvPr/>
          </p:nvSpPr>
          <p:spPr>
            <a:xfrm>
              <a:off x="4974772" y="4321628"/>
              <a:ext cx="511629" cy="307777"/>
            </a:xfrm>
            <a:prstGeom prst="rect">
              <a:avLst/>
            </a:prstGeom>
            <a:noFill/>
          </p:spPr>
          <p:txBody>
            <a:bodyPr wrap="square" rtlCol="0">
              <a:spAutoFit/>
            </a:bodyPr>
            <a:lstStyle/>
            <a:p>
              <a:pPr algn="ctr"/>
              <a:r>
                <a:rPr lang="en-US" sz="1400" dirty="0" smtClean="0">
                  <a:latin typeface="Calibri" pitchFamily="34" charset="0"/>
                </a:rPr>
                <a:t>f(2)</a:t>
              </a:r>
              <a:endParaRPr lang="en-SG" sz="1400" dirty="0">
                <a:latin typeface="Calibri" pitchFamily="34" charset="0"/>
              </a:endParaRPr>
            </a:p>
          </p:txBody>
        </p:sp>
      </p:grpSp>
      <p:grpSp>
        <p:nvGrpSpPr>
          <p:cNvPr id="37" name="Group 36"/>
          <p:cNvGrpSpPr/>
          <p:nvPr/>
        </p:nvGrpSpPr>
        <p:grpSpPr>
          <a:xfrm>
            <a:off x="5900057" y="3516086"/>
            <a:ext cx="2427514" cy="2100942"/>
            <a:chOff x="5900057" y="3516086"/>
            <a:chExt cx="2427514" cy="2100942"/>
          </a:xfrm>
        </p:grpSpPr>
        <p:pic>
          <p:nvPicPr>
            <p:cNvPr id="20" name="Picture 19" descr="imagesCAI79LF5.jpg"/>
            <p:cNvPicPr>
              <a:picLocks noChangeAspect="1"/>
            </p:cNvPicPr>
            <p:nvPr/>
          </p:nvPicPr>
          <p:blipFill>
            <a:blip r:embed="rId4" cstate="print"/>
            <a:stretch>
              <a:fillRect/>
            </a:stretch>
          </p:blipFill>
          <p:spPr>
            <a:xfrm>
              <a:off x="5949726" y="4643439"/>
              <a:ext cx="973589" cy="973589"/>
            </a:xfrm>
            <a:prstGeom prst="rect">
              <a:avLst/>
            </a:prstGeom>
          </p:spPr>
        </p:pic>
        <p:sp>
          <p:nvSpPr>
            <p:cNvPr id="21" name="Oval Callout 20"/>
            <p:cNvSpPr/>
            <p:nvPr/>
          </p:nvSpPr>
          <p:spPr bwMode="auto">
            <a:xfrm>
              <a:off x="5900057" y="3516086"/>
              <a:ext cx="2427514" cy="990599"/>
            </a:xfrm>
            <a:prstGeom prst="wedgeEllipseCallout">
              <a:avLst/>
            </a:prstGeom>
            <a:solidFill>
              <a:srgbClr val="FFFF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cs typeface="Arial" charset="0"/>
                </a:rPr>
                <a:t>You, do f(0) for me. I’ll return 1 * your answer</a:t>
              </a:r>
              <a:r>
                <a:rPr kumimoji="0" lang="en-US" sz="1400" b="0" i="0" u="none" strike="noStrike" cap="none" normalizeH="0" dirty="0" smtClean="0">
                  <a:ln>
                    <a:noFill/>
                  </a:ln>
                  <a:solidFill>
                    <a:schemeClr val="tx1"/>
                  </a:solidFill>
                  <a:effectLst/>
                  <a:latin typeface="Arial" charset="0"/>
                  <a:cs typeface="Arial" charset="0"/>
                </a:rPr>
                <a:t> to my boss.</a:t>
              </a:r>
              <a:endParaRPr kumimoji="0" lang="en-SG" sz="1400" b="0" i="0" u="none" strike="noStrike" cap="none" normalizeH="0" baseline="0" dirty="0" smtClean="0">
                <a:ln>
                  <a:noFill/>
                </a:ln>
                <a:solidFill>
                  <a:schemeClr val="tx1"/>
                </a:solidFill>
                <a:effectLst/>
                <a:latin typeface="Arial" charset="0"/>
                <a:cs typeface="Arial" charset="0"/>
              </a:endParaRPr>
            </a:p>
          </p:txBody>
        </p:sp>
        <p:sp>
          <p:nvSpPr>
            <p:cNvPr id="32" name="TextBox 31"/>
            <p:cNvSpPr txBox="1"/>
            <p:nvPr/>
          </p:nvSpPr>
          <p:spPr>
            <a:xfrm>
              <a:off x="6128657" y="4996543"/>
              <a:ext cx="511629" cy="307777"/>
            </a:xfrm>
            <a:prstGeom prst="rect">
              <a:avLst/>
            </a:prstGeom>
            <a:noFill/>
          </p:spPr>
          <p:txBody>
            <a:bodyPr wrap="square" rtlCol="0">
              <a:spAutoFit/>
            </a:bodyPr>
            <a:lstStyle/>
            <a:p>
              <a:pPr algn="ctr"/>
              <a:r>
                <a:rPr lang="en-US" sz="1400" dirty="0" smtClean="0">
                  <a:latin typeface="Calibri" pitchFamily="34" charset="0"/>
                </a:rPr>
                <a:t>f(1)</a:t>
              </a:r>
              <a:endParaRPr lang="en-SG" sz="1400" dirty="0">
                <a:latin typeface="Calibri" pitchFamily="34" charset="0"/>
              </a:endParaRPr>
            </a:p>
          </p:txBody>
        </p:sp>
      </p:grpSp>
      <p:grpSp>
        <p:nvGrpSpPr>
          <p:cNvPr id="38" name="Group 37"/>
          <p:cNvGrpSpPr/>
          <p:nvPr/>
        </p:nvGrpSpPr>
        <p:grpSpPr>
          <a:xfrm>
            <a:off x="6912428" y="4354285"/>
            <a:ext cx="2013858" cy="1774372"/>
            <a:chOff x="6901542" y="4408714"/>
            <a:chExt cx="2013858" cy="1774372"/>
          </a:xfrm>
        </p:grpSpPr>
        <p:pic>
          <p:nvPicPr>
            <p:cNvPr id="22" name="Picture 21" descr="imagesCAI79LF5.jpg"/>
            <p:cNvPicPr>
              <a:picLocks noChangeAspect="1"/>
            </p:cNvPicPr>
            <p:nvPr/>
          </p:nvPicPr>
          <p:blipFill>
            <a:blip r:embed="rId4" cstate="print"/>
            <a:stretch>
              <a:fillRect/>
            </a:stretch>
          </p:blipFill>
          <p:spPr>
            <a:xfrm>
              <a:off x="7038298" y="5394554"/>
              <a:ext cx="788532" cy="788532"/>
            </a:xfrm>
            <a:prstGeom prst="rect">
              <a:avLst/>
            </a:prstGeom>
          </p:spPr>
        </p:pic>
        <p:sp>
          <p:nvSpPr>
            <p:cNvPr id="23" name="Oval Callout 22"/>
            <p:cNvSpPr/>
            <p:nvPr/>
          </p:nvSpPr>
          <p:spPr bwMode="auto">
            <a:xfrm>
              <a:off x="6901542" y="4408714"/>
              <a:ext cx="2013858" cy="827314"/>
            </a:xfrm>
            <a:prstGeom prst="wedgeEllipseCallout">
              <a:avLst/>
            </a:prstGeom>
            <a:solidFill>
              <a:srgbClr val="FFFF99"/>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I will do f(0) all by myself, and return 1 to my</a:t>
              </a:r>
              <a:r>
                <a:rPr kumimoji="0" lang="en-US" sz="1200" b="0" i="0" u="none" strike="noStrike" cap="none" normalizeH="0" dirty="0" smtClean="0">
                  <a:ln>
                    <a:noFill/>
                  </a:ln>
                  <a:solidFill>
                    <a:schemeClr val="tx1"/>
                  </a:solidFill>
                  <a:effectLst/>
                  <a:latin typeface="Arial" charset="0"/>
                  <a:cs typeface="Arial" charset="0"/>
                </a:rPr>
                <a:t> boss.</a:t>
              </a:r>
              <a:endParaRPr kumimoji="0" lang="en-SG" sz="1200" b="0" i="0" u="none" strike="noStrike" cap="none" normalizeH="0" baseline="0" dirty="0" smtClean="0">
                <a:ln>
                  <a:noFill/>
                </a:ln>
                <a:solidFill>
                  <a:schemeClr val="tx1"/>
                </a:solidFill>
                <a:effectLst/>
                <a:latin typeface="Arial" charset="0"/>
                <a:cs typeface="Arial" charset="0"/>
              </a:endParaRPr>
            </a:p>
          </p:txBody>
        </p:sp>
        <p:sp>
          <p:nvSpPr>
            <p:cNvPr id="33" name="TextBox 32"/>
            <p:cNvSpPr txBox="1"/>
            <p:nvPr/>
          </p:nvSpPr>
          <p:spPr>
            <a:xfrm>
              <a:off x="7141028" y="5649686"/>
              <a:ext cx="511629" cy="307777"/>
            </a:xfrm>
            <a:prstGeom prst="rect">
              <a:avLst/>
            </a:prstGeom>
            <a:noFill/>
          </p:spPr>
          <p:txBody>
            <a:bodyPr wrap="square" rtlCol="0">
              <a:spAutoFit/>
            </a:bodyPr>
            <a:lstStyle/>
            <a:p>
              <a:pPr algn="ctr"/>
              <a:r>
                <a:rPr lang="en-US" sz="1400" dirty="0" smtClean="0">
                  <a:latin typeface="Calibri" pitchFamily="34" charset="0"/>
                </a:rPr>
                <a:t>f(0)</a:t>
              </a:r>
              <a:endParaRPr lang="en-SG" sz="1400" dirty="0">
                <a:latin typeface="Calibri" pitchFamily="34" charset="0"/>
              </a:endParaRPr>
            </a:p>
          </p:txBody>
        </p:sp>
      </p:gr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17</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dissolve">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dissolve">
                                      <p:cBhvr>
                                        <p:cTn id="16" dur="500"/>
                                        <p:tgtEl>
                                          <p:spTgt spid="13"/>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dissolv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dissolve">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dissolve">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dissolve">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4. Gist of Recursion (2/6)</a:t>
            </a:r>
          </a:p>
        </p:txBody>
      </p:sp>
      <p:sp>
        <p:nvSpPr>
          <p:cNvPr id="16387" name="Content Placeholder 2"/>
          <p:cNvSpPr>
            <a:spLocks noGrp="1"/>
          </p:cNvSpPr>
          <p:nvPr>
            <p:ph idx="1"/>
          </p:nvPr>
        </p:nvSpPr>
        <p:spPr>
          <a:xfrm>
            <a:off x="334963" y="1304925"/>
            <a:ext cx="8229600" cy="4940300"/>
          </a:xfrm>
        </p:spPr>
        <p:txBody>
          <a:bodyPr/>
          <a:lstStyle/>
          <a:p>
            <a:pPr>
              <a:spcBef>
                <a:spcPts val="1200"/>
              </a:spcBef>
            </a:pPr>
            <a:r>
              <a:rPr lang="en-US" sz="2400" dirty="0" smtClean="0"/>
              <a:t>Problems that lend themselves to a recursive solution have the following characteristics: </a:t>
            </a:r>
          </a:p>
          <a:p>
            <a:pPr lvl="1">
              <a:spcBef>
                <a:spcPts val="600"/>
              </a:spcBef>
              <a:buSzPct val="60000"/>
            </a:pPr>
            <a:r>
              <a:rPr lang="en-US" sz="2000" dirty="0" smtClean="0"/>
              <a:t>One or more </a:t>
            </a:r>
            <a:r>
              <a:rPr lang="en-US" sz="2000" dirty="0" smtClean="0">
                <a:solidFill>
                  <a:srgbClr val="0000FF"/>
                </a:solidFill>
              </a:rPr>
              <a:t>simple cases </a:t>
            </a:r>
            <a:r>
              <a:rPr lang="en-US" sz="2000" dirty="0" smtClean="0"/>
              <a:t>(also called </a:t>
            </a:r>
            <a:r>
              <a:rPr lang="en-US" sz="2000" dirty="0" smtClean="0">
                <a:solidFill>
                  <a:srgbClr val="0000FF"/>
                </a:solidFill>
              </a:rPr>
              <a:t>base cases </a:t>
            </a:r>
            <a:r>
              <a:rPr lang="en-US" sz="2000" dirty="0" smtClean="0"/>
              <a:t>or </a:t>
            </a:r>
            <a:r>
              <a:rPr lang="en-US" sz="2000" dirty="0" smtClean="0">
                <a:solidFill>
                  <a:srgbClr val="0000FF"/>
                </a:solidFill>
              </a:rPr>
              <a:t>anchor cases</a:t>
            </a:r>
            <a:r>
              <a:rPr lang="en-US" sz="2000" dirty="0" smtClean="0"/>
              <a:t>) of the problem have a straightforward, non-recursive solution </a:t>
            </a:r>
          </a:p>
          <a:p>
            <a:pPr lvl="1">
              <a:spcBef>
                <a:spcPts val="600"/>
              </a:spcBef>
              <a:buSzPct val="60000"/>
            </a:pPr>
            <a:r>
              <a:rPr lang="en-US" sz="2000" dirty="0" smtClean="0"/>
              <a:t>The other cases can be redefined in terms of problems that are smaller, i.e. closer to the simple cases</a:t>
            </a:r>
          </a:p>
          <a:p>
            <a:pPr lvl="1">
              <a:spcBef>
                <a:spcPts val="600"/>
              </a:spcBef>
              <a:buSzPct val="60000"/>
            </a:pPr>
            <a:r>
              <a:rPr lang="en-US" sz="2000" dirty="0" smtClean="0"/>
              <a:t>By applying this redefinition process every time the recursive function is called, eventually the problem is reduced entirely to simple cases, which are relatively easy to solve</a:t>
            </a:r>
          </a:p>
          <a:p>
            <a:pPr lvl="1">
              <a:spcBef>
                <a:spcPts val="600"/>
              </a:spcBef>
              <a:buSzPct val="60000"/>
            </a:pPr>
            <a:r>
              <a:rPr lang="en-US" sz="2000" dirty="0" smtClean="0"/>
              <a:t>The solutions of the smaller problems are combined to obtain the solution of the original problem </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18</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4. Gist of Recursion (3/6)</a:t>
            </a:r>
          </a:p>
        </p:txBody>
      </p:sp>
      <p:sp>
        <p:nvSpPr>
          <p:cNvPr id="16387" name="Content Placeholder 2"/>
          <p:cNvSpPr>
            <a:spLocks noGrp="1"/>
          </p:cNvSpPr>
          <p:nvPr>
            <p:ph idx="1"/>
          </p:nvPr>
        </p:nvSpPr>
        <p:spPr>
          <a:xfrm>
            <a:off x="334963" y="1304925"/>
            <a:ext cx="8229600" cy="1307646"/>
          </a:xfrm>
        </p:spPr>
        <p:txBody>
          <a:bodyPr/>
          <a:lstStyle/>
          <a:p>
            <a:pPr>
              <a:lnSpc>
                <a:spcPct val="90000"/>
              </a:lnSpc>
              <a:spcBef>
                <a:spcPts val="1200"/>
              </a:spcBef>
            </a:pPr>
            <a:r>
              <a:rPr lang="en-US" sz="2800" dirty="0" smtClean="0"/>
              <a:t>To write a recursive function:</a:t>
            </a:r>
          </a:p>
          <a:p>
            <a:pPr lvl="1">
              <a:lnSpc>
                <a:spcPct val="90000"/>
              </a:lnSpc>
              <a:spcBef>
                <a:spcPts val="600"/>
              </a:spcBef>
              <a:buSzPct val="60000"/>
            </a:pPr>
            <a:r>
              <a:rPr lang="en-US" sz="2400" dirty="0" smtClean="0"/>
              <a:t>Identify the </a:t>
            </a:r>
            <a:r>
              <a:rPr lang="en-US" sz="2400" dirty="0" smtClean="0">
                <a:solidFill>
                  <a:srgbClr val="C00000"/>
                </a:solidFill>
              </a:rPr>
              <a:t>base case(s) </a:t>
            </a:r>
            <a:r>
              <a:rPr lang="en-US" sz="2400" dirty="0" smtClean="0"/>
              <a:t>of the relation</a:t>
            </a:r>
          </a:p>
          <a:p>
            <a:pPr lvl="1">
              <a:lnSpc>
                <a:spcPct val="90000"/>
              </a:lnSpc>
              <a:spcBef>
                <a:spcPts val="600"/>
              </a:spcBef>
              <a:buSzPct val="60000"/>
            </a:pPr>
            <a:r>
              <a:rPr lang="en-US" sz="2400" dirty="0" smtClean="0"/>
              <a:t>Identify the </a:t>
            </a:r>
            <a:r>
              <a:rPr lang="en-US" sz="2400" dirty="0" smtClean="0">
                <a:solidFill>
                  <a:srgbClr val="0000FF"/>
                </a:solidFill>
              </a:rPr>
              <a:t>recurrence relation</a:t>
            </a:r>
          </a:p>
        </p:txBody>
      </p:sp>
      <p:sp>
        <p:nvSpPr>
          <p:cNvPr id="6" name="TextBox 5"/>
          <p:cNvSpPr txBox="1"/>
          <p:nvPr/>
        </p:nvSpPr>
        <p:spPr>
          <a:xfrm>
            <a:off x="427591" y="2833333"/>
            <a:ext cx="4013780" cy="206210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623888" algn="l"/>
                <a:tab pos="973138" algn="l"/>
              </a:tabLst>
            </a:pPr>
            <a:r>
              <a:rPr lang="en-US" sz="1600" b="1" dirty="0" smtClean="0">
                <a:solidFill>
                  <a:srgbClr val="800000"/>
                </a:solidFill>
                <a:latin typeface="Courier New" pitchFamily="49" charset="0"/>
                <a:cs typeface="Courier New" pitchFamily="49" charset="0"/>
              </a:rPr>
              <a:t>// Pre-</a:t>
            </a:r>
            <a:r>
              <a:rPr lang="en-US" sz="1600" b="1" dirty="0" err="1" smtClean="0">
                <a:solidFill>
                  <a:srgbClr val="800000"/>
                </a:solidFill>
                <a:latin typeface="Courier New" pitchFamily="49" charset="0"/>
                <a:cs typeface="Courier New" pitchFamily="49" charset="0"/>
              </a:rPr>
              <a:t>cond</a:t>
            </a:r>
            <a:r>
              <a:rPr lang="en-US" sz="1600" b="1" dirty="0" smtClean="0">
                <a:solidFill>
                  <a:srgbClr val="800000"/>
                </a:solidFill>
                <a:latin typeface="Courier New" pitchFamily="49" charset="0"/>
                <a:cs typeface="Courier New" pitchFamily="49" charset="0"/>
              </a:rPr>
              <a:t>: n &gt;= 0</a:t>
            </a:r>
          </a:p>
          <a:p>
            <a:pPr>
              <a:tabLst>
                <a:tab pos="268288" algn="l"/>
                <a:tab pos="623888" algn="l"/>
                <a:tab pos="973138" algn="l"/>
              </a:tabLst>
            </a:pP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factorial(</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 {</a:t>
            </a:r>
          </a:p>
          <a:p>
            <a:pPr>
              <a:tabLst>
                <a:tab pos="268288" algn="l"/>
                <a:tab pos="623888" algn="l"/>
                <a:tab pos="973138"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if</a:t>
            </a:r>
            <a:r>
              <a:rPr lang="en-US" sz="1600" b="1" dirty="0" smtClean="0">
                <a:latin typeface="Courier New" pitchFamily="49" charset="0"/>
                <a:cs typeface="Courier New" pitchFamily="49" charset="0"/>
              </a:rPr>
              <a:t> (n == </a:t>
            </a:r>
            <a:r>
              <a:rPr lang="en-US" sz="1600" b="1" dirty="0" smtClean="0">
                <a:solidFill>
                  <a:srgbClr val="006600"/>
                </a:solidFill>
                <a:latin typeface="Courier New" pitchFamily="49" charset="0"/>
                <a:cs typeface="Courier New" pitchFamily="49" charset="0"/>
              </a:rPr>
              <a:t>0</a:t>
            </a:r>
            <a:r>
              <a:rPr lang="en-US" sz="1600" b="1" dirty="0" smtClean="0">
                <a:latin typeface="Courier New" pitchFamily="49" charset="0"/>
                <a:cs typeface="Courier New" pitchFamily="49" charset="0"/>
              </a:rPr>
              <a:t>) </a:t>
            </a:r>
          </a:p>
          <a:p>
            <a:pPr>
              <a:tabLst>
                <a:tab pos="268288" algn="l"/>
                <a:tab pos="623888" algn="l"/>
                <a:tab pos="973138"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a:t>
            </a:r>
          </a:p>
          <a:p>
            <a:pPr>
              <a:tabLst>
                <a:tab pos="268288" algn="l"/>
                <a:tab pos="623888" algn="l"/>
                <a:tab pos="973138" algn="l"/>
              </a:tabLst>
            </a:pPr>
            <a:endParaRPr lang="en-US" sz="1600" b="1" dirty="0" smtClean="0">
              <a:latin typeface="Courier New" pitchFamily="49" charset="0"/>
              <a:cs typeface="Courier New" pitchFamily="49" charset="0"/>
            </a:endParaRPr>
          </a:p>
          <a:p>
            <a:pPr>
              <a:tabLst>
                <a:tab pos="268288" algn="l"/>
                <a:tab pos="623888" algn="l"/>
                <a:tab pos="973138"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else</a:t>
            </a:r>
          </a:p>
          <a:p>
            <a:pPr>
              <a:tabLst>
                <a:tab pos="268288" algn="l"/>
                <a:tab pos="623888" algn="l"/>
                <a:tab pos="973138"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n * factorial(n-</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a:t>
            </a:r>
          </a:p>
          <a:p>
            <a:pPr>
              <a:tabLst>
                <a:tab pos="268288" algn="l"/>
                <a:tab pos="623888" algn="l"/>
                <a:tab pos="973138" algn="l"/>
              </a:tabLst>
            </a:pPr>
            <a:r>
              <a:rPr lang="en-US" sz="1600" b="1" dirty="0" smtClean="0">
                <a:latin typeface="Courier New" pitchFamily="49" charset="0"/>
                <a:cs typeface="Courier New" pitchFamily="49" charset="0"/>
              </a:rPr>
              <a:t>}</a:t>
            </a:r>
          </a:p>
        </p:txBody>
      </p:sp>
      <p:sp>
        <p:nvSpPr>
          <p:cNvPr id="9" name="TextBox 8"/>
          <p:cNvSpPr txBox="1"/>
          <p:nvPr/>
        </p:nvSpPr>
        <p:spPr>
          <a:xfrm>
            <a:off x="4603351" y="2833333"/>
            <a:ext cx="4116106" cy="206210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623888" algn="l"/>
                <a:tab pos="914400" algn="l"/>
              </a:tabLst>
            </a:pPr>
            <a:r>
              <a:rPr lang="en-US" sz="1600" b="1" dirty="0" smtClean="0">
                <a:solidFill>
                  <a:srgbClr val="800000"/>
                </a:solidFill>
                <a:latin typeface="Courier New" pitchFamily="49" charset="0"/>
                <a:cs typeface="Courier New" pitchFamily="49" charset="0"/>
              </a:rPr>
              <a:t>// Pre-</a:t>
            </a:r>
            <a:r>
              <a:rPr lang="en-US" sz="1600" b="1" dirty="0" err="1" smtClean="0">
                <a:solidFill>
                  <a:srgbClr val="800000"/>
                </a:solidFill>
                <a:latin typeface="Courier New" pitchFamily="49" charset="0"/>
                <a:cs typeface="Courier New" pitchFamily="49" charset="0"/>
              </a:rPr>
              <a:t>cond</a:t>
            </a:r>
            <a:r>
              <a:rPr lang="en-US" sz="1600" b="1" dirty="0" smtClean="0">
                <a:solidFill>
                  <a:srgbClr val="800000"/>
                </a:solidFill>
                <a:latin typeface="Courier New" pitchFamily="49" charset="0"/>
                <a:cs typeface="Courier New" pitchFamily="49" charset="0"/>
              </a:rPr>
              <a:t>: n &gt;= 0</a:t>
            </a:r>
          </a:p>
          <a:p>
            <a:pPr>
              <a:tabLst>
                <a:tab pos="268288" algn="l"/>
                <a:tab pos="623888" algn="l"/>
                <a:tab pos="914400" algn="l"/>
              </a:tabLst>
            </a:pP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fib(</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 {</a:t>
            </a:r>
          </a:p>
          <a:p>
            <a:pPr>
              <a:tabLst>
                <a:tab pos="268288" algn="l"/>
                <a:tab pos="623888" algn="l"/>
                <a:tab pos="973138"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if</a:t>
            </a:r>
            <a:r>
              <a:rPr lang="en-US" sz="1600" b="1" dirty="0" smtClean="0">
                <a:latin typeface="Courier New" pitchFamily="49" charset="0"/>
                <a:cs typeface="Courier New" pitchFamily="49" charset="0"/>
              </a:rPr>
              <a:t> (n &lt; </a:t>
            </a:r>
            <a:r>
              <a:rPr lang="en-US" sz="1600" b="1" dirty="0" smtClean="0">
                <a:solidFill>
                  <a:srgbClr val="006600"/>
                </a:solidFill>
                <a:latin typeface="Courier New" pitchFamily="49" charset="0"/>
                <a:cs typeface="Courier New" pitchFamily="49" charset="0"/>
              </a:rPr>
              <a:t>2</a:t>
            </a:r>
            <a:r>
              <a:rPr lang="en-US" sz="1600" b="1" dirty="0" smtClean="0">
                <a:latin typeface="Courier New" pitchFamily="49" charset="0"/>
                <a:cs typeface="Courier New" pitchFamily="49" charset="0"/>
              </a:rPr>
              <a:t>)</a:t>
            </a:r>
          </a:p>
          <a:p>
            <a:pPr>
              <a:tabLst>
                <a:tab pos="268288" algn="l"/>
                <a:tab pos="623888" algn="l"/>
                <a:tab pos="914400"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n;</a:t>
            </a:r>
          </a:p>
          <a:p>
            <a:pPr>
              <a:tabLst>
                <a:tab pos="268288" algn="l"/>
                <a:tab pos="623888" algn="l"/>
                <a:tab pos="914400" algn="l"/>
              </a:tabLst>
            </a:pPr>
            <a:endParaRPr lang="en-US" sz="1600" b="1" dirty="0" smtClean="0">
              <a:latin typeface="Courier New" pitchFamily="49" charset="0"/>
              <a:cs typeface="Courier New" pitchFamily="49" charset="0"/>
            </a:endParaRPr>
          </a:p>
          <a:p>
            <a:pPr>
              <a:tabLst>
                <a:tab pos="268288" algn="l"/>
                <a:tab pos="623888" algn="l"/>
                <a:tab pos="914400"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else</a:t>
            </a:r>
            <a:endParaRPr lang="en-US" sz="1600" b="1" dirty="0" smtClean="0">
              <a:latin typeface="Courier New" pitchFamily="49" charset="0"/>
              <a:cs typeface="Courier New" pitchFamily="49" charset="0"/>
            </a:endParaRPr>
          </a:p>
          <a:p>
            <a:pPr>
              <a:tabLst>
                <a:tab pos="268288" algn="l"/>
                <a:tab pos="623888" algn="l"/>
                <a:tab pos="914400"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fib(n-</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 + fib(n-</a:t>
            </a:r>
            <a:r>
              <a:rPr lang="en-US" sz="1600" b="1" dirty="0" smtClean="0">
                <a:solidFill>
                  <a:srgbClr val="006600"/>
                </a:solidFill>
                <a:latin typeface="Courier New" pitchFamily="49" charset="0"/>
                <a:cs typeface="Courier New" pitchFamily="49" charset="0"/>
              </a:rPr>
              <a:t>2</a:t>
            </a:r>
            <a:r>
              <a:rPr lang="en-US" sz="1600" b="1" dirty="0" smtClean="0">
                <a:latin typeface="Courier New" pitchFamily="49" charset="0"/>
                <a:cs typeface="Courier New" pitchFamily="49" charset="0"/>
              </a:rPr>
              <a:t>);</a:t>
            </a:r>
          </a:p>
          <a:p>
            <a:pPr>
              <a:tabLst>
                <a:tab pos="268288" algn="l"/>
                <a:tab pos="623888" algn="l"/>
                <a:tab pos="914400" algn="l"/>
              </a:tabLst>
            </a:pPr>
            <a:r>
              <a:rPr lang="en-US" sz="1600" b="1" dirty="0" smtClean="0">
                <a:latin typeface="Courier New" pitchFamily="49" charset="0"/>
                <a:cs typeface="Courier New" pitchFamily="49" charset="0"/>
              </a:rPr>
              <a:t>}</a:t>
            </a:r>
          </a:p>
        </p:txBody>
      </p:sp>
      <p:sp>
        <p:nvSpPr>
          <p:cNvPr id="10" name="Rectangle 9"/>
          <p:cNvSpPr/>
          <p:nvPr/>
        </p:nvSpPr>
        <p:spPr bwMode="auto">
          <a:xfrm>
            <a:off x="1103086" y="3367315"/>
            <a:ext cx="1204685" cy="478972"/>
          </a:xfrm>
          <a:prstGeom prst="rect">
            <a:avLst/>
          </a:prstGeom>
          <a:noFill/>
          <a:ln w="1905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1" name="Rectangle 10"/>
          <p:cNvSpPr/>
          <p:nvPr/>
        </p:nvSpPr>
        <p:spPr bwMode="auto">
          <a:xfrm>
            <a:off x="5250543" y="3367315"/>
            <a:ext cx="1193800" cy="478972"/>
          </a:xfrm>
          <a:prstGeom prst="rect">
            <a:avLst/>
          </a:prstGeom>
          <a:noFill/>
          <a:ln w="1905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2" name="Rectangle 11"/>
          <p:cNvSpPr/>
          <p:nvPr/>
        </p:nvSpPr>
        <p:spPr bwMode="auto">
          <a:xfrm>
            <a:off x="1948542" y="4310742"/>
            <a:ext cx="2253343" cy="304801"/>
          </a:xfrm>
          <a:prstGeom prst="rect">
            <a:avLst/>
          </a:prstGeom>
          <a:noFill/>
          <a:ln w="19050" cap="sq" cmpd="sng" algn="ctr">
            <a:solidFill>
              <a:srgbClr val="0000FF"/>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3" name="Rectangle 12"/>
          <p:cNvSpPr/>
          <p:nvPr/>
        </p:nvSpPr>
        <p:spPr bwMode="auto">
          <a:xfrm>
            <a:off x="6128658" y="4321628"/>
            <a:ext cx="2347686" cy="293915"/>
          </a:xfrm>
          <a:prstGeom prst="rect">
            <a:avLst/>
          </a:prstGeom>
          <a:noFill/>
          <a:ln w="19050" cap="sq" cmpd="sng" algn="ctr">
            <a:solidFill>
              <a:srgbClr val="0000FF"/>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3" name="Slide Number Placeholder 2"/>
          <p:cNvSpPr>
            <a:spLocks noGrp="1"/>
          </p:cNvSpPr>
          <p:nvPr>
            <p:ph type="sldNum" sz="quarter" idx="11"/>
          </p:nvPr>
        </p:nvSpPr>
        <p:spPr/>
        <p:txBody>
          <a:bodyPr/>
          <a:lstStyle/>
          <a:p>
            <a:pPr>
              <a:defRPr/>
            </a:pPr>
            <a:r>
              <a:rPr lang="en-US" dirty="0" smtClean="0"/>
              <a:t>Week11 - </a:t>
            </a:r>
            <a:fld id="{6E90ABC7-7044-4F1F-B273-92F595F59CFE}" type="slidenum">
              <a:rPr lang="en-US" smtClean="0"/>
              <a:pPr>
                <a:defRPr/>
              </a:pPr>
              <a:t>19</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dissolve">
                                      <p:cBhvr>
                                        <p:cTn id="7" dur="500"/>
                                        <p:tgtEl>
                                          <p:spTgt spid="16387">
                                            <p:txEl>
                                              <p:pRg st="0" end="0"/>
                                            </p:txEl>
                                          </p:spTgt>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par>
                          <p:cTn id="12" fill="hold">
                            <p:stCondLst>
                              <p:cond delay="1500"/>
                            </p:stCondLst>
                            <p:childTnLst>
                              <p:par>
                                <p:cTn id="13" presetID="9"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6387">
                                            <p:txEl>
                                              <p:pRg st="1" end="1"/>
                                            </p:txEl>
                                          </p:spTgt>
                                        </p:tgtEl>
                                        <p:attrNameLst>
                                          <p:attrName>style.visibility</p:attrName>
                                        </p:attrNameLst>
                                      </p:cBhvr>
                                      <p:to>
                                        <p:strVal val="visible"/>
                                      </p:to>
                                    </p:set>
                                    <p:animEffect transition="in" filter="dissolve">
                                      <p:cBhvr>
                                        <p:cTn id="20" dur="500"/>
                                        <p:tgtEl>
                                          <p:spTgt spid="16387">
                                            <p:txEl>
                                              <p:pRg st="1" end="1"/>
                                            </p:txEl>
                                          </p:spTgt>
                                        </p:tgtEl>
                                      </p:cBhvr>
                                    </p:animEffect>
                                  </p:childTnLst>
                                </p:cTn>
                              </p:par>
                            </p:childTnLst>
                          </p:cTn>
                        </p:par>
                        <p:par>
                          <p:cTn id="21" fill="hold">
                            <p:stCondLst>
                              <p:cond delay="500"/>
                            </p:stCondLst>
                            <p:childTnLst>
                              <p:par>
                                <p:cTn id="22" presetID="55"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strVal val="#ppt_w*0.70"/>
                                          </p:val>
                                        </p:tav>
                                        <p:tav tm="100000">
                                          <p:val>
                                            <p:strVal val="#ppt_w"/>
                                          </p:val>
                                        </p:tav>
                                      </p:tavLst>
                                    </p:anim>
                                    <p:anim calcmode="lin" valueType="num">
                                      <p:cBhvr>
                                        <p:cTn id="25" dur="1000" fill="hold"/>
                                        <p:tgtEl>
                                          <p:spTgt spid="10"/>
                                        </p:tgtEl>
                                        <p:attrNameLst>
                                          <p:attrName>ppt_h</p:attrName>
                                        </p:attrNameLst>
                                      </p:cBhvr>
                                      <p:tavLst>
                                        <p:tav tm="0">
                                          <p:val>
                                            <p:strVal val="#ppt_h"/>
                                          </p:val>
                                        </p:tav>
                                        <p:tav tm="100000">
                                          <p:val>
                                            <p:strVal val="#ppt_h"/>
                                          </p:val>
                                        </p:tav>
                                      </p:tavLst>
                                    </p:anim>
                                    <p:animEffect transition="in" filter="fade">
                                      <p:cBhvr>
                                        <p:cTn id="26" dur="1000"/>
                                        <p:tgtEl>
                                          <p:spTgt spid="10"/>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1000" fill="hold"/>
                                        <p:tgtEl>
                                          <p:spTgt spid="11"/>
                                        </p:tgtEl>
                                        <p:attrNameLst>
                                          <p:attrName>ppt_w</p:attrName>
                                        </p:attrNameLst>
                                      </p:cBhvr>
                                      <p:tavLst>
                                        <p:tav tm="0">
                                          <p:val>
                                            <p:strVal val="#ppt_w*0.70"/>
                                          </p:val>
                                        </p:tav>
                                        <p:tav tm="100000">
                                          <p:val>
                                            <p:strVal val="#ppt_w"/>
                                          </p:val>
                                        </p:tav>
                                      </p:tavLst>
                                    </p:anim>
                                    <p:anim calcmode="lin" valueType="num">
                                      <p:cBhvr>
                                        <p:cTn id="30" dur="1000" fill="hold"/>
                                        <p:tgtEl>
                                          <p:spTgt spid="11"/>
                                        </p:tgtEl>
                                        <p:attrNameLst>
                                          <p:attrName>ppt_h</p:attrName>
                                        </p:attrNameLst>
                                      </p:cBhvr>
                                      <p:tavLst>
                                        <p:tav tm="0">
                                          <p:val>
                                            <p:strVal val="#ppt_h"/>
                                          </p:val>
                                        </p:tav>
                                        <p:tav tm="100000">
                                          <p:val>
                                            <p:strVal val="#ppt_h"/>
                                          </p:val>
                                        </p:tav>
                                      </p:tavLst>
                                    </p:anim>
                                    <p:animEffect transition="in" filter="fade">
                                      <p:cBhvr>
                                        <p:cTn id="31" dur="1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6387">
                                            <p:txEl>
                                              <p:pRg st="2" end="2"/>
                                            </p:txEl>
                                          </p:spTgt>
                                        </p:tgtEl>
                                        <p:attrNameLst>
                                          <p:attrName>style.visibility</p:attrName>
                                        </p:attrNameLst>
                                      </p:cBhvr>
                                      <p:to>
                                        <p:strVal val="visible"/>
                                      </p:to>
                                    </p:set>
                                    <p:animEffect transition="in" filter="dissolve">
                                      <p:cBhvr>
                                        <p:cTn id="36" dur="500"/>
                                        <p:tgtEl>
                                          <p:spTgt spid="16387">
                                            <p:txEl>
                                              <p:pRg st="2" end="2"/>
                                            </p:txEl>
                                          </p:spTgt>
                                        </p:tgtEl>
                                      </p:cBhvr>
                                    </p:animEffect>
                                  </p:childTnLst>
                                </p:cTn>
                              </p:par>
                            </p:childTnLst>
                          </p:cTn>
                        </p:par>
                        <p:par>
                          <p:cTn id="37" fill="hold">
                            <p:stCondLst>
                              <p:cond delay="500"/>
                            </p:stCondLst>
                            <p:childTnLst>
                              <p:par>
                                <p:cTn id="38" presetID="55" presetClass="entr" presetSubtype="0"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1000" fill="hold"/>
                                        <p:tgtEl>
                                          <p:spTgt spid="12"/>
                                        </p:tgtEl>
                                        <p:attrNameLst>
                                          <p:attrName>ppt_w</p:attrName>
                                        </p:attrNameLst>
                                      </p:cBhvr>
                                      <p:tavLst>
                                        <p:tav tm="0">
                                          <p:val>
                                            <p:strVal val="#ppt_w*0.70"/>
                                          </p:val>
                                        </p:tav>
                                        <p:tav tm="100000">
                                          <p:val>
                                            <p:strVal val="#ppt_w"/>
                                          </p:val>
                                        </p:tav>
                                      </p:tavLst>
                                    </p:anim>
                                    <p:anim calcmode="lin" valueType="num">
                                      <p:cBhvr>
                                        <p:cTn id="41" dur="1000" fill="hold"/>
                                        <p:tgtEl>
                                          <p:spTgt spid="12"/>
                                        </p:tgtEl>
                                        <p:attrNameLst>
                                          <p:attrName>ppt_h</p:attrName>
                                        </p:attrNameLst>
                                      </p:cBhvr>
                                      <p:tavLst>
                                        <p:tav tm="0">
                                          <p:val>
                                            <p:strVal val="#ppt_h"/>
                                          </p:val>
                                        </p:tav>
                                        <p:tav tm="100000">
                                          <p:val>
                                            <p:strVal val="#ppt_h"/>
                                          </p:val>
                                        </p:tav>
                                      </p:tavLst>
                                    </p:anim>
                                    <p:animEffect transition="in" filter="fade">
                                      <p:cBhvr>
                                        <p:cTn id="42" dur="1000"/>
                                        <p:tgtEl>
                                          <p:spTgt spid="12"/>
                                        </p:tgtEl>
                                      </p:cBhvr>
                                    </p:animEffect>
                                  </p:childTnLst>
                                </p:cTn>
                              </p:par>
                              <p:par>
                                <p:cTn id="43" presetID="55"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1000" fill="hold"/>
                                        <p:tgtEl>
                                          <p:spTgt spid="13"/>
                                        </p:tgtEl>
                                        <p:attrNameLst>
                                          <p:attrName>ppt_w</p:attrName>
                                        </p:attrNameLst>
                                      </p:cBhvr>
                                      <p:tavLst>
                                        <p:tav tm="0">
                                          <p:val>
                                            <p:strVal val="#ppt_w*0.70"/>
                                          </p:val>
                                        </p:tav>
                                        <p:tav tm="100000">
                                          <p:val>
                                            <p:strVal val="#ppt_w"/>
                                          </p:val>
                                        </p:tav>
                                      </p:tavLst>
                                    </p:anim>
                                    <p:anim calcmode="lin" valueType="num">
                                      <p:cBhvr>
                                        <p:cTn id="46" dur="1000" fill="hold"/>
                                        <p:tgtEl>
                                          <p:spTgt spid="13"/>
                                        </p:tgtEl>
                                        <p:attrNameLst>
                                          <p:attrName>ppt_h</p:attrName>
                                        </p:attrNameLst>
                                      </p:cBhvr>
                                      <p:tavLst>
                                        <p:tav tm="0">
                                          <p:val>
                                            <p:strVal val="#ppt_h"/>
                                          </p:val>
                                        </p:tav>
                                        <p:tav tm="100000">
                                          <p:val>
                                            <p:strVal val="#ppt_h"/>
                                          </p:val>
                                        </p:tav>
                                      </p:tavLst>
                                    </p:anim>
                                    <p:animEffect transition="in" filter="fade">
                                      <p:cBhvr>
                                        <p:cTn id="4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bldLvl="2"/>
      <p:bldP spid="6" grpId="0" animBg="1"/>
      <p:bldP spid="9" grpId="0" animBg="1"/>
      <p:bldP spid="10" grpId="0" animBg="1"/>
      <p:bldP spid="11"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4. Gist of Recursion (4/6)</a:t>
            </a:r>
          </a:p>
        </p:txBody>
      </p:sp>
      <p:sp>
        <p:nvSpPr>
          <p:cNvPr id="16387" name="Content Placeholder 2"/>
          <p:cNvSpPr>
            <a:spLocks noGrp="1"/>
          </p:cNvSpPr>
          <p:nvPr>
            <p:ph idx="1"/>
          </p:nvPr>
        </p:nvSpPr>
        <p:spPr>
          <a:xfrm>
            <a:off x="334963" y="1304925"/>
            <a:ext cx="8229600" cy="1728562"/>
          </a:xfrm>
        </p:spPr>
        <p:txBody>
          <a:bodyPr/>
          <a:lstStyle/>
          <a:p>
            <a:pPr>
              <a:lnSpc>
                <a:spcPct val="90000"/>
              </a:lnSpc>
              <a:spcBef>
                <a:spcPts val="1200"/>
              </a:spcBef>
            </a:pPr>
            <a:r>
              <a:rPr lang="en-US" sz="2800" dirty="0" smtClean="0"/>
              <a:t>Always check for base case(s) first</a:t>
            </a:r>
          </a:p>
          <a:p>
            <a:pPr lvl="1">
              <a:lnSpc>
                <a:spcPct val="90000"/>
              </a:lnSpc>
              <a:spcBef>
                <a:spcPts val="1200"/>
              </a:spcBef>
              <a:buSzPct val="60000"/>
            </a:pPr>
            <a:r>
              <a:rPr lang="en-US" sz="2400" dirty="0" smtClean="0"/>
              <a:t>What if you omit base case(s)?</a:t>
            </a:r>
          </a:p>
          <a:p>
            <a:pPr>
              <a:lnSpc>
                <a:spcPct val="90000"/>
              </a:lnSpc>
              <a:spcBef>
                <a:spcPts val="1200"/>
              </a:spcBef>
            </a:pPr>
            <a:r>
              <a:rPr lang="en-US" sz="2800" dirty="0" smtClean="0"/>
              <a:t>Do not write redundant base cases</a:t>
            </a:r>
            <a:endParaRPr lang="en-US" sz="2400" dirty="0" smtClean="0"/>
          </a:p>
        </p:txBody>
      </p:sp>
      <p:sp>
        <p:nvSpPr>
          <p:cNvPr id="6" name="TextBox 5"/>
          <p:cNvSpPr txBox="1"/>
          <p:nvPr/>
        </p:nvSpPr>
        <p:spPr>
          <a:xfrm>
            <a:off x="2082220" y="2872522"/>
            <a:ext cx="4068209" cy="304698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268288" algn="l"/>
                <a:tab pos="536575" algn="l"/>
                <a:tab pos="804863" algn="l"/>
              </a:tabLst>
            </a:pP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factorial(</a:t>
            </a:r>
            <a:r>
              <a:rPr lang="en-US" sz="1600" b="1" dirty="0" err="1" smtClean="0">
                <a:solidFill>
                  <a:srgbClr val="0000FF"/>
                </a:solidFill>
                <a:latin typeface="Courier New" pitchFamily="49" charset="0"/>
                <a:cs typeface="Courier New" pitchFamily="49" charset="0"/>
              </a:rPr>
              <a:t>int</a:t>
            </a:r>
            <a:r>
              <a:rPr lang="en-US" sz="1600" b="1" dirty="0" smtClean="0">
                <a:latin typeface="Courier New" pitchFamily="49" charset="0"/>
                <a:cs typeface="Courier New" pitchFamily="49" charset="0"/>
              </a:rPr>
              <a:t> n) {</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if</a:t>
            </a:r>
            <a:r>
              <a:rPr lang="en-US" sz="1600" b="1" dirty="0" smtClean="0">
                <a:latin typeface="Courier New" pitchFamily="49" charset="0"/>
                <a:cs typeface="Courier New" pitchFamily="49" charset="0"/>
              </a:rPr>
              <a:t> (n == </a:t>
            </a:r>
            <a:r>
              <a:rPr lang="en-US" sz="1600" b="1" dirty="0" smtClean="0">
                <a:solidFill>
                  <a:srgbClr val="006600"/>
                </a:solidFill>
                <a:latin typeface="Courier New" pitchFamily="49" charset="0"/>
                <a:cs typeface="Courier New" pitchFamily="49" charset="0"/>
              </a:rPr>
              <a:t>0</a:t>
            </a:r>
            <a:r>
              <a:rPr lang="en-US" sz="1600" b="1" dirty="0" smtClean="0">
                <a:latin typeface="Courier New" pitchFamily="49" charset="0"/>
                <a:cs typeface="Courier New" pitchFamily="49" charset="0"/>
              </a:rPr>
              <a:t>) </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else</a:t>
            </a: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if </a:t>
            </a:r>
            <a:r>
              <a:rPr lang="en-US" sz="1600" b="1" dirty="0" smtClean="0">
                <a:latin typeface="Courier New" pitchFamily="49" charset="0"/>
                <a:cs typeface="Courier New" pitchFamily="49" charset="0"/>
              </a:rPr>
              <a:t>(n == </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solidFill>
                  <a:srgbClr val="0000FF"/>
                </a:solidFill>
                <a:latin typeface="Courier New" pitchFamily="49" charset="0"/>
                <a:cs typeface="Courier New" pitchFamily="49" charset="0"/>
              </a:rPr>
              <a:t>	else if </a:t>
            </a:r>
            <a:r>
              <a:rPr lang="en-US" sz="1600" b="1" dirty="0" smtClean="0">
                <a:latin typeface="Courier New" pitchFamily="49" charset="0"/>
                <a:cs typeface="Courier New" pitchFamily="49" charset="0"/>
              </a:rPr>
              <a:t>(n == </a:t>
            </a:r>
            <a:r>
              <a:rPr lang="en-US" sz="1600" b="1" dirty="0" smtClean="0">
                <a:solidFill>
                  <a:srgbClr val="006600"/>
                </a:solidFill>
                <a:latin typeface="Courier New" pitchFamily="49" charset="0"/>
                <a:cs typeface="Courier New" pitchFamily="49" charset="0"/>
              </a:rPr>
              <a:t>2</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a:t>
            </a:r>
            <a:r>
              <a:rPr lang="en-US" sz="1600" b="1" dirty="0" smtClean="0">
                <a:solidFill>
                  <a:srgbClr val="006600"/>
                </a:solidFill>
                <a:latin typeface="Courier New" pitchFamily="49" charset="0"/>
                <a:cs typeface="Courier New" pitchFamily="49" charset="0"/>
              </a:rPr>
              <a:t>2</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else if </a:t>
            </a:r>
            <a:r>
              <a:rPr lang="en-US" sz="1600" b="1" dirty="0" smtClean="0">
                <a:latin typeface="Courier New" pitchFamily="49" charset="0"/>
                <a:cs typeface="Courier New" pitchFamily="49" charset="0"/>
              </a:rPr>
              <a:t>(n == </a:t>
            </a:r>
            <a:r>
              <a:rPr lang="en-US" sz="1600" b="1" dirty="0" smtClean="0">
                <a:solidFill>
                  <a:srgbClr val="006600"/>
                </a:solidFill>
                <a:latin typeface="Courier New" pitchFamily="49" charset="0"/>
                <a:cs typeface="Courier New" pitchFamily="49" charset="0"/>
              </a:rPr>
              <a:t>3</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a:t>
            </a:r>
            <a:r>
              <a:rPr lang="en-US" sz="1600" b="1" dirty="0" smtClean="0">
                <a:solidFill>
                  <a:srgbClr val="006600"/>
                </a:solidFill>
                <a:latin typeface="Courier New" pitchFamily="49" charset="0"/>
                <a:cs typeface="Courier New" pitchFamily="49" charset="0"/>
              </a:rPr>
              <a:t>6</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else</a:t>
            </a:r>
          </a:p>
          <a:p>
            <a:pPr>
              <a:tabLst>
                <a:tab pos="268288" algn="l"/>
                <a:tab pos="536575" algn="l"/>
                <a:tab pos="804863" algn="l"/>
              </a:tabLst>
            </a:pPr>
            <a:r>
              <a:rPr lang="en-US" sz="1600" b="1" dirty="0" smtClean="0">
                <a:latin typeface="Courier New" pitchFamily="49" charset="0"/>
                <a:cs typeface="Courier New" pitchFamily="49" charset="0"/>
              </a:rPr>
              <a:t>		</a:t>
            </a:r>
            <a:r>
              <a:rPr lang="en-US" sz="1600" b="1" dirty="0" smtClean="0">
                <a:solidFill>
                  <a:srgbClr val="0000FF"/>
                </a:solidFill>
                <a:latin typeface="Courier New" pitchFamily="49" charset="0"/>
                <a:cs typeface="Courier New" pitchFamily="49" charset="0"/>
              </a:rPr>
              <a:t>return</a:t>
            </a:r>
            <a:r>
              <a:rPr lang="en-US" sz="1600" b="1" dirty="0" smtClean="0">
                <a:latin typeface="Courier New" pitchFamily="49" charset="0"/>
                <a:cs typeface="Courier New" pitchFamily="49" charset="0"/>
              </a:rPr>
              <a:t> n * factorial(n-</a:t>
            </a:r>
            <a:r>
              <a:rPr lang="en-US" sz="1600" b="1" dirty="0" smtClean="0">
                <a:solidFill>
                  <a:srgbClr val="006600"/>
                </a:solidFill>
                <a:latin typeface="Courier New" pitchFamily="49" charset="0"/>
                <a:cs typeface="Courier New" pitchFamily="49" charset="0"/>
              </a:rPr>
              <a:t>1</a:t>
            </a:r>
            <a:r>
              <a:rPr lang="en-US" sz="1600" b="1" dirty="0" smtClean="0">
                <a:latin typeface="Courier New" pitchFamily="49" charset="0"/>
                <a:cs typeface="Courier New" pitchFamily="49" charset="0"/>
              </a:rPr>
              <a:t>);</a:t>
            </a:r>
          </a:p>
          <a:p>
            <a:pPr>
              <a:tabLst>
                <a:tab pos="268288" algn="l"/>
                <a:tab pos="536575" algn="l"/>
                <a:tab pos="804863" algn="l"/>
              </a:tabLst>
            </a:pPr>
            <a:r>
              <a:rPr lang="en-US" sz="1600" b="1" dirty="0" smtClean="0">
                <a:latin typeface="Courier New" pitchFamily="49" charset="0"/>
                <a:cs typeface="Courier New" pitchFamily="49" charset="0"/>
              </a:rPr>
              <a:t>}</a:t>
            </a:r>
          </a:p>
        </p:txBody>
      </p:sp>
      <p:grpSp>
        <p:nvGrpSpPr>
          <p:cNvPr id="16" name="Group 15"/>
          <p:cNvGrpSpPr/>
          <p:nvPr/>
        </p:nvGrpSpPr>
        <p:grpSpPr>
          <a:xfrm>
            <a:off x="2285999" y="3656150"/>
            <a:ext cx="3897086" cy="1447800"/>
            <a:chOff x="2351314" y="3640183"/>
            <a:chExt cx="3897086" cy="1447800"/>
          </a:xfrm>
        </p:grpSpPr>
        <p:sp>
          <p:nvSpPr>
            <p:cNvPr id="14" name="Rectangle 13"/>
            <p:cNvSpPr/>
            <p:nvPr/>
          </p:nvSpPr>
          <p:spPr bwMode="auto">
            <a:xfrm>
              <a:off x="2351314" y="3640183"/>
              <a:ext cx="2438400" cy="1447800"/>
            </a:xfrm>
            <a:prstGeom prst="rect">
              <a:avLst/>
            </a:prstGeom>
            <a:noFill/>
            <a:ln w="19050" cap="sq"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5" name="TextBox 14"/>
            <p:cNvSpPr txBox="1"/>
            <p:nvPr/>
          </p:nvSpPr>
          <p:spPr>
            <a:xfrm>
              <a:off x="4855028" y="4075611"/>
              <a:ext cx="1393372" cy="370115"/>
            </a:xfrm>
            <a:prstGeom prst="rect">
              <a:avLst/>
            </a:prstGeom>
            <a:noFill/>
          </p:spPr>
          <p:txBody>
            <a:bodyPr wrap="square" rtlCol="0">
              <a:spAutoFit/>
            </a:bodyPr>
            <a:lstStyle/>
            <a:p>
              <a:r>
                <a:rPr lang="en-US" dirty="0" smtClean="0">
                  <a:solidFill>
                    <a:srgbClr val="C00000"/>
                  </a:solidFill>
                </a:rPr>
                <a:t>redundant</a:t>
              </a:r>
              <a:endParaRPr lang="en-SG" dirty="0">
                <a:solidFill>
                  <a:srgbClr val="C00000"/>
                </a:solidFill>
              </a:endParaRPr>
            </a:p>
          </p:txBody>
        </p:sp>
      </p:gr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20</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4. Gist of Recursion (5/6)</a:t>
            </a:r>
          </a:p>
        </p:txBody>
      </p:sp>
      <p:sp>
        <p:nvSpPr>
          <p:cNvPr id="16387" name="Content Placeholder 2"/>
          <p:cNvSpPr>
            <a:spLocks noGrp="1"/>
          </p:cNvSpPr>
          <p:nvPr>
            <p:ph idx="1"/>
          </p:nvPr>
        </p:nvSpPr>
        <p:spPr>
          <a:xfrm>
            <a:off x="334963" y="1384663"/>
            <a:ext cx="8229600" cy="4611188"/>
          </a:xfrm>
        </p:spPr>
        <p:txBody>
          <a:bodyPr/>
          <a:lstStyle/>
          <a:p>
            <a:pPr>
              <a:lnSpc>
                <a:spcPct val="90000"/>
              </a:lnSpc>
              <a:spcBef>
                <a:spcPts val="1200"/>
              </a:spcBef>
            </a:pPr>
            <a:r>
              <a:rPr lang="en-US" sz="2400" dirty="0" smtClean="0"/>
              <a:t>When a function is called, an </a:t>
            </a:r>
            <a:r>
              <a:rPr lang="en-US" sz="2400" dirty="0" smtClean="0">
                <a:solidFill>
                  <a:srgbClr val="0000FF"/>
                </a:solidFill>
              </a:rPr>
              <a:t>activation record </a:t>
            </a:r>
            <a:r>
              <a:rPr lang="en-US" sz="2400" dirty="0" smtClean="0"/>
              <a:t>(or frame) is created by the system.</a:t>
            </a:r>
          </a:p>
          <a:p>
            <a:pPr>
              <a:lnSpc>
                <a:spcPct val="90000"/>
              </a:lnSpc>
              <a:spcBef>
                <a:spcPts val="1200"/>
              </a:spcBef>
            </a:pPr>
            <a:r>
              <a:rPr lang="en-US" sz="2400" dirty="0" smtClean="0"/>
              <a:t>Each activation record stores the local parameters and variables of the function and its return address.</a:t>
            </a:r>
          </a:p>
          <a:p>
            <a:pPr>
              <a:lnSpc>
                <a:spcPct val="90000"/>
              </a:lnSpc>
              <a:spcBef>
                <a:spcPts val="1200"/>
              </a:spcBef>
            </a:pPr>
            <a:r>
              <a:rPr lang="en-US" sz="2400" dirty="0" smtClean="0"/>
              <a:t>Such records reside in the memory called </a:t>
            </a:r>
            <a:r>
              <a:rPr lang="en-US" sz="2400" dirty="0" smtClean="0">
                <a:solidFill>
                  <a:srgbClr val="0000FF"/>
                </a:solidFill>
              </a:rPr>
              <a:t>stack</a:t>
            </a:r>
            <a:r>
              <a:rPr lang="en-US" sz="2400" dirty="0" smtClean="0"/>
              <a:t>.</a:t>
            </a:r>
          </a:p>
          <a:p>
            <a:pPr lvl="1">
              <a:lnSpc>
                <a:spcPct val="90000"/>
              </a:lnSpc>
              <a:spcBef>
                <a:spcPts val="1200"/>
              </a:spcBef>
            </a:pPr>
            <a:r>
              <a:rPr lang="en-US" sz="2000" dirty="0" smtClean="0"/>
              <a:t>Stack is also known as </a:t>
            </a:r>
            <a:r>
              <a:rPr lang="en-US" sz="2000" dirty="0" smtClean="0">
                <a:solidFill>
                  <a:srgbClr val="0000FF"/>
                </a:solidFill>
              </a:rPr>
              <a:t>LIFO</a:t>
            </a:r>
            <a:r>
              <a:rPr lang="en-US" sz="2000" dirty="0" smtClean="0"/>
              <a:t> (last-in-first-out) structure</a:t>
            </a:r>
          </a:p>
          <a:p>
            <a:pPr>
              <a:lnSpc>
                <a:spcPct val="90000"/>
              </a:lnSpc>
              <a:spcBef>
                <a:spcPts val="1200"/>
              </a:spcBef>
            </a:pPr>
            <a:r>
              <a:rPr lang="en-US" sz="2400" dirty="0" smtClean="0"/>
              <a:t>A recursive function can potentially create many activation records</a:t>
            </a:r>
          </a:p>
          <a:p>
            <a:pPr lvl="1">
              <a:lnSpc>
                <a:spcPct val="90000"/>
              </a:lnSpc>
              <a:spcBef>
                <a:spcPts val="1200"/>
              </a:spcBef>
            </a:pPr>
            <a:r>
              <a:rPr lang="en-US" sz="2000" dirty="0" smtClean="0"/>
              <a:t>Winding: each recursive call creates a separate record</a:t>
            </a:r>
          </a:p>
          <a:p>
            <a:pPr lvl="1">
              <a:lnSpc>
                <a:spcPct val="90000"/>
              </a:lnSpc>
              <a:spcBef>
                <a:spcPts val="1200"/>
              </a:spcBef>
            </a:pPr>
            <a:r>
              <a:rPr lang="en-US" sz="2000" dirty="0" smtClean="0"/>
              <a:t>Unwinding: each return to the caller erases its associated record</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21</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57200"/>
            <a:ext cx="8440738" cy="792163"/>
          </a:xfrm>
        </p:spPr>
        <p:txBody>
          <a:bodyPr/>
          <a:lstStyle/>
          <a:p>
            <a:r>
              <a:rPr lang="en-US" sz="4000" dirty="0" smtClean="0">
                <a:solidFill>
                  <a:srgbClr val="9933FF"/>
                </a:solidFill>
                <a:latin typeface="Garamond" pitchFamily="18" charset="0"/>
              </a:rPr>
              <a:t>4. Gist of Recursion (6/6)</a:t>
            </a:r>
          </a:p>
        </p:txBody>
      </p:sp>
      <p:sp>
        <p:nvSpPr>
          <p:cNvPr id="16387" name="Content Placeholder 2"/>
          <p:cNvSpPr>
            <a:spLocks noGrp="1"/>
          </p:cNvSpPr>
          <p:nvPr>
            <p:ph idx="1"/>
          </p:nvPr>
        </p:nvSpPr>
        <p:spPr>
          <a:xfrm>
            <a:off x="334963" y="1384663"/>
            <a:ext cx="8229600" cy="705394"/>
          </a:xfrm>
        </p:spPr>
        <p:txBody>
          <a:bodyPr/>
          <a:lstStyle/>
          <a:p>
            <a:pPr>
              <a:lnSpc>
                <a:spcPct val="90000"/>
              </a:lnSpc>
              <a:spcBef>
                <a:spcPts val="1200"/>
              </a:spcBef>
            </a:pPr>
            <a:r>
              <a:rPr lang="en-US" sz="2400" dirty="0" smtClean="0"/>
              <a:t>Example: factorial(3)</a:t>
            </a:r>
          </a:p>
        </p:txBody>
      </p:sp>
      <p:sp>
        <p:nvSpPr>
          <p:cNvPr id="58" name="TextBox 57"/>
          <p:cNvSpPr txBox="1"/>
          <p:nvPr/>
        </p:nvSpPr>
        <p:spPr>
          <a:xfrm>
            <a:off x="6035041" y="243404"/>
            <a:ext cx="2939142" cy="954107"/>
          </a:xfrm>
          <a:prstGeom prst="rect">
            <a:avLst/>
          </a:prstGeom>
          <a:solidFill>
            <a:srgbClr val="CCECFF"/>
          </a:solidFill>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tabLst>
                <a:tab pos="174625" algn="l"/>
                <a:tab pos="358775" algn="l"/>
                <a:tab pos="536575" algn="l"/>
              </a:tabLst>
            </a:pP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f(</a:t>
            </a:r>
            <a:r>
              <a:rPr lang="en-US" sz="1400" b="1" dirty="0" err="1" smtClean="0">
                <a:solidFill>
                  <a:srgbClr val="0000FF"/>
                </a:solidFill>
                <a:latin typeface="Courier New" pitchFamily="49" charset="0"/>
                <a:cs typeface="Courier New" pitchFamily="49" charset="0"/>
              </a:rPr>
              <a:t>int</a:t>
            </a:r>
            <a:r>
              <a:rPr lang="en-US" sz="1400" b="1" dirty="0" smtClean="0">
                <a:latin typeface="Courier New" pitchFamily="49" charset="0"/>
                <a:cs typeface="Courier New" pitchFamily="49" charset="0"/>
              </a:rPr>
              <a:t> n) {</a:t>
            </a:r>
          </a:p>
          <a:p>
            <a:pPr>
              <a:tabLst>
                <a:tab pos="174625" algn="l"/>
                <a:tab pos="358775" algn="l"/>
                <a:tab pos="536575"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if</a:t>
            </a:r>
            <a:r>
              <a:rPr lang="en-US" sz="1400" b="1" dirty="0" smtClean="0">
                <a:latin typeface="Courier New" pitchFamily="49" charset="0"/>
                <a:cs typeface="Courier New" pitchFamily="49" charset="0"/>
              </a:rPr>
              <a:t> (n == </a:t>
            </a:r>
            <a:r>
              <a:rPr lang="en-US" sz="1400" b="1" dirty="0" smtClean="0">
                <a:solidFill>
                  <a:srgbClr val="006600"/>
                </a:solidFill>
                <a:latin typeface="Courier New" pitchFamily="49" charset="0"/>
                <a:cs typeface="Courier New" pitchFamily="49" charset="0"/>
              </a:rPr>
              <a:t>0</a:t>
            </a: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return</a:t>
            </a:r>
            <a:r>
              <a:rPr lang="en-US" sz="1400" b="1" dirty="0" smtClean="0">
                <a:latin typeface="Courier New" pitchFamily="49" charset="0"/>
                <a:cs typeface="Courier New" pitchFamily="49" charset="0"/>
              </a:rPr>
              <a:t> </a:t>
            </a:r>
            <a:r>
              <a:rPr lang="en-US" sz="1400" b="1" dirty="0" smtClean="0">
                <a:solidFill>
                  <a:srgbClr val="006600"/>
                </a:solidFill>
                <a:latin typeface="Courier New" pitchFamily="49" charset="0"/>
                <a:cs typeface="Courier New" pitchFamily="49" charset="0"/>
              </a:rPr>
              <a:t>1</a:t>
            </a:r>
            <a:r>
              <a:rPr lang="en-US" sz="1400" b="1" dirty="0" smtClean="0">
                <a:latin typeface="Courier New" pitchFamily="49" charset="0"/>
                <a:cs typeface="Courier New" pitchFamily="49" charset="0"/>
              </a:rPr>
              <a:t>;</a:t>
            </a:r>
          </a:p>
          <a:p>
            <a:pPr>
              <a:tabLst>
                <a:tab pos="174625" algn="l"/>
                <a:tab pos="358775" algn="l"/>
                <a:tab pos="536575" algn="l"/>
              </a:tabLst>
            </a:pPr>
            <a:r>
              <a:rPr lang="en-US" sz="1400" b="1" dirty="0" smtClean="0">
                <a:latin typeface="Courier New" pitchFamily="49" charset="0"/>
                <a:cs typeface="Courier New" pitchFamily="49" charset="0"/>
              </a:rPr>
              <a:t>	</a:t>
            </a:r>
            <a:r>
              <a:rPr lang="en-US" sz="1400" b="1" dirty="0" smtClean="0">
                <a:solidFill>
                  <a:srgbClr val="0000FF"/>
                </a:solidFill>
                <a:latin typeface="Courier New" pitchFamily="49" charset="0"/>
                <a:cs typeface="Courier New" pitchFamily="49" charset="0"/>
              </a:rPr>
              <a:t>else return</a:t>
            </a:r>
            <a:r>
              <a:rPr lang="en-US" sz="1400" b="1" dirty="0" smtClean="0">
                <a:latin typeface="Courier New" pitchFamily="49" charset="0"/>
                <a:cs typeface="Courier New" pitchFamily="49" charset="0"/>
              </a:rPr>
              <a:t> n * f(n-</a:t>
            </a:r>
            <a:r>
              <a:rPr lang="en-US" sz="1400" b="1" dirty="0" smtClean="0">
                <a:solidFill>
                  <a:srgbClr val="006600"/>
                </a:solidFill>
                <a:latin typeface="Courier New" pitchFamily="49" charset="0"/>
                <a:cs typeface="Courier New" pitchFamily="49" charset="0"/>
              </a:rPr>
              <a:t>1</a:t>
            </a:r>
            <a:r>
              <a:rPr lang="en-US" sz="1400" b="1" dirty="0" smtClean="0">
                <a:latin typeface="Courier New" pitchFamily="49" charset="0"/>
                <a:cs typeface="Courier New" pitchFamily="49" charset="0"/>
              </a:rPr>
              <a:t>);</a:t>
            </a:r>
          </a:p>
          <a:p>
            <a:pPr>
              <a:tabLst>
                <a:tab pos="174625" algn="l"/>
                <a:tab pos="358775" algn="l"/>
                <a:tab pos="536575" algn="l"/>
              </a:tabLst>
            </a:pPr>
            <a:r>
              <a:rPr lang="en-US" sz="1400" b="1" dirty="0" smtClean="0">
                <a:latin typeface="Courier New" pitchFamily="49" charset="0"/>
                <a:cs typeface="Courier New" pitchFamily="49" charset="0"/>
              </a:rPr>
              <a:t>}</a:t>
            </a:r>
          </a:p>
        </p:txBody>
      </p:sp>
      <p:grpSp>
        <p:nvGrpSpPr>
          <p:cNvPr id="76" name="Group 75"/>
          <p:cNvGrpSpPr/>
          <p:nvPr/>
        </p:nvGrpSpPr>
        <p:grpSpPr>
          <a:xfrm>
            <a:off x="313509" y="3130731"/>
            <a:ext cx="1058091" cy="600893"/>
            <a:chOff x="1371600" y="5238206"/>
            <a:chExt cx="1058091" cy="600893"/>
          </a:xfrm>
        </p:grpSpPr>
        <p:sp>
          <p:nvSpPr>
            <p:cNvPr id="59" name="Rectangle 58"/>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60" name="TextBox 59"/>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61" name="TextBox 60"/>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99" name="Group 198"/>
          <p:cNvGrpSpPr/>
          <p:nvPr/>
        </p:nvGrpSpPr>
        <p:grpSpPr>
          <a:xfrm>
            <a:off x="1746069" y="2595154"/>
            <a:ext cx="1058091" cy="1136470"/>
            <a:chOff x="1746069" y="2595154"/>
            <a:chExt cx="1058091" cy="1136470"/>
          </a:xfrm>
        </p:grpSpPr>
        <p:grpSp>
          <p:nvGrpSpPr>
            <p:cNvPr id="85" name="Group 84"/>
            <p:cNvGrpSpPr/>
            <p:nvPr/>
          </p:nvGrpSpPr>
          <p:grpSpPr>
            <a:xfrm>
              <a:off x="1746069" y="3130731"/>
              <a:ext cx="1058091" cy="600893"/>
              <a:chOff x="1371600" y="5238206"/>
              <a:chExt cx="1058091" cy="600893"/>
            </a:xfrm>
          </p:grpSpPr>
          <p:sp>
            <p:nvSpPr>
              <p:cNvPr id="86" name="Rectangle 85"/>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87" name="TextBox 86"/>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88" name="TextBox 87"/>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89" name="Group 88"/>
            <p:cNvGrpSpPr/>
            <p:nvPr/>
          </p:nvGrpSpPr>
          <p:grpSpPr>
            <a:xfrm>
              <a:off x="1746069" y="2595154"/>
              <a:ext cx="1058091" cy="600893"/>
              <a:chOff x="1371600" y="5238206"/>
              <a:chExt cx="1058091" cy="600893"/>
            </a:xfrm>
          </p:grpSpPr>
          <p:sp>
            <p:nvSpPr>
              <p:cNvPr id="90" name="Rectangle 89"/>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91" name="TextBox 90"/>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2</a:t>
                </a:r>
                <a:endParaRPr lang="en-SG" sz="1600" dirty="0"/>
              </a:p>
            </p:txBody>
          </p:sp>
          <p:sp>
            <p:nvSpPr>
              <p:cNvPr id="92" name="TextBox 91"/>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grpSp>
        <p:nvGrpSpPr>
          <p:cNvPr id="200" name="Group 199"/>
          <p:cNvGrpSpPr/>
          <p:nvPr/>
        </p:nvGrpSpPr>
        <p:grpSpPr>
          <a:xfrm>
            <a:off x="3296195" y="2068285"/>
            <a:ext cx="1058091" cy="1663339"/>
            <a:chOff x="3296195" y="2068285"/>
            <a:chExt cx="1058091" cy="1663339"/>
          </a:xfrm>
        </p:grpSpPr>
        <p:grpSp>
          <p:nvGrpSpPr>
            <p:cNvPr id="93" name="Group 92"/>
            <p:cNvGrpSpPr/>
            <p:nvPr/>
          </p:nvGrpSpPr>
          <p:grpSpPr>
            <a:xfrm>
              <a:off x="3296195" y="3130731"/>
              <a:ext cx="1058091" cy="600893"/>
              <a:chOff x="1371600" y="5238206"/>
              <a:chExt cx="1058091" cy="600893"/>
            </a:xfrm>
          </p:grpSpPr>
          <p:sp>
            <p:nvSpPr>
              <p:cNvPr id="94" name="Rectangle 93"/>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95" name="TextBox 94"/>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96" name="TextBox 95"/>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97" name="Group 96"/>
            <p:cNvGrpSpPr/>
            <p:nvPr/>
          </p:nvGrpSpPr>
          <p:grpSpPr>
            <a:xfrm>
              <a:off x="3296195" y="2595154"/>
              <a:ext cx="1058091" cy="600893"/>
              <a:chOff x="1371600" y="5238206"/>
              <a:chExt cx="1058091" cy="600893"/>
            </a:xfrm>
          </p:grpSpPr>
          <p:sp>
            <p:nvSpPr>
              <p:cNvPr id="98" name="Rectangle 97"/>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99" name="TextBox 98"/>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2</a:t>
                </a:r>
                <a:endParaRPr lang="en-SG" sz="1600" dirty="0"/>
              </a:p>
            </p:txBody>
          </p:sp>
          <p:sp>
            <p:nvSpPr>
              <p:cNvPr id="100" name="TextBox 99"/>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01" name="Group 100"/>
            <p:cNvGrpSpPr/>
            <p:nvPr/>
          </p:nvGrpSpPr>
          <p:grpSpPr>
            <a:xfrm>
              <a:off x="3296195" y="2068285"/>
              <a:ext cx="1058091" cy="600893"/>
              <a:chOff x="1371600" y="5238206"/>
              <a:chExt cx="1058091" cy="600893"/>
            </a:xfrm>
          </p:grpSpPr>
          <p:sp>
            <p:nvSpPr>
              <p:cNvPr id="102" name="Rectangle 101"/>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03" name="TextBox 102"/>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1</a:t>
                </a:r>
                <a:endParaRPr lang="en-SG" sz="1600" dirty="0"/>
              </a:p>
            </p:txBody>
          </p:sp>
          <p:sp>
            <p:nvSpPr>
              <p:cNvPr id="104" name="TextBox 103"/>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grpSp>
        <p:nvGrpSpPr>
          <p:cNvPr id="201" name="Group 200"/>
          <p:cNvGrpSpPr/>
          <p:nvPr/>
        </p:nvGrpSpPr>
        <p:grpSpPr>
          <a:xfrm>
            <a:off x="4833258" y="1523999"/>
            <a:ext cx="1058091" cy="2207625"/>
            <a:chOff x="4833258" y="1523999"/>
            <a:chExt cx="1058091" cy="2207625"/>
          </a:xfrm>
        </p:grpSpPr>
        <p:grpSp>
          <p:nvGrpSpPr>
            <p:cNvPr id="105" name="Group 104"/>
            <p:cNvGrpSpPr/>
            <p:nvPr/>
          </p:nvGrpSpPr>
          <p:grpSpPr>
            <a:xfrm>
              <a:off x="4833258" y="3130731"/>
              <a:ext cx="1058091" cy="600893"/>
              <a:chOff x="1371600" y="5238206"/>
              <a:chExt cx="1058091" cy="600893"/>
            </a:xfrm>
          </p:grpSpPr>
          <p:sp>
            <p:nvSpPr>
              <p:cNvPr id="106" name="Rectangle 105"/>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07" name="TextBox 106"/>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108" name="TextBox 107"/>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09" name="Group 108"/>
            <p:cNvGrpSpPr/>
            <p:nvPr/>
          </p:nvGrpSpPr>
          <p:grpSpPr>
            <a:xfrm>
              <a:off x="4833258" y="2595154"/>
              <a:ext cx="1058091" cy="600893"/>
              <a:chOff x="1371600" y="5238206"/>
              <a:chExt cx="1058091" cy="600893"/>
            </a:xfrm>
          </p:grpSpPr>
          <p:sp>
            <p:nvSpPr>
              <p:cNvPr id="110" name="Rectangle 109"/>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11" name="TextBox 110"/>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2</a:t>
                </a:r>
                <a:endParaRPr lang="en-SG" sz="1600" dirty="0"/>
              </a:p>
            </p:txBody>
          </p:sp>
          <p:sp>
            <p:nvSpPr>
              <p:cNvPr id="112" name="TextBox 111"/>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13" name="Group 112"/>
            <p:cNvGrpSpPr/>
            <p:nvPr/>
          </p:nvGrpSpPr>
          <p:grpSpPr>
            <a:xfrm>
              <a:off x="4833258" y="2068285"/>
              <a:ext cx="1058091" cy="600893"/>
              <a:chOff x="1371600" y="5238206"/>
              <a:chExt cx="1058091" cy="600893"/>
            </a:xfrm>
          </p:grpSpPr>
          <p:sp>
            <p:nvSpPr>
              <p:cNvPr id="114" name="Rectangle 113"/>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15" name="TextBox 114"/>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1</a:t>
                </a:r>
                <a:endParaRPr lang="en-SG" sz="1600" dirty="0"/>
              </a:p>
            </p:txBody>
          </p:sp>
          <p:sp>
            <p:nvSpPr>
              <p:cNvPr id="116" name="TextBox 115"/>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17" name="Group 116"/>
            <p:cNvGrpSpPr/>
            <p:nvPr/>
          </p:nvGrpSpPr>
          <p:grpSpPr>
            <a:xfrm>
              <a:off x="4833258" y="1523999"/>
              <a:ext cx="1058091" cy="600893"/>
              <a:chOff x="1371600" y="5238206"/>
              <a:chExt cx="1058091" cy="600893"/>
            </a:xfrm>
          </p:grpSpPr>
          <p:sp>
            <p:nvSpPr>
              <p:cNvPr id="118" name="Rectangle 117"/>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19" name="TextBox 118"/>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0</a:t>
                </a:r>
                <a:endParaRPr lang="en-SG" sz="1600" dirty="0"/>
              </a:p>
            </p:txBody>
          </p:sp>
          <p:sp>
            <p:nvSpPr>
              <p:cNvPr id="120" name="TextBox 119"/>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sp>
        <p:nvSpPr>
          <p:cNvPr id="121" name="TextBox 120"/>
          <p:cNvSpPr txBox="1"/>
          <p:nvPr/>
        </p:nvSpPr>
        <p:spPr>
          <a:xfrm>
            <a:off x="420072" y="4252074"/>
            <a:ext cx="718458" cy="461665"/>
          </a:xfrm>
          <a:prstGeom prst="rect">
            <a:avLst/>
          </a:prstGeom>
          <a:noFill/>
        </p:spPr>
        <p:txBody>
          <a:bodyPr wrap="square" rtlCol="0">
            <a:spAutoFit/>
          </a:bodyPr>
          <a:lstStyle/>
          <a:p>
            <a:pPr algn="ctr"/>
            <a:r>
              <a:rPr lang="en-US" sz="2400" dirty="0" smtClean="0"/>
              <a:t>f(3)</a:t>
            </a:r>
            <a:endParaRPr lang="en-SG" sz="2400" dirty="0"/>
          </a:p>
        </p:txBody>
      </p:sp>
      <p:cxnSp>
        <p:nvCxnSpPr>
          <p:cNvPr id="127" name="Straight Arrow Connector 126"/>
          <p:cNvCxnSpPr/>
          <p:nvPr/>
        </p:nvCxnSpPr>
        <p:spPr bwMode="auto">
          <a:xfrm>
            <a:off x="1203845" y="4452129"/>
            <a:ext cx="431074" cy="0"/>
          </a:xfrm>
          <a:prstGeom prst="straightConnector1">
            <a:avLst/>
          </a:prstGeom>
          <a:solidFill>
            <a:schemeClr val="accent1"/>
          </a:solidFill>
          <a:ln w="28575" cap="sq" cmpd="sng" algn="ctr">
            <a:solidFill>
              <a:srgbClr val="0000FF"/>
            </a:solidFill>
            <a:prstDash val="solid"/>
            <a:round/>
            <a:headEnd type="none" w="sm" len="sm"/>
            <a:tailEnd type="arrow"/>
          </a:ln>
          <a:effectLst/>
        </p:spPr>
      </p:cxnSp>
      <p:sp>
        <p:nvSpPr>
          <p:cNvPr id="128" name="TextBox 127"/>
          <p:cNvSpPr txBox="1"/>
          <p:nvPr/>
        </p:nvSpPr>
        <p:spPr>
          <a:xfrm>
            <a:off x="1748129" y="4252074"/>
            <a:ext cx="718458" cy="461665"/>
          </a:xfrm>
          <a:prstGeom prst="rect">
            <a:avLst/>
          </a:prstGeom>
          <a:noFill/>
        </p:spPr>
        <p:txBody>
          <a:bodyPr wrap="square" rtlCol="0">
            <a:spAutoFit/>
          </a:bodyPr>
          <a:lstStyle/>
          <a:p>
            <a:pPr algn="ctr"/>
            <a:r>
              <a:rPr lang="en-US" sz="2400" dirty="0" smtClean="0"/>
              <a:t>f(2)</a:t>
            </a:r>
            <a:endParaRPr lang="en-SG" sz="2400" dirty="0"/>
          </a:p>
        </p:txBody>
      </p:sp>
      <p:cxnSp>
        <p:nvCxnSpPr>
          <p:cNvPr id="129" name="Straight Arrow Connector 128"/>
          <p:cNvCxnSpPr/>
          <p:nvPr/>
        </p:nvCxnSpPr>
        <p:spPr bwMode="auto">
          <a:xfrm>
            <a:off x="2610279" y="4452129"/>
            <a:ext cx="431074" cy="0"/>
          </a:xfrm>
          <a:prstGeom prst="straightConnector1">
            <a:avLst/>
          </a:prstGeom>
          <a:solidFill>
            <a:schemeClr val="accent1"/>
          </a:solidFill>
          <a:ln w="28575" cap="sq" cmpd="sng" algn="ctr">
            <a:solidFill>
              <a:srgbClr val="0000FF"/>
            </a:solidFill>
            <a:prstDash val="solid"/>
            <a:round/>
            <a:headEnd type="none" w="sm" len="sm"/>
            <a:tailEnd type="arrow"/>
          </a:ln>
          <a:effectLst/>
        </p:spPr>
      </p:cxnSp>
      <p:sp>
        <p:nvSpPr>
          <p:cNvPr id="130" name="TextBox 129"/>
          <p:cNvSpPr txBox="1"/>
          <p:nvPr/>
        </p:nvSpPr>
        <p:spPr>
          <a:xfrm>
            <a:off x="3154563" y="4252074"/>
            <a:ext cx="718458" cy="461665"/>
          </a:xfrm>
          <a:prstGeom prst="rect">
            <a:avLst/>
          </a:prstGeom>
          <a:noFill/>
        </p:spPr>
        <p:txBody>
          <a:bodyPr wrap="square" rtlCol="0">
            <a:spAutoFit/>
          </a:bodyPr>
          <a:lstStyle/>
          <a:p>
            <a:pPr algn="ctr"/>
            <a:r>
              <a:rPr lang="en-US" sz="2400" dirty="0" smtClean="0"/>
              <a:t>f(1)</a:t>
            </a:r>
            <a:endParaRPr lang="en-SG" sz="2400" dirty="0"/>
          </a:p>
        </p:txBody>
      </p:sp>
      <p:cxnSp>
        <p:nvCxnSpPr>
          <p:cNvPr id="131" name="Straight Arrow Connector 130"/>
          <p:cNvCxnSpPr/>
          <p:nvPr/>
        </p:nvCxnSpPr>
        <p:spPr bwMode="auto">
          <a:xfrm>
            <a:off x="3877376" y="4452129"/>
            <a:ext cx="431074" cy="0"/>
          </a:xfrm>
          <a:prstGeom prst="straightConnector1">
            <a:avLst/>
          </a:prstGeom>
          <a:solidFill>
            <a:schemeClr val="accent1"/>
          </a:solidFill>
          <a:ln w="28575" cap="sq" cmpd="sng" algn="ctr">
            <a:solidFill>
              <a:srgbClr val="0000FF"/>
            </a:solidFill>
            <a:prstDash val="solid"/>
            <a:round/>
            <a:headEnd type="none" w="sm" len="sm"/>
            <a:tailEnd type="arrow"/>
          </a:ln>
          <a:effectLst/>
        </p:spPr>
      </p:cxnSp>
      <p:sp>
        <p:nvSpPr>
          <p:cNvPr id="132" name="TextBox 131"/>
          <p:cNvSpPr txBox="1"/>
          <p:nvPr/>
        </p:nvSpPr>
        <p:spPr>
          <a:xfrm>
            <a:off x="4421660" y="4252074"/>
            <a:ext cx="718458" cy="461665"/>
          </a:xfrm>
          <a:prstGeom prst="rect">
            <a:avLst/>
          </a:prstGeom>
          <a:noFill/>
        </p:spPr>
        <p:txBody>
          <a:bodyPr wrap="square" rtlCol="0">
            <a:spAutoFit/>
          </a:bodyPr>
          <a:lstStyle/>
          <a:p>
            <a:pPr algn="ctr"/>
            <a:r>
              <a:rPr lang="en-US" sz="2400" dirty="0" smtClean="0"/>
              <a:t>f(0)</a:t>
            </a:r>
            <a:endParaRPr lang="en-SG" sz="2400" dirty="0"/>
          </a:p>
        </p:txBody>
      </p:sp>
      <p:grpSp>
        <p:nvGrpSpPr>
          <p:cNvPr id="202" name="Group 201"/>
          <p:cNvGrpSpPr/>
          <p:nvPr/>
        </p:nvGrpSpPr>
        <p:grpSpPr>
          <a:xfrm>
            <a:off x="5891348" y="1881052"/>
            <a:ext cx="627018" cy="496388"/>
            <a:chOff x="5891348" y="1881052"/>
            <a:chExt cx="627018" cy="496388"/>
          </a:xfrm>
        </p:grpSpPr>
        <p:grpSp>
          <p:nvGrpSpPr>
            <p:cNvPr id="155" name="Group 154"/>
            <p:cNvGrpSpPr/>
            <p:nvPr/>
          </p:nvGrpSpPr>
          <p:grpSpPr>
            <a:xfrm>
              <a:off x="5891348" y="1881052"/>
              <a:ext cx="339635" cy="496388"/>
              <a:chOff x="6087291" y="1867989"/>
              <a:chExt cx="339635" cy="496388"/>
            </a:xfrm>
          </p:grpSpPr>
          <p:cxnSp>
            <p:nvCxnSpPr>
              <p:cNvPr id="150" name="Straight Connector 149"/>
              <p:cNvCxnSpPr/>
              <p:nvPr/>
            </p:nvCxnSpPr>
            <p:spPr bwMode="auto">
              <a:xfrm>
                <a:off x="6100354" y="1867989"/>
                <a:ext cx="313509" cy="0"/>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152" name="Straight Connector 151"/>
              <p:cNvCxnSpPr/>
              <p:nvPr/>
            </p:nvCxnSpPr>
            <p:spPr bwMode="auto">
              <a:xfrm>
                <a:off x="6426926" y="1881051"/>
                <a:ext cx="0" cy="483326"/>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154" name="Straight Arrow Connector 153"/>
              <p:cNvCxnSpPr/>
              <p:nvPr/>
            </p:nvCxnSpPr>
            <p:spPr bwMode="auto">
              <a:xfrm flipH="1">
                <a:off x="6087291" y="2364377"/>
                <a:ext cx="339635" cy="0"/>
              </a:xfrm>
              <a:prstGeom prst="straightConnector1">
                <a:avLst/>
              </a:prstGeom>
              <a:solidFill>
                <a:schemeClr val="accent1"/>
              </a:solidFill>
              <a:ln w="28575" cap="sq" cmpd="sng" algn="ctr">
                <a:solidFill>
                  <a:schemeClr val="tx1"/>
                </a:solidFill>
                <a:prstDash val="dash"/>
                <a:round/>
                <a:headEnd type="none" w="med" len="med"/>
                <a:tailEnd type="triangle" w="med" len="med"/>
              </a:ln>
              <a:effectLst/>
            </p:spPr>
          </p:cxnSp>
        </p:grpSp>
        <p:sp>
          <p:nvSpPr>
            <p:cNvPr id="157" name="TextBox 156"/>
            <p:cNvSpPr txBox="1"/>
            <p:nvPr/>
          </p:nvSpPr>
          <p:spPr>
            <a:xfrm>
              <a:off x="6178729" y="1983377"/>
              <a:ext cx="339637" cy="338554"/>
            </a:xfrm>
            <a:prstGeom prst="rect">
              <a:avLst/>
            </a:prstGeom>
            <a:noFill/>
          </p:spPr>
          <p:txBody>
            <a:bodyPr wrap="square" rtlCol="0">
              <a:spAutoFit/>
            </a:bodyPr>
            <a:lstStyle/>
            <a:p>
              <a:pPr algn="ctr"/>
              <a:r>
                <a:rPr lang="en-US" sz="1600" dirty="0" smtClean="0"/>
                <a:t>1</a:t>
              </a:r>
              <a:endParaRPr lang="en-SG" sz="1600" dirty="0"/>
            </a:p>
          </p:txBody>
        </p:sp>
      </p:grpSp>
      <p:grpSp>
        <p:nvGrpSpPr>
          <p:cNvPr id="203" name="Group 202"/>
          <p:cNvGrpSpPr/>
          <p:nvPr/>
        </p:nvGrpSpPr>
        <p:grpSpPr>
          <a:xfrm>
            <a:off x="6696892" y="2068285"/>
            <a:ext cx="1058091" cy="1663339"/>
            <a:chOff x="6696892" y="2068285"/>
            <a:chExt cx="1058091" cy="1663339"/>
          </a:xfrm>
        </p:grpSpPr>
        <p:grpSp>
          <p:nvGrpSpPr>
            <p:cNvPr id="158" name="Group 157"/>
            <p:cNvGrpSpPr/>
            <p:nvPr/>
          </p:nvGrpSpPr>
          <p:grpSpPr>
            <a:xfrm>
              <a:off x="6696892" y="3130731"/>
              <a:ext cx="1058091" cy="600893"/>
              <a:chOff x="1371600" y="5238206"/>
              <a:chExt cx="1058091" cy="600893"/>
            </a:xfrm>
          </p:grpSpPr>
          <p:sp>
            <p:nvSpPr>
              <p:cNvPr id="159" name="Rectangle 158"/>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60" name="TextBox 159"/>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161" name="TextBox 160"/>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62" name="Group 161"/>
            <p:cNvGrpSpPr/>
            <p:nvPr/>
          </p:nvGrpSpPr>
          <p:grpSpPr>
            <a:xfrm>
              <a:off x="6696892" y="2595154"/>
              <a:ext cx="1058091" cy="600893"/>
              <a:chOff x="1371600" y="5238206"/>
              <a:chExt cx="1058091" cy="600893"/>
            </a:xfrm>
          </p:grpSpPr>
          <p:sp>
            <p:nvSpPr>
              <p:cNvPr id="163" name="Rectangle 162"/>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64" name="TextBox 163"/>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2</a:t>
                </a:r>
                <a:endParaRPr lang="en-SG" sz="1600" dirty="0"/>
              </a:p>
            </p:txBody>
          </p:sp>
          <p:sp>
            <p:nvSpPr>
              <p:cNvPr id="165" name="TextBox 164"/>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66" name="Group 165"/>
            <p:cNvGrpSpPr/>
            <p:nvPr/>
          </p:nvGrpSpPr>
          <p:grpSpPr>
            <a:xfrm>
              <a:off x="6696892" y="2068285"/>
              <a:ext cx="1058091" cy="600893"/>
              <a:chOff x="1371600" y="5238206"/>
              <a:chExt cx="1058091" cy="600893"/>
            </a:xfrm>
          </p:grpSpPr>
          <p:sp>
            <p:nvSpPr>
              <p:cNvPr id="167" name="Rectangle 166"/>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68" name="TextBox 167"/>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1</a:t>
                </a:r>
                <a:endParaRPr lang="en-SG" sz="1600" dirty="0"/>
              </a:p>
            </p:txBody>
          </p:sp>
          <p:sp>
            <p:nvSpPr>
              <p:cNvPr id="169" name="TextBox 168"/>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grpSp>
        <p:nvGrpSpPr>
          <p:cNvPr id="204" name="Group 203"/>
          <p:cNvGrpSpPr/>
          <p:nvPr/>
        </p:nvGrpSpPr>
        <p:grpSpPr>
          <a:xfrm>
            <a:off x="7754982" y="2412275"/>
            <a:ext cx="627018" cy="496388"/>
            <a:chOff x="7754982" y="2412275"/>
            <a:chExt cx="627018" cy="496388"/>
          </a:xfrm>
        </p:grpSpPr>
        <p:grpSp>
          <p:nvGrpSpPr>
            <p:cNvPr id="174" name="Group 173"/>
            <p:cNvGrpSpPr/>
            <p:nvPr/>
          </p:nvGrpSpPr>
          <p:grpSpPr>
            <a:xfrm>
              <a:off x="7754982" y="2412275"/>
              <a:ext cx="339635" cy="496388"/>
              <a:chOff x="6087291" y="1867989"/>
              <a:chExt cx="339635" cy="496388"/>
            </a:xfrm>
          </p:grpSpPr>
          <p:cxnSp>
            <p:nvCxnSpPr>
              <p:cNvPr id="175" name="Straight Connector 174"/>
              <p:cNvCxnSpPr/>
              <p:nvPr/>
            </p:nvCxnSpPr>
            <p:spPr bwMode="auto">
              <a:xfrm>
                <a:off x="6100354" y="1867989"/>
                <a:ext cx="313509" cy="0"/>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176" name="Straight Connector 175"/>
              <p:cNvCxnSpPr/>
              <p:nvPr/>
            </p:nvCxnSpPr>
            <p:spPr bwMode="auto">
              <a:xfrm>
                <a:off x="6426926" y="1881051"/>
                <a:ext cx="0" cy="483326"/>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177" name="Straight Arrow Connector 176"/>
              <p:cNvCxnSpPr/>
              <p:nvPr/>
            </p:nvCxnSpPr>
            <p:spPr bwMode="auto">
              <a:xfrm flipH="1">
                <a:off x="6087291" y="2364377"/>
                <a:ext cx="339635" cy="0"/>
              </a:xfrm>
              <a:prstGeom prst="straightConnector1">
                <a:avLst/>
              </a:prstGeom>
              <a:solidFill>
                <a:schemeClr val="accent1"/>
              </a:solidFill>
              <a:ln w="28575" cap="sq" cmpd="sng" algn="ctr">
                <a:solidFill>
                  <a:schemeClr val="tx1"/>
                </a:solidFill>
                <a:prstDash val="dash"/>
                <a:round/>
                <a:headEnd type="none" w="med" len="med"/>
                <a:tailEnd type="triangle" w="med" len="med"/>
              </a:ln>
              <a:effectLst/>
            </p:spPr>
          </p:cxnSp>
        </p:grpSp>
        <p:sp>
          <p:nvSpPr>
            <p:cNvPr id="178" name="TextBox 177"/>
            <p:cNvSpPr txBox="1"/>
            <p:nvPr/>
          </p:nvSpPr>
          <p:spPr>
            <a:xfrm>
              <a:off x="8042363" y="2514600"/>
              <a:ext cx="339637" cy="338554"/>
            </a:xfrm>
            <a:prstGeom prst="rect">
              <a:avLst/>
            </a:prstGeom>
            <a:noFill/>
          </p:spPr>
          <p:txBody>
            <a:bodyPr wrap="square" rtlCol="0">
              <a:spAutoFit/>
            </a:bodyPr>
            <a:lstStyle/>
            <a:p>
              <a:pPr algn="ctr"/>
              <a:r>
                <a:rPr lang="en-US" sz="1600" dirty="0" smtClean="0"/>
                <a:t>1</a:t>
              </a:r>
              <a:endParaRPr lang="en-SG" sz="1600" dirty="0"/>
            </a:p>
          </p:txBody>
        </p:sp>
      </p:grpSp>
      <p:grpSp>
        <p:nvGrpSpPr>
          <p:cNvPr id="213" name="Group 212"/>
          <p:cNvGrpSpPr/>
          <p:nvPr/>
        </p:nvGrpSpPr>
        <p:grpSpPr>
          <a:xfrm>
            <a:off x="6696892" y="4484913"/>
            <a:ext cx="1058091" cy="1136470"/>
            <a:chOff x="6696892" y="4484913"/>
            <a:chExt cx="1058091" cy="1136470"/>
          </a:xfrm>
        </p:grpSpPr>
        <p:grpSp>
          <p:nvGrpSpPr>
            <p:cNvPr id="179" name="Group 178"/>
            <p:cNvGrpSpPr/>
            <p:nvPr/>
          </p:nvGrpSpPr>
          <p:grpSpPr>
            <a:xfrm>
              <a:off x="6696892" y="5020490"/>
              <a:ext cx="1058091" cy="600893"/>
              <a:chOff x="1371600" y="5238206"/>
              <a:chExt cx="1058091" cy="600893"/>
            </a:xfrm>
          </p:grpSpPr>
          <p:sp>
            <p:nvSpPr>
              <p:cNvPr id="180" name="Rectangle 179"/>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81" name="TextBox 180"/>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182" name="TextBox 181"/>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183" name="Group 182"/>
            <p:cNvGrpSpPr/>
            <p:nvPr/>
          </p:nvGrpSpPr>
          <p:grpSpPr>
            <a:xfrm>
              <a:off x="6696892" y="4484913"/>
              <a:ext cx="1058091" cy="600893"/>
              <a:chOff x="1371600" y="5238206"/>
              <a:chExt cx="1058091" cy="600893"/>
            </a:xfrm>
          </p:grpSpPr>
          <p:sp>
            <p:nvSpPr>
              <p:cNvPr id="184" name="Rectangle 183"/>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185" name="TextBox 184"/>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2</a:t>
                </a:r>
                <a:endParaRPr lang="en-SG" sz="1600" dirty="0"/>
              </a:p>
            </p:txBody>
          </p:sp>
          <p:sp>
            <p:nvSpPr>
              <p:cNvPr id="186" name="TextBox 185"/>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grpSp>
        <p:nvGrpSpPr>
          <p:cNvPr id="214" name="Group 213"/>
          <p:cNvGrpSpPr/>
          <p:nvPr/>
        </p:nvGrpSpPr>
        <p:grpSpPr>
          <a:xfrm>
            <a:off x="7754982" y="4811486"/>
            <a:ext cx="648789" cy="496388"/>
            <a:chOff x="7754982" y="4811486"/>
            <a:chExt cx="648789" cy="496388"/>
          </a:xfrm>
        </p:grpSpPr>
        <p:grpSp>
          <p:nvGrpSpPr>
            <p:cNvPr id="191" name="Group 190"/>
            <p:cNvGrpSpPr/>
            <p:nvPr/>
          </p:nvGrpSpPr>
          <p:grpSpPr>
            <a:xfrm>
              <a:off x="7754982" y="4811486"/>
              <a:ext cx="339635" cy="496388"/>
              <a:chOff x="6087291" y="1867989"/>
              <a:chExt cx="339635" cy="496388"/>
            </a:xfrm>
          </p:grpSpPr>
          <p:cxnSp>
            <p:nvCxnSpPr>
              <p:cNvPr id="192" name="Straight Connector 191"/>
              <p:cNvCxnSpPr/>
              <p:nvPr/>
            </p:nvCxnSpPr>
            <p:spPr bwMode="auto">
              <a:xfrm>
                <a:off x="6100354" y="1867989"/>
                <a:ext cx="313509" cy="0"/>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193" name="Straight Connector 192"/>
              <p:cNvCxnSpPr/>
              <p:nvPr/>
            </p:nvCxnSpPr>
            <p:spPr bwMode="auto">
              <a:xfrm>
                <a:off x="6426926" y="1881051"/>
                <a:ext cx="0" cy="483326"/>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194" name="Straight Arrow Connector 193"/>
              <p:cNvCxnSpPr/>
              <p:nvPr/>
            </p:nvCxnSpPr>
            <p:spPr bwMode="auto">
              <a:xfrm flipH="1">
                <a:off x="6087291" y="2364377"/>
                <a:ext cx="339635" cy="0"/>
              </a:xfrm>
              <a:prstGeom prst="straightConnector1">
                <a:avLst/>
              </a:prstGeom>
              <a:solidFill>
                <a:schemeClr val="accent1"/>
              </a:solidFill>
              <a:ln w="28575" cap="sq" cmpd="sng" algn="ctr">
                <a:solidFill>
                  <a:schemeClr val="tx1"/>
                </a:solidFill>
                <a:prstDash val="dash"/>
                <a:round/>
                <a:headEnd type="none" w="med" len="med"/>
                <a:tailEnd type="triangle" w="med" len="med"/>
              </a:ln>
              <a:effectLst/>
            </p:spPr>
          </p:cxnSp>
        </p:grpSp>
        <p:sp>
          <p:nvSpPr>
            <p:cNvPr id="195" name="TextBox 194"/>
            <p:cNvSpPr txBox="1"/>
            <p:nvPr/>
          </p:nvSpPr>
          <p:spPr>
            <a:xfrm>
              <a:off x="8064134" y="4913811"/>
              <a:ext cx="339637" cy="338554"/>
            </a:xfrm>
            <a:prstGeom prst="rect">
              <a:avLst/>
            </a:prstGeom>
            <a:noFill/>
          </p:spPr>
          <p:txBody>
            <a:bodyPr wrap="square" rtlCol="0">
              <a:spAutoFit/>
            </a:bodyPr>
            <a:lstStyle/>
            <a:p>
              <a:pPr algn="ctr"/>
              <a:r>
                <a:rPr lang="en-US" sz="1600" dirty="0" smtClean="0"/>
                <a:t>2</a:t>
              </a:r>
              <a:endParaRPr lang="en-SG" sz="1600" dirty="0"/>
            </a:p>
          </p:txBody>
        </p:sp>
      </p:grpSp>
      <p:cxnSp>
        <p:nvCxnSpPr>
          <p:cNvPr id="196" name="Straight Arrow Connector 195"/>
          <p:cNvCxnSpPr/>
          <p:nvPr/>
        </p:nvCxnSpPr>
        <p:spPr bwMode="auto">
          <a:xfrm flipH="1">
            <a:off x="3846896" y="4604529"/>
            <a:ext cx="431074" cy="0"/>
          </a:xfrm>
          <a:prstGeom prst="straightConnector1">
            <a:avLst/>
          </a:prstGeom>
          <a:solidFill>
            <a:schemeClr val="accent1"/>
          </a:solidFill>
          <a:ln w="28575" cap="sq" cmpd="sng" algn="ctr">
            <a:solidFill>
              <a:srgbClr val="006600"/>
            </a:solidFill>
            <a:prstDash val="solid"/>
            <a:round/>
            <a:headEnd type="none" w="sm" len="sm"/>
            <a:tailEnd type="arrow"/>
          </a:ln>
          <a:effectLst/>
        </p:spPr>
      </p:cxnSp>
      <p:cxnSp>
        <p:nvCxnSpPr>
          <p:cNvPr id="197" name="Straight Arrow Connector 196"/>
          <p:cNvCxnSpPr/>
          <p:nvPr/>
        </p:nvCxnSpPr>
        <p:spPr bwMode="auto">
          <a:xfrm flipH="1">
            <a:off x="2588507" y="4604529"/>
            <a:ext cx="431074" cy="0"/>
          </a:xfrm>
          <a:prstGeom prst="straightConnector1">
            <a:avLst/>
          </a:prstGeom>
          <a:solidFill>
            <a:schemeClr val="accent1"/>
          </a:solidFill>
          <a:ln w="28575" cap="sq" cmpd="sng" algn="ctr">
            <a:solidFill>
              <a:srgbClr val="006600"/>
            </a:solidFill>
            <a:prstDash val="solid"/>
            <a:round/>
            <a:headEnd type="none" w="sm" len="sm"/>
            <a:tailEnd type="arrow"/>
          </a:ln>
          <a:effectLst/>
        </p:spPr>
      </p:cxnSp>
      <p:cxnSp>
        <p:nvCxnSpPr>
          <p:cNvPr id="198" name="Straight Arrow Connector 197"/>
          <p:cNvCxnSpPr/>
          <p:nvPr/>
        </p:nvCxnSpPr>
        <p:spPr bwMode="auto">
          <a:xfrm flipH="1">
            <a:off x="1190782" y="4604529"/>
            <a:ext cx="431074" cy="0"/>
          </a:xfrm>
          <a:prstGeom prst="straightConnector1">
            <a:avLst/>
          </a:prstGeom>
          <a:solidFill>
            <a:schemeClr val="accent1"/>
          </a:solidFill>
          <a:ln w="28575" cap="sq" cmpd="sng" algn="ctr">
            <a:solidFill>
              <a:srgbClr val="006600"/>
            </a:solidFill>
            <a:prstDash val="solid"/>
            <a:round/>
            <a:headEnd type="none" w="sm" len="sm"/>
            <a:tailEnd type="arrow"/>
          </a:ln>
          <a:effectLst/>
        </p:spPr>
      </p:cxnSp>
      <p:grpSp>
        <p:nvGrpSpPr>
          <p:cNvPr id="205" name="Group 204"/>
          <p:cNvGrpSpPr/>
          <p:nvPr/>
        </p:nvGrpSpPr>
        <p:grpSpPr>
          <a:xfrm>
            <a:off x="4833258" y="5020490"/>
            <a:ext cx="1058091" cy="600893"/>
            <a:chOff x="1371600" y="5238206"/>
            <a:chExt cx="1058091" cy="600893"/>
          </a:xfrm>
        </p:grpSpPr>
        <p:sp>
          <p:nvSpPr>
            <p:cNvPr id="206" name="Rectangle 205"/>
            <p:cNvSpPr/>
            <p:nvPr/>
          </p:nvSpPr>
          <p:spPr bwMode="auto">
            <a:xfrm>
              <a:off x="1371600" y="5303521"/>
              <a:ext cx="1058091" cy="535578"/>
            </a:xfrm>
            <a:prstGeom prst="rect">
              <a:avLst/>
            </a:prstGeom>
            <a:solidFill>
              <a:schemeClr val="accent3">
                <a:lumMod val="85000"/>
              </a:schemeClr>
            </a:solidFill>
            <a:ln w="12700" cap="sq"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207" name="TextBox 206"/>
            <p:cNvSpPr txBox="1"/>
            <p:nvPr/>
          </p:nvSpPr>
          <p:spPr>
            <a:xfrm>
              <a:off x="1667693" y="5386251"/>
              <a:ext cx="343987" cy="338554"/>
            </a:xfrm>
            <a:prstGeom prst="rect">
              <a:avLst/>
            </a:prstGeom>
            <a:solidFill>
              <a:schemeClr val="accent3"/>
            </a:solidFill>
            <a:ln>
              <a:solidFill>
                <a:schemeClr val="tx1"/>
              </a:solidFill>
            </a:ln>
          </p:spPr>
          <p:txBody>
            <a:bodyPr wrap="square" rtlCol="0">
              <a:spAutoFit/>
            </a:bodyPr>
            <a:lstStyle/>
            <a:p>
              <a:pPr algn="ctr"/>
              <a:r>
                <a:rPr lang="en-US" sz="1600" dirty="0" smtClean="0"/>
                <a:t>3</a:t>
              </a:r>
              <a:endParaRPr lang="en-SG" sz="1600" dirty="0"/>
            </a:p>
          </p:txBody>
        </p:sp>
        <p:sp>
          <p:nvSpPr>
            <p:cNvPr id="208" name="TextBox 207"/>
            <p:cNvSpPr txBox="1"/>
            <p:nvPr/>
          </p:nvSpPr>
          <p:spPr>
            <a:xfrm>
              <a:off x="1375957" y="5238206"/>
              <a:ext cx="413654" cy="338554"/>
            </a:xfrm>
            <a:prstGeom prst="rect">
              <a:avLst/>
            </a:prstGeom>
            <a:noFill/>
            <a:ln>
              <a:noFill/>
            </a:ln>
          </p:spPr>
          <p:txBody>
            <a:bodyPr wrap="square" rtlCol="0">
              <a:spAutoFit/>
            </a:bodyPr>
            <a:lstStyle/>
            <a:p>
              <a:pPr algn="ctr"/>
              <a:r>
                <a:rPr lang="en-US" sz="1600" dirty="0" smtClean="0"/>
                <a:t>n</a:t>
              </a:r>
              <a:endParaRPr lang="en-SG" sz="1600" dirty="0"/>
            </a:p>
          </p:txBody>
        </p:sp>
      </p:grpSp>
      <p:grpSp>
        <p:nvGrpSpPr>
          <p:cNvPr id="215" name="Group 214"/>
          <p:cNvGrpSpPr/>
          <p:nvPr/>
        </p:nvGrpSpPr>
        <p:grpSpPr>
          <a:xfrm>
            <a:off x="5891348" y="5368834"/>
            <a:ext cx="648789" cy="496388"/>
            <a:chOff x="7754982" y="4811486"/>
            <a:chExt cx="648789" cy="496388"/>
          </a:xfrm>
        </p:grpSpPr>
        <p:grpSp>
          <p:nvGrpSpPr>
            <p:cNvPr id="216" name="Group 190"/>
            <p:cNvGrpSpPr/>
            <p:nvPr/>
          </p:nvGrpSpPr>
          <p:grpSpPr>
            <a:xfrm>
              <a:off x="7754982" y="4811486"/>
              <a:ext cx="339635" cy="496388"/>
              <a:chOff x="6087291" y="1867989"/>
              <a:chExt cx="339635" cy="496388"/>
            </a:xfrm>
          </p:grpSpPr>
          <p:cxnSp>
            <p:nvCxnSpPr>
              <p:cNvPr id="218" name="Straight Connector 217"/>
              <p:cNvCxnSpPr/>
              <p:nvPr/>
            </p:nvCxnSpPr>
            <p:spPr bwMode="auto">
              <a:xfrm>
                <a:off x="6100354" y="1867989"/>
                <a:ext cx="313509" cy="0"/>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219" name="Straight Connector 218"/>
              <p:cNvCxnSpPr/>
              <p:nvPr/>
            </p:nvCxnSpPr>
            <p:spPr bwMode="auto">
              <a:xfrm>
                <a:off x="6426926" y="1881051"/>
                <a:ext cx="0" cy="483326"/>
              </a:xfrm>
              <a:prstGeom prst="line">
                <a:avLst/>
              </a:prstGeom>
              <a:solidFill>
                <a:schemeClr val="accent1"/>
              </a:solidFill>
              <a:ln w="28575" cap="sq" cmpd="sng" algn="ctr">
                <a:solidFill>
                  <a:schemeClr val="tx1"/>
                </a:solidFill>
                <a:prstDash val="dash"/>
                <a:round/>
                <a:headEnd type="none" w="sm" len="sm"/>
                <a:tailEnd type="none" w="sm" len="sm"/>
              </a:ln>
              <a:effectLst/>
            </p:spPr>
          </p:cxnSp>
          <p:cxnSp>
            <p:nvCxnSpPr>
              <p:cNvPr id="220" name="Straight Arrow Connector 219"/>
              <p:cNvCxnSpPr/>
              <p:nvPr/>
            </p:nvCxnSpPr>
            <p:spPr bwMode="auto">
              <a:xfrm flipH="1">
                <a:off x="6087291" y="2364377"/>
                <a:ext cx="339635" cy="0"/>
              </a:xfrm>
              <a:prstGeom prst="straightConnector1">
                <a:avLst/>
              </a:prstGeom>
              <a:solidFill>
                <a:schemeClr val="accent1"/>
              </a:solidFill>
              <a:ln w="28575" cap="sq" cmpd="sng" algn="ctr">
                <a:solidFill>
                  <a:schemeClr val="tx1"/>
                </a:solidFill>
                <a:prstDash val="dash"/>
                <a:round/>
                <a:headEnd type="none" w="med" len="med"/>
                <a:tailEnd type="triangle" w="med" len="med"/>
              </a:ln>
              <a:effectLst/>
            </p:spPr>
          </p:cxnSp>
        </p:grpSp>
        <p:sp>
          <p:nvSpPr>
            <p:cNvPr id="217" name="TextBox 216"/>
            <p:cNvSpPr txBox="1"/>
            <p:nvPr/>
          </p:nvSpPr>
          <p:spPr>
            <a:xfrm>
              <a:off x="8064134" y="4913811"/>
              <a:ext cx="339637" cy="338554"/>
            </a:xfrm>
            <a:prstGeom prst="rect">
              <a:avLst/>
            </a:prstGeom>
            <a:noFill/>
          </p:spPr>
          <p:txBody>
            <a:bodyPr wrap="square" rtlCol="0">
              <a:spAutoFit/>
            </a:bodyPr>
            <a:lstStyle/>
            <a:p>
              <a:pPr algn="ctr"/>
              <a:r>
                <a:rPr lang="en-US" sz="1600" dirty="0" smtClean="0"/>
                <a:t>6</a:t>
              </a:r>
              <a:endParaRPr lang="en-SG" sz="1600" dirty="0"/>
            </a:p>
          </p:txBody>
        </p:sp>
      </p:gr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22</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dissolve">
                                      <p:cBhvr>
                                        <p:cTn id="7" dur="500"/>
                                        <p:tgtEl>
                                          <p:spTgt spid="12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dissolve">
                                      <p:cBhvr>
                                        <p:cTn id="11" dur="500"/>
                                        <p:tgtEl>
                                          <p:spTgt spid="7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27"/>
                                        </p:tgtEl>
                                        <p:attrNameLst>
                                          <p:attrName>style.visibility</p:attrName>
                                        </p:attrNameLst>
                                      </p:cBhvr>
                                      <p:to>
                                        <p:strVal val="visible"/>
                                      </p:to>
                                    </p:set>
                                    <p:animEffect transition="in" filter="wipe(left)">
                                      <p:cBhvr>
                                        <p:cTn id="16" dur="500"/>
                                        <p:tgtEl>
                                          <p:spTgt spid="127"/>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28"/>
                                        </p:tgtEl>
                                        <p:attrNameLst>
                                          <p:attrName>style.visibility</p:attrName>
                                        </p:attrNameLst>
                                      </p:cBhvr>
                                      <p:to>
                                        <p:strVal val="visible"/>
                                      </p:to>
                                    </p:set>
                                    <p:animEffect transition="in" filter="dissolve">
                                      <p:cBhvr>
                                        <p:cTn id="20" dur="500"/>
                                        <p:tgtEl>
                                          <p:spTgt spid="128"/>
                                        </p:tgtEl>
                                      </p:cBhvr>
                                    </p:animEffect>
                                  </p:childTnLst>
                                </p:cTn>
                              </p:par>
                            </p:childTnLst>
                          </p:cTn>
                        </p:par>
                        <p:par>
                          <p:cTn id="21" fill="hold">
                            <p:stCondLst>
                              <p:cond delay="1000"/>
                            </p:stCondLst>
                            <p:childTnLst>
                              <p:par>
                                <p:cTn id="22" presetID="9" presetClass="entr" presetSubtype="0" fill="hold" nodeType="afterEffect">
                                  <p:stCondLst>
                                    <p:cond delay="0"/>
                                  </p:stCondLst>
                                  <p:childTnLst>
                                    <p:set>
                                      <p:cBhvr>
                                        <p:cTn id="23" dur="1" fill="hold">
                                          <p:stCondLst>
                                            <p:cond delay="0"/>
                                          </p:stCondLst>
                                        </p:cTn>
                                        <p:tgtEl>
                                          <p:spTgt spid="199"/>
                                        </p:tgtEl>
                                        <p:attrNameLst>
                                          <p:attrName>style.visibility</p:attrName>
                                        </p:attrNameLst>
                                      </p:cBhvr>
                                      <p:to>
                                        <p:strVal val="visible"/>
                                      </p:to>
                                    </p:set>
                                    <p:animEffect transition="in" filter="dissolve">
                                      <p:cBhvr>
                                        <p:cTn id="24" dur="500"/>
                                        <p:tgtEl>
                                          <p:spTgt spid="19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9"/>
                                        </p:tgtEl>
                                        <p:attrNameLst>
                                          <p:attrName>style.visibility</p:attrName>
                                        </p:attrNameLst>
                                      </p:cBhvr>
                                      <p:to>
                                        <p:strVal val="visible"/>
                                      </p:to>
                                    </p:set>
                                    <p:animEffect transition="in" filter="wipe(left)">
                                      <p:cBhvr>
                                        <p:cTn id="29" dur="500"/>
                                        <p:tgtEl>
                                          <p:spTgt spid="129"/>
                                        </p:tgtEl>
                                      </p:cBhvr>
                                    </p:animEffec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30"/>
                                        </p:tgtEl>
                                        <p:attrNameLst>
                                          <p:attrName>style.visibility</p:attrName>
                                        </p:attrNameLst>
                                      </p:cBhvr>
                                      <p:to>
                                        <p:strVal val="visible"/>
                                      </p:to>
                                    </p:set>
                                    <p:animEffect transition="in" filter="dissolve">
                                      <p:cBhvr>
                                        <p:cTn id="33" dur="500"/>
                                        <p:tgtEl>
                                          <p:spTgt spid="130"/>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200"/>
                                        </p:tgtEl>
                                        <p:attrNameLst>
                                          <p:attrName>style.visibility</p:attrName>
                                        </p:attrNameLst>
                                      </p:cBhvr>
                                      <p:to>
                                        <p:strVal val="visible"/>
                                      </p:to>
                                    </p:set>
                                    <p:animEffect transition="in" filter="dissolve">
                                      <p:cBhvr>
                                        <p:cTn id="37" dur="500"/>
                                        <p:tgtEl>
                                          <p:spTgt spid="20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1"/>
                                        </p:tgtEl>
                                        <p:attrNameLst>
                                          <p:attrName>style.visibility</p:attrName>
                                        </p:attrNameLst>
                                      </p:cBhvr>
                                      <p:to>
                                        <p:strVal val="visible"/>
                                      </p:to>
                                    </p:set>
                                    <p:animEffect transition="in" filter="wipe(left)">
                                      <p:cBhvr>
                                        <p:cTn id="42" dur="500"/>
                                        <p:tgtEl>
                                          <p:spTgt spid="131"/>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132"/>
                                        </p:tgtEl>
                                        <p:attrNameLst>
                                          <p:attrName>style.visibility</p:attrName>
                                        </p:attrNameLst>
                                      </p:cBhvr>
                                      <p:to>
                                        <p:strVal val="visible"/>
                                      </p:to>
                                    </p:set>
                                    <p:animEffect transition="in" filter="dissolve">
                                      <p:cBhvr>
                                        <p:cTn id="46" dur="500"/>
                                        <p:tgtEl>
                                          <p:spTgt spid="132"/>
                                        </p:tgtEl>
                                      </p:cBhvr>
                                    </p:animEffect>
                                  </p:childTnLst>
                                </p:cTn>
                              </p:par>
                            </p:childTnLst>
                          </p:cTn>
                        </p:par>
                        <p:par>
                          <p:cTn id="47" fill="hold">
                            <p:stCondLst>
                              <p:cond delay="1000"/>
                            </p:stCondLst>
                            <p:childTnLst>
                              <p:par>
                                <p:cTn id="48" presetID="9" presetClass="entr" presetSubtype="0" fill="hold" nodeType="afterEffect">
                                  <p:stCondLst>
                                    <p:cond delay="0"/>
                                  </p:stCondLst>
                                  <p:childTnLst>
                                    <p:set>
                                      <p:cBhvr>
                                        <p:cTn id="49" dur="1" fill="hold">
                                          <p:stCondLst>
                                            <p:cond delay="0"/>
                                          </p:stCondLst>
                                        </p:cTn>
                                        <p:tgtEl>
                                          <p:spTgt spid="201"/>
                                        </p:tgtEl>
                                        <p:attrNameLst>
                                          <p:attrName>style.visibility</p:attrName>
                                        </p:attrNameLst>
                                      </p:cBhvr>
                                      <p:to>
                                        <p:strVal val="visible"/>
                                      </p:to>
                                    </p:set>
                                    <p:animEffect transition="in" filter="dissolve">
                                      <p:cBhvr>
                                        <p:cTn id="50" dur="500"/>
                                        <p:tgtEl>
                                          <p:spTgt spid="20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202"/>
                                        </p:tgtEl>
                                        <p:attrNameLst>
                                          <p:attrName>style.visibility</p:attrName>
                                        </p:attrNameLst>
                                      </p:cBhvr>
                                      <p:to>
                                        <p:strVal val="visible"/>
                                      </p:to>
                                    </p:set>
                                    <p:animEffect transition="in" filter="wipe(up)">
                                      <p:cBhvr>
                                        <p:cTn id="55" dur="500"/>
                                        <p:tgtEl>
                                          <p:spTgt spid="202"/>
                                        </p:tgtEl>
                                      </p:cBhvr>
                                    </p:animEffect>
                                  </p:childTnLst>
                                </p:cTn>
                              </p:par>
                            </p:childTnLst>
                          </p:cTn>
                        </p:par>
                        <p:par>
                          <p:cTn id="56" fill="hold">
                            <p:stCondLst>
                              <p:cond delay="500"/>
                            </p:stCondLst>
                            <p:childTnLst>
                              <p:par>
                                <p:cTn id="57" presetID="22" presetClass="entr" presetSubtype="2" fill="hold" nodeType="afterEffect">
                                  <p:stCondLst>
                                    <p:cond delay="0"/>
                                  </p:stCondLst>
                                  <p:childTnLst>
                                    <p:set>
                                      <p:cBhvr>
                                        <p:cTn id="58" dur="1" fill="hold">
                                          <p:stCondLst>
                                            <p:cond delay="0"/>
                                          </p:stCondLst>
                                        </p:cTn>
                                        <p:tgtEl>
                                          <p:spTgt spid="196"/>
                                        </p:tgtEl>
                                        <p:attrNameLst>
                                          <p:attrName>style.visibility</p:attrName>
                                        </p:attrNameLst>
                                      </p:cBhvr>
                                      <p:to>
                                        <p:strVal val="visible"/>
                                      </p:to>
                                    </p:set>
                                    <p:animEffect transition="in" filter="wipe(right)">
                                      <p:cBhvr>
                                        <p:cTn id="59" dur="500"/>
                                        <p:tgtEl>
                                          <p:spTgt spid="196"/>
                                        </p:tgtEl>
                                      </p:cBhvr>
                                    </p:animEffect>
                                  </p:childTnLst>
                                </p:cTn>
                              </p:par>
                            </p:childTnLst>
                          </p:cTn>
                        </p:par>
                        <p:par>
                          <p:cTn id="60" fill="hold">
                            <p:stCondLst>
                              <p:cond delay="1000"/>
                            </p:stCondLst>
                            <p:childTnLst>
                              <p:par>
                                <p:cTn id="61" presetID="9" presetClass="entr" presetSubtype="0" fill="hold" nodeType="afterEffect">
                                  <p:stCondLst>
                                    <p:cond delay="0"/>
                                  </p:stCondLst>
                                  <p:childTnLst>
                                    <p:set>
                                      <p:cBhvr>
                                        <p:cTn id="62" dur="1" fill="hold">
                                          <p:stCondLst>
                                            <p:cond delay="0"/>
                                          </p:stCondLst>
                                        </p:cTn>
                                        <p:tgtEl>
                                          <p:spTgt spid="203"/>
                                        </p:tgtEl>
                                        <p:attrNameLst>
                                          <p:attrName>style.visibility</p:attrName>
                                        </p:attrNameLst>
                                      </p:cBhvr>
                                      <p:to>
                                        <p:strVal val="visible"/>
                                      </p:to>
                                    </p:set>
                                    <p:animEffect transition="in" filter="dissolve">
                                      <p:cBhvr>
                                        <p:cTn id="63" dur="500"/>
                                        <p:tgtEl>
                                          <p:spTgt spid="20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204"/>
                                        </p:tgtEl>
                                        <p:attrNameLst>
                                          <p:attrName>style.visibility</p:attrName>
                                        </p:attrNameLst>
                                      </p:cBhvr>
                                      <p:to>
                                        <p:strVal val="visible"/>
                                      </p:to>
                                    </p:set>
                                    <p:animEffect transition="in" filter="wipe(up)">
                                      <p:cBhvr>
                                        <p:cTn id="68" dur="500"/>
                                        <p:tgtEl>
                                          <p:spTgt spid="204"/>
                                        </p:tgtEl>
                                      </p:cBhvr>
                                    </p:animEffect>
                                  </p:childTnLst>
                                </p:cTn>
                              </p:par>
                            </p:childTnLst>
                          </p:cTn>
                        </p:par>
                        <p:par>
                          <p:cTn id="69" fill="hold">
                            <p:stCondLst>
                              <p:cond delay="500"/>
                            </p:stCondLst>
                            <p:childTnLst>
                              <p:par>
                                <p:cTn id="70" presetID="22" presetClass="entr" presetSubtype="2" fill="hold" nodeType="afterEffect">
                                  <p:stCondLst>
                                    <p:cond delay="0"/>
                                  </p:stCondLst>
                                  <p:childTnLst>
                                    <p:set>
                                      <p:cBhvr>
                                        <p:cTn id="71" dur="1" fill="hold">
                                          <p:stCondLst>
                                            <p:cond delay="0"/>
                                          </p:stCondLst>
                                        </p:cTn>
                                        <p:tgtEl>
                                          <p:spTgt spid="197"/>
                                        </p:tgtEl>
                                        <p:attrNameLst>
                                          <p:attrName>style.visibility</p:attrName>
                                        </p:attrNameLst>
                                      </p:cBhvr>
                                      <p:to>
                                        <p:strVal val="visible"/>
                                      </p:to>
                                    </p:set>
                                    <p:animEffect transition="in" filter="wipe(right)">
                                      <p:cBhvr>
                                        <p:cTn id="72" dur="500"/>
                                        <p:tgtEl>
                                          <p:spTgt spid="197"/>
                                        </p:tgtEl>
                                      </p:cBhvr>
                                    </p:animEffect>
                                  </p:childTnLst>
                                </p:cTn>
                              </p:par>
                            </p:childTnLst>
                          </p:cTn>
                        </p:par>
                        <p:par>
                          <p:cTn id="73" fill="hold">
                            <p:stCondLst>
                              <p:cond delay="1000"/>
                            </p:stCondLst>
                            <p:childTnLst>
                              <p:par>
                                <p:cTn id="74" presetID="9" presetClass="entr" presetSubtype="0" fill="hold" nodeType="afterEffect">
                                  <p:stCondLst>
                                    <p:cond delay="0"/>
                                  </p:stCondLst>
                                  <p:childTnLst>
                                    <p:set>
                                      <p:cBhvr>
                                        <p:cTn id="75" dur="1" fill="hold">
                                          <p:stCondLst>
                                            <p:cond delay="0"/>
                                          </p:stCondLst>
                                        </p:cTn>
                                        <p:tgtEl>
                                          <p:spTgt spid="213"/>
                                        </p:tgtEl>
                                        <p:attrNameLst>
                                          <p:attrName>style.visibility</p:attrName>
                                        </p:attrNameLst>
                                      </p:cBhvr>
                                      <p:to>
                                        <p:strVal val="visible"/>
                                      </p:to>
                                    </p:set>
                                    <p:animEffect transition="in" filter="dissolve">
                                      <p:cBhvr>
                                        <p:cTn id="76" dur="500"/>
                                        <p:tgtEl>
                                          <p:spTgt spid="21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214"/>
                                        </p:tgtEl>
                                        <p:attrNameLst>
                                          <p:attrName>style.visibility</p:attrName>
                                        </p:attrNameLst>
                                      </p:cBhvr>
                                      <p:to>
                                        <p:strVal val="visible"/>
                                      </p:to>
                                    </p:set>
                                    <p:animEffect transition="in" filter="wipe(up)">
                                      <p:cBhvr>
                                        <p:cTn id="81" dur="500"/>
                                        <p:tgtEl>
                                          <p:spTgt spid="214"/>
                                        </p:tgtEl>
                                      </p:cBhvr>
                                    </p:animEffect>
                                  </p:childTnLst>
                                </p:cTn>
                              </p:par>
                            </p:childTnLst>
                          </p:cTn>
                        </p:par>
                        <p:par>
                          <p:cTn id="82" fill="hold">
                            <p:stCondLst>
                              <p:cond delay="500"/>
                            </p:stCondLst>
                            <p:childTnLst>
                              <p:par>
                                <p:cTn id="83" presetID="22" presetClass="entr" presetSubtype="2" fill="hold" nodeType="afterEffect">
                                  <p:stCondLst>
                                    <p:cond delay="0"/>
                                  </p:stCondLst>
                                  <p:childTnLst>
                                    <p:set>
                                      <p:cBhvr>
                                        <p:cTn id="84" dur="1" fill="hold">
                                          <p:stCondLst>
                                            <p:cond delay="0"/>
                                          </p:stCondLst>
                                        </p:cTn>
                                        <p:tgtEl>
                                          <p:spTgt spid="198"/>
                                        </p:tgtEl>
                                        <p:attrNameLst>
                                          <p:attrName>style.visibility</p:attrName>
                                        </p:attrNameLst>
                                      </p:cBhvr>
                                      <p:to>
                                        <p:strVal val="visible"/>
                                      </p:to>
                                    </p:set>
                                    <p:animEffect transition="in" filter="wipe(right)">
                                      <p:cBhvr>
                                        <p:cTn id="85" dur="500"/>
                                        <p:tgtEl>
                                          <p:spTgt spid="198"/>
                                        </p:tgtEl>
                                      </p:cBhvr>
                                    </p:animEffect>
                                  </p:childTnLst>
                                </p:cTn>
                              </p:par>
                            </p:childTnLst>
                          </p:cTn>
                        </p:par>
                        <p:par>
                          <p:cTn id="86" fill="hold">
                            <p:stCondLst>
                              <p:cond delay="1000"/>
                            </p:stCondLst>
                            <p:childTnLst>
                              <p:par>
                                <p:cTn id="87" presetID="9" presetClass="entr" presetSubtype="0" fill="hold" nodeType="afterEffect">
                                  <p:stCondLst>
                                    <p:cond delay="0"/>
                                  </p:stCondLst>
                                  <p:childTnLst>
                                    <p:set>
                                      <p:cBhvr>
                                        <p:cTn id="88" dur="1" fill="hold">
                                          <p:stCondLst>
                                            <p:cond delay="0"/>
                                          </p:stCondLst>
                                        </p:cTn>
                                        <p:tgtEl>
                                          <p:spTgt spid="205"/>
                                        </p:tgtEl>
                                        <p:attrNameLst>
                                          <p:attrName>style.visibility</p:attrName>
                                        </p:attrNameLst>
                                      </p:cBhvr>
                                      <p:to>
                                        <p:strVal val="visible"/>
                                      </p:to>
                                    </p:set>
                                    <p:animEffect transition="in" filter="dissolve">
                                      <p:cBhvr>
                                        <p:cTn id="89" dur="500"/>
                                        <p:tgtEl>
                                          <p:spTgt spid="20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215"/>
                                        </p:tgtEl>
                                        <p:attrNameLst>
                                          <p:attrName>style.visibility</p:attrName>
                                        </p:attrNameLst>
                                      </p:cBhvr>
                                      <p:to>
                                        <p:strVal val="visible"/>
                                      </p:to>
                                    </p:set>
                                    <p:animEffect transition="in" filter="wipe(up)">
                                      <p:cBhvr>
                                        <p:cTn id="94"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P spid="128" grpId="0"/>
      <p:bldP spid="130" grpId="0"/>
      <p:bldP spid="1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5. Exercises #1 – 3 (1/2)</a:t>
            </a:r>
          </a:p>
        </p:txBody>
      </p:sp>
      <p:sp>
        <p:nvSpPr>
          <p:cNvPr id="40963" name="Rectangle 3"/>
          <p:cNvSpPr>
            <a:spLocks noGrp="1" noChangeArrowheads="1"/>
          </p:cNvSpPr>
          <p:nvPr>
            <p:ph type="body" idx="1"/>
          </p:nvPr>
        </p:nvSpPr>
        <p:spPr>
          <a:xfrm>
            <a:off x="457200" y="1449388"/>
            <a:ext cx="8229600" cy="1119641"/>
          </a:xfrm>
        </p:spPr>
        <p:txBody>
          <a:bodyPr/>
          <a:lstStyle/>
          <a:p>
            <a:pPr marL="457200" indent="-457200">
              <a:spcBef>
                <a:spcPts val="600"/>
              </a:spcBef>
              <a:buClrTx/>
              <a:buSzPct val="100000"/>
              <a:buFont typeface="+mj-lt"/>
              <a:buAutoNum type="arabicPeriod"/>
            </a:pPr>
            <a:r>
              <a:rPr lang="en-US" sz="2400" dirty="0" smtClean="0"/>
              <a:t>Given the following 2 recursive functions, trace </a:t>
            </a:r>
            <a:r>
              <a:rPr lang="en-US" sz="2400" dirty="0" smtClean="0">
                <a:solidFill>
                  <a:srgbClr val="0000FF"/>
                </a:solidFill>
              </a:rPr>
              <a:t>mystery1(3902) </a:t>
            </a:r>
            <a:r>
              <a:rPr lang="en-US" sz="2400" dirty="0" smtClean="0"/>
              <a:t>and </a:t>
            </a:r>
            <a:r>
              <a:rPr lang="en-US" sz="2400" dirty="0" smtClean="0">
                <a:solidFill>
                  <a:srgbClr val="0000FF"/>
                </a:solidFill>
              </a:rPr>
              <a:t>mystery2(3902) </a:t>
            </a:r>
            <a:r>
              <a:rPr lang="en-US" sz="2400" dirty="0" smtClean="0"/>
              <a:t>using the trace tree method</a:t>
            </a:r>
          </a:p>
        </p:txBody>
      </p:sp>
      <p:sp>
        <p:nvSpPr>
          <p:cNvPr id="6" name="TextBox 5"/>
          <p:cNvSpPr txBox="1"/>
          <p:nvPr/>
        </p:nvSpPr>
        <p:spPr>
          <a:xfrm>
            <a:off x="652917" y="2981325"/>
            <a:ext cx="3921125" cy="1754326"/>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tabLst>
                <a:tab pos="363538" algn="l"/>
                <a:tab pos="714375" algn="l"/>
                <a:tab pos="1077913" algn="l"/>
              </a:tabLst>
              <a:defRPr/>
            </a:pPr>
            <a:r>
              <a:rPr lang="en-US" b="1" dirty="0">
                <a:solidFill>
                  <a:srgbClr val="0000FF"/>
                </a:solidFill>
                <a:latin typeface="Courier New" pitchFamily="49" charset="0"/>
                <a:cs typeface="Courier New" pitchFamily="49" charset="0"/>
              </a:rPr>
              <a:t>void</a:t>
            </a:r>
            <a:r>
              <a:rPr lang="en-US" b="1" dirty="0">
                <a:latin typeface="Courier New" pitchFamily="49" charset="0"/>
                <a:cs typeface="Courier New" pitchFamily="49" charset="0"/>
              </a:rPr>
              <a:t> mystery1(</a:t>
            </a: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n</a:t>
            </a:r>
            <a:r>
              <a:rPr lang="en-US" b="1" dirty="0" smtClean="0">
                <a:latin typeface="Courier New" pitchFamily="49" charset="0"/>
                <a:cs typeface="Courier New" pitchFamily="49" charset="0"/>
              </a:rPr>
              <a:t>) {</a:t>
            </a:r>
            <a:endParaRPr lang="en-US" b="1" dirty="0">
              <a:latin typeface="Courier New" pitchFamily="49" charset="0"/>
              <a:cs typeface="Courier New" pitchFamily="49" charset="0"/>
            </a:endParaRPr>
          </a:p>
          <a:p>
            <a:pPr>
              <a:tabLst>
                <a:tab pos="363538" algn="l"/>
                <a:tab pos="714375" algn="l"/>
                <a:tab pos="1077913" algn="l"/>
              </a:tabLst>
              <a:defRPr/>
            </a:pP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if</a:t>
            </a:r>
            <a:r>
              <a:rPr lang="en-US" b="1" dirty="0">
                <a:latin typeface="Courier New" pitchFamily="49" charset="0"/>
                <a:cs typeface="Courier New" pitchFamily="49" charset="0"/>
              </a:rPr>
              <a:t> (n&gt;</a:t>
            </a:r>
            <a:r>
              <a:rPr lang="en-US" b="1" dirty="0">
                <a:solidFill>
                  <a:srgbClr val="006600"/>
                </a:solidFill>
                <a:latin typeface="Courier New" pitchFamily="49" charset="0"/>
                <a:cs typeface="Courier New" pitchFamily="49" charset="0"/>
              </a:rPr>
              <a:t>0</a:t>
            </a:r>
            <a:r>
              <a:rPr lang="en-US" b="1" dirty="0" smtClean="0">
                <a:latin typeface="Courier New" pitchFamily="49" charset="0"/>
                <a:cs typeface="Courier New" pitchFamily="49" charset="0"/>
              </a:rPr>
              <a:t>) {</a:t>
            </a:r>
            <a:endParaRPr lang="en-US" b="1" dirty="0">
              <a:latin typeface="Courier New" pitchFamily="49" charset="0"/>
              <a:cs typeface="Courier New" pitchFamily="49" charset="0"/>
            </a:endParaRPr>
          </a:p>
          <a:p>
            <a:pPr>
              <a:tabLst>
                <a:tab pos="363538" algn="l"/>
                <a:tab pos="714375" algn="l"/>
                <a:tab pos="1077913" algn="l"/>
              </a:tabLst>
              <a:defRPr/>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printf</a:t>
            </a:r>
            <a:r>
              <a:rPr lang="en-US" b="1" dirty="0">
                <a:latin typeface="Courier New" pitchFamily="49" charset="0"/>
                <a:cs typeface="Courier New" pitchFamily="49" charset="0"/>
              </a:rPr>
              <a:t>(</a:t>
            </a:r>
            <a:r>
              <a:rPr lang="en-US" b="1" dirty="0">
                <a:solidFill>
                  <a:srgbClr val="006600"/>
                </a:solidFill>
                <a:latin typeface="Courier New" pitchFamily="49" charset="0"/>
                <a:cs typeface="Courier New" pitchFamily="49" charset="0"/>
              </a:rPr>
              <a:t>"</a:t>
            </a:r>
            <a:r>
              <a:rPr lang="en-US" b="1" dirty="0">
                <a:solidFill>
                  <a:srgbClr val="FF0000"/>
                </a:solidFill>
                <a:latin typeface="Courier New" pitchFamily="49" charset="0"/>
                <a:cs typeface="Courier New" pitchFamily="49" charset="0"/>
              </a:rPr>
              <a:t>%d</a:t>
            </a:r>
            <a:r>
              <a:rPr lang="en-US" b="1" dirty="0">
                <a:solidFill>
                  <a:srgbClr val="006600"/>
                </a:solidFill>
                <a:latin typeface="Courier New" pitchFamily="49" charset="0"/>
                <a:cs typeface="Courier New" pitchFamily="49" charset="0"/>
              </a:rPr>
              <a:t>"</a:t>
            </a:r>
            <a:r>
              <a:rPr lang="en-US" b="1" dirty="0">
                <a:latin typeface="Courier New" pitchFamily="49" charset="0"/>
                <a:cs typeface="Courier New" pitchFamily="49" charset="0"/>
              </a:rPr>
              <a:t>, n%</a:t>
            </a:r>
            <a:r>
              <a:rPr lang="en-US" b="1" dirty="0">
                <a:solidFill>
                  <a:srgbClr val="006600"/>
                </a:solidFill>
                <a:latin typeface="Courier New" pitchFamily="49" charset="0"/>
                <a:cs typeface="Courier New" pitchFamily="49" charset="0"/>
              </a:rPr>
              <a:t>10</a:t>
            </a:r>
            <a:r>
              <a:rPr lang="en-US" b="1" dirty="0">
                <a:latin typeface="Courier New" pitchFamily="49" charset="0"/>
                <a:cs typeface="Courier New" pitchFamily="49" charset="0"/>
              </a:rPr>
              <a:t>);</a:t>
            </a:r>
          </a:p>
          <a:p>
            <a:pPr>
              <a:tabLst>
                <a:tab pos="363538" algn="l"/>
                <a:tab pos="714375" algn="l"/>
                <a:tab pos="1077913" algn="l"/>
              </a:tabLst>
              <a:defRPr/>
            </a:pPr>
            <a:r>
              <a:rPr lang="en-US" b="1" dirty="0">
                <a:latin typeface="Courier New" pitchFamily="49" charset="0"/>
                <a:cs typeface="Courier New" pitchFamily="49" charset="0"/>
              </a:rPr>
              <a:t>		mystery1(n/</a:t>
            </a:r>
            <a:r>
              <a:rPr lang="en-US" b="1" dirty="0">
                <a:solidFill>
                  <a:srgbClr val="006600"/>
                </a:solidFill>
                <a:latin typeface="Courier New" pitchFamily="49" charset="0"/>
                <a:cs typeface="Courier New" pitchFamily="49" charset="0"/>
              </a:rPr>
              <a:t>10</a:t>
            </a:r>
            <a:r>
              <a:rPr lang="en-US" b="1" dirty="0">
                <a:latin typeface="Courier New" pitchFamily="49" charset="0"/>
                <a:cs typeface="Courier New" pitchFamily="49" charset="0"/>
              </a:rPr>
              <a:t>);</a:t>
            </a:r>
          </a:p>
          <a:p>
            <a:pPr>
              <a:tabLst>
                <a:tab pos="363538" algn="l"/>
                <a:tab pos="714375" algn="l"/>
                <a:tab pos="1077913" algn="l"/>
              </a:tabLst>
              <a:defRPr/>
            </a:pPr>
            <a:r>
              <a:rPr lang="en-US" b="1" dirty="0">
                <a:latin typeface="Courier New" pitchFamily="49" charset="0"/>
                <a:cs typeface="Courier New" pitchFamily="49" charset="0"/>
              </a:rPr>
              <a:t>	}</a:t>
            </a:r>
          </a:p>
          <a:p>
            <a:pPr>
              <a:tabLst>
                <a:tab pos="363538" algn="l"/>
                <a:tab pos="714375" algn="l"/>
                <a:tab pos="1077913" algn="l"/>
              </a:tabLst>
              <a:defRPr/>
            </a:pPr>
            <a:r>
              <a:rPr lang="en-US" b="1" dirty="0">
                <a:latin typeface="Courier New" pitchFamily="49" charset="0"/>
                <a:cs typeface="Courier New" pitchFamily="49" charset="0"/>
              </a:rPr>
              <a:t>}</a:t>
            </a:r>
          </a:p>
        </p:txBody>
      </p:sp>
      <p:sp>
        <p:nvSpPr>
          <p:cNvPr id="7" name="TextBox 6"/>
          <p:cNvSpPr txBox="1"/>
          <p:nvPr/>
        </p:nvSpPr>
        <p:spPr>
          <a:xfrm>
            <a:off x="4813754" y="2981325"/>
            <a:ext cx="3921125" cy="1754326"/>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tabLst>
                <a:tab pos="363538" algn="l"/>
                <a:tab pos="714375" algn="l"/>
                <a:tab pos="1077913" algn="l"/>
              </a:tabLst>
              <a:defRPr/>
            </a:pPr>
            <a:r>
              <a:rPr lang="en-US" b="1" dirty="0">
                <a:solidFill>
                  <a:srgbClr val="0000FF"/>
                </a:solidFill>
                <a:latin typeface="Courier New" pitchFamily="49" charset="0"/>
                <a:cs typeface="Courier New" pitchFamily="49" charset="0"/>
              </a:rPr>
              <a:t>void </a:t>
            </a:r>
            <a:r>
              <a:rPr lang="en-US" b="1" dirty="0">
                <a:latin typeface="Courier New" pitchFamily="49" charset="0"/>
                <a:cs typeface="Courier New" pitchFamily="49" charset="0"/>
              </a:rPr>
              <a:t>mystery2(</a:t>
            </a:r>
            <a:r>
              <a:rPr lang="en-US" b="1" dirty="0" err="1">
                <a:solidFill>
                  <a:srgbClr val="0000FF"/>
                </a:solidFill>
                <a:latin typeface="Courier New" pitchFamily="49" charset="0"/>
                <a:cs typeface="Courier New" pitchFamily="49" charset="0"/>
              </a:rPr>
              <a:t>int</a:t>
            </a:r>
            <a:r>
              <a:rPr lang="en-US" b="1" dirty="0">
                <a:latin typeface="Courier New" pitchFamily="49" charset="0"/>
                <a:cs typeface="Courier New" pitchFamily="49" charset="0"/>
              </a:rPr>
              <a:t> n</a:t>
            </a:r>
            <a:r>
              <a:rPr lang="en-US" b="1" dirty="0" smtClean="0">
                <a:latin typeface="Courier New" pitchFamily="49" charset="0"/>
                <a:cs typeface="Courier New" pitchFamily="49" charset="0"/>
              </a:rPr>
              <a:t>) {</a:t>
            </a:r>
            <a:endParaRPr lang="en-US" b="1" dirty="0">
              <a:latin typeface="Courier New" pitchFamily="49" charset="0"/>
              <a:cs typeface="Courier New" pitchFamily="49" charset="0"/>
            </a:endParaRPr>
          </a:p>
          <a:p>
            <a:pPr>
              <a:tabLst>
                <a:tab pos="363538" algn="l"/>
                <a:tab pos="714375" algn="l"/>
                <a:tab pos="1077913" algn="l"/>
              </a:tabLst>
              <a:defRPr/>
            </a:pPr>
            <a:r>
              <a:rPr lang="en-US" b="1" dirty="0">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if</a:t>
            </a:r>
            <a:r>
              <a:rPr lang="en-US" b="1" dirty="0">
                <a:latin typeface="Courier New" pitchFamily="49" charset="0"/>
                <a:cs typeface="Courier New" pitchFamily="49" charset="0"/>
              </a:rPr>
              <a:t> (n&gt;</a:t>
            </a:r>
            <a:r>
              <a:rPr lang="en-US" b="1" dirty="0">
                <a:solidFill>
                  <a:srgbClr val="006600"/>
                </a:solidFill>
                <a:latin typeface="Courier New" pitchFamily="49" charset="0"/>
                <a:cs typeface="Courier New" pitchFamily="49" charset="0"/>
              </a:rPr>
              <a:t>0</a:t>
            </a:r>
            <a:r>
              <a:rPr lang="en-US" b="1" dirty="0" smtClean="0">
                <a:latin typeface="Courier New" pitchFamily="49" charset="0"/>
                <a:cs typeface="Courier New" pitchFamily="49" charset="0"/>
              </a:rPr>
              <a:t>) {</a:t>
            </a:r>
            <a:endParaRPr lang="en-US" b="1" dirty="0">
              <a:latin typeface="Courier New" pitchFamily="49" charset="0"/>
              <a:cs typeface="Courier New" pitchFamily="49" charset="0"/>
            </a:endParaRPr>
          </a:p>
          <a:p>
            <a:pPr>
              <a:tabLst>
                <a:tab pos="363538" algn="l"/>
                <a:tab pos="714375" algn="l"/>
                <a:tab pos="1077913" algn="l"/>
              </a:tabLst>
              <a:defRPr/>
            </a:pPr>
            <a:r>
              <a:rPr lang="en-US" b="1" dirty="0">
                <a:latin typeface="Courier New" pitchFamily="49" charset="0"/>
                <a:cs typeface="Courier New" pitchFamily="49" charset="0"/>
              </a:rPr>
              <a:t>		mystery2(n/</a:t>
            </a:r>
            <a:r>
              <a:rPr lang="en-US" b="1" dirty="0">
                <a:solidFill>
                  <a:srgbClr val="006600"/>
                </a:solidFill>
                <a:latin typeface="Courier New" pitchFamily="49" charset="0"/>
                <a:cs typeface="Courier New" pitchFamily="49" charset="0"/>
              </a:rPr>
              <a:t>10</a:t>
            </a:r>
            <a:r>
              <a:rPr lang="en-US" b="1" dirty="0">
                <a:latin typeface="Courier New" pitchFamily="49" charset="0"/>
                <a:cs typeface="Courier New" pitchFamily="49" charset="0"/>
              </a:rPr>
              <a:t>);</a:t>
            </a:r>
          </a:p>
          <a:p>
            <a:pPr>
              <a:tabLst>
                <a:tab pos="363538" algn="l"/>
                <a:tab pos="714375" algn="l"/>
                <a:tab pos="1077913" algn="l"/>
              </a:tabLst>
              <a:defRPr/>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printf</a:t>
            </a:r>
            <a:r>
              <a:rPr lang="en-US" b="1" dirty="0">
                <a:latin typeface="Courier New" pitchFamily="49" charset="0"/>
                <a:cs typeface="Courier New" pitchFamily="49" charset="0"/>
              </a:rPr>
              <a:t>(</a:t>
            </a:r>
            <a:r>
              <a:rPr lang="en-US" b="1" dirty="0">
                <a:solidFill>
                  <a:srgbClr val="006600"/>
                </a:solidFill>
                <a:latin typeface="Courier New" pitchFamily="49" charset="0"/>
                <a:cs typeface="Courier New" pitchFamily="49" charset="0"/>
              </a:rPr>
              <a:t>"</a:t>
            </a:r>
            <a:r>
              <a:rPr lang="en-US" b="1" dirty="0">
                <a:solidFill>
                  <a:srgbClr val="FF0000"/>
                </a:solidFill>
                <a:latin typeface="Courier New" pitchFamily="49" charset="0"/>
                <a:cs typeface="Courier New" pitchFamily="49" charset="0"/>
              </a:rPr>
              <a:t>%d</a:t>
            </a:r>
            <a:r>
              <a:rPr lang="en-US" b="1" dirty="0">
                <a:solidFill>
                  <a:srgbClr val="006600"/>
                </a:solidFill>
                <a:latin typeface="Courier New" pitchFamily="49" charset="0"/>
                <a:cs typeface="Courier New" pitchFamily="49" charset="0"/>
              </a:rPr>
              <a:t>"</a:t>
            </a:r>
            <a:r>
              <a:rPr lang="en-US" b="1" dirty="0">
                <a:latin typeface="Courier New" pitchFamily="49" charset="0"/>
                <a:cs typeface="Courier New" pitchFamily="49" charset="0"/>
              </a:rPr>
              <a:t>, n%</a:t>
            </a:r>
            <a:r>
              <a:rPr lang="en-US" b="1" dirty="0">
                <a:solidFill>
                  <a:srgbClr val="006600"/>
                </a:solidFill>
                <a:latin typeface="Courier New" pitchFamily="49" charset="0"/>
                <a:cs typeface="Courier New" pitchFamily="49" charset="0"/>
              </a:rPr>
              <a:t>10</a:t>
            </a:r>
            <a:r>
              <a:rPr lang="en-US" b="1" dirty="0">
                <a:latin typeface="Courier New" pitchFamily="49" charset="0"/>
                <a:cs typeface="Courier New" pitchFamily="49" charset="0"/>
              </a:rPr>
              <a:t>);</a:t>
            </a:r>
          </a:p>
          <a:p>
            <a:pPr>
              <a:tabLst>
                <a:tab pos="363538" algn="l"/>
                <a:tab pos="714375" algn="l"/>
                <a:tab pos="1077913" algn="l"/>
              </a:tabLst>
              <a:defRPr/>
            </a:pPr>
            <a:r>
              <a:rPr lang="en-US" b="1" dirty="0">
                <a:latin typeface="Courier New" pitchFamily="49" charset="0"/>
                <a:cs typeface="Courier New" pitchFamily="49" charset="0"/>
              </a:rPr>
              <a:t>	}</a:t>
            </a:r>
          </a:p>
          <a:p>
            <a:pPr>
              <a:tabLst>
                <a:tab pos="363538" algn="l"/>
                <a:tab pos="714375" algn="l"/>
                <a:tab pos="1077913" algn="l"/>
              </a:tabLst>
              <a:defRPr/>
            </a:pP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p:txBody>
      </p:sp>
      <p:sp>
        <p:nvSpPr>
          <p:cNvPr id="8" name="TextBox 7"/>
          <p:cNvSpPr txBox="1"/>
          <p:nvPr/>
        </p:nvSpPr>
        <p:spPr>
          <a:xfrm>
            <a:off x="1770743" y="4993601"/>
            <a:ext cx="5471886" cy="461665"/>
          </a:xfrm>
          <a:prstGeom prst="rect">
            <a:avLst/>
          </a:prstGeom>
          <a:solidFill>
            <a:srgbClr val="FFFF99"/>
          </a:solidFill>
          <a:ln>
            <a:solidFill>
              <a:schemeClr val="tx1"/>
            </a:solidFill>
          </a:ln>
        </p:spPr>
        <p:txBody>
          <a:bodyPr wrap="square" rtlCol="0">
            <a:spAutoFit/>
          </a:bodyPr>
          <a:lstStyle/>
          <a:p>
            <a:pPr algn="ctr"/>
            <a:r>
              <a:rPr lang="en-US" sz="2400" dirty="0" smtClean="0"/>
              <a:t>The order of statements does matter!</a:t>
            </a:r>
            <a:endParaRPr lang="en-SG" sz="2400" dirty="0"/>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23</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dissolv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5. Exercises #1 – 3 (2/2)</a:t>
            </a:r>
          </a:p>
        </p:txBody>
      </p:sp>
      <p:sp>
        <p:nvSpPr>
          <p:cNvPr id="40963" name="Rectangle 3"/>
          <p:cNvSpPr>
            <a:spLocks noGrp="1" noChangeArrowheads="1"/>
          </p:cNvSpPr>
          <p:nvPr>
            <p:ph type="body" idx="1"/>
          </p:nvPr>
        </p:nvSpPr>
        <p:spPr>
          <a:xfrm>
            <a:off x="457200" y="1332411"/>
            <a:ext cx="8229600" cy="4981303"/>
          </a:xfrm>
        </p:spPr>
        <p:txBody>
          <a:bodyPr/>
          <a:lstStyle/>
          <a:p>
            <a:pPr marL="457200" indent="-457200">
              <a:spcBef>
                <a:spcPts val="600"/>
              </a:spcBef>
              <a:buClrTx/>
              <a:buSzPct val="100000"/>
              <a:buFont typeface="+mj-lt"/>
              <a:buAutoNum type="arabicPeriod" startAt="2"/>
            </a:pPr>
            <a:r>
              <a:rPr lang="en-US" sz="2400" dirty="0" smtClean="0"/>
              <a:t>The recurrence relation for Greatest Common Divisor (GCD) of two non-negative integers </a:t>
            </a:r>
            <a:r>
              <a:rPr lang="en-US" sz="2400" i="1" dirty="0" smtClean="0"/>
              <a:t>a</a:t>
            </a:r>
            <a:r>
              <a:rPr lang="en-US" sz="2400" dirty="0" smtClean="0"/>
              <a:t> and </a:t>
            </a:r>
            <a:r>
              <a:rPr lang="en-US" sz="2400" i="1" dirty="0" smtClean="0"/>
              <a:t>b</a:t>
            </a:r>
            <a:r>
              <a:rPr lang="en-US" sz="2400" dirty="0" smtClean="0"/>
              <a:t>, not both zero, is given below:</a:t>
            </a:r>
          </a:p>
          <a:p>
            <a:pPr marL="457200" indent="-457200">
              <a:spcBef>
                <a:spcPts val="1200"/>
              </a:spcBef>
              <a:spcAft>
                <a:spcPts val="1200"/>
              </a:spcAft>
              <a:buClrTx/>
              <a:buSzPct val="100000"/>
              <a:buNone/>
            </a:pPr>
            <a:r>
              <a:rPr lang="en-US" sz="2400" dirty="0" smtClean="0"/>
              <a:t>		</a:t>
            </a:r>
          </a:p>
          <a:p>
            <a:pPr marL="457200" indent="-457200">
              <a:spcBef>
                <a:spcPts val="600"/>
              </a:spcBef>
              <a:buClrTx/>
              <a:buSzPct val="100000"/>
              <a:buNone/>
            </a:pPr>
            <a:r>
              <a:rPr lang="en-US" sz="2400" dirty="0" smtClean="0"/>
              <a:t>	</a:t>
            </a:r>
            <a:r>
              <a:rPr lang="en-US" sz="2000" dirty="0" smtClean="0"/>
              <a:t>Write a function </a:t>
            </a:r>
            <a:r>
              <a:rPr lang="en-US" sz="2000" dirty="0" err="1" smtClean="0">
                <a:solidFill>
                  <a:srgbClr val="0000FF"/>
                </a:solidFill>
              </a:rPr>
              <a:t>int</a:t>
            </a:r>
            <a:r>
              <a:rPr lang="en-US" sz="2000" dirty="0" smtClean="0">
                <a:solidFill>
                  <a:srgbClr val="0000FF"/>
                </a:solidFill>
              </a:rPr>
              <a:t> </a:t>
            </a:r>
            <a:r>
              <a:rPr lang="en-US" sz="2000" dirty="0" err="1" smtClean="0">
                <a:solidFill>
                  <a:srgbClr val="0000FF"/>
                </a:solidFill>
              </a:rPr>
              <a:t>gcd</a:t>
            </a:r>
            <a:r>
              <a:rPr lang="en-US" sz="2000" dirty="0" smtClean="0">
                <a:solidFill>
                  <a:srgbClr val="0000FF"/>
                </a:solidFill>
              </a:rPr>
              <a:t>(</a:t>
            </a:r>
            <a:r>
              <a:rPr lang="en-US" sz="2000" dirty="0" err="1" smtClean="0">
                <a:solidFill>
                  <a:srgbClr val="0000FF"/>
                </a:solidFill>
              </a:rPr>
              <a:t>int</a:t>
            </a:r>
            <a:r>
              <a:rPr lang="en-US" sz="2000" dirty="0" smtClean="0">
                <a:solidFill>
                  <a:srgbClr val="0000FF"/>
                </a:solidFill>
              </a:rPr>
              <a:t> a, </a:t>
            </a:r>
            <a:r>
              <a:rPr lang="en-US" sz="2000" dirty="0" err="1" smtClean="0">
                <a:solidFill>
                  <a:srgbClr val="0000FF"/>
                </a:solidFill>
              </a:rPr>
              <a:t>int</a:t>
            </a:r>
            <a:r>
              <a:rPr lang="en-US" sz="2000" dirty="0" smtClean="0">
                <a:solidFill>
                  <a:srgbClr val="0000FF"/>
                </a:solidFill>
              </a:rPr>
              <a:t> b) </a:t>
            </a:r>
            <a:r>
              <a:rPr lang="en-US" sz="2000" dirty="0" smtClean="0"/>
              <a:t>to compute the GCD of </a:t>
            </a:r>
            <a:r>
              <a:rPr lang="en-US" sz="2000" i="1" dirty="0" smtClean="0"/>
              <a:t>a</a:t>
            </a:r>
            <a:r>
              <a:rPr lang="en-US" sz="2000" dirty="0" smtClean="0"/>
              <a:t> and </a:t>
            </a:r>
            <a:r>
              <a:rPr lang="en-US" sz="2000" i="1" dirty="0" smtClean="0"/>
              <a:t>b</a:t>
            </a:r>
            <a:r>
              <a:rPr lang="en-US" sz="2000" dirty="0" smtClean="0"/>
              <a:t>. Skeleton program </a:t>
            </a:r>
            <a:r>
              <a:rPr lang="en-US" sz="2000" dirty="0" smtClean="0">
                <a:solidFill>
                  <a:srgbClr val="0000FF"/>
                </a:solidFill>
              </a:rPr>
              <a:t>Week11_gcd.c</a:t>
            </a:r>
            <a:r>
              <a:rPr lang="en-US" sz="2000" dirty="0" smtClean="0"/>
              <a:t> is given.</a:t>
            </a:r>
          </a:p>
          <a:p>
            <a:pPr marL="457200" indent="-457200">
              <a:spcBef>
                <a:spcPts val="1200"/>
              </a:spcBef>
              <a:buClrTx/>
              <a:buSzPct val="100000"/>
              <a:buFont typeface="+mj-lt"/>
              <a:buAutoNum type="arabicPeriod" startAt="3"/>
            </a:pPr>
            <a:r>
              <a:rPr lang="en-US" sz="2400" dirty="0" smtClean="0"/>
              <a:t>The math function </a:t>
            </a:r>
            <a:r>
              <a:rPr lang="en-US" sz="2400" dirty="0" smtClean="0">
                <a:solidFill>
                  <a:srgbClr val="800000"/>
                </a:solidFill>
              </a:rPr>
              <a:t>double </a:t>
            </a:r>
            <a:r>
              <a:rPr lang="en-US" sz="2400" dirty="0" err="1" smtClean="0">
                <a:solidFill>
                  <a:srgbClr val="800000"/>
                </a:solidFill>
              </a:rPr>
              <a:t>pow</a:t>
            </a:r>
            <a:r>
              <a:rPr lang="en-US" sz="2400" dirty="0" smtClean="0">
                <a:solidFill>
                  <a:srgbClr val="800000"/>
                </a:solidFill>
              </a:rPr>
              <a:t>(double x, double y) </a:t>
            </a:r>
            <a:r>
              <a:rPr lang="en-US" sz="2400" dirty="0" smtClean="0"/>
              <a:t>computes </a:t>
            </a:r>
            <a:r>
              <a:rPr lang="en-US" sz="2400" i="1" dirty="0" err="1" smtClean="0"/>
              <a:t>x</a:t>
            </a:r>
            <a:r>
              <a:rPr lang="en-US" sz="2400" i="1" baseline="30000" dirty="0" err="1" smtClean="0"/>
              <a:t>y</a:t>
            </a:r>
            <a:r>
              <a:rPr lang="en-US" sz="2400" dirty="0" smtClean="0"/>
              <a:t>. Write your own, simpler function </a:t>
            </a:r>
            <a:r>
              <a:rPr lang="en-US" sz="2400" dirty="0" smtClean="0">
                <a:solidFill>
                  <a:srgbClr val="0000FF"/>
                </a:solidFill>
              </a:rPr>
              <a:t>double </a:t>
            </a:r>
            <a:r>
              <a:rPr lang="en-US" sz="2400" dirty="0" err="1" smtClean="0">
                <a:solidFill>
                  <a:srgbClr val="0000FF"/>
                </a:solidFill>
              </a:rPr>
              <a:t>mypow</a:t>
            </a:r>
            <a:r>
              <a:rPr lang="en-US" sz="2400" dirty="0" smtClean="0">
                <a:solidFill>
                  <a:srgbClr val="0000FF"/>
                </a:solidFill>
              </a:rPr>
              <a:t>(double x, </a:t>
            </a:r>
            <a:r>
              <a:rPr lang="en-US" sz="2400" dirty="0" err="1" smtClean="0">
                <a:solidFill>
                  <a:srgbClr val="0000FF"/>
                </a:solidFill>
              </a:rPr>
              <a:t>int</a:t>
            </a:r>
            <a:r>
              <a:rPr lang="en-US" sz="2400" dirty="0" smtClean="0">
                <a:solidFill>
                  <a:srgbClr val="0000FF"/>
                </a:solidFill>
              </a:rPr>
              <a:t> n)</a:t>
            </a:r>
            <a:r>
              <a:rPr lang="en-US" sz="2400" dirty="0" smtClean="0"/>
              <a:t> to compute </a:t>
            </a:r>
            <a:r>
              <a:rPr lang="en-US" sz="2400" i="1" dirty="0" err="1" smtClean="0"/>
              <a:t>x</a:t>
            </a:r>
            <a:r>
              <a:rPr lang="en-US" sz="2400" i="1" baseline="30000" dirty="0" err="1" smtClean="0"/>
              <a:t>n</a:t>
            </a:r>
            <a:r>
              <a:rPr lang="en-US" sz="2400" dirty="0" smtClean="0"/>
              <a:t>, where </a:t>
            </a:r>
            <a:r>
              <a:rPr lang="en-US" sz="2400" i="1" dirty="0" smtClean="0"/>
              <a:t>n</a:t>
            </a:r>
            <a:r>
              <a:rPr lang="en-US" sz="2400" dirty="0" smtClean="0"/>
              <a:t> is a non-negative integer. </a:t>
            </a:r>
            <a:r>
              <a:rPr lang="en-US" sz="2000" dirty="0" smtClean="0"/>
              <a:t>Skeleton program </a:t>
            </a:r>
            <a:r>
              <a:rPr lang="en-US" sz="2000" dirty="0" smtClean="0">
                <a:solidFill>
                  <a:srgbClr val="0000FF"/>
                </a:solidFill>
              </a:rPr>
              <a:t>Week11_pow.c</a:t>
            </a:r>
            <a:r>
              <a:rPr lang="en-US" sz="2000" dirty="0" smtClean="0"/>
              <a:t> is given.</a:t>
            </a:r>
          </a:p>
          <a:p>
            <a:pPr marL="446088" lvl="1" indent="-46038">
              <a:spcBef>
                <a:spcPts val="600"/>
              </a:spcBef>
              <a:buClrTx/>
              <a:buSzPct val="100000"/>
              <a:buNone/>
            </a:pPr>
            <a:r>
              <a:rPr lang="en-US" sz="2000" dirty="0" smtClean="0"/>
              <a:t>The recurrence relation is not given, can you derive it before writing the function? </a:t>
            </a:r>
          </a:p>
        </p:txBody>
      </p:sp>
      <p:sp>
        <p:nvSpPr>
          <p:cNvPr id="655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SG"/>
          </a:p>
        </p:txBody>
      </p:sp>
      <p:sp>
        <p:nvSpPr>
          <p:cNvPr id="6554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SG"/>
          </a:p>
        </p:txBody>
      </p:sp>
      <p:sp>
        <p:nvSpPr>
          <p:cNvPr id="6554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SG"/>
          </a:p>
        </p:txBody>
      </p:sp>
      <p:sp>
        <p:nvSpPr>
          <p:cNvPr id="6554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SG"/>
          </a:p>
        </p:txBody>
      </p:sp>
      <p:sp>
        <p:nvSpPr>
          <p:cNvPr id="65546"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SG"/>
          </a:p>
        </p:txBody>
      </p:sp>
      <p:pic>
        <p:nvPicPr>
          <p:cNvPr id="65545" name="Picture 9"/>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31572" y="2564676"/>
            <a:ext cx="4688628" cy="587828"/>
          </a:xfrm>
          <a:prstGeom prst="rect">
            <a:avLst/>
          </a:prstGeom>
          <a:noFill/>
          <a:effectLst/>
        </p:spPr>
      </p:pic>
      <p:sp>
        <p:nvSpPr>
          <p:cNvPr id="65547" name="Rectangle 11"/>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Slide Number Placeholder 2"/>
          <p:cNvSpPr>
            <a:spLocks noGrp="1"/>
          </p:cNvSpPr>
          <p:nvPr>
            <p:ph type="sldNum" sz="quarter" idx="11"/>
          </p:nvPr>
        </p:nvSpPr>
        <p:spPr/>
        <p:txBody>
          <a:bodyPr/>
          <a:lstStyle/>
          <a:p>
            <a:pPr>
              <a:defRPr/>
            </a:pPr>
            <a:r>
              <a:rPr lang="en-US" dirty="0" smtClean="0"/>
              <a:t>Week11 - </a:t>
            </a:r>
            <a:fld id="{6E90ABC7-7044-4F1F-B273-92F595F59CFE}" type="slidenum">
              <a:rPr lang="en-US" smtClean="0"/>
              <a:pPr>
                <a:defRPr/>
              </a:pPr>
              <a:t>24</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dissolve">
                                      <p:cBhvr>
                                        <p:cTn id="7" dur="500"/>
                                        <p:tgtEl>
                                          <p:spTgt spid="4096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0963">
                                            <p:txEl>
                                              <p:pRg st="1" end="1"/>
                                            </p:txEl>
                                          </p:spTgt>
                                        </p:tgtEl>
                                        <p:attrNameLst>
                                          <p:attrName>style.visibility</p:attrName>
                                        </p:attrNameLst>
                                      </p:cBhvr>
                                      <p:to>
                                        <p:strVal val="visible"/>
                                      </p:to>
                                    </p:set>
                                    <p:animEffect transition="in" filter="dissolve">
                                      <p:cBhvr>
                                        <p:cTn id="10" dur="500"/>
                                        <p:tgtEl>
                                          <p:spTgt spid="40963">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5545"/>
                                        </p:tgtEl>
                                        <p:attrNameLst>
                                          <p:attrName>style.visibility</p:attrName>
                                        </p:attrNameLst>
                                      </p:cBhvr>
                                      <p:to>
                                        <p:strVal val="visible"/>
                                      </p:to>
                                    </p:set>
                                    <p:animEffect transition="in" filter="dissolve">
                                      <p:cBhvr>
                                        <p:cTn id="13" dur="500"/>
                                        <p:tgtEl>
                                          <p:spTgt spid="65545"/>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dissolve">
                                      <p:cBhvr>
                                        <p:cTn id="17" dur="500"/>
                                        <p:tgtEl>
                                          <p:spTgt spid="409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dissolve">
                                      <p:cBhvr>
                                        <p:cTn id="22" dur="500"/>
                                        <p:tgtEl>
                                          <p:spTgt spid="40963">
                                            <p:txEl>
                                              <p:pRg st="3" end="3"/>
                                            </p:txEl>
                                          </p:spTgt>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40963">
                                            <p:txEl>
                                              <p:pRg st="4" end="4"/>
                                            </p:txEl>
                                          </p:spTgt>
                                        </p:tgtEl>
                                        <p:attrNameLst>
                                          <p:attrName>style.visibility</p:attrName>
                                        </p:attrNameLst>
                                      </p:cBhvr>
                                      <p:to>
                                        <p:strVal val="visible"/>
                                      </p:to>
                                    </p:set>
                                    <p:animEffect transition="in" filter="dissolve">
                                      <p:cBhvr>
                                        <p:cTn id="26" dur="500"/>
                                        <p:tgtEl>
                                          <p:spTgt spid="409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4000" dirty="0" smtClean="0">
                <a:solidFill>
                  <a:srgbClr val="9933FF"/>
                </a:solidFill>
                <a:latin typeface="Garamond" pitchFamily="18" charset="0"/>
              </a:rPr>
              <a:t>6. Thinking Recursively</a:t>
            </a:r>
          </a:p>
        </p:txBody>
      </p:sp>
      <p:sp>
        <p:nvSpPr>
          <p:cNvPr id="23555" name="Rectangle 3"/>
          <p:cNvSpPr>
            <a:spLocks noGrp="1" noChangeArrowheads="1"/>
          </p:cNvSpPr>
          <p:nvPr>
            <p:ph type="body" idx="1"/>
          </p:nvPr>
        </p:nvSpPr>
        <p:spPr>
          <a:xfrm>
            <a:off x="457200" y="1476103"/>
            <a:ext cx="6361612" cy="4391297"/>
          </a:xfrm>
        </p:spPr>
        <p:txBody>
          <a:bodyPr/>
          <a:lstStyle/>
          <a:p>
            <a:pPr>
              <a:spcBef>
                <a:spcPts val="1200"/>
              </a:spcBef>
            </a:pPr>
            <a:r>
              <a:rPr lang="en-US" sz="2800" dirty="0" smtClean="0"/>
              <a:t>It is apparent that to do recursion you need to think “recursively”:</a:t>
            </a:r>
          </a:p>
          <a:p>
            <a:pPr lvl="1">
              <a:spcBef>
                <a:spcPts val="0"/>
              </a:spcBef>
              <a:buSzPct val="60000"/>
            </a:pPr>
            <a:r>
              <a:rPr lang="en-US" sz="2400" dirty="0" smtClean="0"/>
              <a:t>Breaking a problem into simpler problems that have identical form</a:t>
            </a:r>
          </a:p>
          <a:p>
            <a:pPr>
              <a:spcBef>
                <a:spcPts val="1200"/>
              </a:spcBef>
            </a:pPr>
            <a:r>
              <a:rPr lang="en-US" sz="2800" dirty="0" smtClean="0"/>
              <a:t>Is there only one way of breaking a problem into simpler problems?</a:t>
            </a:r>
          </a:p>
        </p:txBody>
      </p:sp>
      <p:pic>
        <p:nvPicPr>
          <p:cNvPr id="9" name="Picture 8" descr="thinking_recursively_small.jpg"/>
          <p:cNvPicPr>
            <a:picLocks noChangeAspect="1"/>
          </p:cNvPicPr>
          <p:nvPr/>
        </p:nvPicPr>
        <p:blipFill>
          <a:blip r:embed="rId3" cstate="print"/>
          <a:stretch>
            <a:fillRect/>
          </a:stretch>
        </p:blipFill>
        <p:spPr>
          <a:xfrm>
            <a:off x="6872151" y="531222"/>
            <a:ext cx="1905000" cy="2895600"/>
          </a:xfrm>
          <a:prstGeom prst="rect">
            <a:avLst/>
          </a:prstGeom>
        </p:spPr>
      </p:pic>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25</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4000" dirty="0" smtClean="0">
                <a:solidFill>
                  <a:srgbClr val="9933FF"/>
                </a:solidFill>
                <a:latin typeface="Garamond" pitchFamily="18" charset="0"/>
              </a:rPr>
              <a:t>6.1 Think: Sum of Squares (1/5)</a:t>
            </a:r>
          </a:p>
        </p:txBody>
      </p:sp>
      <p:sp>
        <p:nvSpPr>
          <p:cNvPr id="23555" name="Rectangle 3"/>
          <p:cNvSpPr>
            <a:spLocks noGrp="1" noChangeArrowheads="1"/>
          </p:cNvSpPr>
          <p:nvPr>
            <p:ph type="body" idx="1"/>
          </p:nvPr>
        </p:nvSpPr>
        <p:spPr>
          <a:xfrm>
            <a:off x="457200" y="1349829"/>
            <a:ext cx="8229600" cy="5050971"/>
          </a:xfrm>
        </p:spPr>
        <p:txBody>
          <a:bodyPr/>
          <a:lstStyle/>
          <a:p>
            <a:pPr>
              <a:spcBef>
                <a:spcPts val="1200"/>
              </a:spcBef>
            </a:pPr>
            <a:r>
              <a:rPr lang="en-US" sz="2800" dirty="0" smtClean="0"/>
              <a:t>Given 2 positive integers </a:t>
            </a:r>
            <a:r>
              <a:rPr lang="en-US" sz="2800" i="1" dirty="0" smtClean="0"/>
              <a:t>x</a:t>
            </a:r>
            <a:r>
              <a:rPr lang="en-US" sz="2800" dirty="0" smtClean="0"/>
              <a:t> and </a:t>
            </a:r>
            <a:r>
              <a:rPr lang="en-US" sz="2800" i="1" dirty="0" smtClean="0"/>
              <a:t>y</a:t>
            </a:r>
            <a:r>
              <a:rPr lang="en-US" sz="2800" dirty="0" smtClean="0"/>
              <a:t>, where </a:t>
            </a:r>
            <a:r>
              <a:rPr lang="en-US" sz="2800" i="1" dirty="0" smtClean="0"/>
              <a:t>x</a:t>
            </a:r>
            <a:r>
              <a:rPr lang="en-US" sz="2800" dirty="0" smtClean="0"/>
              <a:t> </a:t>
            </a:r>
            <a:r>
              <a:rPr lang="en-US" sz="2800" dirty="0" smtClean="0">
                <a:sym typeface="Symbol"/>
              </a:rPr>
              <a:t></a:t>
            </a:r>
            <a:r>
              <a:rPr lang="en-US" sz="2800" dirty="0" smtClean="0"/>
              <a:t> </a:t>
            </a:r>
            <a:r>
              <a:rPr lang="en-US" sz="2800" i="1" dirty="0" smtClean="0"/>
              <a:t>y</a:t>
            </a:r>
            <a:r>
              <a:rPr lang="en-US" sz="2800" dirty="0" smtClean="0"/>
              <a:t>, compute</a:t>
            </a:r>
          </a:p>
          <a:p>
            <a:pPr lvl="1">
              <a:spcBef>
                <a:spcPts val="600"/>
              </a:spcBef>
              <a:buNone/>
            </a:pPr>
            <a:r>
              <a:rPr lang="en-US" sz="2400" dirty="0" smtClean="0"/>
              <a:t>	</a:t>
            </a:r>
            <a:r>
              <a:rPr lang="en-US" sz="2400" dirty="0" err="1" smtClean="0">
                <a:solidFill>
                  <a:srgbClr val="0000FF"/>
                </a:solidFill>
              </a:rPr>
              <a:t>sumSq</a:t>
            </a:r>
            <a:r>
              <a:rPr lang="en-US" sz="2400" dirty="0" smtClean="0">
                <a:solidFill>
                  <a:srgbClr val="0000FF"/>
                </a:solidFill>
              </a:rPr>
              <a:t>(</a:t>
            </a:r>
            <a:r>
              <a:rPr lang="en-US" sz="2400" i="1" dirty="0" err="1" smtClean="0">
                <a:solidFill>
                  <a:srgbClr val="0000FF"/>
                </a:solidFill>
              </a:rPr>
              <a:t>x</a:t>
            </a:r>
            <a:r>
              <a:rPr lang="en-US" sz="2400" dirty="0" err="1" smtClean="0">
                <a:solidFill>
                  <a:srgbClr val="0000FF"/>
                </a:solidFill>
              </a:rPr>
              <a:t>,</a:t>
            </a:r>
            <a:r>
              <a:rPr lang="en-US" sz="2400" i="1" dirty="0" err="1" smtClean="0">
                <a:solidFill>
                  <a:srgbClr val="0000FF"/>
                </a:solidFill>
              </a:rPr>
              <a:t>y</a:t>
            </a:r>
            <a:r>
              <a:rPr lang="en-US" sz="2400" dirty="0" smtClean="0">
                <a:solidFill>
                  <a:srgbClr val="0000FF"/>
                </a:solidFill>
              </a:rPr>
              <a:t>) = </a:t>
            </a:r>
            <a:r>
              <a:rPr lang="en-US" sz="2400" i="1" dirty="0" smtClean="0">
                <a:solidFill>
                  <a:srgbClr val="0000FF"/>
                </a:solidFill>
              </a:rPr>
              <a:t>x</a:t>
            </a:r>
            <a:r>
              <a:rPr lang="en-US" sz="2400" baseline="30000" dirty="0" smtClean="0">
                <a:solidFill>
                  <a:srgbClr val="0000FF"/>
                </a:solidFill>
              </a:rPr>
              <a:t>2</a:t>
            </a:r>
            <a:r>
              <a:rPr lang="en-US" sz="2400" dirty="0" smtClean="0">
                <a:solidFill>
                  <a:srgbClr val="0000FF"/>
                </a:solidFill>
              </a:rPr>
              <a:t> + (</a:t>
            </a:r>
            <a:r>
              <a:rPr lang="en-US" sz="2400" i="1" dirty="0" smtClean="0">
                <a:solidFill>
                  <a:srgbClr val="0000FF"/>
                </a:solidFill>
              </a:rPr>
              <a:t>x</a:t>
            </a:r>
            <a:r>
              <a:rPr lang="en-US" sz="2400" dirty="0" smtClean="0">
                <a:solidFill>
                  <a:srgbClr val="0000FF"/>
                </a:solidFill>
              </a:rPr>
              <a:t>+1)</a:t>
            </a:r>
            <a:r>
              <a:rPr lang="en-US" sz="2400" baseline="30000" dirty="0" smtClean="0">
                <a:solidFill>
                  <a:srgbClr val="0000FF"/>
                </a:solidFill>
              </a:rPr>
              <a:t> 2</a:t>
            </a:r>
            <a:r>
              <a:rPr lang="en-US" sz="2400" dirty="0" smtClean="0">
                <a:solidFill>
                  <a:srgbClr val="0000FF"/>
                </a:solidFill>
              </a:rPr>
              <a:t> + … + (</a:t>
            </a:r>
            <a:r>
              <a:rPr lang="en-US" sz="2400" i="1" dirty="0" smtClean="0">
                <a:solidFill>
                  <a:srgbClr val="0000FF"/>
                </a:solidFill>
              </a:rPr>
              <a:t>y</a:t>
            </a:r>
            <a:r>
              <a:rPr lang="en-US" sz="2400" dirty="0" smtClean="0">
                <a:solidFill>
                  <a:srgbClr val="0000FF"/>
                </a:solidFill>
              </a:rPr>
              <a:t>-1)</a:t>
            </a:r>
            <a:r>
              <a:rPr lang="en-US" sz="2400" baseline="30000" dirty="0" smtClean="0">
                <a:solidFill>
                  <a:srgbClr val="0000FF"/>
                </a:solidFill>
              </a:rPr>
              <a:t> 2</a:t>
            </a:r>
            <a:r>
              <a:rPr lang="en-US" sz="2400" dirty="0" smtClean="0">
                <a:solidFill>
                  <a:srgbClr val="0000FF"/>
                </a:solidFill>
              </a:rPr>
              <a:t> + </a:t>
            </a:r>
            <a:r>
              <a:rPr lang="en-US" sz="2400" i="1" dirty="0" smtClean="0">
                <a:solidFill>
                  <a:srgbClr val="0000FF"/>
                </a:solidFill>
              </a:rPr>
              <a:t>y</a:t>
            </a:r>
            <a:r>
              <a:rPr lang="en-US" sz="2400" baseline="30000" dirty="0" smtClean="0">
                <a:solidFill>
                  <a:srgbClr val="0000FF"/>
                </a:solidFill>
              </a:rPr>
              <a:t>2</a:t>
            </a:r>
          </a:p>
          <a:p>
            <a:pPr>
              <a:spcBef>
                <a:spcPts val="1200"/>
              </a:spcBef>
            </a:pPr>
            <a:r>
              <a:rPr lang="en-US" sz="2800" dirty="0" smtClean="0"/>
              <a:t>For example</a:t>
            </a:r>
          </a:p>
          <a:p>
            <a:pPr lvl="1">
              <a:spcBef>
                <a:spcPts val="600"/>
              </a:spcBef>
              <a:buNone/>
            </a:pPr>
            <a:r>
              <a:rPr lang="en-US" sz="2400" dirty="0" smtClean="0"/>
              <a:t>	</a:t>
            </a:r>
            <a:r>
              <a:rPr lang="en-US" sz="2400" dirty="0" err="1" smtClean="0"/>
              <a:t>sumSq</a:t>
            </a:r>
            <a:r>
              <a:rPr lang="en-US" sz="2400" dirty="0" smtClean="0"/>
              <a:t>(5,10) = 5</a:t>
            </a:r>
            <a:r>
              <a:rPr lang="en-US" sz="2400" baseline="30000" dirty="0" smtClean="0"/>
              <a:t>2</a:t>
            </a:r>
            <a:r>
              <a:rPr lang="en-US" sz="2400" dirty="0" smtClean="0"/>
              <a:t> + 6</a:t>
            </a:r>
            <a:r>
              <a:rPr lang="en-US" sz="2400" baseline="30000" dirty="0" smtClean="0"/>
              <a:t>2</a:t>
            </a:r>
            <a:r>
              <a:rPr lang="en-US" sz="2400" dirty="0" smtClean="0"/>
              <a:t> + 7</a:t>
            </a:r>
            <a:r>
              <a:rPr lang="en-US" sz="2400" baseline="30000" dirty="0" smtClean="0"/>
              <a:t>2</a:t>
            </a:r>
            <a:r>
              <a:rPr lang="en-US" sz="2400" dirty="0" smtClean="0"/>
              <a:t> + 8</a:t>
            </a:r>
            <a:r>
              <a:rPr lang="en-US" sz="2400" baseline="30000" dirty="0" smtClean="0"/>
              <a:t>2</a:t>
            </a:r>
            <a:r>
              <a:rPr lang="en-US" sz="2400" dirty="0" smtClean="0"/>
              <a:t> + 9</a:t>
            </a:r>
            <a:r>
              <a:rPr lang="en-US" sz="2400" baseline="30000" dirty="0" smtClean="0"/>
              <a:t>2</a:t>
            </a:r>
            <a:r>
              <a:rPr lang="en-US" sz="2400" dirty="0" smtClean="0"/>
              <a:t> + 10</a:t>
            </a:r>
            <a:r>
              <a:rPr lang="en-US" sz="2400" baseline="30000" dirty="0" smtClean="0"/>
              <a:t>2</a:t>
            </a:r>
            <a:r>
              <a:rPr lang="en-US" sz="2400" dirty="0" smtClean="0"/>
              <a:t> = 355 </a:t>
            </a:r>
          </a:p>
          <a:p>
            <a:pPr>
              <a:spcBef>
                <a:spcPts val="1200"/>
              </a:spcBef>
            </a:pPr>
            <a:r>
              <a:rPr lang="en-US" sz="2800" dirty="0" smtClean="0"/>
              <a:t>How do you break this problem into smaller problems?</a:t>
            </a:r>
          </a:p>
          <a:p>
            <a:pPr>
              <a:spcBef>
                <a:spcPts val="1200"/>
              </a:spcBef>
            </a:pPr>
            <a:r>
              <a:rPr lang="en-US" sz="2800" dirty="0" smtClean="0"/>
              <a:t>How many ways can it be done?</a:t>
            </a:r>
          </a:p>
          <a:p>
            <a:pPr>
              <a:spcBef>
                <a:spcPts val="1200"/>
              </a:spcBef>
            </a:pPr>
            <a:r>
              <a:rPr lang="en-US" sz="2800" dirty="0" smtClean="0"/>
              <a:t>We are going to show 3 versions</a:t>
            </a:r>
            <a:endParaRPr lang="en-US" sz="2400" dirty="0" smtClean="0"/>
          </a:p>
        </p:txBody>
      </p:sp>
      <p:pic>
        <p:nvPicPr>
          <p:cNvPr id="6" name="Picture 5" descr="question_clipart.gif"/>
          <p:cNvPicPr>
            <a:picLocks noChangeAspect="1"/>
          </p:cNvPicPr>
          <p:nvPr/>
        </p:nvPicPr>
        <p:blipFill>
          <a:blip r:embed="rId3" cstate="print"/>
          <a:stretch>
            <a:fillRect/>
          </a:stretch>
        </p:blipFill>
        <p:spPr>
          <a:xfrm>
            <a:off x="7890893" y="4248856"/>
            <a:ext cx="795908" cy="1935773"/>
          </a:xfrm>
          <a:prstGeom prst="rect">
            <a:avLst/>
          </a:prstGeom>
        </p:spPr>
      </p:pic>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26</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dissolve">
                                      <p:cBhvr>
                                        <p:cTn id="7" dur="500"/>
                                        <p:tgtEl>
                                          <p:spTgt spid="2355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dissolve">
                                      <p:cBhvr>
                                        <p:cTn id="10" dur="500"/>
                                        <p:tgtEl>
                                          <p:spTgt spid="23555">
                                            <p:txEl>
                                              <p:pRg st="1" end="1"/>
                                            </p:txEl>
                                          </p:spTgt>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23555">
                                            <p:txEl>
                                              <p:pRg st="2" end="2"/>
                                            </p:txEl>
                                          </p:spTgt>
                                        </p:tgtEl>
                                        <p:attrNameLst>
                                          <p:attrName>style.visibility</p:attrName>
                                        </p:attrNameLst>
                                      </p:cBhvr>
                                      <p:to>
                                        <p:strVal val="visible"/>
                                      </p:to>
                                    </p:set>
                                    <p:animEffect transition="in" filter="dissolve">
                                      <p:cBhvr>
                                        <p:cTn id="14" dur="500"/>
                                        <p:tgtEl>
                                          <p:spTgt spid="23555">
                                            <p:txEl>
                                              <p:pRg st="2" end="2"/>
                                            </p:txEl>
                                          </p:spTgt>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555">
                                            <p:txEl>
                                              <p:pRg st="3" end="3"/>
                                            </p:txEl>
                                          </p:spTgt>
                                        </p:tgtEl>
                                        <p:attrNameLst>
                                          <p:attrName>style.visibility</p:attrName>
                                        </p:attrNameLst>
                                      </p:cBhvr>
                                      <p:to>
                                        <p:strVal val="visible"/>
                                      </p:to>
                                    </p:set>
                                    <p:animEffect transition="in" filter="dissolve">
                                      <p:cBhvr>
                                        <p:cTn id="17" dur="500"/>
                                        <p:tgtEl>
                                          <p:spTgt spid="235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3555">
                                            <p:txEl>
                                              <p:pRg st="4" end="4"/>
                                            </p:txEl>
                                          </p:spTgt>
                                        </p:tgtEl>
                                        <p:attrNameLst>
                                          <p:attrName>style.visibility</p:attrName>
                                        </p:attrNameLst>
                                      </p:cBhvr>
                                      <p:to>
                                        <p:strVal val="visible"/>
                                      </p:to>
                                    </p:set>
                                    <p:animEffect transition="in" filter="dissolve">
                                      <p:cBhvr>
                                        <p:cTn id="22" dur="500"/>
                                        <p:tgtEl>
                                          <p:spTgt spid="23555">
                                            <p:txEl>
                                              <p:pRg st="4" end="4"/>
                                            </p:txEl>
                                          </p:spTgt>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23555">
                                            <p:txEl>
                                              <p:pRg st="5" end="5"/>
                                            </p:txEl>
                                          </p:spTgt>
                                        </p:tgtEl>
                                        <p:attrNameLst>
                                          <p:attrName>style.visibility</p:attrName>
                                        </p:attrNameLst>
                                      </p:cBhvr>
                                      <p:to>
                                        <p:strVal val="visible"/>
                                      </p:to>
                                    </p:set>
                                    <p:animEffect transition="in" filter="dissolve">
                                      <p:cBhvr>
                                        <p:cTn id="26" dur="500"/>
                                        <p:tgtEl>
                                          <p:spTgt spid="23555">
                                            <p:txEl>
                                              <p:pRg st="5" end="5"/>
                                            </p:txEl>
                                          </p:spTgt>
                                        </p:tgtEl>
                                      </p:cBhvr>
                                    </p:animEffect>
                                  </p:childTnLst>
                                </p:cTn>
                              </p:par>
                            </p:childTnLst>
                          </p:cTn>
                        </p:par>
                        <p:par>
                          <p:cTn id="27" fill="hold">
                            <p:stCondLst>
                              <p:cond delay="1000"/>
                            </p:stCondLst>
                            <p:childTnLst>
                              <p:par>
                                <p:cTn id="28" presetID="9" presetClass="entr" presetSubtype="0" fill="hold" grpId="0" nodeType="afterEffect">
                                  <p:stCondLst>
                                    <p:cond delay="0"/>
                                  </p:stCondLst>
                                  <p:childTnLst>
                                    <p:set>
                                      <p:cBhvr>
                                        <p:cTn id="29" dur="1" fill="hold">
                                          <p:stCondLst>
                                            <p:cond delay="0"/>
                                          </p:stCondLst>
                                        </p:cTn>
                                        <p:tgtEl>
                                          <p:spTgt spid="23555">
                                            <p:txEl>
                                              <p:pRg st="6" end="6"/>
                                            </p:txEl>
                                          </p:spTgt>
                                        </p:tgtEl>
                                        <p:attrNameLst>
                                          <p:attrName>style.visibility</p:attrName>
                                        </p:attrNameLst>
                                      </p:cBhvr>
                                      <p:to>
                                        <p:strVal val="visible"/>
                                      </p:to>
                                    </p:set>
                                    <p:animEffect transition="in" filter="dissolve">
                                      <p:cBhvr>
                                        <p:cTn id="30" dur="500"/>
                                        <p:tgtEl>
                                          <p:spTgt spid="235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4000" dirty="0" smtClean="0">
                <a:solidFill>
                  <a:srgbClr val="9933FF"/>
                </a:solidFill>
                <a:latin typeface="Garamond" pitchFamily="18" charset="0"/>
              </a:rPr>
              <a:t>6.1 Think: Sum of Squares (2/5)</a:t>
            </a:r>
          </a:p>
        </p:txBody>
      </p:sp>
      <p:sp>
        <p:nvSpPr>
          <p:cNvPr id="23555" name="Rectangle 3"/>
          <p:cNvSpPr>
            <a:spLocks noGrp="1" noChangeArrowheads="1"/>
          </p:cNvSpPr>
          <p:nvPr>
            <p:ph type="body" idx="1"/>
          </p:nvPr>
        </p:nvSpPr>
        <p:spPr>
          <a:xfrm>
            <a:off x="457200" y="1436915"/>
            <a:ext cx="8229600" cy="535576"/>
          </a:xfrm>
        </p:spPr>
        <p:txBody>
          <a:bodyPr/>
          <a:lstStyle/>
          <a:p>
            <a:pPr>
              <a:spcBef>
                <a:spcPts val="1200"/>
              </a:spcBef>
            </a:pPr>
            <a:r>
              <a:rPr lang="en-US" sz="2400" dirty="0" smtClean="0"/>
              <a:t>Version 1: </a:t>
            </a:r>
            <a:r>
              <a:rPr lang="en-US" sz="2400" dirty="0" smtClean="0">
                <a:solidFill>
                  <a:srgbClr val="0000FF"/>
                </a:solidFill>
              </a:rPr>
              <a:t>‘going up’</a:t>
            </a:r>
          </a:p>
        </p:txBody>
      </p:sp>
      <p:sp>
        <p:nvSpPr>
          <p:cNvPr id="7"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sp>
        <p:nvSpPr>
          <p:cNvPr id="10" name="Rectangle 3"/>
          <p:cNvSpPr txBox="1">
            <a:spLocks noChangeArrowheads="1"/>
          </p:cNvSpPr>
          <p:nvPr/>
        </p:nvSpPr>
        <p:spPr bwMode="auto">
          <a:xfrm>
            <a:off x="457200" y="3612987"/>
            <a:ext cx="8229600" cy="5355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1200"/>
              </a:spcBef>
              <a:spcAft>
                <a:spcPct val="0"/>
              </a:spcAft>
              <a:buClr>
                <a:schemeClr val="bg2"/>
              </a:buClr>
              <a:buSzPct val="7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Version 2: </a:t>
            </a:r>
            <a:r>
              <a:rPr kumimoji="0" lang="en-US" sz="2400" b="0" i="0" u="none" strike="noStrike" kern="0" cap="none" spc="0" normalizeH="0" baseline="0" noProof="0" dirty="0" smtClean="0">
                <a:ln>
                  <a:noFill/>
                </a:ln>
                <a:solidFill>
                  <a:srgbClr val="0000FF"/>
                </a:solidFill>
                <a:effectLst/>
                <a:uLnTx/>
                <a:uFillTx/>
                <a:latin typeface="+mn-lt"/>
                <a:ea typeface="+mn-ea"/>
                <a:cs typeface="+mn-cs"/>
              </a:rPr>
              <a:t>‘going down’</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27</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4000" dirty="0" smtClean="0">
                <a:solidFill>
                  <a:srgbClr val="9933FF"/>
                </a:solidFill>
                <a:latin typeface="Garamond" pitchFamily="18" charset="0"/>
              </a:rPr>
              <a:t>6.1 Think: Sum of Squares (3/5)</a:t>
            </a:r>
          </a:p>
        </p:txBody>
      </p:sp>
      <p:sp>
        <p:nvSpPr>
          <p:cNvPr id="23555" name="Rectangle 3"/>
          <p:cNvSpPr>
            <a:spLocks noGrp="1" noChangeArrowheads="1"/>
          </p:cNvSpPr>
          <p:nvPr>
            <p:ph type="body" idx="1"/>
          </p:nvPr>
        </p:nvSpPr>
        <p:spPr>
          <a:xfrm>
            <a:off x="457200" y="1436915"/>
            <a:ext cx="8229600" cy="535576"/>
          </a:xfrm>
        </p:spPr>
        <p:txBody>
          <a:bodyPr/>
          <a:lstStyle/>
          <a:p>
            <a:pPr>
              <a:spcBef>
                <a:spcPts val="1200"/>
              </a:spcBef>
            </a:pPr>
            <a:r>
              <a:rPr lang="en-US" sz="2400" dirty="0" smtClean="0"/>
              <a:t>Version 3: </a:t>
            </a:r>
            <a:r>
              <a:rPr lang="en-US" sz="2400" dirty="0" smtClean="0">
                <a:solidFill>
                  <a:srgbClr val="0000FF"/>
                </a:solidFill>
              </a:rPr>
              <a:t>‘combining two half-solutions’</a:t>
            </a:r>
          </a:p>
        </p:txBody>
      </p:sp>
      <p:sp>
        <p:nvSpPr>
          <p:cNvPr id="7"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28</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4000" dirty="0" smtClean="0">
                <a:solidFill>
                  <a:srgbClr val="9933FF"/>
                </a:solidFill>
                <a:latin typeface="Garamond" pitchFamily="18" charset="0"/>
              </a:rPr>
              <a:t>6.1 Think: Sum of Squares (4/5)</a:t>
            </a:r>
          </a:p>
        </p:txBody>
      </p:sp>
      <p:sp>
        <p:nvSpPr>
          <p:cNvPr id="23555" name="Rectangle 3"/>
          <p:cNvSpPr>
            <a:spLocks noGrp="1" noChangeArrowheads="1"/>
          </p:cNvSpPr>
          <p:nvPr>
            <p:ph type="body" idx="1"/>
          </p:nvPr>
        </p:nvSpPr>
        <p:spPr>
          <a:xfrm>
            <a:off x="457200" y="1302003"/>
            <a:ext cx="8229600" cy="535576"/>
          </a:xfrm>
        </p:spPr>
        <p:txBody>
          <a:bodyPr/>
          <a:lstStyle/>
          <a:p>
            <a:pPr>
              <a:spcBef>
                <a:spcPts val="1200"/>
              </a:spcBef>
            </a:pPr>
            <a:r>
              <a:rPr lang="en-US" sz="2400" dirty="0" smtClean="0"/>
              <a:t>Trace trees</a:t>
            </a:r>
            <a:endParaRPr lang="en-US" sz="2400" dirty="0" smtClean="0">
              <a:solidFill>
                <a:srgbClr val="0000FF"/>
              </a:solidFill>
            </a:endParaRPr>
          </a:p>
        </p:txBody>
      </p:sp>
      <p:sp>
        <p:nvSpPr>
          <p:cNvPr id="7"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sp>
        <p:nvSpPr>
          <p:cNvPr id="68" name="Line 63"/>
          <p:cNvSpPr>
            <a:spLocks noChangeShapeType="1"/>
          </p:cNvSpPr>
          <p:nvPr/>
        </p:nvSpPr>
        <p:spPr bwMode="auto">
          <a:xfrm>
            <a:off x="4572000" y="1524000"/>
            <a:ext cx="0" cy="5029200"/>
          </a:xfrm>
          <a:prstGeom prst="line">
            <a:avLst/>
          </a:prstGeom>
          <a:noFill/>
          <a:ln w="31750" cap="sq">
            <a:solidFill>
              <a:schemeClr val="tx1"/>
            </a:solidFill>
            <a:round/>
            <a:headEnd type="none" w="sm" len="sm"/>
            <a:tailEnd type="none" w="sm" len="sm"/>
          </a:ln>
          <a:effectLst/>
        </p:spPr>
        <p:txBody>
          <a:bodyPr/>
          <a:lstStyle/>
          <a:p>
            <a:endParaRPr lang="en-SG"/>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29</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4000" dirty="0" smtClean="0">
                <a:solidFill>
                  <a:srgbClr val="9933FF"/>
                </a:solidFill>
                <a:latin typeface="Garamond" pitchFamily="18" charset="0"/>
              </a:rPr>
              <a:t>6.1 Think: Sum of Squares (5/5)</a:t>
            </a:r>
          </a:p>
        </p:txBody>
      </p:sp>
      <p:sp>
        <p:nvSpPr>
          <p:cNvPr id="23555" name="Rectangle 3"/>
          <p:cNvSpPr>
            <a:spLocks noGrp="1" noChangeArrowheads="1"/>
          </p:cNvSpPr>
          <p:nvPr>
            <p:ph type="body" idx="1"/>
          </p:nvPr>
        </p:nvSpPr>
        <p:spPr>
          <a:xfrm>
            <a:off x="457200" y="1302003"/>
            <a:ext cx="8229600" cy="535576"/>
          </a:xfrm>
        </p:spPr>
        <p:txBody>
          <a:bodyPr/>
          <a:lstStyle/>
          <a:p>
            <a:pPr>
              <a:spcBef>
                <a:spcPts val="1200"/>
              </a:spcBef>
            </a:pPr>
            <a:r>
              <a:rPr lang="en-US" sz="2400" dirty="0" smtClean="0"/>
              <a:t>Trace tree</a:t>
            </a:r>
            <a:endParaRPr lang="en-US" sz="2400" dirty="0" smtClean="0">
              <a:solidFill>
                <a:srgbClr val="0000FF"/>
              </a:solidFill>
            </a:endParaRPr>
          </a:p>
        </p:txBody>
      </p:sp>
      <p:sp>
        <p:nvSpPr>
          <p:cNvPr id="7" name="Text Box 4"/>
          <p:cNvSpPr txBox="1">
            <a:spLocks noChangeArrowheads="1"/>
          </p:cNvSpPr>
          <p:nvPr/>
        </p:nvSpPr>
        <p:spPr bwMode="auto">
          <a:xfrm>
            <a:off x="152400" y="6400800"/>
            <a:ext cx="304800" cy="201613"/>
          </a:xfrm>
          <a:prstGeom prst="rect">
            <a:avLst/>
          </a:prstGeom>
          <a:noFill/>
          <a:ln w="9525">
            <a:noFill/>
            <a:miter lim="800000"/>
            <a:headEnd/>
            <a:tailEnd/>
          </a:ln>
        </p:spPr>
        <p:txBody>
          <a:bodyPr lIns="9144" tIns="9144" rIns="9144" bIns="9144">
            <a:spAutoFit/>
          </a:bodyPr>
          <a:lstStyle/>
          <a:p>
            <a:pPr algn="ctr">
              <a:spcBef>
                <a:spcPct val="50000"/>
              </a:spcBef>
            </a:pPr>
            <a:r>
              <a:rPr lang="en-US" sz="1200">
                <a:sym typeface="Wingdings 2" pitchFamily="18" charset="2"/>
              </a:rPr>
              <a:t></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30</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3600" dirty="0" smtClean="0">
                <a:solidFill>
                  <a:srgbClr val="9933FF"/>
                </a:solidFill>
                <a:latin typeface="Garamond" pitchFamily="18" charset="0"/>
              </a:rPr>
              <a:t>6.2 Demo #3: Counting Occurrences (1/4)</a:t>
            </a:r>
          </a:p>
        </p:txBody>
      </p:sp>
      <p:sp>
        <p:nvSpPr>
          <p:cNvPr id="23555" name="Rectangle 3"/>
          <p:cNvSpPr>
            <a:spLocks noGrp="1" noChangeArrowheads="1"/>
          </p:cNvSpPr>
          <p:nvPr>
            <p:ph type="body" idx="1"/>
          </p:nvPr>
        </p:nvSpPr>
        <p:spPr>
          <a:xfrm>
            <a:off x="457200" y="1617663"/>
            <a:ext cx="8229600" cy="4249737"/>
          </a:xfrm>
        </p:spPr>
        <p:txBody>
          <a:bodyPr/>
          <a:lstStyle/>
          <a:p>
            <a:pPr>
              <a:spcBef>
                <a:spcPts val="1200"/>
              </a:spcBef>
            </a:pPr>
            <a:r>
              <a:rPr lang="en-US" sz="2800" dirty="0" smtClean="0"/>
              <a:t>Given an array  </a:t>
            </a:r>
          </a:p>
          <a:p>
            <a:pPr lvl="1">
              <a:spcBef>
                <a:spcPts val="1200"/>
              </a:spcBef>
              <a:buNone/>
            </a:pPr>
            <a:r>
              <a:rPr lang="en-US" sz="2400" dirty="0" smtClean="0"/>
              <a:t>	</a:t>
            </a:r>
            <a:r>
              <a:rPr lang="en-US" sz="2400" dirty="0" err="1" smtClean="0"/>
              <a:t>int</a:t>
            </a:r>
            <a:r>
              <a:rPr lang="en-US" sz="2400" dirty="0" smtClean="0"/>
              <a:t> list[] = { 9, -2, 1, 7, 3, 9, -5, 7, 2, 1, 7, -2, 0, 8, -3 } </a:t>
            </a:r>
          </a:p>
          <a:p>
            <a:pPr>
              <a:spcBef>
                <a:spcPts val="1200"/>
              </a:spcBef>
            </a:pPr>
            <a:r>
              <a:rPr lang="en-US" sz="2800" dirty="0" smtClean="0"/>
              <a:t>We want</a:t>
            </a:r>
          </a:p>
          <a:p>
            <a:pPr lvl="1">
              <a:spcBef>
                <a:spcPts val="1200"/>
              </a:spcBef>
              <a:buNone/>
            </a:pPr>
            <a:r>
              <a:rPr lang="en-US" sz="2400" dirty="0" smtClean="0"/>
              <a:t>	</a:t>
            </a:r>
            <a:r>
              <a:rPr lang="en-US" sz="2400" dirty="0" err="1" smtClean="0">
                <a:solidFill>
                  <a:srgbClr val="0000FF"/>
                </a:solidFill>
              </a:rPr>
              <a:t>countValue</a:t>
            </a:r>
            <a:r>
              <a:rPr lang="en-US" sz="2400" dirty="0" smtClean="0">
                <a:solidFill>
                  <a:srgbClr val="0000FF"/>
                </a:solidFill>
              </a:rPr>
              <a:t>(7, list, 15)</a:t>
            </a:r>
          </a:p>
          <a:p>
            <a:pPr marL="449263" lvl="1" indent="7938">
              <a:spcBef>
                <a:spcPts val="1200"/>
              </a:spcBef>
              <a:buNone/>
            </a:pPr>
            <a:r>
              <a:rPr lang="en-US" sz="2400" dirty="0" smtClean="0"/>
              <a:t>to return 3 (the number of times 7 appears in the 15 elements of list.</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31</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3600" dirty="0" smtClean="0">
                <a:solidFill>
                  <a:srgbClr val="9933FF"/>
                </a:solidFill>
                <a:latin typeface="Garamond" pitchFamily="18" charset="0"/>
              </a:rPr>
              <a:t>6.2 Demo #3: Counting Occurrences (2/4)</a:t>
            </a:r>
          </a:p>
        </p:txBody>
      </p:sp>
      <p:sp>
        <p:nvSpPr>
          <p:cNvPr id="7" name="TextBox 6"/>
          <p:cNvSpPr txBox="1"/>
          <p:nvPr/>
        </p:nvSpPr>
        <p:spPr>
          <a:xfrm>
            <a:off x="454709" y="1527319"/>
            <a:ext cx="2228530" cy="461665"/>
          </a:xfrm>
          <a:prstGeom prst="rect">
            <a:avLst/>
          </a:prstGeom>
          <a:noFill/>
        </p:spPr>
        <p:txBody>
          <a:bodyPr wrap="square" rtlCol="0">
            <a:spAutoFit/>
          </a:bodyPr>
          <a:lstStyle/>
          <a:p>
            <a:r>
              <a:rPr lang="en-US" sz="2400" dirty="0" smtClean="0"/>
              <a:t>Iterative code:</a:t>
            </a:r>
            <a:endParaRPr lang="en-SG" sz="2400" dirty="0"/>
          </a:p>
        </p:txBody>
      </p:sp>
      <p:sp>
        <p:nvSpPr>
          <p:cNvPr id="8" name="TextBox 7"/>
          <p:cNvSpPr txBox="1"/>
          <p:nvPr/>
        </p:nvSpPr>
        <p:spPr>
          <a:xfrm>
            <a:off x="5753868" y="1471535"/>
            <a:ext cx="2443396" cy="369332"/>
          </a:xfrm>
          <a:prstGeom prst="rect">
            <a:avLst/>
          </a:prstGeom>
          <a:solidFill>
            <a:srgbClr val="CCFF99"/>
          </a:solidFill>
          <a:ln>
            <a:solidFill>
              <a:schemeClr val="tx1"/>
            </a:solidFill>
          </a:ln>
        </p:spPr>
        <p:txBody>
          <a:bodyPr wrap="square" rtlCol="0">
            <a:spAutoFit/>
          </a:bodyPr>
          <a:lstStyle/>
          <a:p>
            <a:r>
              <a:rPr lang="en-US" dirty="0" smtClean="0"/>
              <a:t>Week11_countValue.c</a:t>
            </a:r>
            <a:endParaRPr lang="en-SG" dirty="0"/>
          </a:p>
        </p:txBody>
      </p:sp>
      <p:sp>
        <p:nvSpPr>
          <p:cNvPr id="9" name="TextBox 8"/>
          <p:cNvSpPr txBox="1"/>
          <p:nvPr/>
        </p:nvSpPr>
        <p:spPr>
          <a:xfrm>
            <a:off x="486698" y="1947004"/>
            <a:ext cx="8072686" cy="317009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countValue_iter</a:t>
            </a:r>
            <a:r>
              <a:rPr lang="en-US" sz="2000" b="1" dirty="0" smtClean="0">
                <a:latin typeface="Courier New" pitchFamily="49" charset="0"/>
                <a:cs typeface="Courier New" pitchFamily="49" charset="0"/>
              </a:rPr>
              <a:t>(</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value,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arr</a:t>
            </a:r>
            <a:r>
              <a:rPr lang="en-US" sz="2000" b="1" dirty="0" smtClean="0">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size) {</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count = </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i</a:t>
            </a:r>
            <a:r>
              <a:rPr lang="en-US" sz="2000" b="1" dirty="0" smtClean="0">
                <a:latin typeface="Courier New" pitchFamily="49" charset="0"/>
                <a:cs typeface="Courier New" pitchFamily="49" charset="0"/>
              </a:rPr>
              <a:t>;</a:t>
            </a:r>
            <a:endParaRPr lang="en-US" sz="2000" b="1" dirty="0" smtClean="0">
              <a:solidFill>
                <a:srgbClr val="006600"/>
              </a:solidFill>
              <a:latin typeface="Courier New" pitchFamily="49" charset="0"/>
              <a:cs typeface="Courier New" pitchFamily="49" charset="0"/>
            </a:endParaRPr>
          </a:p>
          <a:p>
            <a:pPr>
              <a:tabLst>
                <a:tab pos="363538" algn="l"/>
                <a:tab pos="714375" algn="l"/>
                <a:tab pos="1077913" algn="l"/>
              </a:tabLst>
              <a:defRPr/>
            </a:pPr>
            <a:endParaRPr lang="en-US" sz="2000" b="1" dirty="0">
              <a:latin typeface="Courier New" pitchFamily="49" charset="0"/>
              <a:cs typeface="Courier New" pitchFamily="49" charset="0"/>
            </a:endParaRPr>
          </a:p>
          <a:p>
            <a:pPr>
              <a:tabLst>
                <a:tab pos="363538" algn="l"/>
                <a:tab pos="714375" algn="l"/>
                <a:tab pos="1077913" algn="l"/>
              </a:tabLst>
              <a:defRPr/>
            </a:pPr>
            <a:r>
              <a:rPr lang="en-US" sz="2000" b="1" dirty="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for</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i</a:t>
            </a:r>
            <a:r>
              <a:rPr lang="en-US" sz="2000" b="1" dirty="0" smtClean="0">
                <a:latin typeface="Courier New" pitchFamily="49" charset="0"/>
                <a:cs typeface="Courier New" pitchFamily="49" charset="0"/>
              </a:rPr>
              <a:t>=</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i</a:t>
            </a:r>
            <a:r>
              <a:rPr lang="en-US" sz="2000" b="1" dirty="0" smtClean="0">
                <a:latin typeface="Courier New" pitchFamily="49" charset="0"/>
                <a:cs typeface="Courier New" pitchFamily="49" charset="0"/>
              </a:rPr>
              <a:t>&lt;size; </a:t>
            </a:r>
            <a:r>
              <a:rPr lang="en-US" sz="2000" b="1" dirty="0" err="1" smtClean="0">
                <a:latin typeface="Courier New" pitchFamily="49" charset="0"/>
                <a:cs typeface="Courier New" pitchFamily="49" charset="0"/>
              </a:rPr>
              <a:t>i</a:t>
            </a:r>
            <a:r>
              <a:rPr lang="en-US" sz="2000" b="1" dirty="0" smtClean="0">
                <a:latin typeface="Courier New" pitchFamily="49" charset="0"/>
                <a:cs typeface="Courier New" pitchFamily="49" charset="0"/>
              </a:rPr>
              <a:t>++)</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if</a:t>
            </a:r>
            <a:r>
              <a:rPr lang="en-US" sz="2000" b="1" dirty="0" smtClean="0">
                <a:latin typeface="Courier New" pitchFamily="49" charset="0"/>
                <a:cs typeface="Courier New" pitchFamily="49" charset="0"/>
              </a:rPr>
              <a:t> (value == </a:t>
            </a:r>
            <a:r>
              <a:rPr lang="en-US" sz="2000" b="1" dirty="0" err="1" smtClean="0">
                <a:latin typeface="Courier New" pitchFamily="49" charset="0"/>
                <a:cs typeface="Courier New" pitchFamily="49" charset="0"/>
              </a:rPr>
              <a:t>arr</a:t>
            </a:r>
            <a:r>
              <a:rPr lang="en-US" sz="2000" b="1" dirty="0" smtClean="0">
                <a:latin typeface="Courier New" pitchFamily="49" charset="0"/>
                <a:cs typeface="Courier New" pitchFamily="49" charset="0"/>
              </a:rPr>
              <a:t>[</a:t>
            </a:r>
            <a:r>
              <a:rPr lang="en-US" sz="2000" b="1" dirty="0" err="1" smtClean="0">
                <a:latin typeface="Courier New" pitchFamily="49" charset="0"/>
                <a:cs typeface="Courier New" pitchFamily="49" charset="0"/>
              </a:rPr>
              <a:t>i</a:t>
            </a:r>
            <a:r>
              <a:rPr lang="en-US" sz="2000" b="1" dirty="0" smtClean="0">
                <a:latin typeface="Courier New" pitchFamily="49" charset="0"/>
                <a:cs typeface="Courier New" pitchFamily="49" charset="0"/>
              </a:rPr>
              <a:t>])</a:t>
            </a:r>
          </a:p>
          <a:p>
            <a:pPr>
              <a:tabLst>
                <a:tab pos="363538" algn="l"/>
                <a:tab pos="714375" algn="l"/>
                <a:tab pos="1077913" algn="l"/>
              </a:tabLst>
              <a:defRPr/>
            </a:pPr>
            <a:r>
              <a:rPr lang="en-US" sz="2000" b="1" dirty="0" smtClean="0">
                <a:latin typeface="Courier New" pitchFamily="49" charset="0"/>
                <a:cs typeface="Courier New" pitchFamily="49" charset="0"/>
              </a:rPr>
              <a:t>			count++;</a:t>
            </a:r>
          </a:p>
          <a:p>
            <a:pPr>
              <a:tabLst>
                <a:tab pos="363538" algn="l"/>
                <a:tab pos="714375" algn="l"/>
                <a:tab pos="1077913" algn="l"/>
              </a:tabLst>
              <a:defRPr/>
            </a:pPr>
            <a:endParaRPr lang="en-US" sz="2000" b="1" dirty="0" smtClean="0">
              <a:latin typeface="Courier New" pitchFamily="49" charset="0"/>
              <a:cs typeface="Courier New" pitchFamily="49" charset="0"/>
            </a:endParaRPr>
          </a:p>
          <a:p>
            <a:pPr>
              <a:tabLst>
                <a:tab pos="363538" algn="l"/>
                <a:tab pos="714375" algn="l"/>
                <a:tab pos="1077913" algn="l"/>
              </a:tabLst>
              <a:defRPr/>
            </a:pPr>
            <a:r>
              <a:rPr lang="en-US" sz="2000" b="1" dirty="0" smtClean="0">
                <a:solidFill>
                  <a:srgbClr val="0000FF"/>
                </a:solidFill>
                <a:latin typeface="Courier New" pitchFamily="49" charset="0"/>
                <a:cs typeface="Courier New" pitchFamily="49" charset="0"/>
              </a:rPr>
              <a:t>	return</a:t>
            </a:r>
            <a:r>
              <a:rPr lang="en-US" sz="2000" b="1" dirty="0" smtClean="0">
                <a:latin typeface="Courier New" pitchFamily="49" charset="0"/>
                <a:cs typeface="Courier New" pitchFamily="49" charset="0"/>
              </a:rPr>
              <a:t> count;</a:t>
            </a:r>
          </a:p>
          <a:p>
            <a:pPr>
              <a:tabLst>
                <a:tab pos="363538" algn="l"/>
                <a:tab pos="714375" algn="l"/>
                <a:tab pos="1077913" algn="l"/>
              </a:tabLst>
              <a:defRPr/>
            </a:pP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32</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3600" dirty="0" smtClean="0">
                <a:solidFill>
                  <a:srgbClr val="9933FF"/>
                </a:solidFill>
                <a:latin typeface="Garamond" pitchFamily="18" charset="0"/>
              </a:rPr>
              <a:t>6.2 Demo #3: Counting Occurrences (3/4)</a:t>
            </a:r>
          </a:p>
        </p:txBody>
      </p:sp>
      <p:sp>
        <p:nvSpPr>
          <p:cNvPr id="7" name="TextBox 6"/>
          <p:cNvSpPr txBox="1"/>
          <p:nvPr/>
        </p:nvSpPr>
        <p:spPr>
          <a:xfrm>
            <a:off x="454709" y="1467358"/>
            <a:ext cx="7175284" cy="984885"/>
          </a:xfrm>
          <a:prstGeom prst="rect">
            <a:avLst/>
          </a:prstGeom>
          <a:noFill/>
        </p:spPr>
        <p:txBody>
          <a:bodyPr wrap="square" rtlCol="0">
            <a:spAutoFit/>
          </a:bodyPr>
          <a:lstStyle/>
          <a:p>
            <a:pPr marL="360363" indent="-360363">
              <a:spcBef>
                <a:spcPts val="1200"/>
              </a:spcBef>
              <a:buFont typeface="Wingdings" pitchFamily="2" charset="2"/>
              <a:buChar char="§"/>
            </a:pPr>
            <a:r>
              <a:rPr lang="en-US" sz="2400" dirty="0" smtClean="0"/>
              <a:t>To get </a:t>
            </a:r>
            <a:r>
              <a:rPr lang="en-US" sz="2400" dirty="0" err="1" smtClean="0">
                <a:solidFill>
                  <a:srgbClr val="0000FF"/>
                </a:solidFill>
              </a:rPr>
              <a:t>countValue</a:t>
            </a:r>
            <a:r>
              <a:rPr lang="en-US" sz="2400" dirty="0" smtClean="0">
                <a:solidFill>
                  <a:srgbClr val="0000FF"/>
                </a:solidFill>
              </a:rPr>
              <a:t>(7, list, 15)</a:t>
            </a:r>
            <a:r>
              <a:rPr lang="en-US" sz="2400" dirty="0" smtClean="0"/>
              <a:t> to return 3.</a:t>
            </a:r>
          </a:p>
          <a:p>
            <a:pPr marL="360363" indent="-360363">
              <a:spcBef>
                <a:spcPts val="1200"/>
              </a:spcBef>
              <a:buFont typeface="Wingdings" pitchFamily="2" charset="2"/>
              <a:buChar char="§"/>
            </a:pPr>
            <a:r>
              <a:rPr lang="en-US" sz="2400" dirty="0" smtClean="0"/>
              <a:t>Recursive thinking goes…</a:t>
            </a:r>
          </a:p>
        </p:txBody>
      </p:sp>
      <p:graphicFrame>
        <p:nvGraphicFramePr>
          <p:cNvPr id="66562" name="Object 2"/>
          <p:cNvGraphicFramePr>
            <a:graphicFrameLocks noChangeAspect="1"/>
          </p:cNvGraphicFramePr>
          <p:nvPr/>
        </p:nvGraphicFramePr>
        <p:xfrm>
          <a:off x="8160895" y="1440305"/>
          <a:ext cx="550863" cy="1676400"/>
        </p:xfrm>
        <a:graphic>
          <a:graphicData uri="http://schemas.openxmlformats.org/presentationml/2006/ole">
            <mc:AlternateContent xmlns:mc="http://schemas.openxmlformats.org/markup-compatibility/2006">
              <mc:Choice xmlns:v="urn:schemas-microsoft-com:vml" Requires="v">
                <p:oleObj spid="_x0000_s66593" name="Clip" r:id="rId4" imgW="1296063" imgH="3934305" progId="">
                  <p:embed/>
                </p:oleObj>
              </mc:Choice>
              <mc:Fallback>
                <p:oleObj name="Clip" r:id="rId4" imgW="1296063" imgH="3934305" progId="">
                  <p:embed/>
                  <p:pic>
                    <p:nvPicPr>
                      <p:cNvPr id="0"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0895" y="1440305"/>
                        <a:ext cx="55086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5" name="Group 34"/>
          <p:cNvGrpSpPr/>
          <p:nvPr/>
        </p:nvGrpSpPr>
        <p:grpSpPr>
          <a:xfrm>
            <a:off x="644577" y="2633272"/>
            <a:ext cx="6490740" cy="371830"/>
            <a:chOff x="644577" y="2888105"/>
            <a:chExt cx="6490740" cy="371830"/>
          </a:xfrm>
        </p:grpSpPr>
        <p:sp>
          <p:nvSpPr>
            <p:cNvPr id="11" name="TextBox 10"/>
            <p:cNvSpPr txBox="1"/>
            <p:nvPr/>
          </p:nvSpPr>
          <p:spPr>
            <a:xfrm>
              <a:off x="644577"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9</a:t>
              </a:r>
              <a:endParaRPr lang="en-SG" dirty="0"/>
            </a:p>
          </p:txBody>
        </p:sp>
        <p:sp>
          <p:nvSpPr>
            <p:cNvPr id="18" name="TextBox 17"/>
            <p:cNvSpPr txBox="1"/>
            <p:nvPr/>
          </p:nvSpPr>
          <p:spPr>
            <a:xfrm>
              <a:off x="1081790"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-2</a:t>
              </a:r>
              <a:endParaRPr lang="en-SG" dirty="0"/>
            </a:p>
          </p:txBody>
        </p:sp>
        <p:sp>
          <p:nvSpPr>
            <p:cNvPr id="19" name="TextBox 18"/>
            <p:cNvSpPr txBox="1"/>
            <p:nvPr/>
          </p:nvSpPr>
          <p:spPr>
            <a:xfrm>
              <a:off x="1519003"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1</a:t>
              </a:r>
              <a:endParaRPr lang="en-SG" dirty="0"/>
            </a:p>
          </p:txBody>
        </p:sp>
        <p:sp>
          <p:nvSpPr>
            <p:cNvPr id="20" name="TextBox 19"/>
            <p:cNvSpPr txBox="1"/>
            <p:nvPr/>
          </p:nvSpPr>
          <p:spPr>
            <a:xfrm>
              <a:off x="1956215"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7</a:t>
              </a:r>
              <a:endParaRPr lang="en-SG" dirty="0"/>
            </a:p>
          </p:txBody>
        </p:sp>
        <p:sp>
          <p:nvSpPr>
            <p:cNvPr id="21" name="TextBox 20"/>
            <p:cNvSpPr txBox="1"/>
            <p:nvPr/>
          </p:nvSpPr>
          <p:spPr>
            <a:xfrm>
              <a:off x="2378439"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3</a:t>
              </a:r>
              <a:endParaRPr lang="en-SG" dirty="0"/>
            </a:p>
          </p:txBody>
        </p:sp>
        <p:sp>
          <p:nvSpPr>
            <p:cNvPr id="22" name="TextBox 21"/>
            <p:cNvSpPr txBox="1"/>
            <p:nvPr/>
          </p:nvSpPr>
          <p:spPr>
            <a:xfrm>
              <a:off x="2815651"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9</a:t>
              </a:r>
              <a:endParaRPr lang="en-SG" dirty="0"/>
            </a:p>
          </p:txBody>
        </p:sp>
        <p:sp>
          <p:nvSpPr>
            <p:cNvPr id="23" name="TextBox 22"/>
            <p:cNvSpPr txBox="1"/>
            <p:nvPr/>
          </p:nvSpPr>
          <p:spPr>
            <a:xfrm>
              <a:off x="3237875"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-5</a:t>
              </a:r>
              <a:endParaRPr lang="en-SG" dirty="0"/>
            </a:p>
          </p:txBody>
        </p:sp>
        <p:sp>
          <p:nvSpPr>
            <p:cNvPr id="24" name="TextBox 23"/>
            <p:cNvSpPr txBox="1"/>
            <p:nvPr/>
          </p:nvSpPr>
          <p:spPr>
            <a:xfrm>
              <a:off x="3675087"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7</a:t>
              </a:r>
              <a:endParaRPr lang="en-SG" dirty="0"/>
            </a:p>
          </p:txBody>
        </p:sp>
        <p:sp>
          <p:nvSpPr>
            <p:cNvPr id="25" name="TextBox 24"/>
            <p:cNvSpPr txBox="1"/>
            <p:nvPr/>
          </p:nvSpPr>
          <p:spPr>
            <a:xfrm>
              <a:off x="4097311" y="2888105"/>
              <a:ext cx="434715" cy="369332"/>
            </a:xfrm>
            <a:prstGeom prst="rect">
              <a:avLst/>
            </a:prstGeom>
            <a:solidFill>
              <a:srgbClr val="CCFFFF"/>
            </a:solidFill>
            <a:ln>
              <a:solidFill>
                <a:schemeClr val="tx1"/>
              </a:solidFill>
            </a:ln>
          </p:spPr>
          <p:txBody>
            <a:bodyPr wrap="square" rtlCol="0">
              <a:spAutoFit/>
            </a:bodyPr>
            <a:lstStyle/>
            <a:p>
              <a:pPr algn="ctr"/>
              <a:r>
                <a:rPr lang="en-US" dirty="0" smtClean="0"/>
                <a:t>2</a:t>
              </a:r>
              <a:endParaRPr lang="en-SG" dirty="0"/>
            </a:p>
          </p:txBody>
        </p:sp>
        <p:sp>
          <p:nvSpPr>
            <p:cNvPr id="26" name="TextBox 25"/>
            <p:cNvSpPr txBox="1"/>
            <p:nvPr/>
          </p:nvSpPr>
          <p:spPr>
            <a:xfrm>
              <a:off x="4529528" y="2890603"/>
              <a:ext cx="434715" cy="369332"/>
            </a:xfrm>
            <a:prstGeom prst="rect">
              <a:avLst/>
            </a:prstGeom>
            <a:solidFill>
              <a:srgbClr val="CCFFFF"/>
            </a:solidFill>
            <a:ln>
              <a:solidFill>
                <a:schemeClr val="tx1"/>
              </a:solidFill>
            </a:ln>
          </p:spPr>
          <p:txBody>
            <a:bodyPr wrap="square" rtlCol="0">
              <a:spAutoFit/>
            </a:bodyPr>
            <a:lstStyle/>
            <a:p>
              <a:pPr algn="ctr"/>
              <a:r>
                <a:rPr lang="en-US" dirty="0" smtClean="0"/>
                <a:t>1</a:t>
              </a:r>
              <a:endParaRPr lang="en-SG" dirty="0"/>
            </a:p>
          </p:txBody>
        </p:sp>
        <p:sp>
          <p:nvSpPr>
            <p:cNvPr id="27" name="TextBox 26"/>
            <p:cNvSpPr txBox="1"/>
            <p:nvPr/>
          </p:nvSpPr>
          <p:spPr>
            <a:xfrm>
              <a:off x="4966741" y="2890603"/>
              <a:ext cx="434715" cy="369332"/>
            </a:xfrm>
            <a:prstGeom prst="rect">
              <a:avLst/>
            </a:prstGeom>
            <a:solidFill>
              <a:srgbClr val="CCFFFF"/>
            </a:solidFill>
            <a:ln>
              <a:solidFill>
                <a:schemeClr val="tx1"/>
              </a:solidFill>
            </a:ln>
          </p:spPr>
          <p:txBody>
            <a:bodyPr wrap="square" rtlCol="0">
              <a:spAutoFit/>
            </a:bodyPr>
            <a:lstStyle/>
            <a:p>
              <a:pPr algn="ctr"/>
              <a:r>
                <a:rPr lang="en-US" dirty="0" smtClean="0"/>
                <a:t>7</a:t>
              </a:r>
              <a:endParaRPr lang="en-SG" dirty="0"/>
            </a:p>
          </p:txBody>
        </p:sp>
        <p:sp>
          <p:nvSpPr>
            <p:cNvPr id="28" name="TextBox 27"/>
            <p:cNvSpPr txBox="1"/>
            <p:nvPr/>
          </p:nvSpPr>
          <p:spPr>
            <a:xfrm>
              <a:off x="5403954" y="2890603"/>
              <a:ext cx="434715" cy="369332"/>
            </a:xfrm>
            <a:prstGeom prst="rect">
              <a:avLst/>
            </a:prstGeom>
            <a:solidFill>
              <a:srgbClr val="CCFFFF"/>
            </a:solidFill>
            <a:ln>
              <a:solidFill>
                <a:schemeClr val="tx1"/>
              </a:solidFill>
            </a:ln>
          </p:spPr>
          <p:txBody>
            <a:bodyPr wrap="square" rtlCol="0">
              <a:spAutoFit/>
            </a:bodyPr>
            <a:lstStyle/>
            <a:p>
              <a:pPr algn="ctr"/>
              <a:r>
                <a:rPr lang="en-US" dirty="0" smtClean="0"/>
                <a:t>-2</a:t>
              </a:r>
              <a:endParaRPr lang="en-SG" dirty="0"/>
            </a:p>
          </p:txBody>
        </p:sp>
        <p:sp>
          <p:nvSpPr>
            <p:cNvPr id="29" name="TextBox 28"/>
            <p:cNvSpPr txBox="1"/>
            <p:nvPr/>
          </p:nvSpPr>
          <p:spPr>
            <a:xfrm>
              <a:off x="5841166" y="2890603"/>
              <a:ext cx="434715" cy="369332"/>
            </a:xfrm>
            <a:prstGeom prst="rect">
              <a:avLst/>
            </a:prstGeom>
            <a:solidFill>
              <a:srgbClr val="CCFFFF"/>
            </a:solidFill>
            <a:ln>
              <a:solidFill>
                <a:schemeClr val="tx1"/>
              </a:solidFill>
            </a:ln>
          </p:spPr>
          <p:txBody>
            <a:bodyPr wrap="square" rtlCol="0">
              <a:spAutoFit/>
            </a:bodyPr>
            <a:lstStyle/>
            <a:p>
              <a:pPr algn="ctr"/>
              <a:r>
                <a:rPr lang="en-US" dirty="0" smtClean="0"/>
                <a:t>0</a:t>
              </a:r>
              <a:endParaRPr lang="en-SG" dirty="0"/>
            </a:p>
          </p:txBody>
        </p:sp>
        <p:sp>
          <p:nvSpPr>
            <p:cNvPr id="30" name="TextBox 29"/>
            <p:cNvSpPr txBox="1"/>
            <p:nvPr/>
          </p:nvSpPr>
          <p:spPr>
            <a:xfrm>
              <a:off x="6263390" y="2890603"/>
              <a:ext cx="434715" cy="369332"/>
            </a:xfrm>
            <a:prstGeom prst="rect">
              <a:avLst/>
            </a:prstGeom>
            <a:solidFill>
              <a:srgbClr val="CCFFFF"/>
            </a:solidFill>
            <a:ln>
              <a:solidFill>
                <a:schemeClr val="tx1"/>
              </a:solidFill>
            </a:ln>
          </p:spPr>
          <p:txBody>
            <a:bodyPr wrap="square" rtlCol="0">
              <a:spAutoFit/>
            </a:bodyPr>
            <a:lstStyle/>
            <a:p>
              <a:pPr algn="ctr"/>
              <a:r>
                <a:rPr lang="en-US" dirty="0" smtClean="0"/>
                <a:t>8</a:t>
              </a:r>
              <a:endParaRPr lang="en-SG" dirty="0"/>
            </a:p>
          </p:txBody>
        </p:sp>
        <p:sp>
          <p:nvSpPr>
            <p:cNvPr id="31" name="TextBox 30"/>
            <p:cNvSpPr txBox="1"/>
            <p:nvPr/>
          </p:nvSpPr>
          <p:spPr>
            <a:xfrm>
              <a:off x="6700602" y="2890603"/>
              <a:ext cx="434715" cy="369332"/>
            </a:xfrm>
            <a:prstGeom prst="rect">
              <a:avLst/>
            </a:prstGeom>
            <a:solidFill>
              <a:srgbClr val="CCFFFF"/>
            </a:solidFill>
            <a:ln>
              <a:solidFill>
                <a:schemeClr val="tx1"/>
              </a:solidFill>
            </a:ln>
          </p:spPr>
          <p:txBody>
            <a:bodyPr wrap="square" rtlCol="0">
              <a:spAutoFit/>
            </a:bodyPr>
            <a:lstStyle/>
            <a:p>
              <a:pPr algn="ctr"/>
              <a:r>
                <a:rPr lang="en-US" dirty="0" smtClean="0"/>
                <a:t>-3</a:t>
              </a:r>
              <a:endParaRPr lang="en-SG" dirty="0"/>
            </a:p>
          </p:txBody>
        </p:sp>
      </p:grpSp>
      <p:grpSp>
        <p:nvGrpSpPr>
          <p:cNvPr id="43" name="Group 42"/>
          <p:cNvGrpSpPr/>
          <p:nvPr/>
        </p:nvGrpSpPr>
        <p:grpSpPr>
          <a:xfrm>
            <a:off x="6115986" y="2503357"/>
            <a:ext cx="2548329" cy="1775377"/>
            <a:chOff x="6115986" y="2758190"/>
            <a:chExt cx="2548329" cy="1775377"/>
          </a:xfrm>
        </p:grpSpPr>
        <p:cxnSp>
          <p:nvCxnSpPr>
            <p:cNvPr id="37" name="Straight Arrow Connector 36"/>
            <p:cNvCxnSpPr/>
            <p:nvPr/>
          </p:nvCxnSpPr>
          <p:spPr bwMode="auto">
            <a:xfrm flipH="1" flipV="1">
              <a:off x="6955436" y="3342807"/>
              <a:ext cx="179882" cy="464695"/>
            </a:xfrm>
            <a:prstGeom prst="straightConnector1">
              <a:avLst/>
            </a:prstGeom>
            <a:solidFill>
              <a:schemeClr val="accent1"/>
            </a:solidFill>
            <a:ln w="12700" cap="sq" cmpd="sng" algn="ctr">
              <a:solidFill>
                <a:srgbClr val="800000"/>
              </a:solidFill>
              <a:prstDash val="solid"/>
              <a:round/>
              <a:headEnd type="none" w="med" len="med"/>
              <a:tailEnd type="triangle" w="lg" len="med"/>
            </a:ln>
            <a:effectLst/>
          </p:spPr>
        </p:cxnSp>
        <p:sp>
          <p:nvSpPr>
            <p:cNvPr id="38" name="TextBox 37"/>
            <p:cNvSpPr txBox="1"/>
            <p:nvPr/>
          </p:nvSpPr>
          <p:spPr>
            <a:xfrm>
              <a:off x="6115986" y="3702570"/>
              <a:ext cx="2548329" cy="830997"/>
            </a:xfrm>
            <a:prstGeom prst="rect">
              <a:avLst/>
            </a:prstGeom>
            <a:solidFill>
              <a:schemeClr val="bg1"/>
            </a:solidFill>
          </p:spPr>
          <p:txBody>
            <a:bodyPr wrap="square" rtlCol="0">
              <a:spAutoFit/>
            </a:bodyPr>
            <a:lstStyle/>
            <a:p>
              <a:r>
                <a:rPr lang="en-US" sz="2400" i="1" dirty="0" smtClean="0">
                  <a:solidFill>
                    <a:srgbClr val="800000"/>
                  </a:solidFill>
                  <a:latin typeface="Calibri" pitchFamily="34" charset="0"/>
                </a:rPr>
                <a:t>If I handle the last element myself, …</a:t>
              </a:r>
              <a:endParaRPr lang="en-SG" sz="2400" i="1" dirty="0">
                <a:solidFill>
                  <a:srgbClr val="800000"/>
                </a:solidFill>
                <a:latin typeface="Calibri" pitchFamily="34" charset="0"/>
              </a:endParaRPr>
            </a:p>
          </p:txBody>
        </p:sp>
        <p:sp>
          <p:nvSpPr>
            <p:cNvPr id="39" name="Oval 38"/>
            <p:cNvSpPr/>
            <p:nvPr/>
          </p:nvSpPr>
          <p:spPr bwMode="auto">
            <a:xfrm>
              <a:off x="6655633" y="2758190"/>
              <a:ext cx="569626" cy="569626"/>
            </a:xfrm>
            <a:prstGeom prst="ellipse">
              <a:avLst/>
            </a:prstGeom>
            <a:noFill/>
            <a:ln w="28575" cap="sq" cmpd="sng" algn="ctr">
              <a:solidFill>
                <a:srgbClr val="8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grpSp>
      <p:grpSp>
        <p:nvGrpSpPr>
          <p:cNvPr id="44" name="Group 43"/>
          <p:cNvGrpSpPr/>
          <p:nvPr/>
        </p:nvGrpSpPr>
        <p:grpSpPr>
          <a:xfrm>
            <a:off x="659567" y="3057991"/>
            <a:ext cx="6086007" cy="1607563"/>
            <a:chOff x="659567" y="3312824"/>
            <a:chExt cx="6086007" cy="1607563"/>
          </a:xfrm>
        </p:grpSpPr>
        <p:sp>
          <p:nvSpPr>
            <p:cNvPr id="40" name="Left Brace 39"/>
            <p:cNvSpPr/>
            <p:nvPr/>
          </p:nvSpPr>
          <p:spPr bwMode="auto">
            <a:xfrm rot="16200000">
              <a:off x="3477718" y="494673"/>
              <a:ext cx="449705" cy="6086007"/>
            </a:xfrm>
            <a:prstGeom prst="leftBrace">
              <a:avLst>
                <a:gd name="adj1" fmla="val 71666"/>
                <a:gd name="adj2" fmla="val 50000"/>
              </a:avLst>
            </a:prstGeom>
            <a:noFill/>
            <a:ln w="28575" cap="sq" cmpd="sng" algn="ctr">
              <a:solidFill>
                <a:srgbClr val="0000FF"/>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G" sz="1800" b="0" i="0" u="none" strike="noStrike" cap="none" normalizeH="0" baseline="0" smtClean="0">
                <a:ln>
                  <a:noFill/>
                </a:ln>
                <a:solidFill>
                  <a:schemeClr val="tx1"/>
                </a:solidFill>
                <a:effectLst/>
                <a:latin typeface="Arial" charset="0"/>
                <a:cs typeface="Arial" charset="0"/>
              </a:endParaRPr>
            </a:p>
          </p:txBody>
        </p:sp>
        <p:sp>
          <p:nvSpPr>
            <p:cNvPr id="41" name="TextBox 40"/>
            <p:cNvSpPr txBox="1"/>
            <p:nvPr/>
          </p:nvSpPr>
          <p:spPr>
            <a:xfrm>
              <a:off x="2038662" y="3720058"/>
              <a:ext cx="3582649" cy="1200329"/>
            </a:xfrm>
            <a:prstGeom prst="rect">
              <a:avLst/>
            </a:prstGeom>
            <a:solidFill>
              <a:schemeClr val="bg1"/>
            </a:solidFill>
          </p:spPr>
          <p:txBody>
            <a:bodyPr wrap="square" rtlCol="0">
              <a:spAutoFit/>
            </a:bodyPr>
            <a:lstStyle/>
            <a:p>
              <a:r>
                <a:rPr lang="en-US" sz="2400" i="1" dirty="0" smtClean="0">
                  <a:solidFill>
                    <a:srgbClr val="0000FF"/>
                  </a:solidFill>
                  <a:latin typeface="Calibri" pitchFamily="34" charset="0"/>
                </a:rPr>
                <a:t>… and get someone to count the 7 in this smaller problem, …</a:t>
              </a:r>
              <a:endParaRPr lang="en-SG" sz="2400" i="1" dirty="0">
                <a:solidFill>
                  <a:srgbClr val="0000FF"/>
                </a:solidFill>
                <a:latin typeface="Calibri" pitchFamily="34" charset="0"/>
              </a:endParaRPr>
            </a:p>
          </p:txBody>
        </p:sp>
      </p:grpSp>
      <p:sp>
        <p:nvSpPr>
          <p:cNvPr id="42" name="TextBox 41"/>
          <p:cNvSpPr txBox="1"/>
          <p:nvPr/>
        </p:nvSpPr>
        <p:spPr>
          <a:xfrm>
            <a:off x="1184223" y="4861809"/>
            <a:ext cx="6071016" cy="1200329"/>
          </a:xfrm>
          <a:prstGeom prst="rect">
            <a:avLst/>
          </a:prstGeom>
          <a:solidFill>
            <a:schemeClr val="bg1"/>
          </a:solidFill>
        </p:spPr>
        <p:txBody>
          <a:bodyPr wrap="square" rtlCol="0">
            <a:spAutoFit/>
          </a:bodyPr>
          <a:lstStyle/>
          <a:p>
            <a:r>
              <a:rPr lang="en-US" sz="2400" i="1" dirty="0" smtClean="0">
                <a:solidFill>
                  <a:srgbClr val="6600FF"/>
                </a:solidFill>
                <a:latin typeface="Calibri" pitchFamily="34" charset="0"/>
              </a:rPr>
              <a:t>… then, depending on whether the last element is 7 or not, my answer is either his answer or his answer plus 1!</a:t>
            </a:r>
            <a:endParaRPr lang="en-SG" sz="2400" i="1" dirty="0">
              <a:solidFill>
                <a:srgbClr val="6600FF"/>
              </a:solidFill>
              <a:latin typeface="Calibri" pitchFamily="34" charset="0"/>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33</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dissolv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dissolve">
                                      <p:cBhvr>
                                        <p:cTn id="2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457200"/>
            <a:ext cx="8229600" cy="969963"/>
          </a:xfrm>
        </p:spPr>
        <p:txBody>
          <a:bodyPr/>
          <a:lstStyle/>
          <a:p>
            <a:r>
              <a:rPr lang="en-US" sz="3600" dirty="0" smtClean="0">
                <a:solidFill>
                  <a:srgbClr val="9933FF"/>
                </a:solidFill>
                <a:latin typeface="Garamond" pitchFamily="18" charset="0"/>
              </a:rPr>
              <a:t>6.2 Demo #3: Counting Occurrences (4/4)</a:t>
            </a:r>
          </a:p>
        </p:txBody>
      </p:sp>
      <p:sp>
        <p:nvSpPr>
          <p:cNvPr id="7" name="TextBox 6"/>
          <p:cNvSpPr txBox="1"/>
          <p:nvPr/>
        </p:nvSpPr>
        <p:spPr>
          <a:xfrm>
            <a:off x="454709" y="1483776"/>
            <a:ext cx="2528334" cy="461665"/>
          </a:xfrm>
          <a:prstGeom prst="rect">
            <a:avLst/>
          </a:prstGeom>
          <a:noFill/>
        </p:spPr>
        <p:txBody>
          <a:bodyPr wrap="square" rtlCol="0">
            <a:spAutoFit/>
          </a:bodyPr>
          <a:lstStyle/>
          <a:p>
            <a:r>
              <a:rPr lang="en-US" sz="2400" dirty="0" smtClean="0"/>
              <a:t>Recursive code:</a:t>
            </a:r>
            <a:endParaRPr lang="en-SG" sz="2400" dirty="0"/>
          </a:p>
        </p:txBody>
      </p:sp>
      <p:sp>
        <p:nvSpPr>
          <p:cNvPr id="8" name="TextBox 7"/>
          <p:cNvSpPr txBox="1"/>
          <p:nvPr/>
        </p:nvSpPr>
        <p:spPr>
          <a:xfrm>
            <a:off x="5897559" y="1445409"/>
            <a:ext cx="2443396" cy="369332"/>
          </a:xfrm>
          <a:prstGeom prst="rect">
            <a:avLst/>
          </a:prstGeom>
          <a:solidFill>
            <a:srgbClr val="CCFF99"/>
          </a:solidFill>
          <a:ln>
            <a:solidFill>
              <a:schemeClr val="tx1"/>
            </a:solidFill>
          </a:ln>
        </p:spPr>
        <p:txBody>
          <a:bodyPr wrap="square" rtlCol="0">
            <a:spAutoFit/>
          </a:bodyPr>
          <a:lstStyle/>
          <a:p>
            <a:r>
              <a:rPr lang="en-US" dirty="0" smtClean="0"/>
              <a:t>Week11_countValue.c</a:t>
            </a:r>
            <a:endParaRPr lang="en-SG" dirty="0"/>
          </a:p>
        </p:txBody>
      </p:sp>
      <p:sp>
        <p:nvSpPr>
          <p:cNvPr id="9" name="TextBox 8"/>
          <p:cNvSpPr txBox="1"/>
          <p:nvPr/>
        </p:nvSpPr>
        <p:spPr>
          <a:xfrm>
            <a:off x="486698" y="1947004"/>
            <a:ext cx="8072686" cy="22467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countValue</a:t>
            </a:r>
            <a:r>
              <a:rPr lang="en-US" sz="2000" b="1" dirty="0" smtClean="0">
                <a:latin typeface="Courier New" pitchFamily="49" charset="0"/>
                <a:cs typeface="Courier New" pitchFamily="49" charset="0"/>
              </a:rPr>
              <a:t>(</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value,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arr</a:t>
            </a:r>
            <a:r>
              <a:rPr lang="en-US" sz="2000" b="1" dirty="0" smtClean="0">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size) {</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if</a:t>
            </a:r>
            <a:r>
              <a:rPr lang="en-US" sz="2000" b="1" dirty="0" smtClean="0">
                <a:latin typeface="Courier New" pitchFamily="49" charset="0"/>
                <a:cs typeface="Courier New" pitchFamily="49" charset="0"/>
              </a:rPr>
              <a:t> (size == </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a:t>
            </a:r>
          </a:p>
          <a:p>
            <a:pPr>
              <a:tabLst>
                <a:tab pos="363538" algn="l"/>
                <a:tab pos="714375" algn="l"/>
                <a:tab pos="1077913" algn="l"/>
              </a:tabLst>
              <a:defRPr/>
            </a:pPr>
            <a:r>
              <a:rPr lang="en-US" sz="2000" b="1" dirty="0" smtClean="0">
                <a:solidFill>
                  <a:srgbClr val="006600"/>
                </a:solidFill>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 </a:t>
            </a:r>
            <a:r>
              <a:rPr lang="en-US" sz="2000" b="1" dirty="0" smtClean="0">
                <a:solidFill>
                  <a:srgbClr val="006600"/>
                </a:solidFill>
                <a:latin typeface="Courier New" pitchFamily="49" charset="0"/>
                <a:cs typeface="Courier New" pitchFamily="49" charset="0"/>
              </a:rPr>
              <a:t>0;</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else</a:t>
            </a:r>
            <a:endParaRPr lang="en-US" sz="2000" b="1" dirty="0">
              <a:latin typeface="Courier New" pitchFamily="49" charset="0"/>
              <a:cs typeface="Courier New" pitchFamily="49" charset="0"/>
            </a:endParaRPr>
          </a:p>
          <a:p>
            <a:pPr>
              <a:tabLst>
                <a:tab pos="363538" algn="l"/>
                <a:tab pos="714375" algn="l"/>
                <a:tab pos="1077913" algn="l"/>
              </a:tabLst>
              <a:defRPr/>
            </a:pPr>
            <a:r>
              <a:rPr lang="en-US" sz="2000" b="1" dirty="0">
                <a:latin typeface="Courier New" pitchFamily="49" charset="0"/>
                <a:cs typeface="Courier New" pitchFamily="49" charset="0"/>
              </a:rPr>
              <a:t>	</a:t>
            </a: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 </a:t>
            </a:r>
            <a:r>
              <a:rPr lang="en-US" sz="2000" b="1" dirty="0" smtClean="0">
                <a:solidFill>
                  <a:schemeClr val="tx1"/>
                </a:solidFill>
                <a:latin typeface="Courier New" pitchFamily="49" charset="0"/>
                <a:cs typeface="Courier New" pitchFamily="49" charset="0"/>
              </a:rPr>
              <a:t>(value ==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[size-</a:t>
            </a:r>
            <a:r>
              <a:rPr lang="en-US" sz="2000" b="1" dirty="0" smtClean="0">
                <a:solidFill>
                  <a:srgbClr val="006600"/>
                </a:solidFill>
                <a:latin typeface="Courier New" pitchFamily="49" charset="0"/>
                <a:cs typeface="Courier New" pitchFamily="49" charset="0"/>
              </a:rPr>
              <a:t>1</a:t>
            </a:r>
            <a:r>
              <a:rPr lang="en-US" sz="2000" b="1" dirty="0" smtClean="0">
                <a:solidFill>
                  <a:schemeClr val="tx1"/>
                </a:solidFill>
                <a:latin typeface="Courier New" pitchFamily="49" charset="0"/>
                <a:cs typeface="Courier New" pitchFamily="49" charset="0"/>
              </a:rPr>
              <a:t>]) +</a:t>
            </a:r>
          </a:p>
          <a:p>
            <a:pPr>
              <a:tabLst>
                <a:tab pos="363538" algn="l"/>
                <a:tab pos="714375" algn="l"/>
                <a:tab pos="1077913" algn="l"/>
              </a:tabLst>
              <a:defRPr/>
            </a:pPr>
            <a:r>
              <a:rPr lang="en-US" sz="2000" b="1" dirty="0" smtClean="0">
                <a:solidFill>
                  <a:schemeClr val="tx1"/>
                </a:solidFill>
                <a:latin typeface="Courier New" pitchFamily="49" charset="0"/>
                <a:cs typeface="Courier New" pitchFamily="49" charset="0"/>
              </a:rPr>
              <a:t>		        </a:t>
            </a:r>
            <a:r>
              <a:rPr lang="en-US" sz="2000" b="1" dirty="0" err="1" smtClean="0">
                <a:solidFill>
                  <a:schemeClr val="tx1"/>
                </a:solidFill>
                <a:latin typeface="Courier New" pitchFamily="49" charset="0"/>
                <a:cs typeface="Courier New" pitchFamily="49" charset="0"/>
              </a:rPr>
              <a:t>countValue</a:t>
            </a:r>
            <a:r>
              <a:rPr lang="en-US" sz="2000" b="1" dirty="0" smtClean="0">
                <a:solidFill>
                  <a:schemeClr val="tx1"/>
                </a:solidFill>
                <a:latin typeface="Courier New" pitchFamily="49" charset="0"/>
                <a:cs typeface="Courier New" pitchFamily="49" charset="0"/>
              </a:rPr>
              <a:t>(value,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 size-</a:t>
            </a:r>
            <a:r>
              <a:rPr lang="en-US" sz="2000" b="1" dirty="0" smtClean="0">
                <a:solidFill>
                  <a:srgbClr val="006600"/>
                </a:solidFill>
                <a:latin typeface="Courier New" pitchFamily="49" charset="0"/>
                <a:cs typeface="Courier New" pitchFamily="49" charset="0"/>
              </a:rPr>
              <a:t>1</a:t>
            </a:r>
            <a:r>
              <a:rPr lang="en-US" sz="2000" b="1" dirty="0" smtClean="0">
                <a:solidFill>
                  <a:schemeClr val="tx1"/>
                </a:solidFill>
                <a:latin typeface="Courier New" pitchFamily="49" charset="0"/>
                <a:cs typeface="Courier New" pitchFamily="49" charset="0"/>
              </a:rPr>
              <a:t>);</a:t>
            </a:r>
            <a:endParaRPr lang="en-US" sz="2000" b="1" dirty="0" smtClean="0">
              <a:latin typeface="Courier New" pitchFamily="49" charset="0"/>
              <a:cs typeface="Courier New" pitchFamily="49" charset="0"/>
            </a:endParaRPr>
          </a:p>
          <a:p>
            <a:pPr>
              <a:tabLst>
                <a:tab pos="363538" algn="l"/>
                <a:tab pos="714375" algn="l"/>
                <a:tab pos="1077913" algn="l"/>
              </a:tabLst>
              <a:defRPr/>
            </a:pP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
        <p:nvSpPr>
          <p:cNvPr id="10" name="TextBox 9"/>
          <p:cNvSpPr txBox="1"/>
          <p:nvPr/>
        </p:nvSpPr>
        <p:spPr>
          <a:xfrm>
            <a:off x="345851" y="4454851"/>
            <a:ext cx="8354012" cy="400110"/>
          </a:xfrm>
          <a:prstGeom prst="rect">
            <a:avLst/>
          </a:prstGeom>
          <a:noFill/>
        </p:spPr>
        <p:txBody>
          <a:bodyPr wrap="square" rtlCol="0">
            <a:spAutoFit/>
          </a:bodyPr>
          <a:lstStyle/>
          <a:p>
            <a:r>
              <a:rPr lang="en-US" sz="2000" dirty="0" smtClean="0"/>
              <a:t>Note: The second return statement is equivalent to the following (why?): </a:t>
            </a:r>
            <a:endParaRPr lang="en-SG" sz="2000" dirty="0"/>
          </a:p>
        </p:txBody>
      </p:sp>
      <p:sp>
        <p:nvSpPr>
          <p:cNvPr id="11" name="TextBox 10"/>
          <p:cNvSpPr txBox="1"/>
          <p:nvPr/>
        </p:nvSpPr>
        <p:spPr>
          <a:xfrm>
            <a:off x="470422" y="4881418"/>
            <a:ext cx="8072686"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if</a:t>
            </a:r>
            <a:r>
              <a:rPr lang="en-US" sz="2000" b="1" dirty="0" smtClean="0">
                <a:latin typeface="Courier New" pitchFamily="49" charset="0"/>
                <a:cs typeface="Courier New" pitchFamily="49" charset="0"/>
              </a:rPr>
              <a:t> (value == </a:t>
            </a:r>
            <a:r>
              <a:rPr lang="en-US" sz="2000" b="1" dirty="0" err="1" smtClean="0">
                <a:latin typeface="Courier New" pitchFamily="49" charset="0"/>
                <a:cs typeface="Courier New" pitchFamily="49" charset="0"/>
              </a:rPr>
              <a:t>arr</a:t>
            </a:r>
            <a:r>
              <a:rPr lang="en-US" sz="2000" b="1" dirty="0" smtClean="0">
                <a:latin typeface="Courier New" pitchFamily="49" charset="0"/>
                <a:cs typeface="Courier New" pitchFamily="49" charset="0"/>
              </a:rPr>
              <a:t>[size-</a:t>
            </a:r>
            <a:r>
              <a:rPr lang="en-US" sz="2000" b="1" dirty="0" smtClean="0">
                <a:solidFill>
                  <a:srgbClr val="006600"/>
                </a:solidFill>
                <a:latin typeface="Courier New" pitchFamily="49" charset="0"/>
                <a:cs typeface="Courier New" pitchFamily="49" charset="0"/>
              </a:rPr>
              <a:t>1</a:t>
            </a:r>
            <a:r>
              <a:rPr lang="en-US" sz="2000" b="1" dirty="0" smtClean="0">
                <a:latin typeface="Courier New" pitchFamily="49" charset="0"/>
                <a:cs typeface="Courier New" pitchFamily="49" charset="0"/>
              </a:rPr>
              <a:t>])</a:t>
            </a:r>
          </a:p>
          <a:p>
            <a:pPr>
              <a:tabLst>
                <a:tab pos="363538" algn="l"/>
                <a:tab pos="714375" algn="l"/>
                <a:tab pos="1077913" algn="l"/>
              </a:tabLst>
              <a:defRPr/>
            </a:pPr>
            <a:r>
              <a:rPr lang="en-US" sz="2000" b="1" dirty="0">
                <a:latin typeface="Courier New" pitchFamily="49" charset="0"/>
                <a:cs typeface="Courier New" pitchFamily="49" charset="0"/>
              </a:rPr>
              <a:t>	</a:t>
            </a: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 </a:t>
            </a:r>
            <a:r>
              <a:rPr lang="en-US" sz="2000" b="1" dirty="0" smtClean="0">
                <a:solidFill>
                  <a:srgbClr val="006600"/>
                </a:solidFill>
                <a:latin typeface="Courier New" pitchFamily="49" charset="0"/>
                <a:cs typeface="Courier New" pitchFamily="49" charset="0"/>
              </a:rPr>
              <a:t>1</a:t>
            </a:r>
            <a:r>
              <a:rPr lang="en-US" sz="2000" b="1" dirty="0" smtClean="0">
                <a:solidFill>
                  <a:schemeClr val="tx1"/>
                </a:solidFill>
                <a:latin typeface="Courier New" pitchFamily="49" charset="0"/>
                <a:cs typeface="Courier New" pitchFamily="49" charset="0"/>
              </a:rPr>
              <a:t> + </a:t>
            </a:r>
            <a:r>
              <a:rPr lang="en-US" sz="2000" b="1" dirty="0" err="1" smtClean="0">
                <a:solidFill>
                  <a:schemeClr val="tx1"/>
                </a:solidFill>
                <a:latin typeface="Courier New" pitchFamily="49" charset="0"/>
                <a:cs typeface="Courier New" pitchFamily="49" charset="0"/>
              </a:rPr>
              <a:t>countValue</a:t>
            </a:r>
            <a:r>
              <a:rPr lang="en-US" sz="2000" b="1" dirty="0" smtClean="0">
                <a:solidFill>
                  <a:schemeClr val="tx1"/>
                </a:solidFill>
                <a:latin typeface="Courier New" pitchFamily="49" charset="0"/>
                <a:cs typeface="Courier New" pitchFamily="49" charset="0"/>
              </a:rPr>
              <a:t>(value,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 size-</a:t>
            </a:r>
            <a:r>
              <a:rPr lang="en-US" sz="2000" b="1" dirty="0" smtClean="0">
                <a:solidFill>
                  <a:srgbClr val="006600"/>
                </a:solidFill>
                <a:latin typeface="Courier New" pitchFamily="49" charset="0"/>
                <a:cs typeface="Courier New" pitchFamily="49" charset="0"/>
              </a:rPr>
              <a:t>1</a:t>
            </a:r>
            <a:r>
              <a:rPr lang="en-US" sz="2000" b="1" dirty="0" smtClean="0">
                <a:solidFill>
                  <a:schemeClr val="tx1"/>
                </a:solidFill>
                <a:latin typeface="Courier New" pitchFamily="49" charset="0"/>
                <a:cs typeface="Courier New" pitchFamily="49" charset="0"/>
              </a:rPr>
              <a:t>);</a:t>
            </a:r>
          </a:p>
          <a:p>
            <a:pPr>
              <a:tabLst>
                <a:tab pos="363538" algn="l"/>
                <a:tab pos="714375" algn="l"/>
                <a:tab pos="1077913" algn="l"/>
              </a:tabLst>
              <a:defRPr/>
            </a:pPr>
            <a:r>
              <a:rPr lang="en-US" sz="2000" b="1" dirty="0" smtClean="0">
                <a:solidFill>
                  <a:schemeClr val="tx1"/>
                </a:solidFill>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else</a:t>
            </a:r>
          </a:p>
          <a:p>
            <a:pPr>
              <a:tabLst>
                <a:tab pos="363538" algn="l"/>
                <a:tab pos="714375" algn="l"/>
                <a:tab pos="1077913" algn="l"/>
              </a:tabLst>
              <a:defRPr/>
            </a:pPr>
            <a:r>
              <a:rPr lang="en-US" sz="2000" b="1" dirty="0" smtClean="0">
                <a:solidFill>
                  <a:srgbClr val="0000FF"/>
                </a:solidFill>
                <a:latin typeface="Courier New" pitchFamily="49" charset="0"/>
                <a:cs typeface="Courier New" pitchFamily="49" charset="0"/>
              </a:rPr>
              <a:t>		return </a:t>
            </a:r>
            <a:r>
              <a:rPr lang="en-US" sz="2000" b="1" dirty="0" err="1" smtClean="0">
                <a:solidFill>
                  <a:schemeClr val="tx1"/>
                </a:solidFill>
                <a:latin typeface="Courier New" pitchFamily="49" charset="0"/>
                <a:cs typeface="Courier New" pitchFamily="49" charset="0"/>
              </a:rPr>
              <a:t>countValue</a:t>
            </a:r>
            <a:r>
              <a:rPr lang="en-US" sz="2000" b="1" dirty="0" smtClean="0">
                <a:solidFill>
                  <a:schemeClr val="tx1"/>
                </a:solidFill>
                <a:latin typeface="Courier New" pitchFamily="49" charset="0"/>
                <a:cs typeface="Courier New" pitchFamily="49" charset="0"/>
              </a:rPr>
              <a:t>(value,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 size-</a:t>
            </a:r>
            <a:r>
              <a:rPr lang="en-US" sz="2000" b="1" dirty="0" smtClean="0">
                <a:solidFill>
                  <a:srgbClr val="006600"/>
                </a:solidFill>
                <a:latin typeface="Courier New" pitchFamily="49" charset="0"/>
                <a:cs typeface="Courier New" pitchFamily="49" charset="0"/>
              </a:rPr>
              <a:t>1</a:t>
            </a:r>
            <a:r>
              <a:rPr lang="en-US" sz="2000" b="1" dirty="0" smtClean="0">
                <a:solidFill>
                  <a:schemeClr val="tx1"/>
                </a:solidFill>
                <a:latin typeface="Courier New" pitchFamily="49" charset="0"/>
                <a:cs typeface="Courier New" pitchFamily="49" charset="0"/>
              </a:rPr>
              <a:t>);</a:t>
            </a:r>
            <a:endParaRPr lang="en-US" sz="2000" b="1" dirty="0" smtClean="0">
              <a:latin typeface="Courier New" pitchFamily="49" charset="0"/>
              <a:cs typeface="Courier New" pitchFamily="49" charset="0"/>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34</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par>
                          <p:cTn id="18" fill="hold">
                            <p:stCondLst>
                              <p:cond delay="500"/>
                            </p:stCondLst>
                            <p:childTnLst>
                              <p:par>
                                <p:cTn id="19" presetID="9" presetClass="entr" presetSubtype="0" fill="hold" grpId="1"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7. Exercise #4 (take-home): Sum Array </a:t>
            </a:r>
          </a:p>
        </p:txBody>
      </p:sp>
      <p:sp>
        <p:nvSpPr>
          <p:cNvPr id="40963" name="Rectangle 3"/>
          <p:cNvSpPr>
            <a:spLocks noGrp="1" noChangeArrowheads="1"/>
          </p:cNvSpPr>
          <p:nvPr>
            <p:ph type="body" idx="1"/>
          </p:nvPr>
        </p:nvSpPr>
        <p:spPr>
          <a:xfrm>
            <a:off x="457200" y="1304144"/>
            <a:ext cx="8229600" cy="2501737"/>
          </a:xfrm>
        </p:spPr>
        <p:txBody>
          <a:bodyPr/>
          <a:lstStyle/>
          <a:p>
            <a:pPr>
              <a:spcAft>
                <a:spcPct val="10000"/>
              </a:spcAft>
            </a:pPr>
            <a:r>
              <a:rPr lang="en-US" sz="2400" dirty="0" smtClean="0"/>
              <a:t>Write a program </a:t>
            </a:r>
            <a:r>
              <a:rPr lang="en-US" sz="2400" dirty="0" smtClean="0">
                <a:solidFill>
                  <a:srgbClr val="0000FF"/>
                </a:solidFill>
              </a:rPr>
              <a:t>Week11_sumArray.c</a:t>
            </a:r>
            <a:r>
              <a:rPr lang="en-US" sz="2400" dirty="0" smtClean="0"/>
              <a:t> to read data into an integer array with at most 10 elements, and sum up all values in the array, using a recursive function.</a:t>
            </a:r>
          </a:p>
          <a:p>
            <a:pPr>
              <a:spcAft>
                <a:spcPct val="10000"/>
              </a:spcAft>
            </a:pPr>
            <a:r>
              <a:rPr lang="en-US" sz="2400" dirty="0" smtClean="0"/>
              <a:t>We will discuss it next week. This exercise will be mounted on </a:t>
            </a:r>
            <a:r>
              <a:rPr lang="en-US" sz="2400" dirty="0" err="1" smtClean="0"/>
              <a:t>CodeCrunch</a:t>
            </a:r>
            <a:r>
              <a:rPr lang="en-US" sz="2400" dirty="0" smtClean="0"/>
              <a:t>.</a:t>
            </a:r>
          </a:p>
          <a:p>
            <a:pPr>
              <a:spcAft>
                <a:spcPct val="10000"/>
              </a:spcAft>
            </a:pPr>
            <a:r>
              <a:rPr lang="en-US" sz="2400" dirty="0" smtClean="0"/>
              <a:t>Sample runs:</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35</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
        <p:nvSpPr>
          <p:cNvPr id="6" name="TextBox 5"/>
          <p:cNvSpPr txBox="1"/>
          <p:nvPr/>
        </p:nvSpPr>
        <p:spPr>
          <a:xfrm>
            <a:off x="1803779" y="3805452"/>
            <a:ext cx="5374943"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smtClean="0">
                <a:latin typeface="Courier New" pitchFamily="49" charset="0"/>
                <a:cs typeface="Courier New" pitchFamily="49" charset="0"/>
              </a:rPr>
              <a:t>Enter number of elements: </a:t>
            </a:r>
            <a:r>
              <a:rPr lang="en-US" b="1" dirty="0" smtClean="0">
                <a:solidFill>
                  <a:srgbClr val="0000FF"/>
                </a:solidFill>
                <a:latin typeface="Courier New" pitchFamily="49" charset="0"/>
                <a:cs typeface="Courier New" pitchFamily="49" charset="0"/>
              </a:rPr>
              <a:t>6</a:t>
            </a:r>
          </a:p>
          <a:p>
            <a:r>
              <a:rPr lang="en-US" b="1" dirty="0" smtClean="0">
                <a:latin typeface="Courier New" pitchFamily="49" charset="0"/>
                <a:cs typeface="Courier New" pitchFamily="49" charset="0"/>
              </a:rPr>
              <a:t>Enter 6 values: </a:t>
            </a:r>
            <a:r>
              <a:rPr lang="en-US" b="1" dirty="0" smtClean="0">
                <a:solidFill>
                  <a:srgbClr val="0000FF"/>
                </a:solidFill>
                <a:latin typeface="Courier New" pitchFamily="49" charset="0"/>
                <a:cs typeface="Courier New" pitchFamily="49" charset="0"/>
              </a:rPr>
              <a:t>4 3 -2 0 1 3</a:t>
            </a:r>
          </a:p>
          <a:p>
            <a:r>
              <a:rPr lang="en-US" b="1" dirty="0" smtClean="0">
                <a:latin typeface="Courier New" pitchFamily="49" charset="0"/>
                <a:cs typeface="Courier New" pitchFamily="49" charset="0"/>
              </a:rPr>
              <a:t>Array read: 4 3 -2 0 1 3</a:t>
            </a:r>
          </a:p>
          <a:p>
            <a:r>
              <a:rPr lang="en-US" b="1" dirty="0" smtClean="0">
                <a:latin typeface="Courier New" pitchFamily="49" charset="0"/>
                <a:cs typeface="Courier New" pitchFamily="49" charset="0"/>
              </a:rPr>
              <a:t>Sum = 9</a:t>
            </a:r>
          </a:p>
        </p:txBody>
      </p:sp>
      <p:sp>
        <p:nvSpPr>
          <p:cNvPr id="7" name="TextBox 6"/>
          <p:cNvSpPr txBox="1"/>
          <p:nvPr/>
        </p:nvSpPr>
        <p:spPr>
          <a:xfrm>
            <a:off x="1803779" y="5117911"/>
            <a:ext cx="5374943"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smtClean="0">
                <a:latin typeface="Courier New" pitchFamily="49" charset="0"/>
                <a:cs typeface="Courier New" pitchFamily="49" charset="0"/>
              </a:rPr>
              <a:t>Enter number of elements: </a:t>
            </a:r>
            <a:r>
              <a:rPr lang="en-US" b="1" dirty="0" smtClean="0">
                <a:solidFill>
                  <a:srgbClr val="0000FF"/>
                </a:solidFill>
                <a:latin typeface="Courier New" pitchFamily="49" charset="0"/>
                <a:cs typeface="Courier New" pitchFamily="49" charset="0"/>
              </a:rPr>
              <a:t>8</a:t>
            </a:r>
          </a:p>
          <a:p>
            <a:r>
              <a:rPr lang="en-US" b="1" dirty="0" smtClean="0">
                <a:latin typeface="Courier New" pitchFamily="49" charset="0"/>
                <a:cs typeface="Courier New" pitchFamily="49" charset="0"/>
              </a:rPr>
              <a:t>Enter 8 values: </a:t>
            </a:r>
            <a:r>
              <a:rPr lang="en-US" b="1" dirty="0" smtClean="0">
                <a:solidFill>
                  <a:srgbClr val="0000FF"/>
                </a:solidFill>
                <a:latin typeface="Courier New" pitchFamily="49" charset="0"/>
                <a:cs typeface="Courier New" pitchFamily="49" charset="0"/>
              </a:rPr>
              <a:t>11 25 56 8 12 7 31 16</a:t>
            </a:r>
          </a:p>
          <a:p>
            <a:r>
              <a:rPr lang="en-US" b="1" dirty="0" smtClean="0">
                <a:latin typeface="Courier New" pitchFamily="49" charset="0"/>
                <a:cs typeface="Courier New" pitchFamily="49" charset="0"/>
              </a:rPr>
              <a:t>Array read: </a:t>
            </a:r>
            <a:r>
              <a:rPr lang="en-US" b="1" dirty="0" smtClean="0">
                <a:solidFill>
                  <a:schemeClr val="tx1"/>
                </a:solidFill>
                <a:latin typeface="Courier New" pitchFamily="49" charset="0"/>
                <a:cs typeface="Courier New" pitchFamily="49" charset="0"/>
              </a:rPr>
              <a:t>11 25 56 8 12 7 31 16</a:t>
            </a:r>
          </a:p>
          <a:p>
            <a:r>
              <a:rPr lang="en-US" b="1" dirty="0" smtClean="0">
                <a:latin typeface="Courier New" pitchFamily="49" charset="0"/>
                <a:cs typeface="Courier New" pitchFamily="49" charset="0"/>
              </a:rPr>
              <a:t>Sum = 166</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8. Auxiliary Function (1/3)</a:t>
            </a:r>
          </a:p>
        </p:txBody>
      </p:sp>
      <p:sp>
        <p:nvSpPr>
          <p:cNvPr id="40963" name="Rectangle 3"/>
          <p:cNvSpPr>
            <a:spLocks noGrp="1" noChangeArrowheads="1"/>
          </p:cNvSpPr>
          <p:nvPr>
            <p:ph type="body" idx="1"/>
          </p:nvPr>
        </p:nvSpPr>
        <p:spPr>
          <a:xfrm>
            <a:off x="457200" y="1449389"/>
            <a:ext cx="8229600" cy="1751012"/>
          </a:xfrm>
        </p:spPr>
        <p:txBody>
          <a:bodyPr/>
          <a:lstStyle/>
          <a:p>
            <a:pPr>
              <a:spcBef>
                <a:spcPts val="600"/>
              </a:spcBef>
              <a:spcAft>
                <a:spcPts val="0"/>
              </a:spcAft>
            </a:pPr>
            <a:r>
              <a:rPr lang="en-US" sz="2400" dirty="0" smtClean="0"/>
              <a:t>Sometimes, </a:t>
            </a:r>
            <a:r>
              <a:rPr lang="en-US" sz="2400" dirty="0" smtClean="0">
                <a:solidFill>
                  <a:srgbClr val="C00000"/>
                </a:solidFill>
              </a:rPr>
              <a:t>auxiliary functions </a:t>
            </a:r>
            <a:r>
              <a:rPr lang="en-US" sz="2400" dirty="0" smtClean="0"/>
              <a:t>are needed to implement recursion. </a:t>
            </a:r>
            <a:r>
              <a:rPr lang="en-US" sz="2400" dirty="0" err="1" smtClean="0"/>
              <a:t>Eg</a:t>
            </a:r>
            <a:r>
              <a:rPr lang="en-US" sz="2400" dirty="0" smtClean="0"/>
              <a:t>: Refer to Demo #3 Counting Occurrences.</a:t>
            </a:r>
          </a:p>
          <a:p>
            <a:pPr>
              <a:spcBef>
                <a:spcPts val="600"/>
              </a:spcBef>
              <a:spcAft>
                <a:spcPts val="0"/>
              </a:spcAft>
            </a:pPr>
            <a:r>
              <a:rPr lang="en-US" sz="2400" dirty="0" smtClean="0"/>
              <a:t>If the function handles the first element instead of the last, it could be re-written as follows:</a:t>
            </a:r>
          </a:p>
        </p:txBody>
      </p:sp>
      <p:sp>
        <p:nvSpPr>
          <p:cNvPr id="7" name="TextBox 6"/>
          <p:cNvSpPr txBox="1"/>
          <p:nvPr/>
        </p:nvSpPr>
        <p:spPr>
          <a:xfrm>
            <a:off x="786300" y="3217397"/>
            <a:ext cx="7981182"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countValue</a:t>
            </a:r>
            <a:r>
              <a:rPr lang="en-US" sz="2000" b="1" dirty="0" smtClean="0">
                <a:latin typeface="Courier New" pitchFamily="49" charset="0"/>
                <a:cs typeface="Courier New" pitchFamily="49" charset="0"/>
              </a:rPr>
              <a:t>(</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value,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arr</a:t>
            </a:r>
            <a:r>
              <a:rPr lang="en-US" sz="2000" b="1" dirty="0" smtClean="0">
                <a:latin typeface="Courier New" pitchFamily="49" charset="0"/>
                <a:cs typeface="Courier New" pitchFamily="49" charset="0"/>
              </a:rPr>
              <a:t>[], </a:t>
            </a:r>
          </a:p>
          <a:p>
            <a:pPr>
              <a:tabLst>
                <a:tab pos="363538" algn="l"/>
                <a:tab pos="714375" algn="l"/>
                <a:tab pos="1077913" algn="l"/>
              </a:tabLst>
              <a:defRPr/>
            </a:pPr>
            <a:r>
              <a:rPr lang="en-US" sz="2000" b="1" dirty="0" smtClean="0">
                <a:solidFill>
                  <a:srgbClr val="0000FF"/>
                </a:solidFill>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start,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size) {</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if</a:t>
            </a:r>
            <a:r>
              <a:rPr lang="en-US" sz="2000" b="1" dirty="0" smtClean="0">
                <a:latin typeface="Courier New" pitchFamily="49" charset="0"/>
                <a:cs typeface="Courier New" pitchFamily="49" charset="0"/>
              </a:rPr>
              <a:t> (start == size)</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a:t>
            </a:r>
            <a:r>
              <a:rPr lang="en-US" sz="2000" b="1" dirty="0" smtClean="0">
                <a:latin typeface="Courier New" pitchFamily="49" charset="0"/>
                <a:cs typeface="Courier New" pitchFamily="49" charset="0"/>
              </a:rPr>
              <a:t> </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else</a:t>
            </a:r>
          </a:p>
          <a:p>
            <a:pPr>
              <a:tabLst>
                <a:tab pos="363538" algn="l"/>
                <a:tab pos="714375" algn="l"/>
                <a:tab pos="1077913" algn="l"/>
              </a:tabLst>
              <a:defRPr/>
            </a:pPr>
            <a:r>
              <a:rPr lang="en-US" sz="2000" b="1" dirty="0" smtClean="0">
                <a:solidFill>
                  <a:srgbClr val="006600"/>
                </a:solidFill>
                <a:latin typeface="Courier New" pitchFamily="49" charset="0"/>
                <a:cs typeface="Courier New" pitchFamily="49" charset="0"/>
              </a:rPr>
              <a:t>	</a:t>
            </a:r>
            <a:r>
              <a:rPr lang="en-US" sz="2000" b="1" dirty="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 </a:t>
            </a:r>
            <a:r>
              <a:rPr lang="en-US" sz="2000" b="1" dirty="0" smtClean="0">
                <a:solidFill>
                  <a:schemeClr val="tx1"/>
                </a:solidFill>
                <a:latin typeface="Courier New" pitchFamily="49" charset="0"/>
                <a:cs typeface="Courier New" pitchFamily="49" charset="0"/>
              </a:rPr>
              <a:t>(value ==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[start]) +</a:t>
            </a:r>
          </a:p>
          <a:p>
            <a:pPr>
              <a:tabLst>
                <a:tab pos="363538" algn="l"/>
                <a:tab pos="714375" algn="l"/>
                <a:tab pos="1077913" algn="l"/>
              </a:tabLst>
              <a:defRPr/>
            </a:pPr>
            <a:r>
              <a:rPr lang="en-US" sz="2000" b="1" dirty="0" smtClean="0">
                <a:solidFill>
                  <a:schemeClr val="tx1"/>
                </a:solidFill>
                <a:latin typeface="Courier New" pitchFamily="49" charset="0"/>
                <a:cs typeface="Courier New" pitchFamily="49" charset="0"/>
              </a:rPr>
              <a:t>		        </a:t>
            </a:r>
            <a:r>
              <a:rPr lang="en-US" sz="2000" b="1" dirty="0" err="1" smtClean="0">
                <a:solidFill>
                  <a:schemeClr val="tx1"/>
                </a:solidFill>
                <a:latin typeface="Courier New" pitchFamily="49" charset="0"/>
                <a:cs typeface="Courier New" pitchFamily="49" charset="0"/>
              </a:rPr>
              <a:t>countValue</a:t>
            </a:r>
            <a:r>
              <a:rPr lang="en-US" sz="2000" b="1" dirty="0" smtClean="0">
                <a:solidFill>
                  <a:schemeClr val="tx1"/>
                </a:solidFill>
                <a:latin typeface="Courier New" pitchFamily="49" charset="0"/>
                <a:cs typeface="Courier New" pitchFamily="49" charset="0"/>
              </a:rPr>
              <a:t>(</a:t>
            </a:r>
            <a:r>
              <a:rPr lang="en-US" sz="2000" b="1" dirty="0" err="1" smtClean="0">
                <a:solidFill>
                  <a:schemeClr val="tx1"/>
                </a:solidFill>
                <a:latin typeface="Courier New" pitchFamily="49" charset="0"/>
                <a:cs typeface="Courier New" pitchFamily="49" charset="0"/>
              </a:rPr>
              <a:t>val</a:t>
            </a:r>
            <a:r>
              <a:rPr lang="en-US" sz="2000" b="1" dirty="0" smtClean="0">
                <a:solidFill>
                  <a:schemeClr val="tx1"/>
                </a:solidFill>
                <a:latin typeface="Courier New" pitchFamily="49" charset="0"/>
                <a:cs typeface="Courier New" pitchFamily="49" charset="0"/>
              </a:rPr>
              <a:t>,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 , start+</a:t>
            </a:r>
            <a:r>
              <a:rPr lang="en-US" sz="2000" b="1" dirty="0" smtClean="0">
                <a:solidFill>
                  <a:srgbClr val="006600"/>
                </a:solidFill>
                <a:latin typeface="Courier New" pitchFamily="49" charset="0"/>
                <a:cs typeface="Courier New" pitchFamily="49" charset="0"/>
              </a:rPr>
              <a:t>1</a:t>
            </a:r>
            <a:r>
              <a:rPr lang="en-US" sz="2000" b="1" dirty="0" smtClean="0">
                <a:solidFill>
                  <a:schemeClr val="tx1"/>
                </a:solidFill>
                <a:latin typeface="Courier New" pitchFamily="49" charset="0"/>
                <a:cs typeface="Courier New" pitchFamily="49" charset="0"/>
              </a:rPr>
              <a:t>, size);</a:t>
            </a:r>
            <a:endParaRPr lang="en-US" sz="2000" b="1" dirty="0" smtClean="0">
              <a:latin typeface="Courier New" pitchFamily="49" charset="0"/>
              <a:cs typeface="Courier New" pitchFamily="49" charset="0"/>
            </a:endParaRPr>
          </a:p>
          <a:p>
            <a:pPr>
              <a:tabLst>
                <a:tab pos="363538" algn="l"/>
                <a:tab pos="714375" algn="l"/>
                <a:tab pos="1077913" algn="l"/>
              </a:tabLst>
              <a:defRPr/>
            </a:pP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36</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8. Auxiliary Function (2/3)</a:t>
            </a:r>
          </a:p>
        </p:txBody>
      </p:sp>
      <p:sp>
        <p:nvSpPr>
          <p:cNvPr id="40963" name="Rectangle 3"/>
          <p:cNvSpPr>
            <a:spLocks noGrp="1" noChangeArrowheads="1"/>
          </p:cNvSpPr>
          <p:nvPr>
            <p:ph type="body" idx="1"/>
          </p:nvPr>
        </p:nvSpPr>
        <p:spPr>
          <a:xfrm>
            <a:off x="457200" y="1449389"/>
            <a:ext cx="8229600" cy="848643"/>
          </a:xfrm>
        </p:spPr>
        <p:txBody>
          <a:bodyPr/>
          <a:lstStyle/>
          <a:p>
            <a:pPr>
              <a:spcBef>
                <a:spcPts val="600"/>
              </a:spcBef>
              <a:spcAft>
                <a:spcPts val="0"/>
              </a:spcAft>
            </a:pPr>
            <a:r>
              <a:rPr lang="en-US" sz="2400" dirty="0" smtClean="0"/>
              <a:t>However, doing so means that the calling function has to change the call from:</a:t>
            </a:r>
          </a:p>
        </p:txBody>
      </p:sp>
      <p:sp>
        <p:nvSpPr>
          <p:cNvPr id="7" name="TextBox 6"/>
          <p:cNvSpPr txBox="1"/>
          <p:nvPr/>
        </p:nvSpPr>
        <p:spPr>
          <a:xfrm>
            <a:off x="1237128" y="2356785"/>
            <a:ext cx="6938683"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latin typeface="Courier New" pitchFamily="49" charset="0"/>
                <a:cs typeface="Courier New" pitchFamily="49" charset="0"/>
              </a:rPr>
              <a:t>countValue</a:t>
            </a:r>
            <a:r>
              <a:rPr lang="en-US" sz="2000" b="1" dirty="0" smtClean="0">
                <a:latin typeface="Courier New" pitchFamily="49" charset="0"/>
                <a:cs typeface="Courier New" pitchFamily="49" charset="0"/>
              </a:rPr>
              <a:t>(value, list, ARRAY_SIZE)</a:t>
            </a:r>
          </a:p>
        </p:txBody>
      </p:sp>
      <p:sp>
        <p:nvSpPr>
          <p:cNvPr id="8" name="Rectangle 3"/>
          <p:cNvSpPr txBox="1">
            <a:spLocks noChangeArrowheads="1"/>
          </p:cNvSpPr>
          <p:nvPr/>
        </p:nvSpPr>
        <p:spPr bwMode="auto">
          <a:xfrm>
            <a:off x="457200" y="2919602"/>
            <a:ext cx="8229600" cy="4421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ts val="0"/>
              </a:spcAft>
              <a:buClr>
                <a:schemeClr val="bg2"/>
              </a:buClr>
              <a:buSzPct val="75000"/>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	to:</a:t>
            </a:r>
          </a:p>
        </p:txBody>
      </p:sp>
      <p:sp>
        <p:nvSpPr>
          <p:cNvPr id="9" name="TextBox 8"/>
          <p:cNvSpPr txBox="1"/>
          <p:nvPr/>
        </p:nvSpPr>
        <p:spPr>
          <a:xfrm>
            <a:off x="1237128" y="3423585"/>
            <a:ext cx="6943165"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latin typeface="Courier New" pitchFamily="49" charset="0"/>
                <a:cs typeface="Courier New" pitchFamily="49" charset="0"/>
              </a:rPr>
              <a:t>countValue</a:t>
            </a:r>
            <a:r>
              <a:rPr lang="en-US" sz="2000" b="1" dirty="0" smtClean="0">
                <a:latin typeface="Courier New" pitchFamily="49" charset="0"/>
                <a:cs typeface="Courier New" pitchFamily="49" charset="0"/>
              </a:rPr>
              <a:t>(value, list, </a:t>
            </a:r>
            <a:r>
              <a:rPr lang="en-US" sz="2000" b="1" dirty="0" smtClean="0">
                <a:solidFill>
                  <a:srgbClr val="006600"/>
                </a:solidFill>
                <a:latin typeface="Courier New" pitchFamily="49" charset="0"/>
                <a:cs typeface="Courier New" pitchFamily="49" charset="0"/>
              </a:rPr>
              <a:t>0</a:t>
            </a:r>
            <a:r>
              <a:rPr lang="en-US" sz="2000" b="1" dirty="0" smtClean="0">
                <a:latin typeface="Courier New" pitchFamily="49" charset="0"/>
                <a:cs typeface="Courier New" pitchFamily="49" charset="0"/>
              </a:rPr>
              <a:t>, ARRAY_SIZE)</a:t>
            </a:r>
          </a:p>
        </p:txBody>
      </p:sp>
      <p:sp>
        <p:nvSpPr>
          <p:cNvPr id="10" name="Rectangle 3"/>
          <p:cNvSpPr txBox="1">
            <a:spLocks noChangeArrowheads="1"/>
          </p:cNvSpPr>
          <p:nvPr/>
        </p:nvSpPr>
        <p:spPr bwMode="auto">
          <a:xfrm>
            <a:off x="457200" y="4049153"/>
            <a:ext cx="8229600" cy="8486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ts val="0"/>
              </a:spcAft>
              <a:buClr>
                <a:schemeClr val="bg2"/>
              </a:buClr>
              <a:buSzPct val="7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The additional parameter </a:t>
            </a:r>
            <a:r>
              <a:rPr kumimoji="0" lang="en-US" sz="2400" b="0" i="0" u="none" strike="noStrike" kern="0" cap="none" spc="0" normalizeH="0" baseline="0" noProof="0" dirty="0" smtClean="0">
                <a:ln>
                  <a:noFill/>
                </a:ln>
                <a:solidFill>
                  <a:srgbClr val="006600"/>
                </a:solidFill>
                <a:effectLst/>
                <a:uLnTx/>
                <a:uFillTx/>
                <a:latin typeface="+mn-lt"/>
                <a:ea typeface="+mn-ea"/>
                <a:cs typeface="+mn-cs"/>
              </a:rPr>
              <a:t>0</a:t>
            </a:r>
            <a:r>
              <a:rPr kumimoji="0" lang="en-US" sz="2400" b="0" i="0" u="none" strike="noStrike" kern="0" cap="none" spc="0" normalizeH="0" baseline="0" noProof="0" dirty="0" smtClean="0">
                <a:ln>
                  <a:noFill/>
                </a:ln>
                <a:solidFill>
                  <a:schemeClr val="tx1"/>
                </a:solidFill>
                <a:effectLst/>
                <a:uLnTx/>
                <a:uFillTx/>
                <a:latin typeface="+mn-lt"/>
                <a:ea typeface="+mn-ea"/>
                <a:cs typeface="+mn-cs"/>
              </a:rPr>
              <a:t> seems like a redundant data from </a:t>
            </a:r>
            <a:r>
              <a:rPr lang="en-US" sz="2400" kern="0" dirty="0" smtClean="0">
                <a:latin typeface="+mn-lt"/>
                <a:cs typeface="+mn-cs"/>
              </a:rPr>
              <a:t>caller’s point of view.</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37</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dissolve">
                                      <p:cBhvr>
                                        <p:cTn id="12" dur="500"/>
                                        <p:tgtEl>
                                          <p:spTgt spid="8">
                                            <p:txEl>
                                              <p:pRg st="0" end="0"/>
                                            </p:txEl>
                                          </p:spTgt>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dissolve">
                                      <p:cBhvr>
                                        <p:cTn id="2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P spid="9" grpId="0" animBg="1"/>
      <p:bldP spid="1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8. Auxiliary Function (3/3)</a:t>
            </a:r>
          </a:p>
        </p:txBody>
      </p:sp>
      <p:sp>
        <p:nvSpPr>
          <p:cNvPr id="40963" name="Rectangle 3"/>
          <p:cNvSpPr>
            <a:spLocks noGrp="1" noChangeArrowheads="1"/>
          </p:cNvSpPr>
          <p:nvPr>
            <p:ph type="body" idx="1"/>
          </p:nvPr>
        </p:nvSpPr>
        <p:spPr>
          <a:xfrm>
            <a:off x="457200" y="1449389"/>
            <a:ext cx="8229600" cy="559885"/>
          </a:xfrm>
        </p:spPr>
        <p:txBody>
          <a:bodyPr/>
          <a:lstStyle/>
          <a:p>
            <a:pPr>
              <a:spcBef>
                <a:spcPts val="600"/>
              </a:spcBef>
              <a:spcAft>
                <a:spcPts val="0"/>
              </a:spcAft>
            </a:pPr>
            <a:r>
              <a:rPr lang="en-US" sz="2000" dirty="0" smtClean="0"/>
              <a:t>Solution: Keep the calling part as:</a:t>
            </a:r>
          </a:p>
        </p:txBody>
      </p:sp>
      <p:sp>
        <p:nvSpPr>
          <p:cNvPr id="7" name="TextBox 6"/>
          <p:cNvSpPr txBox="1"/>
          <p:nvPr/>
        </p:nvSpPr>
        <p:spPr>
          <a:xfrm>
            <a:off x="1237128" y="1911617"/>
            <a:ext cx="6938683"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latin typeface="Courier New" pitchFamily="49" charset="0"/>
                <a:cs typeface="Courier New" pitchFamily="49" charset="0"/>
              </a:rPr>
              <a:t>countValue</a:t>
            </a:r>
            <a:r>
              <a:rPr lang="en-US" sz="2000" b="1" dirty="0" smtClean="0">
                <a:latin typeface="Courier New" pitchFamily="49" charset="0"/>
                <a:cs typeface="Courier New" pitchFamily="49" charset="0"/>
              </a:rPr>
              <a:t>(value, list, ARRAY_SIZE)</a:t>
            </a:r>
          </a:p>
        </p:txBody>
      </p:sp>
      <p:sp>
        <p:nvSpPr>
          <p:cNvPr id="11" name="Rectangle 3"/>
          <p:cNvSpPr txBox="1">
            <a:spLocks noChangeArrowheads="1"/>
          </p:cNvSpPr>
          <p:nvPr/>
        </p:nvSpPr>
        <p:spPr bwMode="auto">
          <a:xfrm>
            <a:off x="457200" y="3212431"/>
            <a:ext cx="8229600" cy="637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ts val="0"/>
              </a:spcAft>
              <a:buClr>
                <a:schemeClr val="bg2"/>
              </a:buClr>
              <a:buSzPct val="75000"/>
              <a:buFont typeface="Wingdings" pitchFamily="2" charset="2"/>
              <a:buChar char="n"/>
              <a:tabLst/>
              <a:defRPr/>
            </a:pPr>
            <a:r>
              <a:rPr lang="en-US" sz="2000" kern="0" dirty="0" smtClean="0">
                <a:latin typeface="+mn-lt"/>
                <a:cs typeface="+mn-cs"/>
              </a:rPr>
              <a:t>A</a:t>
            </a:r>
            <a:r>
              <a:rPr kumimoji="0" lang="en-US" sz="2000" b="0" i="0" u="none" strike="noStrike" kern="0" cap="none" spc="0" normalizeH="0" baseline="0" noProof="0" dirty="0" err="1" smtClean="0">
                <a:ln>
                  <a:noFill/>
                </a:ln>
                <a:solidFill>
                  <a:schemeClr val="tx1"/>
                </a:solidFill>
                <a:effectLst/>
                <a:uLnTx/>
                <a:uFillTx/>
                <a:latin typeface="+mn-lt"/>
                <a:ea typeface="+mn-ea"/>
                <a:cs typeface="+mn-cs"/>
              </a:rPr>
              <a:t>dd</a:t>
            </a:r>
            <a:r>
              <a:rPr kumimoji="0" lang="en-US" sz="2000" b="0" i="0" u="none" strike="noStrike" kern="0" cap="none" spc="0" normalizeH="0" baseline="0" noProof="0" dirty="0" smtClean="0">
                <a:ln>
                  <a:noFill/>
                </a:ln>
                <a:solidFill>
                  <a:schemeClr val="tx1"/>
                </a:solidFill>
                <a:effectLst/>
                <a:uLnTx/>
                <a:uFillTx/>
                <a:latin typeface="+mn-lt"/>
                <a:ea typeface="+mn-ea"/>
                <a:cs typeface="+mn-cs"/>
              </a:rPr>
              <a:t> a new function </a:t>
            </a:r>
            <a:r>
              <a:rPr kumimoji="0" lang="en-US" sz="2000" b="0" i="0" u="none" strike="noStrike" kern="0" cap="none" spc="0" normalizeH="0" baseline="0" noProof="0" dirty="0" err="1" smtClean="0">
                <a:ln>
                  <a:noFill/>
                </a:ln>
                <a:solidFill>
                  <a:srgbClr val="0000FF"/>
                </a:solidFill>
                <a:effectLst/>
                <a:uLnTx/>
                <a:uFillTx/>
                <a:latin typeface="+mn-lt"/>
                <a:ea typeface="+mn-ea"/>
                <a:cs typeface="+mn-cs"/>
              </a:rPr>
              <a:t>countValue</a:t>
            </a:r>
            <a:r>
              <a:rPr lang="en-US" sz="2000" kern="0" dirty="0" smtClean="0">
                <a:solidFill>
                  <a:srgbClr val="0000FF"/>
                </a:solidFill>
                <a:latin typeface="+mn-lt"/>
                <a:cs typeface="+mn-cs"/>
              </a:rPr>
              <a:t>()</a:t>
            </a:r>
            <a:r>
              <a:rPr lang="en-US" sz="2000" kern="0" dirty="0" smtClean="0">
                <a:latin typeface="+mn-lt"/>
                <a:cs typeface="+mn-cs"/>
              </a:rPr>
              <a:t> to act as a </a:t>
            </a:r>
            <a:r>
              <a:rPr lang="en-US" sz="2000" kern="0" dirty="0" smtClean="0">
                <a:solidFill>
                  <a:srgbClr val="C00000"/>
                </a:solidFill>
                <a:latin typeface="+mn-lt"/>
                <a:cs typeface="+mn-cs"/>
              </a:rPr>
              <a:t>driver function</a:t>
            </a:r>
            <a:r>
              <a:rPr lang="en-US" sz="2000" kern="0" dirty="0" smtClean="0">
                <a:latin typeface="+mn-lt"/>
                <a:cs typeface="+mn-cs"/>
              </a:rPr>
              <a:t>, as follows:</a:t>
            </a:r>
            <a:endParaRPr kumimoji="0" lang="en-US" sz="20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12" name="TextBox 11"/>
          <p:cNvSpPr txBox="1"/>
          <p:nvPr/>
        </p:nvSpPr>
        <p:spPr>
          <a:xfrm>
            <a:off x="786300" y="4023512"/>
            <a:ext cx="7981182"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tabLst>
                <a:tab pos="363538" algn="l"/>
                <a:tab pos="714375" algn="l"/>
                <a:tab pos="1077913" algn="l"/>
              </a:tabLst>
              <a:defRPr/>
            </a:pP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countValue</a:t>
            </a:r>
            <a:r>
              <a:rPr lang="en-US" sz="2000" b="1" dirty="0" smtClean="0">
                <a:latin typeface="Courier New" pitchFamily="49" charset="0"/>
                <a:cs typeface="Courier New" pitchFamily="49" charset="0"/>
              </a:rPr>
              <a:t>(</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value,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a:t>
            </a:r>
            <a:r>
              <a:rPr lang="en-US" sz="2000" b="1" dirty="0" err="1" smtClean="0">
                <a:latin typeface="Courier New" pitchFamily="49" charset="0"/>
                <a:cs typeface="Courier New" pitchFamily="49" charset="0"/>
              </a:rPr>
              <a:t>arr</a:t>
            </a:r>
            <a:r>
              <a:rPr lang="en-US" sz="2000" b="1" dirty="0" smtClean="0">
                <a:latin typeface="Courier New" pitchFamily="49" charset="0"/>
                <a:cs typeface="Courier New" pitchFamily="49" charset="0"/>
              </a:rPr>
              <a:t>[], </a:t>
            </a:r>
            <a:r>
              <a:rPr lang="en-US" sz="2000" b="1" dirty="0" err="1" smtClean="0">
                <a:solidFill>
                  <a:srgbClr val="0000FF"/>
                </a:solidFill>
                <a:latin typeface="Courier New" pitchFamily="49" charset="0"/>
                <a:cs typeface="Courier New" pitchFamily="49" charset="0"/>
              </a:rPr>
              <a:t>int</a:t>
            </a:r>
            <a:r>
              <a:rPr lang="en-US" sz="2000" b="1" dirty="0" smtClean="0">
                <a:latin typeface="Courier New" pitchFamily="49" charset="0"/>
                <a:cs typeface="Courier New" pitchFamily="49" charset="0"/>
              </a:rPr>
              <a:t> size) </a:t>
            </a:r>
          </a:p>
          <a:p>
            <a:pPr>
              <a:tabLst>
                <a:tab pos="363538" algn="l"/>
                <a:tab pos="714375" algn="l"/>
                <a:tab pos="1077913" algn="l"/>
              </a:tabLst>
              <a:defRPr/>
            </a:pPr>
            <a:r>
              <a:rPr lang="en-US" sz="2000" b="1" dirty="0" smtClean="0">
                <a:latin typeface="Courier New" pitchFamily="49" charset="0"/>
                <a:cs typeface="Courier New" pitchFamily="49" charset="0"/>
              </a:rPr>
              <a:t>{</a:t>
            </a:r>
          </a:p>
          <a:p>
            <a:pPr>
              <a:tabLst>
                <a:tab pos="363538" algn="l"/>
                <a:tab pos="714375" algn="l"/>
                <a:tab pos="1077913" algn="l"/>
              </a:tabLst>
              <a:defRPr/>
            </a:pPr>
            <a:r>
              <a:rPr lang="en-US" sz="2000" b="1" dirty="0" smtClean="0">
                <a:latin typeface="Courier New" pitchFamily="49" charset="0"/>
                <a:cs typeface="Courier New" pitchFamily="49" charset="0"/>
              </a:rPr>
              <a:t>	</a:t>
            </a:r>
            <a:r>
              <a:rPr lang="en-US" sz="2000" b="1" dirty="0" smtClean="0">
                <a:solidFill>
                  <a:srgbClr val="0000FF"/>
                </a:solidFill>
                <a:latin typeface="Courier New" pitchFamily="49" charset="0"/>
                <a:cs typeface="Courier New" pitchFamily="49" charset="0"/>
              </a:rPr>
              <a:t>return</a:t>
            </a:r>
            <a:r>
              <a:rPr lang="en-US" sz="2000" b="1" dirty="0" smtClean="0">
                <a:solidFill>
                  <a:schemeClr val="tx1"/>
                </a:solidFill>
                <a:latin typeface="Courier New" pitchFamily="49" charset="0"/>
                <a:cs typeface="Courier New" pitchFamily="49" charset="0"/>
              </a:rPr>
              <a:t> </a:t>
            </a:r>
            <a:r>
              <a:rPr lang="en-US" sz="2000" b="1" dirty="0" err="1" smtClean="0">
                <a:solidFill>
                  <a:schemeClr val="tx1"/>
                </a:solidFill>
                <a:latin typeface="Courier New" pitchFamily="49" charset="0"/>
                <a:cs typeface="Courier New" pitchFamily="49" charset="0"/>
              </a:rPr>
              <a:t>countValue_recur</a:t>
            </a:r>
            <a:r>
              <a:rPr lang="en-US" sz="2000" b="1" smtClean="0">
                <a:solidFill>
                  <a:schemeClr val="tx1"/>
                </a:solidFill>
                <a:latin typeface="Courier New" pitchFamily="49" charset="0"/>
                <a:cs typeface="Courier New" pitchFamily="49" charset="0"/>
              </a:rPr>
              <a:t>(value, </a:t>
            </a:r>
            <a:r>
              <a:rPr lang="en-US" sz="2000" b="1" dirty="0" err="1" smtClean="0">
                <a:solidFill>
                  <a:schemeClr val="tx1"/>
                </a:solidFill>
                <a:latin typeface="Courier New" pitchFamily="49" charset="0"/>
                <a:cs typeface="Courier New" pitchFamily="49" charset="0"/>
              </a:rPr>
              <a:t>arr</a:t>
            </a:r>
            <a:r>
              <a:rPr lang="en-US" sz="2000" b="1" dirty="0" smtClean="0">
                <a:solidFill>
                  <a:schemeClr val="tx1"/>
                </a:solidFill>
                <a:latin typeface="Courier New" pitchFamily="49" charset="0"/>
                <a:cs typeface="Courier New" pitchFamily="49" charset="0"/>
              </a:rPr>
              <a:t>, </a:t>
            </a:r>
            <a:r>
              <a:rPr lang="en-US" sz="2000" b="1" dirty="0" smtClean="0">
                <a:solidFill>
                  <a:srgbClr val="006600"/>
                </a:solidFill>
                <a:latin typeface="Courier New" pitchFamily="49" charset="0"/>
                <a:cs typeface="Courier New" pitchFamily="49" charset="0"/>
              </a:rPr>
              <a:t>0</a:t>
            </a:r>
            <a:r>
              <a:rPr lang="en-US" sz="2000" b="1" dirty="0" smtClean="0">
                <a:solidFill>
                  <a:schemeClr val="tx1"/>
                </a:solidFill>
                <a:latin typeface="Courier New" pitchFamily="49" charset="0"/>
                <a:cs typeface="Courier New" pitchFamily="49" charset="0"/>
              </a:rPr>
              <a:t>, size);</a:t>
            </a:r>
            <a:endParaRPr lang="en-US" sz="2000" b="1" dirty="0" smtClean="0">
              <a:latin typeface="Courier New" pitchFamily="49" charset="0"/>
              <a:cs typeface="Courier New" pitchFamily="49" charset="0"/>
            </a:endParaRPr>
          </a:p>
          <a:p>
            <a:pPr>
              <a:tabLst>
                <a:tab pos="363538" algn="l"/>
                <a:tab pos="714375" algn="l"/>
                <a:tab pos="1077913" algn="l"/>
              </a:tabLst>
              <a:defRPr/>
            </a:pPr>
            <a:r>
              <a:rPr lang="en-US" sz="2000" b="1" dirty="0" smtClean="0">
                <a:latin typeface="Courier New" pitchFamily="49" charset="0"/>
                <a:cs typeface="Courier New" pitchFamily="49" charset="0"/>
              </a:rPr>
              <a:t>}</a:t>
            </a:r>
            <a:endParaRPr lang="en-US" sz="2000" b="1" dirty="0">
              <a:latin typeface="Courier New" pitchFamily="49" charset="0"/>
              <a:cs typeface="Courier New" pitchFamily="49" charset="0"/>
            </a:endParaRPr>
          </a:p>
        </p:txBody>
      </p:sp>
      <p:sp>
        <p:nvSpPr>
          <p:cNvPr id="13" name="Rectangle 3"/>
          <p:cNvSpPr txBox="1">
            <a:spLocks noChangeArrowheads="1"/>
          </p:cNvSpPr>
          <p:nvPr/>
        </p:nvSpPr>
        <p:spPr bwMode="auto">
          <a:xfrm>
            <a:off x="486033" y="2458632"/>
            <a:ext cx="8229600" cy="801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ts val="0"/>
              </a:spcAft>
              <a:buClr>
                <a:schemeClr val="bg2"/>
              </a:buClr>
              <a:buSzPct val="75000"/>
              <a:buFont typeface="Wingdings" pitchFamily="2" charset="2"/>
              <a:buChar char="n"/>
              <a:tabLst/>
              <a:defRPr/>
            </a:pPr>
            <a:r>
              <a:rPr kumimoji="0" lang="en-US" sz="2000" b="0" i="0" u="none" strike="noStrike" kern="0" cap="none" spc="0" normalizeH="0" baseline="0" noProof="0" dirty="0" smtClean="0">
                <a:ln>
                  <a:noFill/>
                </a:ln>
                <a:solidFill>
                  <a:schemeClr val="tx1"/>
                </a:solidFill>
                <a:effectLst/>
                <a:uLnTx/>
                <a:uFillTx/>
                <a:latin typeface="+mn-lt"/>
                <a:ea typeface="+mn-ea"/>
                <a:cs typeface="+mn-cs"/>
              </a:rPr>
              <a:t>Rename</a:t>
            </a:r>
            <a:r>
              <a:rPr kumimoji="0" lang="en-US" sz="2000" b="0" i="0" u="none" strike="noStrike" kern="0" cap="none" spc="0" normalizeH="0" noProof="0" dirty="0" smtClean="0">
                <a:ln>
                  <a:noFill/>
                </a:ln>
                <a:solidFill>
                  <a:schemeClr val="tx1"/>
                </a:solidFill>
                <a:effectLst/>
                <a:uLnTx/>
                <a:uFillTx/>
                <a:latin typeface="+mn-lt"/>
                <a:ea typeface="+mn-ea"/>
                <a:cs typeface="+mn-cs"/>
              </a:rPr>
              <a:t> the original </a:t>
            </a:r>
            <a:r>
              <a:rPr kumimoji="0" lang="en-US" sz="2000" b="0" i="0" u="none" strike="noStrike" kern="0" cap="none" spc="0" normalizeH="0" noProof="0" dirty="0" err="1" smtClean="0">
                <a:ln>
                  <a:noFill/>
                </a:ln>
                <a:solidFill>
                  <a:srgbClr val="0000FF"/>
                </a:solidFill>
                <a:effectLst/>
                <a:uLnTx/>
                <a:uFillTx/>
                <a:latin typeface="+mn-lt"/>
                <a:ea typeface="+mn-ea"/>
                <a:cs typeface="+mn-cs"/>
              </a:rPr>
              <a:t>countValue</a:t>
            </a:r>
            <a:r>
              <a:rPr kumimoji="0" lang="en-US" sz="2000" b="0" i="0" u="none" strike="noStrike" kern="0" cap="none" spc="0" normalizeH="0" noProof="0" dirty="0" smtClean="0">
                <a:ln>
                  <a:noFill/>
                </a:ln>
                <a:solidFill>
                  <a:srgbClr val="0000FF"/>
                </a:solidFill>
                <a:effectLst/>
                <a:uLnTx/>
                <a:uFillTx/>
                <a:latin typeface="+mn-lt"/>
                <a:ea typeface="+mn-ea"/>
                <a:cs typeface="+mn-cs"/>
              </a:rPr>
              <a:t>()</a:t>
            </a:r>
            <a:r>
              <a:rPr kumimoji="0" lang="en-US" sz="2000" b="0" i="0" u="none" strike="noStrike" kern="0" cap="none" spc="0" normalizeH="0" noProof="0" dirty="0" smtClean="0">
                <a:ln>
                  <a:noFill/>
                </a:ln>
                <a:solidFill>
                  <a:schemeClr val="tx1"/>
                </a:solidFill>
                <a:effectLst/>
                <a:uLnTx/>
                <a:uFillTx/>
                <a:latin typeface="+mn-lt"/>
                <a:ea typeface="+mn-ea"/>
                <a:cs typeface="+mn-cs"/>
              </a:rPr>
              <a:t> function to </a:t>
            </a:r>
            <a:r>
              <a:rPr kumimoji="0" lang="en-US" sz="2000" b="0" i="0" u="none" strike="noStrike" kern="0" cap="none" spc="0" normalizeH="0" noProof="0" dirty="0" err="1" smtClean="0">
                <a:ln>
                  <a:noFill/>
                </a:ln>
                <a:solidFill>
                  <a:srgbClr val="0000FF"/>
                </a:solidFill>
                <a:effectLst/>
                <a:uLnTx/>
                <a:uFillTx/>
                <a:latin typeface="+mn-lt"/>
                <a:ea typeface="+mn-ea"/>
                <a:cs typeface="+mn-cs"/>
              </a:rPr>
              <a:t>countValue_recur</a:t>
            </a:r>
            <a:r>
              <a:rPr kumimoji="0" lang="en-US" sz="2000" b="0" i="0" u="none" strike="noStrike" kern="0" cap="none" spc="0" normalizeH="0" noProof="0" dirty="0" smtClean="0">
                <a:ln>
                  <a:noFill/>
                </a:ln>
                <a:solidFill>
                  <a:srgbClr val="0000FF"/>
                </a:solidFill>
                <a:effectLst/>
                <a:uLnTx/>
                <a:uFillTx/>
                <a:latin typeface="+mn-lt"/>
                <a:ea typeface="+mn-ea"/>
                <a:cs typeface="+mn-cs"/>
              </a:rPr>
              <a:t>()</a:t>
            </a:r>
            <a:r>
              <a:rPr kumimoji="0" lang="en-US" sz="2000" b="0" i="0" u="none" strike="noStrike" kern="0" cap="none" spc="0" normalizeH="0" noProof="0" dirty="0" smtClean="0">
                <a:ln>
                  <a:noFill/>
                </a:ln>
                <a:solidFill>
                  <a:schemeClr val="tx1"/>
                </a:solidFill>
                <a:effectLst/>
                <a:uLnTx/>
                <a:uFillTx/>
                <a:latin typeface="+mn-lt"/>
                <a:ea typeface="+mn-ea"/>
                <a:cs typeface="+mn-cs"/>
              </a:rPr>
              <a:t>. The recursive call inside should also be similarly renamed.</a:t>
            </a:r>
            <a:endParaRPr kumimoji="0" lang="en-US" sz="20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14" name="Rectangle 3"/>
          <p:cNvSpPr txBox="1">
            <a:spLocks noChangeArrowheads="1"/>
          </p:cNvSpPr>
          <p:nvPr/>
        </p:nvSpPr>
        <p:spPr bwMode="auto">
          <a:xfrm>
            <a:off x="457200" y="5482389"/>
            <a:ext cx="8229600" cy="637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600"/>
              </a:spcBef>
              <a:spcAft>
                <a:spcPts val="0"/>
              </a:spcAft>
              <a:buClr>
                <a:schemeClr val="bg2"/>
              </a:buClr>
              <a:buSzPct val="75000"/>
              <a:buFont typeface="Wingdings" pitchFamily="2" charset="2"/>
              <a:buChar char="n"/>
              <a:tabLst/>
              <a:defRPr/>
            </a:pPr>
            <a:r>
              <a:rPr lang="en-US" sz="2000" kern="0" dirty="0" smtClean="0">
                <a:latin typeface="+mn-lt"/>
                <a:cs typeface="+mn-cs"/>
              </a:rPr>
              <a:t>See program </a:t>
            </a:r>
            <a:r>
              <a:rPr lang="en-US" sz="2000" kern="0" dirty="0" smtClean="0">
                <a:solidFill>
                  <a:srgbClr val="0000FF"/>
                </a:solidFill>
                <a:latin typeface="+mn-lt"/>
                <a:cs typeface="+mn-cs"/>
              </a:rPr>
              <a:t>Week11_countValue_auxiliary.c</a:t>
            </a:r>
            <a:r>
              <a:rPr lang="en-US" sz="2000" kern="0" dirty="0" smtClean="0">
                <a:latin typeface="+mn-lt"/>
                <a:cs typeface="+mn-cs"/>
              </a:rPr>
              <a:t> </a:t>
            </a:r>
            <a:endParaRPr kumimoji="0" lang="en-US" sz="20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38</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dissolve">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dissolve">
                                      <p:cBhvr>
                                        <p:cTn id="17" dur="500"/>
                                        <p:tgtEl>
                                          <p:spTgt spid="11">
                                            <p:txEl>
                                              <p:pRg st="0" end="0"/>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dissolve">
                                      <p:cBhvr>
                                        <p:cTn id="25"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build="p"/>
      <p:bldP spid="12" grpId="0" animBg="1"/>
      <p:bldP spid="13" grpId="0" build="p"/>
      <p:bldP spid="1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9. Types of Recursion</a:t>
            </a:r>
          </a:p>
        </p:txBody>
      </p:sp>
      <p:sp>
        <p:nvSpPr>
          <p:cNvPr id="40963" name="Rectangle 3"/>
          <p:cNvSpPr>
            <a:spLocks noGrp="1" noChangeArrowheads="1"/>
          </p:cNvSpPr>
          <p:nvPr>
            <p:ph type="body" idx="1"/>
          </p:nvPr>
        </p:nvSpPr>
        <p:spPr>
          <a:xfrm>
            <a:off x="457200" y="1449388"/>
            <a:ext cx="8229600" cy="4851400"/>
          </a:xfrm>
        </p:spPr>
        <p:txBody>
          <a:bodyPr/>
          <a:lstStyle/>
          <a:p>
            <a:pPr>
              <a:spcAft>
                <a:spcPct val="10000"/>
              </a:spcAft>
            </a:pPr>
            <a:r>
              <a:rPr lang="en-US" sz="2800" dirty="0" smtClean="0"/>
              <a:t>Besides direct recursion (function A calls itself), there could be mutual or indirect recursion (we do not cover these in CS1010)</a:t>
            </a:r>
          </a:p>
          <a:p>
            <a:pPr lvl="1">
              <a:spcAft>
                <a:spcPct val="10000"/>
              </a:spcAft>
            </a:pPr>
            <a:r>
              <a:rPr lang="en-US" sz="2400" dirty="0" smtClean="0"/>
              <a:t>Examples: Function A calls function B, which calls function A; or function X calls function Y, which calls function Z, which calls function X.</a:t>
            </a:r>
          </a:p>
          <a:p>
            <a:pPr>
              <a:spcBef>
                <a:spcPts val="600"/>
              </a:spcBef>
            </a:pPr>
            <a:r>
              <a:rPr lang="en-US" sz="2800" dirty="0" smtClean="0"/>
              <a:t>Note that it is </a:t>
            </a:r>
            <a:r>
              <a:rPr lang="en-US" sz="2800" u="sng" dirty="0" smtClean="0"/>
              <a:t>not typical</a:t>
            </a:r>
            <a:r>
              <a:rPr lang="en-US" sz="2800" dirty="0" smtClean="0"/>
              <a:t> to write a recursive main() function.</a:t>
            </a:r>
          </a:p>
          <a:p>
            <a:pPr>
              <a:spcBef>
                <a:spcPts val="600"/>
              </a:spcBef>
            </a:pPr>
            <a:r>
              <a:rPr lang="en-US" sz="2800" dirty="0" smtClean="0"/>
              <a:t>One type of recursion is known as</a:t>
            </a:r>
            <a:r>
              <a:rPr lang="en-US" sz="2800" dirty="0" smtClean="0">
                <a:solidFill>
                  <a:srgbClr val="0000FF"/>
                </a:solidFill>
              </a:rPr>
              <a:t> tail recursion.</a:t>
            </a:r>
          </a:p>
          <a:p>
            <a:pPr lvl="1">
              <a:spcBef>
                <a:spcPts val="600"/>
              </a:spcBef>
            </a:pPr>
            <a:r>
              <a:rPr lang="en-US" sz="2400" dirty="0" smtClean="0"/>
              <a:t>Not covered in CS1010</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39</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457200"/>
            <a:ext cx="8229600" cy="892175"/>
          </a:xfrm>
        </p:spPr>
        <p:txBody>
          <a:bodyPr/>
          <a:lstStyle/>
          <a:p>
            <a:r>
              <a:rPr lang="en-US" sz="4000" dirty="0" smtClean="0">
                <a:solidFill>
                  <a:srgbClr val="9933FF"/>
                </a:solidFill>
                <a:latin typeface="Garamond" pitchFamily="18" charset="0"/>
              </a:rPr>
              <a:t>10. Tracing Recursive Codes</a:t>
            </a:r>
          </a:p>
        </p:txBody>
      </p:sp>
      <p:sp>
        <p:nvSpPr>
          <p:cNvPr id="40963" name="Rectangle 3"/>
          <p:cNvSpPr>
            <a:spLocks noGrp="1" noChangeArrowheads="1"/>
          </p:cNvSpPr>
          <p:nvPr>
            <p:ph type="body" idx="1"/>
          </p:nvPr>
        </p:nvSpPr>
        <p:spPr>
          <a:xfrm>
            <a:off x="457200" y="1292978"/>
            <a:ext cx="8229600" cy="5011570"/>
          </a:xfrm>
        </p:spPr>
        <p:txBody>
          <a:bodyPr/>
          <a:lstStyle/>
          <a:p>
            <a:pPr>
              <a:spcBef>
                <a:spcPts val="1200"/>
              </a:spcBef>
              <a:spcAft>
                <a:spcPts val="0"/>
              </a:spcAft>
            </a:pPr>
            <a:r>
              <a:rPr lang="en-US" sz="2200" dirty="0" smtClean="0"/>
              <a:t>Beginners usually rely on tracing to understand the sequence of recursive calls and the passing back of results.</a:t>
            </a:r>
          </a:p>
          <a:p>
            <a:pPr>
              <a:spcBef>
                <a:spcPts val="1200"/>
              </a:spcBef>
              <a:spcAft>
                <a:spcPts val="0"/>
              </a:spcAft>
            </a:pPr>
            <a:r>
              <a:rPr lang="en-US" sz="2200" dirty="0" smtClean="0">
                <a:solidFill>
                  <a:srgbClr val="006600"/>
                </a:solidFill>
              </a:rPr>
              <a:t>However, tracing a recursive code is </a:t>
            </a:r>
            <a:r>
              <a:rPr lang="en-US" sz="2200" u="sng" dirty="0" smtClean="0">
                <a:solidFill>
                  <a:srgbClr val="006600"/>
                </a:solidFill>
              </a:rPr>
              <a:t>tedious</a:t>
            </a:r>
            <a:r>
              <a:rPr lang="en-US" sz="2200" dirty="0" smtClean="0">
                <a:solidFill>
                  <a:srgbClr val="006600"/>
                </a:solidFill>
              </a:rPr>
              <a:t>, especially for non-tail-recursive codes. The trace tree could be huge (example: </a:t>
            </a:r>
            <a:r>
              <a:rPr lang="en-US" sz="2200" dirty="0" err="1" smtClean="0">
                <a:solidFill>
                  <a:srgbClr val="006600"/>
                </a:solidFill>
              </a:rPr>
              <a:t>fibonacci</a:t>
            </a:r>
            <a:r>
              <a:rPr lang="en-US" sz="2200" dirty="0" smtClean="0">
                <a:solidFill>
                  <a:srgbClr val="006600"/>
                </a:solidFill>
              </a:rPr>
              <a:t>.)</a:t>
            </a:r>
          </a:p>
          <a:p>
            <a:pPr>
              <a:spcBef>
                <a:spcPts val="1200"/>
              </a:spcBef>
              <a:spcAft>
                <a:spcPts val="0"/>
              </a:spcAft>
            </a:pPr>
            <a:r>
              <a:rPr lang="en-US" sz="2200" dirty="0" smtClean="0"/>
              <a:t>If you find that tracing is needed to aid your understanding, start tracing with </a:t>
            </a:r>
            <a:r>
              <a:rPr lang="en-US" sz="2200" dirty="0" smtClean="0">
                <a:solidFill>
                  <a:srgbClr val="0000FF"/>
                </a:solidFill>
              </a:rPr>
              <a:t>small</a:t>
            </a:r>
            <a:r>
              <a:rPr lang="en-US" sz="2200" dirty="0" smtClean="0"/>
              <a:t> problem sizes, then gradually see the relationship between the successive calls.</a:t>
            </a:r>
          </a:p>
          <a:p>
            <a:pPr>
              <a:spcBef>
                <a:spcPts val="1200"/>
              </a:spcBef>
              <a:spcAft>
                <a:spcPts val="0"/>
              </a:spcAft>
            </a:pPr>
            <a:r>
              <a:rPr lang="en-US" sz="2200" dirty="0" smtClean="0">
                <a:solidFill>
                  <a:srgbClr val="006600"/>
                </a:solidFill>
              </a:rPr>
              <a:t>Students should </a:t>
            </a:r>
            <a:r>
              <a:rPr lang="en-US" sz="2200" u="sng" dirty="0" smtClean="0">
                <a:solidFill>
                  <a:srgbClr val="006600"/>
                </a:solidFill>
              </a:rPr>
              <a:t>grow out of tracing habit</a:t>
            </a:r>
            <a:r>
              <a:rPr lang="en-US" sz="2200" dirty="0" smtClean="0">
                <a:solidFill>
                  <a:srgbClr val="006600"/>
                </a:solidFill>
              </a:rPr>
              <a:t> and understand recursion by examining the </a:t>
            </a:r>
            <a:r>
              <a:rPr lang="en-US" sz="2200" u="sng" dirty="0" smtClean="0">
                <a:solidFill>
                  <a:srgbClr val="006600"/>
                </a:solidFill>
              </a:rPr>
              <a:t>relationship between the problem and its immediate </a:t>
            </a:r>
            <a:r>
              <a:rPr lang="en-US" sz="2200" u="sng" dirty="0" err="1" smtClean="0">
                <a:solidFill>
                  <a:srgbClr val="006600"/>
                </a:solidFill>
              </a:rPr>
              <a:t>subproblem</a:t>
            </a:r>
            <a:r>
              <a:rPr lang="en-US" sz="2200" u="sng" dirty="0" smtClean="0">
                <a:solidFill>
                  <a:srgbClr val="006600"/>
                </a:solidFill>
              </a:rPr>
              <a:t>(s)</a:t>
            </a:r>
            <a:r>
              <a:rPr lang="en-US" sz="2200" dirty="0" smtClean="0">
                <a:solidFill>
                  <a:srgbClr val="006600"/>
                </a:solidFill>
              </a:rPr>
              <a:t>.</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40</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457200" y="457200"/>
            <a:ext cx="8229600" cy="965200"/>
          </a:xfrm>
        </p:spPr>
        <p:txBody>
          <a:bodyPr/>
          <a:lstStyle/>
          <a:p>
            <a:r>
              <a:rPr lang="en-US" sz="4000" dirty="0" smtClean="0">
                <a:solidFill>
                  <a:srgbClr val="9933FF"/>
                </a:solidFill>
                <a:latin typeface="Garamond" pitchFamily="18" charset="0"/>
              </a:rPr>
              <a:t>11. Recursion versus Iteration (1/2)</a:t>
            </a:r>
          </a:p>
        </p:txBody>
      </p:sp>
      <p:sp>
        <p:nvSpPr>
          <p:cNvPr id="66563" name="Content Placeholder 2"/>
          <p:cNvSpPr>
            <a:spLocks noGrp="1"/>
          </p:cNvSpPr>
          <p:nvPr>
            <p:ph idx="1"/>
          </p:nvPr>
        </p:nvSpPr>
        <p:spPr>
          <a:xfrm>
            <a:off x="384175" y="1466850"/>
            <a:ext cx="8280400" cy="4945063"/>
          </a:xfrm>
        </p:spPr>
        <p:txBody>
          <a:bodyPr/>
          <a:lstStyle/>
          <a:p>
            <a:pPr>
              <a:spcBef>
                <a:spcPts val="1200"/>
              </a:spcBef>
              <a:spcAft>
                <a:spcPts val="0"/>
              </a:spcAft>
            </a:pPr>
            <a:r>
              <a:rPr lang="en-US" sz="2400" dirty="0" smtClean="0">
                <a:solidFill>
                  <a:srgbClr val="0000FF"/>
                </a:solidFill>
              </a:rPr>
              <a:t>Iteration can be more efficient</a:t>
            </a:r>
          </a:p>
          <a:p>
            <a:pPr lvl="1">
              <a:spcBef>
                <a:spcPts val="600"/>
              </a:spcBef>
              <a:spcAft>
                <a:spcPts val="0"/>
              </a:spcAft>
            </a:pPr>
            <a:r>
              <a:rPr lang="en-US" sz="2000" dirty="0" smtClean="0"/>
              <a:t>Replaces function calls with looping</a:t>
            </a:r>
          </a:p>
          <a:p>
            <a:pPr lvl="1">
              <a:spcBef>
                <a:spcPts val="600"/>
              </a:spcBef>
              <a:spcAft>
                <a:spcPts val="0"/>
              </a:spcAft>
            </a:pPr>
            <a:r>
              <a:rPr lang="en-US" sz="2000" dirty="0" smtClean="0"/>
              <a:t>Less memory is used (no activation record for each call)</a:t>
            </a:r>
          </a:p>
          <a:p>
            <a:pPr>
              <a:spcBef>
                <a:spcPts val="1200"/>
              </a:spcBef>
              <a:spcAft>
                <a:spcPts val="0"/>
              </a:spcAft>
            </a:pPr>
            <a:r>
              <a:rPr lang="en-US" sz="2400" dirty="0" smtClean="0">
                <a:solidFill>
                  <a:srgbClr val="0000FF"/>
                </a:solidFill>
              </a:rPr>
              <a:t>Some good compilers are able to transform a tail-recursion code into an iterative code.</a:t>
            </a:r>
          </a:p>
          <a:p>
            <a:pPr>
              <a:spcBef>
                <a:spcPts val="1200"/>
              </a:spcBef>
              <a:spcAft>
                <a:spcPts val="0"/>
              </a:spcAft>
            </a:pPr>
            <a:r>
              <a:rPr lang="en-US" sz="2400" dirty="0" smtClean="0">
                <a:solidFill>
                  <a:srgbClr val="0000FF"/>
                </a:solidFill>
              </a:rPr>
              <a:t>If a problem can be done easily with iteration, then do it with iteration.</a:t>
            </a:r>
          </a:p>
          <a:p>
            <a:pPr lvl="1">
              <a:spcBef>
                <a:spcPts val="600"/>
              </a:spcBef>
              <a:spcAft>
                <a:spcPts val="0"/>
              </a:spcAft>
            </a:pPr>
            <a:r>
              <a:rPr lang="en-US" sz="2000" dirty="0" smtClean="0"/>
              <a:t>For example, Fibonacci can be coded with iteration or recursion, but the recursive version is very inefficient (large call tree due to duplicate computations), so use iteration instead. </a:t>
            </a:r>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41</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dissolve">
                                      <p:cBhvr>
                                        <p:cTn id="7" dur="500"/>
                                        <p:tgtEl>
                                          <p:spTgt spid="6656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6563">
                                            <p:txEl>
                                              <p:pRg st="1" end="1"/>
                                            </p:txEl>
                                          </p:spTgt>
                                        </p:tgtEl>
                                        <p:attrNameLst>
                                          <p:attrName>style.visibility</p:attrName>
                                        </p:attrNameLst>
                                      </p:cBhvr>
                                      <p:to>
                                        <p:strVal val="visible"/>
                                      </p:to>
                                    </p:set>
                                    <p:animEffect transition="in" filter="dissolve">
                                      <p:cBhvr>
                                        <p:cTn id="10" dur="500"/>
                                        <p:tgtEl>
                                          <p:spTgt spid="6656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6563">
                                            <p:txEl>
                                              <p:pRg st="2" end="2"/>
                                            </p:txEl>
                                          </p:spTgt>
                                        </p:tgtEl>
                                        <p:attrNameLst>
                                          <p:attrName>style.visibility</p:attrName>
                                        </p:attrNameLst>
                                      </p:cBhvr>
                                      <p:to>
                                        <p:strVal val="visible"/>
                                      </p:to>
                                    </p:set>
                                    <p:animEffect transition="in" filter="dissolve">
                                      <p:cBhvr>
                                        <p:cTn id="13" dur="500"/>
                                        <p:tgtEl>
                                          <p:spTgt spid="6656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6563">
                                            <p:txEl>
                                              <p:pRg st="3" end="3"/>
                                            </p:txEl>
                                          </p:spTgt>
                                        </p:tgtEl>
                                        <p:attrNameLst>
                                          <p:attrName>style.visibility</p:attrName>
                                        </p:attrNameLst>
                                      </p:cBhvr>
                                      <p:to>
                                        <p:strVal val="visible"/>
                                      </p:to>
                                    </p:set>
                                    <p:animEffect transition="in" filter="dissolve">
                                      <p:cBhvr>
                                        <p:cTn id="18" dur="500"/>
                                        <p:tgtEl>
                                          <p:spTgt spid="6656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6563">
                                            <p:txEl>
                                              <p:pRg st="4" end="4"/>
                                            </p:txEl>
                                          </p:spTgt>
                                        </p:tgtEl>
                                        <p:attrNameLst>
                                          <p:attrName>style.visibility</p:attrName>
                                        </p:attrNameLst>
                                      </p:cBhvr>
                                      <p:to>
                                        <p:strVal val="visible"/>
                                      </p:to>
                                    </p:set>
                                    <p:animEffect transition="in" filter="dissolve">
                                      <p:cBhvr>
                                        <p:cTn id="23" dur="500"/>
                                        <p:tgtEl>
                                          <p:spTgt spid="66563">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66563">
                                            <p:txEl>
                                              <p:pRg st="5" end="5"/>
                                            </p:txEl>
                                          </p:spTgt>
                                        </p:tgtEl>
                                        <p:attrNameLst>
                                          <p:attrName>style.visibility</p:attrName>
                                        </p:attrNameLst>
                                      </p:cBhvr>
                                      <p:to>
                                        <p:strVal val="visible"/>
                                      </p:to>
                                    </p:set>
                                    <p:animEffect transition="in" filter="dissolve">
                                      <p:cBhvr>
                                        <p:cTn id="26" dur="500"/>
                                        <p:tgtEl>
                                          <p:spTgt spid="665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457200" y="457200"/>
            <a:ext cx="8229600" cy="965200"/>
          </a:xfrm>
        </p:spPr>
        <p:txBody>
          <a:bodyPr/>
          <a:lstStyle/>
          <a:p>
            <a:r>
              <a:rPr lang="en-US" sz="4000" dirty="0" smtClean="0">
                <a:solidFill>
                  <a:srgbClr val="9933FF"/>
                </a:solidFill>
                <a:latin typeface="Garamond" pitchFamily="18" charset="0"/>
              </a:rPr>
              <a:t>11. Recursion versus Iteration (2/2)</a:t>
            </a:r>
          </a:p>
        </p:txBody>
      </p:sp>
      <p:sp>
        <p:nvSpPr>
          <p:cNvPr id="66563" name="Content Placeholder 2"/>
          <p:cNvSpPr>
            <a:spLocks noGrp="1"/>
          </p:cNvSpPr>
          <p:nvPr>
            <p:ph idx="1"/>
          </p:nvPr>
        </p:nvSpPr>
        <p:spPr>
          <a:xfrm>
            <a:off x="384175" y="1466850"/>
            <a:ext cx="8280400" cy="4945063"/>
          </a:xfrm>
        </p:spPr>
        <p:txBody>
          <a:bodyPr/>
          <a:lstStyle/>
          <a:p>
            <a:pPr>
              <a:spcBef>
                <a:spcPts val="1200"/>
              </a:spcBef>
            </a:pPr>
            <a:r>
              <a:rPr lang="en-US" sz="2400" dirty="0" smtClean="0">
                <a:solidFill>
                  <a:srgbClr val="0000FF"/>
                </a:solidFill>
              </a:rPr>
              <a:t>Many problems are more naturally solved with recursion, which can provide elegant solution.</a:t>
            </a:r>
          </a:p>
          <a:p>
            <a:pPr lvl="1">
              <a:spcBef>
                <a:spcPts val="600"/>
              </a:spcBef>
            </a:pPr>
            <a:r>
              <a:rPr lang="en-US" sz="2000" dirty="0" smtClean="0"/>
              <a:t>Towers of Hanoi</a:t>
            </a:r>
          </a:p>
          <a:p>
            <a:pPr lvl="1">
              <a:spcBef>
                <a:spcPts val="600"/>
              </a:spcBef>
            </a:pPr>
            <a:r>
              <a:rPr lang="en-US" sz="2000" dirty="0" err="1" smtClean="0"/>
              <a:t>Mergesort</a:t>
            </a:r>
            <a:r>
              <a:rPr lang="en-US" sz="2000" dirty="0" smtClean="0"/>
              <a:t> (to be covered in CS1020)</a:t>
            </a:r>
          </a:p>
          <a:p>
            <a:pPr lvl="1">
              <a:spcBef>
                <a:spcPts val="600"/>
              </a:spcBef>
            </a:pPr>
            <a:r>
              <a:rPr lang="en-US" sz="2000" dirty="0" smtClean="0"/>
              <a:t>The N Queens problem</a:t>
            </a:r>
          </a:p>
          <a:p>
            <a:pPr>
              <a:spcBef>
                <a:spcPts val="1200"/>
              </a:spcBef>
            </a:pPr>
            <a:r>
              <a:rPr lang="en-US" sz="2400" dirty="0" smtClean="0">
                <a:solidFill>
                  <a:srgbClr val="0000FF"/>
                </a:solidFill>
              </a:rPr>
              <a:t>Conclusion: choice depends on problem and the solution context. In general, use recursion if</a:t>
            </a:r>
          </a:p>
          <a:p>
            <a:pPr lvl="1">
              <a:spcBef>
                <a:spcPts val="600"/>
              </a:spcBef>
            </a:pPr>
            <a:r>
              <a:rPr lang="en-US" sz="2000" dirty="0" smtClean="0"/>
              <a:t>A recursive solution is natural and easy to understand.</a:t>
            </a:r>
          </a:p>
          <a:p>
            <a:pPr lvl="1">
              <a:spcBef>
                <a:spcPts val="600"/>
              </a:spcBef>
            </a:pPr>
            <a:r>
              <a:rPr lang="en-US" sz="2000" dirty="0" smtClean="0"/>
              <a:t>A recursive solution does not result in excessive duplicate computation.</a:t>
            </a:r>
          </a:p>
          <a:p>
            <a:pPr lvl="1">
              <a:spcBef>
                <a:spcPts val="600"/>
              </a:spcBef>
            </a:pPr>
            <a:r>
              <a:rPr lang="en-US" sz="2000" dirty="0" smtClean="0"/>
              <a:t>The equivalent iterative solution is too complex.</a:t>
            </a:r>
          </a:p>
        </p:txBody>
      </p:sp>
      <p:pic>
        <p:nvPicPr>
          <p:cNvPr id="7" name="Picture 6" descr="n_queens.gif"/>
          <p:cNvPicPr>
            <a:picLocks noChangeAspect="1"/>
          </p:cNvPicPr>
          <p:nvPr/>
        </p:nvPicPr>
        <p:blipFill>
          <a:blip r:embed="rId3" cstate="print"/>
          <a:srcRect/>
          <a:stretch>
            <a:fillRect/>
          </a:stretch>
        </p:blipFill>
        <p:spPr bwMode="auto">
          <a:xfrm>
            <a:off x="6788150" y="1874838"/>
            <a:ext cx="1535113" cy="1647825"/>
          </a:xfrm>
          <a:prstGeom prst="rect">
            <a:avLst/>
          </a:prstGeom>
          <a:noFill/>
          <a:ln w="9525">
            <a:noFill/>
            <a:miter lim="800000"/>
            <a:headEnd/>
            <a:tailEnd/>
          </a:ln>
        </p:spPr>
      </p:pic>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42</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dissolve">
                                      <p:cBhvr>
                                        <p:cTn id="7" dur="500"/>
                                        <p:tgtEl>
                                          <p:spTgt spid="6656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6563">
                                            <p:txEl>
                                              <p:pRg st="1" end="1"/>
                                            </p:txEl>
                                          </p:spTgt>
                                        </p:tgtEl>
                                        <p:attrNameLst>
                                          <p:attrName>style.visibility</p:attrName>
                                        </p:attrNameLst>
                                      </p:cBhvr>
                                      <p:to>
                                        <p:strVal val="visible"/>
                                      </p:to>
                                    </p:set>
                                    <p:animEffect transition="in" filter="dissolve">
                                      <p:cBhvr>
                                        <p:cTn id="10" dur="500"/>
                                        <p:tgtEl>
                                          <p:spTgt spid="6656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6563">
                                            <p:txEl>
                                              <p:pRg st="2" end="2"/>
                                            </p:txEl>
                                          </p:spTgt>
                                        </p:tgtEl>
                                        <p:attrNameLst>
                                          <p:attrName>style.visibility</p:attrName>
                                        </p:attrNameLst>
                                      </p:cBhvr>
                                      <p:to>
                                        <p:strVal val="visible"/>
                                      </p:to>
                                    </p:set>
                                    <p:animEffect transition="in" filter="dissolve">
                                      <p:cBhvr>
                                        <p:cTn id="13" dur="500"/>
                                        <p:tgtEl>
                                          <p:spTgt spid="6656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6563">
                                            <p:txEl>
                                              <p:pRg st="3" end="3"/>
                                            </p:txEl>
                                          </p:spTgt>
                                        </p:tgtEl>
                                        <p:attrNameLst>
                                          <p:attrName>style.visibility</p:attrName>
                                        </p:attrNameLst>
                                      </p:cBhvr>
                                      <p:to>
                                        <p:strVal val="visible"/>
                                      </p:to>
                                    </p:set>
                                    <p:animEffect transition="in" filter="dissolve">
                                      <p:cBhvr>
                                        <p:cTn id="16" dur="500"/>
                                        <p:tgtEl>
                                          <p:spTgt spid="66563">
                                            <p:txEl>
                                              <p:pRg st="3" end="3"/>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6563">
                                            <p:txEl>
                                              <p:pRg st="4" end="4"/>
                                            </p:txEl>
                                          </p:spTgt>
                                        </p:tgtEl>
                                        <p:attrNameLst>
                                          <p:attrName>style.visibility</p:attrName>
                                        </p:attrNameLst>
                                      </p:cBhvr>
                                      <p:to>
                                        <p:strVal val="visible"/>
                                      </p:to>
                                    </p:set>
                                    <p:animEffect transition="in" filter="dissolve">
                                      <p:cBhvr>
                                        <p:cTn id="25" dur="500"/>
                                        <p:tgtEl>
                                          <p:spTgt spid="66563">
                                            <p:txEl>
                                              <p:pRg st="4" end="4"/>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6563">
                                            <p:txEl>
                                              <p:pRg st="5" end="5"/>
                                            </p:txEl>
                                          </p:spTgt>
                                        </p:tgtEl>
                                        <p:attrNameLst>
                                          <p:attrName>style.visibility</p:attrName>
                                        </p:attrNameLst>
                                      </p:cBhvr>
                                      <p:to>
                                        <p:strVal val="visible"/>
                                      </p:to>
                                    </p:set>
                                    <p:animEffect transition="in" filter="dissolve">
                                      <p:cBhvr>
                                        <p:cTn id="28" dur="500"/>
                                        <p:tgtEl>
                                          <p:spTgt spid="66563">
                                            <p:txEl>
                                              <p:pRg st="5" end="5"/>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6563">
                                            <p:txEl>
                                              <p:pRg st="6" end="6"/>
                                            </p:txEl>
                                          </p:spTgt>
                                        </p:tgtEl>
                                        <p:attrNameLst>
                                          <p:attrName>style.visibility</p:attrName>
                                        </p:attrNameLst>
                                      </p:cBhvr>
                                      <p:to>
                                        <p:strVal val="visible"/>
                                      </p:to>
                                    </p:set>
                                    <p:animEffect transition="in" filter="dissolve">
                                      <p:cBhvr>
                                        <p:cTn id="31" dur="500"/>
                                        <p:tgtEl>
                                          <p:spTgt spid="66563">
                                            <p:txEl>
                                              <p:pRg st="6" end="6"/>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6563">
                                            <p:txEl>
                                              <p:pRg st="7" end="7"/>
                                            </p:txEl>
                                          </p:spTgt>
                                        </p:tgtEl>
                                        <p:attrNameLst>
                                          <p:attrName>style.visibility</p:attrName>
                                        </p:attrNameLst>
                                      </p:cBhvr>
                                      <p:to>
                                        <p:strVal val="visible"/>
                                      </p:to>
                                    </p:set>
                                    <p:animEffect transition="in" filter="dissolve">
                                      <p:cBhvr>
                                        <p:cTn id="34" dur="500"/>
                                        <p:tgtEl>
                                          <p:spTgt spid="665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457200" y="457200"/>
            <a:ext cx="8229600" cy="965200"/>
          </a:xfrm>
        </p:spPr>
        <p:txBody>
          <a:bodyPr/>
          <a:lstStyle/>
          <a:p>
            <a:r>
              <a:rPr lang="en-US" sz="4000" dirty="0" smtClean="0">
                <a:solidFill>
                  <a:srgbClr val="9933FF"/>
                </a:solidFill>
                <a:latin typeface="Garamond" pitchFamily="18" charset="0"/>
              </a:rPr>
              <a:t>12. Tower Of Hanoi</a:t>
            </a:r>
          </a:p>
        </p:txBody>
      </p:sp>
      <p:sp>
        <p:nvSpPr>
          <p:cNvPr id="66563" name="Content Placeholder 2"/>
          <p:cNvSpPr>
            <a:spLocks noGrp="1"/>
          </p:cNvSpPr>
          <p:nvPr>
            <p:ph idx="1"/>
          </p:nvPr>
        </p:nvSpPr>
        <p:spPr>
          <a:xfrm>
            <a:off x="384175" y="1466850"/>
            <a:ext cx="8280400" cy="4945063"/>
          </a:xfrm>
        </p:spPr>
        <p:txBody>
          <a:bodyPr/>
          <a:lstStyle/>
          <a:p>
            <a:pPr>
              <a:spcBef>
                <a:spcPts val="1200"/>
              </a:spcBef>
            </a:pPr>
            <a:r>
              <a:rPr lang="en-US" sz="2400" dirty="0" smtClean="0"/>
              <a:t>In a separate </a:t>
            </a:r>
            <a:r>
              <a:rPr lang="en-US" sz="2400" dirty="0" err="1" smtClean="0"/>
              <a:t>Powerpoint</a:t>
            </a:r>
            <a:r>
              <a:rPr lang="en-US" sz="2400" dirty="0" smtClean="0"/>
              <a:t> file.</a:t>
            </a:r>
            <a:endParaRPr lang="en-US" sz="2000" dirty="0" smtClean="0"/>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43</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57200" y="457200"/>
            <a:ext cx="8229600" cy="795338"/>
          </a:xfrm>
        </p:spPr>
        <p:txBody>
          <a:bodyPr/>
          <a:lstStyle/>
          <a:p>
            <a:r>
              <a:rPr lang="en-US" sz="4000" smtClean="0">
                <a:solidFill>
                  <a:srgbClr val="9933FF"/>
                </a:solidFill>
                <a:latin typeface="Garamond" pitchFamily="18" charset="0"/>
              </a:rPr>
              <a:t>Summary for Today</a:t>
            </a:r>
          </a:p>
        </p:txBody>
      </p:sp>
      <p:sp>
        <p:nvSpPr>
          <p:cNvPr id="67587" name="Rectangle 3"/>
          <p:cNvSpPr>
            <a:spLocks noGrp="1" noChangeArrowheads="1"/>
          </p:cNvSpPr>
          <p:nvPr>
            <p:ph type="body" idx="1"/>
          </p:nvPr>
        </p:nvSpPr>
        <p:spPr>
          <a:xfrm>
            <a:off x="312738" y="1624013"/>
            <a:ext cx="8229600" cy="3886200"/>
          </a:xfrm>
        </p:spPr>
        <p:txBody>
          <a:bodyPr/>
          <a:lstStyle/>
          <a:p>
            <a:pPr>
              <a:defRPr/>
            </a:pPr>
            <a:r>
              <a:rPr lang="en-US" dirty="0" smtClean="0"/>
              <a:t>In this lecture we looked at:</a:t>
            </a:r>
          </a:p>
          <a:p>
            <a:pPr marL="892175" lvl="1" indent="-434975">
              <a:defRPr/>
            </a:pPr>
            <a:r>
              <a:rPr lang="en-US" sz="2400" dirty="0" smtClean="0"/>
              <a:t>Recursion as a design strategy</a:t>
            </a:r>
          </a:p>
          <a:p>
            <a:pPr marL="892175" lvl="1" indent="-434975">
              <a:defRPr/>
            </a:pPr>
            <a:r>
              <a:rPr lang="en-US" sz="2400" dirty="0" smtClean="0"/>
              <a:t>The components of a recursive code</a:t>
            </a:r>
          </a:p>
          <a:p>
            <a:pPr marL="892175" lvl="1" indent="-434975">
              <a:defRPr/>
            </a:pPr>
            <a:r>
              <a:rPr lang="en-US" sz="2400" dirty="0" smtClean="0"/>
              <a:t>Difference between Recursion and Iteration</a:t>
            </a:r>
          </a:p>
          <a:p>
            <a:pPr lvl="1">
              <a:buNone/>
              <a:defRPr/>
            </a:pPr>
            <a:endParaRPr lang="en-US" dirty="0" smtClean="0"/>
          </a:p>
        </p:txBody>
      </p:sp>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44</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33400" y="457200"/>
            <a:ext cx="8153400" cy="685800"/>
          </a:xfrm>
        </p:spPr>
        <p:txBody>
          <a:bodyPr/>
          <a:lstStyle/>
          <a:p>
            <a:pPr eaLnBrk="1" hangingPunct="1"/>
            <a:r>
              <a:rPr lang="en-GB" sz="4000" smtClean="0">
                <a:solidFill>
                  <a:srgbClr val="9933FF"/>
                </a:solidFill>
                <a:latin typeface="Garamond" pitchFamily="18" charset="0"/>
              </a:rPr>
              <a:t>Announcements/Things-to-do</a:t>
            </a:r>
          </a:p>
        </p:txBody>
      </p:sp>
      <p:sp>
        <p:nvSpPr>
          <p:cNvPr id="77827" name="Rectangle 7"/>
          <p:cNvSpPr>
            <a:spLocks noChangeArrowheads="1"/>
          </p:cNvSpPr>
          <p:nvPr/>
        </p:nvSpPr>
        <p:spPr bwMode="auto">
          <a:xfrm>
            <a:off x="4038600" y="1981200"/>
            <a:ext cx="4495800" cy="4191000"/>
          </a:xfrm>
          <a:prstGeom prst="rect">
            <a:avLst/>
          </a:prstGeom>
          <a:noFill/>
          <a:ln w="9525">
            <a:noFill/>
            <a:miter lim="800000"/>
            <a:headEnd/>
            <a:tailEnd/>
          </a:ln>
        </p:spPr>
        <p:txBody>
          <a:bodyPr/>
          <a:lstStyle/>
          <a:p>
            <a:pPr marL="342900" indent="-342900">
              <a:spcBef>
                <a:spcPct val="20000"/>
              </a:spcBef>
              <a:spcAft>
                <a:spcPct val="40000"/>
              </a:spcAft>
              <a:buClr>
                <a:schemeClr val="bg2"/>
              </a:buClr>
              <a:buSzPct val="75000"/>
              <a:buFont typeface="Wingdings" pitchFamily="2" charset="2"/>
              <a:buChar char="n"/>
            </a:pPr>
            <a:endParaRPr lang="en-US" sz="2800" b="1" baseline="30000">
              <a:solidFill>
                <a:srgbClr val="800000"/>
              </a:solidFill>
            </a:endParaRPr>
          </a:p>
        </p:txBody>
      </p:sp>
      <p:sp>
        <p:nvSpPr>
          <p:cNvPr id="386056" name="Rectangle 8"/>
          <p:cNvSpPr>
            <a:spLocks noChangeArrowheads="1"/>
          </p:cNvSpPr>
          <p:nvPr/>
        </p:nvSpPr>
        <p:spPr bwMode="auto">
          <a:xfrm>
            <a:off x="762000" y="1447800"/>
            <a:ext cx="7624011" cy="4724400"/>
          </a:xfrm>
          <a:prstGeom prst="rect">
            <a:avLst/>
          </a:prstGeom>
          <a:noFill/>
          <a:ln w="9525">
            <a:noFill/>
            <a:miter lim="800000"/>
            <a:headEnd/>
            <a:tailEnd/>
          </a:ln>
        </p:spPr>
        <p:txBody>
          <a:bodyPr/>
          <a:lstStyle/>
          <a:p>
            <a:pPr marL="342900" indent="-342900">
              <a:spcBef>
                <a:spcPts val="600"/>
              </a:spcBef>
              <a:buClr>
                <a:schemeClr val="bg2"/>
              </a:buClr>
              <a:buSzPct val="75000"/>
              <a:buFont typeface="Wingdings" pitchFamily="2" charset="2"/>
              <a:buChar char="n"/>
            </a:pPr>
            <a:r>
              <a:rPr lang="en-US" sz="2800" dirty="0">
                <a:solidFill>
                  <a:srgbClr val="0000FF"/>
                </a:solidFill>
              </a:rPr>
              <a:t>Revise:</a:t>
            </a:r>
          </a:p>
          <a:p>
            <a:pPr marL="800100" lvl="1" indent="-342900">
              <a:spcBef>
                <a:spcPts val="600"/>
              </a:spcBef>
              <a:buClr>
                <a:schemeClr val="bg2"/>
              </a:buClr>
              <a:buSzPct val="75000"/>
              <a:buFont typeface="Wingdings" pitchFamily="2" charset="2"/>
              <a:buChar char="q"/>
            </a:pPr>
            <a:r>
              <a:rPr lang="en-US" sz="2400" dirty="0"/>
              <a:t>Lesson </a:t>
            </a:r>
            <a:r>
              <a:rPr lang="en-US" sz="2400" dirty="0" smtClean="0"/>
              <a:t>8.6 </a:t>
            </a:r>
            <a:r>
              <a:rPr lang="en-US" sz="2400" dirty="0"/>
              <a:t>Functions with One Recursive </a:t>
            </a:r>
            <a:r>
              <a:rPr lang="en-US" sz="2400" dirty="0" smtClean="0"/>
              <a:t>Call</a:t>
            </a:r>
          </a:p>
          <a:p>
            <a:pPr marL="342900" indent="-342900">
              <a:spcBef>
                <a:spcPts val="1200"/>
              </a:spcBef>
              <a:buClr>
                <a:schemeClr val="bg2"/>
              </a:buClr>
              <a:buSzPct val="75000"/>
              <a:buFont typeface="Wingdings" pitchFamily="2" charset="2"/>
              <a:buChar char="n"/>
            </a:pPr>
            <a:r>
              <a:rPr lang="en-US" sz="2800" dirty="0" smtClean="0">
                <a:solidFill>
                  <a:srgbClr val="0000FF"/>
                </a:solidFill>
              </a:rPr>
              <a:t>Exercise #4: Sum Array</a:t>
            </a:r>
          </a:p>
          <a:p>
            <a:pPr marL="342900" indent="-342900">
              <a:spcBef>
                <a:spcPts val="1200"/>
              </a:spcBef>
              <a:buClr>
                <a:schemeClr val="bg2"/>
              </a:buClr>
              <a:buSzPct val="75000"/>
              <a:buFont typeface="Wingdings" pitchFamily="2" charset="2"/>
              <a:buChar char="n"/>
            </a:pPr>
            <a:r>
              <a:rPr lang="en-US" sz="2800" dirty="0" smtClean="0">
                <a:solidFill>
                  <a:srgbClr val="0000FF"/>
                </a:solidFill>
              </a:rPr>
              <a:t>Next </a:t>
            </a:r>
            <a:r>
              <a:rPr lang="en-US" sz="2800" dirty="0">
                <a:solidFill>
                  <a:srgbClr val="0000FF"/>
                </a:solidFill>
              </a:rPr>
              <a:t>week’s lecture:</a:t>
            </a:r>
          </a:p>
          <a:p>
            <a:pPr marL="800100" lvl="1" indent="-342900">
              <a:spcBef>
                <a:spcPts val="600"/>
              </a:spcBef>
              <a:buClr>
                <a:schemeClr val="bg2"/>
              </a:buClr>
              <a:buSzPct val="75000"/>
              <a:buFont typeface="Wingdings" pitchFamily="2" charset="2"/>
              <a:buChar char="q"/>
            </a:pPr>
            <a:r>
              <a:rPr lang="en-US" sz="2400" dirty="0" smtClean="0"/>
              <a:t>Structures: Lessons 8.1 – 8.5 </a:t>
            </a:r>
          </a:p>
          <a:p>
            <a:pPr marL="800100" lvl="1" indent="-342900">
              <a:spcBef>
                <a:spcPts val="600"/>
              </a:spcBef>
              <a:buClr>
                <a:schemeClr val="bg2"/>
              </a:buClr>
              <a:buSzPct val="75000"/>
              <a:buFont typeface="Wingdings" pitchFamily="2" charset="2"/>
              <a:buChar char="q"/>
            </a:pPr>
            <a:r>
              <a:rPr lang="en-US" sz="2400" dirty="0" smtClean="0"/>
              <a:t>File Processing: Lessons 3.3 – 3.4 </a:t>
            </a:r>
          </a:p>
        </p:txBody>
      </p:sp>
      <p:pic>
        <p:nvPicPr>
          <p:cNvPr id="77831" name="Picture 6" descr="youngboyreading.jpg"/>
          <p:cNvPicPr>
            <a:picLocks noChangeAspect="1"/>
          </p:cNvPicPr>
          <p:nvPr/>
        </p:nvPicPr>
        <p:blipFill>
          <a:blip r:embed="rId3" cstate="print"/>
          <a:srcRect/>
          <a:stretch>
            <a:fillRect/>
          </a:stretch>
        </p:blipFill>
        <p:spPr bwMode="auto">
          <a:xfrm>
            <a:off x="7350125" y="4579938"/>
            <a:ext cx="1519238" cy="1757362"/>
          </a:xfrm>
          <a:prstGeom prst="rect">
            <a:avLst/>
          </a:prstGeom>
          <a:noFill/>
          <a:ln w="9525">
            <a:noFill/>
            <a:miter lim="800000"/>
            <a:headEnd/>
            <a:tailEnd/>
          </a:ln>
        </p:spPr>
      </p:pic>
      <p:sp>
        <p:nvSpPr>
          <p:cNvPr id="3" name="Slide Number Placeholder 2"/>
          <p:cNvSpPr>
            <a:spLocks noGrp="1"/>
          </p:cNvSpPr>
          <p:nvPr>
            <p:ph type="sldNum" sz="quarter" idx="11"/>
          </p:nvPr>
        </p:nvSpPr>
        <p:spPr/>
        <p:txBody>
          <a:bodyPr/>
          <a:lstStyle/>
          <a:p>
            <a:pPr>
              <a:defRPr/>
            </a:pPr>
            <a:r>
              <a:rPr lang="en-US" smtClean="0"/>
              <a:t>Week11 - </a:t>
            </a:r>
            <a:fld id="{6E90ABC7-7044-4F1F-B273-92F595F59CFE}" type="slidenum">
              <a:rPr lang="en-US" smtClean="0"/>
              <a:pPr>
                <a:defRPr/>
              </a:pPr>
              <a:t>45</a:t>
            </a:fld>
            <a:endParaRPr lang="en-US" dirty="0"/>
          </a:p>
        </p:txBody>
      </p:sp>
      <p:sp>
        <p:nvSpPr>
          <p:cNvPr id="4" name="Footer Placeholder 3"/>
          <p:cNvSpPr>
            <a:spLocks noGrp="1"/>
          </p:cNvSpPr>
          <p:nvPr>
            <p:ph type="ftr" sz="quarter" idx="10"/>
          </p:nvPr>
        </p:nvSpPr>
        <p:spPr/>
        <p:txBody>
          <a:bodyPr/>
          <a:lstStyle/>
          <a:p>
            <a:pPr>
              <a:defRPr/>
            </a:pPr>
            <a:r>
              <a:rPr lang="en-US" smtClean="0"/>
              <a:t>CS1010 (AY2012/3 Semester 1)</a:t>
            </a:r>
            <a:endParaRPr lang="en-US" dirty="0"/>
          </a:p>
        </p:txBody>
      </p:sp>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173163" y="2824163"/>
            <a:ext cx="6751637" cy="1143000"/>
          </a:xfrm>
        </p:spPr>
        <p:txBody>
          <a:bodyPr/>
          <a:lstStyle/>
          <a:p>
            <a:pPr algn="ctr" eaLnBrk="1" hangingPunct="1"/>
            <a:r>
              <a:rPr lang="en-GB" sz="4000" smtClean="0">
                <a:solidFill>
                  <a:srgbClr val="9933FF"/>
                </a:solidFill>
                <a:latin typeface="Garamond" pitchFamily="18" charset="0"/>
              </a:rPr>
              <a:t>End of File</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Pixel">
  <a:themeElements>
    <a:clrScheme name="Custom 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C00000"/>
      </a:hlink>
      <a:folHlink>
        <a:srgbClr val="CC99FF"/>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12274</TotalTime>
  <Words>3109</Words>
  <Application>Microsoft Office PowerPoint</Application>
  <PresentationFormat>On-screen Show (4:3)</PresentationFormat>
  <Paragraphs>713</Paragraphs>
  <Slides>46</Slides>
  <Notes>46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48" baseType="lpstr">
      <vt:lpstr>Pixel</vt:lpstr>
      <vt:lpstr>Clip</vt:lpstr>
      <vt:lpstr>Recursion</vt:lpstr>
      <vt:lpstr>Week 11: Recursion</vt:lpstr>
      <vt:lpstr>Week 11: Outline (1/2)</vt:lpstr>
      <vt:lpstr>Week 11: Outline (2/2)</vt:lpstr>
      <vt:lpstr>1. Week 10 Exercise #3: Module Sorting (take-home) (1/2)</vt:lpstr>
      <vt:lpstr>1. Week 10 Exercise #3: Module Sorting (take-home) (2/2)</vt:lpstr>
      <vt:lpstr>2. Introduction (1/3)</vt:lpstr>
      <vt:lpstr>2. Introduction (2/3)</vt:lpstr>
      <vt:lpstr>2. Introduction (3/3)</vt:lpstr>
      <vt:lpstr>3. Two Simple Classic Examples</vt:lpstr>
      <vt:lpstr>3.1 Demo #1: Factorial (1/3)</vt:lpstr>
      <vt:lpstr>3.1 Demo #1: Factorial (2/3)</vt:lpstr>
      <vt:lpstr>3.1 Demo #1: Factorial (3/3)</vt:lpstr>
      <vt:lpstr>3.2 Demo #2: Fibonacci (1/3)</vt:lpstr>
      <vt:lpstr>3.2 Demo #2: Fibonacci (2/3)</vt:lpstr>
      <vt:lpstr>3.2 Fibonacci (3/3)</vt:lpstr>
      <vt:lpstr>4. Gist of Recursion (1/6)</vt:lpstr>
      <vt:lpstr>4. Gist of Recursion (2/6)</vt:lpstr>
      <vt:lpstr>4. Gist of Recursion (3/6)</vt:lpstr>
      <vt:lpstr>4. Gist of Recursion (4/6)</vt:lpstr>
      <vt:lpstr>4. Gist of Recursion (5/6)</vt:lpstr>
      <vt:lpstr>4. Gist of Recursion (6/6)</vt:lpstr>
      <vt:lpstr>5. Exercises #1 – 3 (1/2)</vt:lpstr>
      <vt:lpstr>5. Exercises #1 – 3 (2/2)</vt:lpstr>
      <vt:lpstr>6. Thinking Recursively</vt:lpstr>
      <vt:lpstr>6.1 Think: Sum of Squares (1/5)</vt:lpstr>
      <vt:lpstr>6.1 Think: Sum of Squares (2/5)</vt:lpstr>
      <vt:lpstr>6.1 Think: Sum of Squares (3/5)</vt:lpstr>
      <vt:lpstr>6.1 Think: Sum of Squares (4/5)</vt:lpstr>
      <vt:lpstr>6.1 Think: Sum of Squares (5/5)</vt:lpstr>
      <vt:lpstr>6.2 Demo #3: Counting Occurrences (1/4)</vt:lpstr>
      <vt:lpstr>6.2 Demo #3: Counting Occurrences (2/4)</vt:lpstr>
      <vt:lpstr>6.2 Demo #3: Counting Occurrences (3/4)</vt:lpstr>
      <vt:lpstr>6.2 Demo #3: Counting Occurrences (4/4)</vt:lpstr>
      <vt:lpstr>7. Exercise #4 (take-home): Sum Array </vt:lpstr>
      <vt:lpstr>8. Auxiliary Function (1/3)</vt:lpstr>
      <vt:lpstr>8. Auxiliary Function (2/3)</vt:lpstr>
      <vt:lpstr>8. Auxiliary Function (3/3)</vt:lpstr>
      <vt:lpstr>9. Types of Recursion</vt:lpstr>
      <vt:lpstr>10. Tracing Recursive Codes</vt:lpstr>
      <vt:lpstr>11. Recursion versus Iteration (1/2)</vt:lpstr>
      <vt:lpstr>11. Recursion versus Iteration (2/2)</vt:lpstr>
      <vt:lpstr>12. Tower Of Hanoi</vt:lpstr>
      <vt:lpstr>Summary for Today</vt:lpstr>
      <vt:lpstr>Announcements/Things-to-do</vt:lpstr>
      <vt:lpstr>End of File</vt:lpstr>
    </vt:vector>
  </TitlesOfParts>
  <Company>SoC, 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CS1010: Programming Methodology</dc:title>
  <dc:creator>Aaron Tan</dc:creator>
  <cp:lastModifiedBy>Nova Ahmed</cp:lastModifiedBy>
  <cp:revision>1195</cp:revision>
  <dcterms:created xsi:type="dcterms:W3CDTF">1998-09-05T15:03:32Z</dcterms:created>
  <dcterms:modified xsi:type="dcterms:W3CDTF">2014-07-25T04:29:35Z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3</vt:i4>
  </property>
  <property fmtid="{D5CDD505-2E9C-101B-9397-08002B2CF9AE}" pid="6" name="ScreenUsage">
    <vt:i4>3</vt:i4>
  </property>
  <property fmtid="{D5CDD505-2E9C-101B-9397-08002B2CF9AE}" pid="7" name="MailAddress">
    <vt:lpwstr>tantc@comp.nus.edu.sg</vt:lpwstr>
  </property>
  <property fmtid="{D5CDD505-2E9C-101B-9397-08002B2CF9AE}" pid="8" name="HomePage">
    <vt:lpwstr>http://www.comp.nus.edu.sg/~tantc</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C:\My Documents</vt:lpwstr>
  </property>
</Properties>
</file>