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4976" r:id="rId1"/>
  </p:sldMasterIdLst>
  <p:notesMasterIdLst>
    <p:notesMasterId r:id="rId54"/>
  </p:notesMasterIdLst>
  <p:handoutMasterIdLst>
    <p:handoutMasterId r:id="rId55"/>
  </p:handoutMasterIdLst>
  <p:sldIdLst>
    <p:sldId id="256" r:id="rId2"/>
    <p:sldId id="327" r:id="rId3"/>
    <p:sldId id="525" r:id="rId4"/>
    <p:sldId id="533" r:id="rId5"/>
    <p:sldId id="534" r:id="rId6"/>
    <p:sldId id="535" r:id="rId7"/>
    <p:sldId id="536" r:id="rId8"/>
    <p:sldId id="537" r:id="rId9"/>
    <p:sldId id="538" r:id="rId10"/>
    <p:sldId id="539" r:id="rId11"/>
    <p:sldId id="544" r:id="rId12"/>
    <p:sldId id="547" r:id="rId13"/>
    <p:sldId id="548" r:id="rId14"/>
    <p:sldId id="550" r:id="rId15"/>
    <p:sldId id="501" r:id="rId16"/>
    <p:sldId id="502" r:id="rId17"/>
    <p:sldId id="503" r:id="rId18"/>
    <p:sldId id="526" r:id="rId19"/>
    <p:sldId id="527" r:id="rId20"/>
    <p:sldId id="528" r:id="rId21"/>
    <p:sldId id="531" r:id="rId22"/>
    <p:sldId id="529" r:id="rId23"/>
    <p:sldId id="504" r:id="rId24"/>
    <p:sldId id="506" r:id="rId25"/>
    <p:sldId id="507" r:id="rId26"/>
    <p:sldId id="508" r:id="rId27"/>
    <p:sldId id="505" r:id="rId28"/>
    <p:sldId id="523" r:id="rId29"/>
    <p:sldId id="524" r:id="rId30"/>
    <p:sldId id="460" r:id="rId31"/>
    <p:sldId id="530" r:id="rId32"/>
    <p:sldId id="478" r:id="rId33"/>
    <p:sldId id="461" r:id="rId34"/>
    <p:sldId id="509" r:id="rId35"/>
    <p:sldId id="510" r:id="rId36"/>
    <p:sldId id="511" r:id="rId37"/>
    <p:sldId id="512" r:id="rId38"/>
    <p:sldId id="513" r:id="rId39"/>
    <p:sldId id="514" r:id="rId40"/>
    <p:sldId id="515" r:id="rId41"/>
    <p:sldId id="521" r:id="rId42"/>
    <p:sldId id="522" r:id="rId43"/>
    <p:sldId id="552" r:id="rId44"/>
    <p:sldId id="557" r:id="rId45"/>
    <p:sldId id="558" r:id="rId46"/>
    <p:sldId id="559" r:id="rId47"/>
    <p:sldId id="556" r:id="rId48"/>
    <p:sldId id="553" r:id="rId49"/>
    <p:sldId id="554" r:id="rId50"/>
    <p:sldId id="555" r:id="rId51"/>
    <p:sldId id="450" r:id="rId52"/>
    <p:sldId id="308" r:id="rId53"/>
  </p:sldIdLst>
  <p:sldSz cx="9144000" cy="6858000" type="screen4x3"/>
  <p:notesSz cx="6662738" cy="9832975"/>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zhaojin" initials="Jin"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6600"/>
    <a:srgbClr val="CCFFCC"/>
    <a:srgbClr val="FF6600"/>
    <a:srgbClr val="663300"/>
    <a:srgbClr val="FFCCFF"/>
    <a:srgbClr val="FFCCCC"/>
    <a:srgbClr val="FFFF99"/>
    <a:srgbClr val="0000FF"/>
    <a:srgbClr val="CCFFFF"/>
    <a:srgbClr val="FFCC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279" autoAdjust="0"/>
    <p:restoredTop sz="81665" autoAdjust="0"/>
  </p:normalViewPr>
  <p:slideViewPr>
    <p:cSldViewPr snapToGrid="0">
      <p:cViewPr varScale="1">
        <p:scale>
          <a:sx n="60" d="100"/>
          <a:sy n="60" d="100"/>
        </p:scale>
        <p:origin x="-1788" y="-7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648"/>
    </p:cViewPr>
  </p:sorterViewPr>
  <p:notesViewPr>
    <p:cSldViewPr snapToGrid="0">
      <p:cViewPr>
        <p:scale>
          <a:sx n="66" d="100"/>
          <a:sy n="66" d="100"/>
        </p:scale>
        <p:origin x="-3582" y="-390"/>
      </p:cViewPr>
      <p:guideLst>
        <p:guide orient="horz" pos="3098"/>
        <p:guide pos="2099"/>
      </p:guideLst>
    </p:cSldViewPr>
  </p:notesViewPr>
  <p:gridSpacing cx="45005" cy="45005"/>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commentAuthors" Target="commentAuthor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2466" name="Rectangle 1026"/>
          <p:cNvSpPr>
            <a:spLocks noGrp="1" noChangeArrowheads="1"/>
          </p:cNvSpPr>
          <p:nvPr>
            <p:ph type="hdr" sz="quarter"/>
          </p:nvPr>
        </p:nvSpPr>
        <p:spPr bwMode="auto">
          <a:xfrm>
            <a:off x="0" y="0"/>
            <a:ext cx="2889250" cy="492125"/>
          </a:xfrm>
          <a:prstGeom prst="rect">
            <a:avLst/>
          </a:prstGeom>
          <a:noFill/>
          <a:ln w="12700" cap="sq">
            <a:noFill/>
            <a:miter lim="800000"/>
            <a:headEnd type="none" w="sm" len="sm"/>
            <a:tailEnd type="none" w="sm" len="sm"/>
          </a:ln>
          <a:effectLst/>
        </p:spPr>
        <p:txBody>
          <a:bodyPr vert="horz" wrap="square" lIns="94221" tIns="47110" rIns="94221" bIns="47110" numCol="1" anchor="t" anchorCtr="0" compatLnSpc="1">
            <a:prstTxWarp prst="textNoShape">
              <a:avLst/>
            </a:prstTxWarp>
          </a:bodyPr>
          <a:lstStyle>
            <a:lvl1pPr defTabSz="942569" eaLnBrk="0" hangingPunct="0">
              <a:defRPr sz="1300">
                <a:latin typeface="Times New Roman" pitchFamily="18" charset="0"/>
                <a:cs typeface="Arial" charset="0"/>
              </a:defRPr>
            </a:lvl1pPr>
          </a:lstStyle>
          <a:p>
            <a:pPr>
              <a:defRPr/>
            </a:pPr>
            <a:r>
              <a:rPr lang="en-GB"/>
              <a:t>CS1010 Programming Methodology</a:t>
            </a:r>
          </a:p>
        </p:txBody>
      </p:sp>
      <p:sp>
        <p:nvSpPr>
          <p:cNvPr id="62467" name="Rectangle 1027"/>
          <p:cNvSpPr>
            <a:spLocks noGrp="1" noChangeArrowheads="1"/>
          </p:cNvSpPr>
          <p:nvPr>
            <p:ph type="dt" sz="quarter" idx="1"/>
          </p:nvPr>
        </p:nvSpPr>
        <p:spPr bwMode="auto">
          <a:xfrm>
            <a:off x="3773488" y="0"/>
            <a:ext cx="2889250" cy="492125"/>
          </a:xfrm>
          <a:prstGeom prst="rect">
            <a:avLst/>
          </a:prstGeom>
          <a:noFill/>
          <a:ln w="12700" cap="sq">
            <a:noFill/>
            <a:miter lim="800000"/>
            <a:headEnd type="none" w="sm" len="sm"/>
            <a:tailEnd type="none" w="sm" len="sm"/>
          </a:ln>
          <a:effectLst/>
        </p:spPr>
        <p:txBody>
          <a:bodyPr vert="horz" wrap="square" lIns="94221" tIns="47110" rIns="94221" bIns="47110" numCol="1" anchor="t" anchorCtr="0" compatLnSpc="1">
            <a:prstTxWarp prst="textNoShape">
              <a:avLst/>
            </a:prstTxWarp>
          </a:bodyPr>
          <a:lstStyle>
            <a:lvl1pPr algn="r" defTabSz="942569" eaLnBrk="0" hangingPunct="0">
              <a:defRPr sz="1300">
                <a:latin typeface="Times New Roman" pitchFamily="18" charset="0"/>
                <a:cs typeface="Arial" charset="0"/>
              </a:defRPr>
            </a:lvl1pPr>
          </a:lstStyle>
          <a:p>
            <a:pPr>
              <a:defRPr/>
            </a:pPr>
            <a:endParaRPr lang="en-GB"/>
          </a:p>
        </p:txBody>
      </p:sp>
      <p:sp>
        <p:nvSpPr>
          <p:cNvPr id="62468" name="Rectangle 1028"/>
          <p:cNvSpPr>
            <a:spLocks noGrp="1" noChangeArrowheads="1"/>
          </p:cNvSpPr>
          <p:nvPr>
            <p:ph type="ftr" sz="quarter" idx="2"/>
          </p:nvPr>
        </p:nvSpPr>
        <p:spPr bwMode="auto">
          <a:xfrm>
            <a:off x="0" y="9340850"/>
            <a:ext cx="2889250" cy="492125"/>
          </a:xfrm>
          <a:prstGeom prst="rect">
            <a:avLst/>
          </a:prstGeom>
          <a:noFill/>
          <a:ln w="12700" cap="sq">
            <a:noFill/>
            <a:miter lim="800000"/>
            <a:headEnd type="none" w="sm" len="sm"/>
            <a:tailEnd type="none" w="sm" len="sm"/>
          </a:ln>
          <a:effectLst/>
        </p:spPr>
        <p:txBody>
          <a:bodyPr vert="horz" wrap="square" lIns="94221" tIns="47110" rIns="94221" bIns="47110" numCol="1" anchor="b" anchorCtr="0" compatLnSpc="1">
            <a:prstTxWarp prst="textNoShape">
              <a:avLst/>
            </a:prstTxWarp>
          </a:bodyPr>
          <a:lstStyle>
            <a:lvl1pPr defTabSz="942569" eaLnBrk="0" hangingPunct="0">
              <a:defRPr sz="1300">
                <a:latin typeface="Times New Roman" pitchFamily="18" charset="0"/>
                <a:cs typeface="Arial" charset="0"/>
              </a:defRPr>
            </a:lvl1pPr>
          </a:lstStyle>
          <a:p>
            <a:pPr>
              <a:defRPr/>
            </a:pPr>
            <a:endParaRPr lang="en-GB"/>
          </a:p>
        </p:txBody>
      </p:sp>
      <p:sp>
        <p:nvSpPr>
          <p:cNvPr id="62469" name="Rectangle 1029"/>
          <p:cNvSpPr>
            <a:spLocks noGrp="1" noChangeArrowheads="1"/>
          </p:cNvSpPr>
          <p:nvPr>
            <p:ph type="sldNum" sz="quarter" idx="3"/>
          </p:nvPr>
        </p:nvSpPr>
        <p:spPr bwMode="auto">
          <a:xfrm>
            <a:off x="3773488" y="9340850"/>
            <a:ext cx="2889250" cy="492125"/>
          </a:xfrm>
          <a:prstGeom prst="rect">
            <a:avLst/>
          </a:prstGeom>
          <a:noFill/>
          <a:ln w="12700" cap="sq">
            <a:noFill/>
            <a:miter lim="800000"/>
            <a:headEnd type="none" w="sm" len="sm"/>
            <a:tailEnd type="none" w="sm" len="sm"/>
          </a:ln>
          <a:effectLst/>
        </p:spPr>
        <p:txBody>
          <a:bodyPr vert="horz" wrap="square" lIns="94221" tIns="47110" rIns="94221" bIns="47110" numCol="1" anchor="b" anchorCtr="0" compatLnSpc="1">
            <a:prstTxWarp prst="textNoShape">
              <a:avLst/>
            </a:prstTxWarp>
          </a:bodyPr>
          <a:lstStyle>
            <a:lvl1pPr algn="r" defTabSz="942569" eaLnBrk="0" hangingPunct="0">
              <a:defRPr sz="1300">
                <a:latin typeface="Times New Roman" pitchFamily="18" charset="0"/>
                <a:cs typeface="Arial" charset="0"/>
              </a:defRPr>
            </a:lvl1pPr>
          </a:lstStyle>
          <a:p>
            <a:pPr>
              <a:defRPr/>
            </a:pPr>
            <a:fld id="{34A60937-6589-4D82-9B40-0B0AF58255A4}" type="slidenum">
              <a:rPr lang="en-GB"/>
              <a:pPr>
                <a:defRPr/>
              </a:pPr>
              <a:t>‹#›</a:t>
            </a:fld>
            <a:endParaRPr lang="en-GB"/>
          </a:p>
        </p:txBody>
      </p:sp>
    </p:spTree>
    <p:extLst>
      <p:ext uri="{BB962C8B-B14F-4D97-AF65-F5344CB8AC3E}">
        <p14:creationId xmlns:p14="http://schemas.microsoft.com/office/powerpoint/2010/main" val="62626534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0418" name="Rectangle 2"/>
          <p:cNvSpPr>
            <a:spLocks noGrp="1" noChangeArrowheads="1"/>
          </p:cNvSpPr>
          <p:nvPr>
            <p:ph type="hdr" sz="quarter"/>
          </p:nvPr>
        </p:nvSpPr>
        <p:spPr bwMode="auto">
          <a:xfrm>
            <a:off x="0" y="0"/>
            <a:ext cx="2889250" cy="492125"/>
          </a:xfrm>
          <a:prstGeom prst="rect">
            <a:avLst/>
          </a:prstGeom>
          <a:noFill/>
          <a:ln w="12700" cap="sq">
            <a:noFill/>
            <a:miter lim="800000"/>
            <a:headEnd type="none" w="sm" len="sm"/>
            <a:tailEnd type="none" w="sm" len="sm"/>
          </a:ln>
          <a:effectLst/>
        </p:spPr>
        <p:txBody>
          <a:bodyPr vert="horz" wrap="square" lIns="94221" tIns="47110" rIns="94221" bIns="47110" numCol="1" anchor="t" anchorCtr="0" compatLnSpc="1">
            <a:prstTxWarp prst="textNoShape">
              <a:avLst/>
            </a:prstTxWarp>
          </a:bodyPr>
          <a:lstStyle>
            <a:lvl1pPr defTabSz="942569" eaLnBrk="0" hangingPunct="0">
              <a:defRPr lang="en-GB" sz="1400">
                <a:latin typeface="+mj-lt"/>
                <a:cs typeface="Arial" charset="0"/>
              </a:defRPr>
            </a:lvl1pPr>
          </a:lstStyle>
          <a:p>
            <a:pPr>
              <a:defRPr/>
            </a:pPr>
            <a:r>
              <a:rPr lang="en-US"/>
              <a:t>CS1010 Programming Methodology</a:t>
            </a:r>
          </a:p>
        </p:txBody>
      </p:sp>
      <p:sp>
        <p:nvSpPr>
          <p:cNvPr id="68611" name="Rectangle 4"/>
          <p:cNvSpPr>
            <a:spLocks noGrp="1" noRot="1" noChangeAspect="1" noChangeArrowheads="1" noTextEdit="1"/>
          </p:cNvSpPr>
          <p:nvPr>
            <p:ph type="sldImg" idx="2"/>
          </p:nvPr>
        </p:nvSpPr>
        <p:spPr bwMode="auto">
          <a:xfrm>
            <a:off x="874713" y="738188"/>
            <a:ext cx="4914900" cy="3686175"/>
          </a:xfrm>
          <a:prstGeom prst="rect">
            <a:avLst/>
          </a:prstGeom>
          <a:noFill/>
          <a:ln w="9525">
            <a:solidFill>
              <a:srgbClr val="000000"/>
            </a:solidFill>
            <a:miter lim="800000"/>
            <a:headEnd/>
            <a:tailEnd/>
          </a:ln>
        </p:spPr>
      </p:sp>
      <p:sp>
        <p:nvSpPr>
          <p:cNvPr id="60422" name="Rectangle 6"/>
          <p:cNvSpPr>
            <a:spLocks noGrp="1" noChangeArrowheads="1"/>
          </p:cNvSpPr>
          <p:nvPr>
            <p:ph type="ftr" sz="quarter" idx="4"/>
          </p:nvPr>
        </p:nvSpPr>
        <p:spPr bwMode="auto">
          <a:xfrm>
            <a:off x="0" y="9340850"/>
            <a:ext cx="2889250" cy="492125"/>
          </a:xfrm>
          <a:prstGeom prst="rect">
            <a:avLst/>
          </a:prstGeom>
          <a:noFill/>
          <a:ln w="12700" cap="sq">
            <a:noFill/>
            <a:miter lim="800000"/>
            <a:headEnd type="none" w="sm" len="sm"/>
            <a:tailEnd type="none" w="sm" len="sm"/>
          </a:ln>
          <a:effectLst/>
        </p:spPr>
        <p:txBody>
          <a:bodyPr vert="horz" wrap="square" lIns="94221" tIns="47110" rIns="94221" bIns="47110" numCol="1" anchor="b" anchorCtr="0" compatLnSpc="1">
            <a:prstTxWarp prst="textNoShape">
              <a:avLst/>
            </a:prstTxWarp>
          </a:bodyPr>
          <a:lstStyle>
            <a:lvl1pPr defTabSz="942569" eaLnBrk="0" hangingPunct="0">
              <a:defRPr sz="1300">
                <a:latin typeface="Times New Roman" pitchFamily="18" charset="0"/>
                <a:cs typeface="Arial" charset="0"/>
              </a:defRPr>
            </a:lvl1pPr>
          </a:lstStyle>
          <a:p>
            <a:pPr>
              <a:defRPr/>
            </a:pPr>
            <a:endParaRPr lang="en-GB"/>
          </a:p>
        </p:txBody>
      </p:sp>
      <p:sp>
        <p:nvSpPr>
          <p:cNvPr id="60423" name="Rectangle 7"/>
          <p:cNvSpPr>
            <a:spLocks noGrp="1" noChangeArrowheads="1"/>
          </p:cNvSpPr>
          <p:nvPr>
            <p:ph type="sldNum" sz="quarter" idx="5"/>
          </p:nvPr>
        </p:nvSpPr>
        <p:spPr bwMode="auto">
          <a:xfrm>
            <a:off x="3773488" y="9340850"/>
            <a:ext cx="2889250" cy="492125"/>
          </a:xfrm>
          <a:prstGeom prst="rect">
            <a:avLst/>
          </a:prstGeom>
          <a:noFill/>
          <a:ln w="12700" cap="sq">
            <a:noFill/>
            <a:miter lim="800000"/>
            <a:headEnd type="none" w="sm" len="sm"/>
            <a:tailEnd type="none" w="sm" len="sm"/>
          </a:ln>
          <a:effectLst/>
        </p:spPr>
        <p:txBody>
          <a:bodyPr vert="horz" wrap="square" lIns="94221" tIns="47110" rIns="94221" bIns="47110" numCol="1" anchor="b" anchorCtr="0" compatLnSpc="1">
            <a:prstTxWarp prst="textNoShape">
              <a:avLst/>
            </a:prstTxWarp>
          </a:bodyPr>
          <a:lstStyle>
            <a:lvl1pPr algn="r" defTabSz="942569" eaLnBrk="0" hangingPunct="0">
              <a:defRPr sz="1300">
                <a:latin typeface="Times New Roman" pitchFamily="18" charset="0"/>
                <a:cs typeface="Arial" charset="0"/>
              </a:defRPr>
            </a:lvl1pPr>
          </a:lstStyle>
          <a:p>
            <a:pPr>
              <a:defRPr/>
            </a:pPr>
            <a:fld id="{BD682E59-7E3C-4778-8C65-3C96AF796D84}" type="slidenum">
              <a:rPr lang="en-GB"/>
              <a:pPr>
                <a:defRPr/>
              </a:pPr>
              <a:t>‹#›</a:t>
            </a:fld>
            <a:endParaRPr lang="en-GB"/>
          </a:p>
        </p:txBody>
      </p:sp>
      <p:sp>
        <p:nvSpPr>
          <p:cNvPr id="8" name="Date Placeholder 7"/>
          <p:cNvSpPr>
            <a:spLocks noGrp="1"/>
          </p:cNvSpPr>
          <p:nvPr>
            <p:ph type="dt" idx="1"/>
          </p:nvPr>
        </p:nvSpPr>
        <p:spPr>
          <a:xfrm>
            <a:off x="3773488" y="0"/>
            <a:ext cx="2887662" cy="492125"/>
          </a:xfrm>
          <a:prstGeom prst="rect">
            <a:avLst/>
          </a:prstGeom>
        </p:spPr>
        <p:txBody>
          <a:bodyPr vert="horz" lIns="90486" tIns="45243" rIns="90486" bIns="45243" rtlCol="0"/>
          <a:lstStyle>
            <a:lvl1pPr algn="r">
              <a:defRPr sz="1200">
                <a:latin typeface="Arial" charset="0"/>
                <a:cs typeface="Arial" charset="0"/>
              </a:defRPr>
            </a:lvl1pPr>
          </a:lstStyle>
          <a:p>
            <a:pPr>
              <a:defRPr/>
            </a:pPr>
            <a:fld id="{D6211233-8BA4-4642-800F-3B4C3193B0DB}" type="datetimeFigureOut">
              <a:rPr lang="en-US"/>
              <a:pPr>
                <a:defRPr/>
              </a:pPr>
              <a:t>7/12/2014</a:t>
            </a:fld>
            <a:endParaRPr lang="en-US"/>
          </a:p>
        </p:txBody>
      </p:sp>
    </p:spTree>
    <p:extLst>
      <p:ext uri="{BB962C8B-B14F-4D97-AF65-F5344CB8AC3E}">
        <p14:creationId xmlns:p14="http://schemas.microsoft.com/office/powerpoint/2010/main" val="2862398418"/>
      </p:ext>
    </p:extLst>
  </p:cSld>
  <p:clrMap bg1="lt1" tx1="dk1" bg2="lt2" tx2="dk2" accent1="accent1" accent2="accent2" accent3="accent3" accent4="accent4" accent5="accent5" accent6="accent6" hlink="hlink" folHlink="folHlink"/>
  <p:hf ftr="0" dt="0"/>
  <p:notesStyle>
    <a:lvl1pPr algn="l" rtl="0" eaLnBrk="0" fontAlgn="base" hangingPunct="0">
      <a:spcBef>
        <a:spcPct val="30000"/>
      </a:spcBef>
      <a:spcAft>
        <a:spcPct val="0"/>
      </a:spcAft>
      <a:defRPr sz="1200" kern="1200">
        <a:solidFill>
          <a:schemeClr val="tx1"/>
        </a:solidFill>
        <a:latin typeface="Times New Roman" pitchFamily="18" charset="0"/>
        <a:ea typeface="+mn-ea"/>
        <a:cs typeface="Arial" charset="0"/>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Arial" charset="0"/>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Arial" charset="0"/>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Arial" charset="0"/>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p:txBody>
          <a:bodyPr/>
          <a:lstStyle/>
          <a:p>
            <a:pPr>
              <a:defRPr/>
            </a:pPr>
            <a:r>
              <a:rPr dirty="0" smtClean="0"/>
              <a:t>CS1010 </a:t>
            </a:r>
            <a:r>
              <a:rPr dirty="0"/>
              <a:t>Programming Methodology</a:t>
            </a:r>
          </a:p>
        </p:txBody>
      </p:sp>
      <p:sp>
        <p:nvSpPr>
          <p:cNvPr id="69635" name="Rectangle 1026"/>
          <p:cNvSpPr>
            <a:spLocks noGrp="1" noRot="1" noChangeAspect="1" noChangeArrowheads="1" noTextEdit="1"/>
          </p:cNvSpPr>
          <p:nvPr>
            <p:ph type="sldImg"/>
          </p:nvPr>
        </p:nvSpPr>
        <p:spPr>
          <a:ln/>
        </p:spPr>
      </p:sp>
      <p:sp>
        <p:nvSpPr>
          <p:cNvPr id="69636" name="Rectangle 1027"/>
          <p:cNvSpPr>
            <a:spLocks noGrp="1" noChangeArrowheads="1"/>
          </p:cNvSpPr>
          <p:nvPr>
            <p:ph type="body" idx="1"/>
          </p:nvPr>
        </p:nvSpPr>
        <p:spPr>
          <a:xfrm>
            <a:off x="889000" y="4668838"/>
            <a:ext cx="4884738" cy="4425950"/>
          </a:xfrm>
          <a:prstGeom prst="rect">
            <a:avLst/>
          </a:prstGeom>
          <a:noFill/>
          <a:ln w="9525"/>
        </p:spPr>
        <p:txBody>
          <a:bodyPr/>
          <a:lstStyle/>
          <a:p>
            <a:pPr eaLnBrk="1" hangingPunct="1"/>
            <a:endParaRPr lang="en-GB"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p:txBody>
          <a:bodyPr/>
          <a:lstStyle/>
          <a:p>
            <a:pPr>
              <a:defRPr/>
            </a:pPr>
            <a:r>
              <a:rPr dirty="0" smtClean="0"/>
              <a:t>CS1010 </a:t>
            </a:r>
            <a:r>
              <a:rPr dirty="0"/>
              <a:t>Programming Methodology</a:t>
            </a:r>
          </a:p>
        </p:txBody>
      </p:sp>
      <p:sp>
        <p:nvSpPr>
          <p:cNvPr id="70659" name="Rectangle 2"/>
          <p:cNvSpPr>
            <a:spLocks noGrp="1" noRot="1" noChangeAspect="1" noChangeArrowheads="1" noTextEdit="1"/>
          </p:cNvSpPr>
          <p:nvPr>
            <p:ph type="sldImg"/>
          </p:nvPr>
        </p:nvSpPr>
        <p:spPr>
          <a:ln/>
        </p:spPr>
      </p:sp>
      <p:sp>
        <p:nvSpPr>
          <p:cNvPr id="70660" name="Rectangle 3"/>
          <p:cNvSpPr>
            <a:spLocks noGrp="1" noChangeArrowheads="1"/>
          </p:cNvSpPr>
          <p:nvPr>
            <p:ph type="body" idx="1"/>
          </p:nvPr>
        </p:nvSpPr>
        <p:spPr>
          <a:xfrm>
            <a:off x="889000" y="4668838"/>
            <a:ext cx="4884738" cy="4425950"/>
          </a:xfrm>
          <a:prstGeom prst="rect">
            <a:avLst/>
          </a:prstGeom>
          <a:noFill/>
          <a:ln w="9525"/>
        </p:spPr>
        <p:txBody>
          <a:bodyPr/>
          <a:lstStyle/>
          <a:p>
            <a:pPr eaLnBrk="1" hangingPunct="1"/>
            <a:endParaRPr lang="en-US"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p:txBody>
          <a:bodyPr/>
          <a:lstStyle/>
          <a:p>
            <a:pPr>
              <a:defRPr/>
            </a:pPr>
            <a:r>
              <a:t>CS1010 Programming Methodology</a:t>
            </a:r>
          </a:p>
        </p:txBody>
      </p:sp>
      <p:sp>
        <p:nvSpPr>
          <p:cNvPr id="72707" name="Rectangle 2"/>
          <p:cNvSpPr>
            <a:spLocks noGrp="1" noRot="1" noChangeAspect="1" noChangeArrowheads="1" noTextEdit="1"/>
          </p:cNvSpPr>
          <p:nvPr>
            <p:ph type="sldImg"/>
          </p:nvPr>
        </p:nvSpPr>
        <p:spPr>
          <a:ln/>
        </p:spPr>
      </p:sp>
      <p:sp>
        <p:nvSpPr>
          <p:cNvPr id="72708" name="Rectangle 3"/>
          <p:cNvSpPr>
            <a:spLocks noGrp="1" noChangeArrowheads="1"/>
          </p:cNvSpPr>
          <p:nvPr>
            <p:ph type="body" idx="1"/>
          </p:nvPr>
        </p:nvSpPr>
        <p:spPr>
          <a:xfrm>
            <a:off x="889000" y="4668838"/>
            <a:ext cx="4884738" cy="4425950"/>
          </a:xfrm>
          <a:prstGeom prst="rect">
            <a:avLst/>
          </a:prstGeom>
          <a:noFill/>
          <a:ln w="9525"/>
        </p:spPr>
        <p:txBody>
          <a:bodyPr/>
          <a:lstStyle/>
          <a:p>
            <a:pPr marL="225425" indent="-225425" eaLnBrk="1" hangingPunct="1">
              <a:buFont typeface="Calibri" pitchFamily="34" charset="0"/>
              <a:buNone/>
            </a:pPr>
            <a:endParaRPr lang="en-US" dirty="0"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Slide Image Placeholder 1"/>
          <p:cNvSpPr>
            <a:spLocks noGrp="1" noRot="1" noChangeAspect="1" noTextEdit="1"/>
          </p:cNvSpPr>
          <p:nvPr>
            <p:ph type="sldImg"/>
          </p:nvPr>
        </p:nvSpPr>
        <p:spPr>
          <a:ln/>
        </p:spPr>
      </p:sp>
      <p:sp>
        <p:nvSpPr>
          <p:cNvPr id="102403" name="Notes Placeholder 2"/>
          <p:cNvSpPr>
            <a:spLocks noGrp="1"/>
          </p:cNvSpPr>
          <p:nvPr>
            <p:ph type="body" idx="1"/>
          </p:nvPr>
        </p:nvSpPr>
        <p:spPr>
          <a:xfrm>
            <a:off x="666750" y="4670425"/>
            <a:ext cx="5329238" cy="4424363"/>
          </a:xfrm>
          <a:prstGeom prst="rect">
            <a:avLst/>
          </a:prstGeom>
          <a:noFill/>
          <a:ln w="9525"/>
        </p:spPr>
        <p:txBody>
          <a:bodyPr/>
          <a:lstStyle/>
          <a:p>
            <a:endParaRPr lang="en-SG" smtClean="0"/>
          </a:p>
        </p:txBody>
      </p:sp>
      <p:sp>
        <p:nvSpPr>
          <p:cNvPr id="4" name="Header Placeholder 3"/>
          <p:cNvSpPr>
            <a:spLocks noGrp="1"/>
          </p:cNvSpPr>
          <p:nvPr>
            <p:ph type="hdr" sz="quarter"/>
          </p:nvPr>
        </p:nvSpPr>
        <p:spPr/>
        <p:txBody>
          <a:bodyPr/>
          <a:lstStyle/>
          <a:p>
            <a:pPr>
              <a:defRPr/>
            </a:pPr>
            <a:r>
              <a:rPr lang="en-US" dirty="0" smtClean="0"/>
              <a:t>CS1010 Programming Methodology</a:t>
            </a:r>
            <a:endParaRPr lang="en-US" dirty="0"/>
          </a:p>
        </p:txBody>
      </p:sp>
      <p:sp>
        <p:nvSpPr>
          <p:cNvPr id="102405" name="Slide Number Placeholder 4"/>
          <p:cNvSpPr>
            <a:spLocks noGrp="1"/>
          </p:cNvSpPr>
          <p:nvPr>
            <p:ph type="sldNum" sz="quarter" idx="5"/>
          </p:nvPr>
        </p:nvSpPr>
        <p:spPr>
          <a:noFill/>
        </p:spPr>
        <p:txBody>
          <a:bodyPr/>
          <a:lstStyle/>
          <a:p>
            <a:pPr defTabSz="940971"/>
            <a:fld id="{15A005EA-D4FB-4B6A-B638-FD49C3777C9F}" type="slidenum">
              <a:rPr lang="en-GB" smtClean="0"/>
              <a:pPr defTabSz="940971"/>
              <a:t>4</a:t>
            </a:fld>
            <a:endParaRPr lang="en-GB" dirty="0"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p:txBody>
          <a:bodyPr/>
          <a:lstStyle/>
          <a:p>
            <a:pPr>
              <a:defRPr/>
            </a:pPr>
            <a:r>
              <a:rPr lang="en-US" dirty="0" smtClean="0"/>
              <a:t>CS1010 Programming Methodology</a:t>
            </a:r>
            <a:endParaRPr lang="en-US" dirty="0"/>
          </a:p>
        </p:txBody>
      </p:sp>
      <p:sp>
        <p:nvSpPr>
          <p:cNvPr id="103427" name="Rectangle 2"/>
          <p:cNvSpPr>
            <a:spLocks noGrp="1" noRot="1" noChangeAspect="1" noChangeArrowheads="1" noTextEdit="1"/>
          </p:cNvSpPr>
          <p:nvPr>
            <p:ph type="sldImg"/>
          </p:nvPr>
        </p:nvSpPr>
        <p:spPr>
          <a:ln/>
        </p:spPr>
      </p:sp>
      <p:sp>
        <p:nvSpPr>
          <p:cNvPr id="103428" name="Rectangle 3"/>
          <p:cNvSpPr>
            <a:spLocks noGrp="1" noChangeArrowheads="1"/>
          </p:cNvSpPr>
          <p:nvPr>
            <p:ph type="body" idx="1"/>
          </p:nvPr>
        </p:nvSpPr>
        <p:spPr>
          <a:xfrm>
            <a:off x="666750" y="4670425"/>
            <a:ext cx="5329238" cy="4424363"/>
          </a:xfrm>
          <a:prstGeom prst="rect">
            <a:avLst/>
          </a:prstGeom>
          <a:noFill/>
          <a:ln w="9525"/>
        </p:spPr>
        <p:txBody>
          <a:bodyPr/>
          <a:lstStyle/>
          <a:p>
            <a:pPr marL="223441" indent="-223441" eaLnBrk="1" hangingPunct="1"/>
            <a:endParaRPr lang="en-US" dirty="0"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Slide Image Placeholder 1"/>
          <p:cNvSpPr>
            <a:spLocks noGrp="1" noRot="1" noChangeAspect="1" noTextEdit="1"/>
          </p:cNvSpPr>
          <p:nvPr>
            <p:ph type="sldImg"/>
          </p:nvPr>
        </p:nvSpPr>
        <p:spPr>
          <a:ln/>
        </p:spPr>
      </p:sp>
      <p:sp>
        <p:nvSpPr>
          <p:cNvPr id="104451" name="Notes Placeholder 2"/>
          <p:cNvSpPr>
            <a:spLocks noGrp="1"/>
          </p:cNvSpPr>
          <p:nvPr>
            <p:ph type="body" idx="1"/>
          </p:nvPr>
        </p:nvSpPr>
        <p:spPr>
          <a:xfrm>
            <a:off x="666750" y="4670425"/>
            <a:ext cx="5329238" cy="4424363"/>
          </a:xfrm>
          <a:prstGeom prst="rect">
            <a:avLst/>
          </a:prstGeom>
          <a:noFill/>
          <a:ln w="9525"/>
        </p:spPr>
        <p:txBody>
          <a:bodyPr/>
          <a:lstStyle/>
          <a:p>
            <a:endParaRPr lang="en-SG" smtClean="0"/>
          </a:p>
        </p:txBody>
      </p:sp>
      <p:sp>
        <p:nvSpPr>
          <p:cNvPr id="4" name="Header Placeholder 3"/>
          <p:cNvSpPr>
            <a:spLocks noGrp="1"/>
          </p:cNvSpPr>
          <p:nvPr>
            <p:ph type="hdr" sz="quarter"/>
          </p:nvPr>
        </p:nvSpPr>
        <p:spPr/>
        <p:txBody>
          <a:bodyPr/>
          <a:lstStyle/>
          <a:p>
            <a:pPr>
              <a:defRPr/>
            </a:pPr>
            <a:r>
              <a:rPr lang="en-US" dirty="0" smtClean="0"/>
              <a:t>CS1010 Programming Methodology</a:t>
            </a:r>
            <a:endParaRPr lang="en-US" dirty="0"/>
          </a:p>
        </p:txBody>
      </p:sp>
      <p:sp>
        <p:nvSpPr>
          <p:cNvPr id="104453" name="Slide Number Placeholder 4"/>
          <p:cNvSpPr>
            <a:spLocks noGrp="1"/>
          </p:cNvSpPr>
          <p:nvPr>
            <p:ph type="sldNum" sz="quarter" idx="5"/>
          </p:nvPr>
        </p:nvSpPr>
        <p:spPr>
          <a:noFill/>
        </p:spPr>
        <p:txBody>
          <a:bodyPr/>
          <a:lstStyle/>
          <a:p>
            <a:pPr defTabSz="940971"/>
            <a:fld id="{160C2506-9259-4A6B-8D75-1F16351BD519}" type="slidenum">
              <a:rPr lang="en-GB" smtClean="0"/>
              <a:pPr defTabSz="940971"/>
              <a:t>6</a:t>
            </a:fld>
            <a:endParaRPr lang="en-GB" dirty="0"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Slide Image Placeholder 1"/>
          <p:cNvSpPr>
            <a:spLocks noGrp="1" noRot="1" noChangeAspect="1" noTextEdit="1"/>
          </p:cNvSpPr>
          <p:nvPr>
            <p:ph type="sldImg"/>
          </p:nvPr>
        </p:nvSpPr>
        <p:spPr>
          <a:ln/>
        </p:spPr>
      </p:sp>
      <p:sp>
        <p:nvSpPr>
          <p:cNvPr id="105475" name="Notes Placeholder 2"/>
          <p:cNvSpPr>
            <a:spLocks noGrp="1"/>
          </p:cNvSpPr>
          <p:nvPr>
            <p:ph type="body" idx="1"/>
          </p:nvPr>
        </p:nvSpPr>
        <p:spPr>
          <a:xfrm>
            <a:off x="666750" y="4670425"/>
            <a:ext cx="5329238" cy="4424363"/>
          </a:xfrm>
          <a:prstGeom prst="rect">
            <a:avLst/>
          </a:prstGeom>
          <a:noFill/>
          <a:ln w="9525"/>
        </p:spPr>
        <p:txBody>
          <a:bodyPr/>
          <a:lstStyle/>
          <a:p>
            <a:endParaRPr lang="en-SG" smtClean="0"/>
          </a:p>
        </p:txBody>
      </p:sp>
      <p:sp>
        <p:nvSpPr>
          <p:cNvPr id="4" name="Header Placeholder 3"/>
          <p:cNvSpPr>
            <a:spLocks noGrp="1"/>
          </p:cNvSpPr>
          <p:nvPr>
            <p:ph type="hdr" sz="quarter"/>
          </p:nvPr>
        </p:nvSpPr>
        <p:spPr/>
        <p:txBody>
          <a:bodyPr/>
          <a:lstStyle/>
          <a:p>
            <a:pPr>
              <a:defRPr/>
            </a:pPr>
            <a:r>
              <a:rPr lang="en-US" dirty="0" smtClean="0"/>
              <a:t>CS1010 Programming Methodology</a:t>
            </a:r>
            <a:endParaRPr lang="en-US" dirty="0"/>
          </a:p>
        </p:txBody>
      </p:sp>
      <p:sp>
        <p:nvSpPr>
          <p:cNvPr id="105477" name="Slide Number Placeholder 4"/>
          <p:cNvSpPr>
            <a:spLocks noGrp="1"/>
          </p:cNvSpPr>
          <p:nvPr>
            <p:ph type="sldNum" sz="quarter" idx="5"/>
          </p:nvPr>
        </p:nvSpPr>
        <p:spPr>
          <a:noFill/>
        </p:spPr>
        <p:txBody>
          <a:bodyPr/>
          <a:lstStyle/>
          <a:p>
            <a:pPr defTabSz="940971"/>
            <a:fld id="{1ED32E09-C70C-456F-8AAF-8297C9792D9C}" type="slidenum">
              <a:rPr lang="en-GB" smtClean="0"/>
              <a:pPr defTabSz="940971"/>
              <a:t>7</a:t>
            </a:fld>
            <a:endParaRPr lang="en-GB" dirty="0"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Slide Image Placeholder 1"/>
          <p:cNvSpPr>
            <a:spLocks noGrp="1" noRot="1" noChangeAspect="1" noTextEdit="1"/>
          </p:cNvSpPr>
          <p:nvPr>
            <p:ph type="sldImg"/>
          </p:nvPr>
        </p:nvSpPr>
        <p:spPr>
          <a:ln/>
        </p:spPr>
      </p:sp>
      <p:sp>
        <p:nvSpPr>
          <p:cNvPr id="106499" name="Notes Placeholder 2"/>
          <p:cNvSpPr>
            <a:spLocks noGrp="1"/>
          </p:cNvSpPr>
          <p:nvPr>
            <p:ph type="body" idx="1"/>
          </p:nvPr>
        </p:nvSpPr>
        <p:spPr>
          <a:xfrm>
            <a:off x="666750" y="4670425"/>
            <a:ext cx="5329238" cy="4424363"/>
          </a:xfrm>
          <a:prstGeom prst="rect">
            <a:avLst/>
          </a:prstGeom>
          <a:noFill/>
          <a:ln w="9525"/>
        </p:spPr>
        <p:txBody>
          <a:bodyPr/>
          <a:lstStyle/>
          <a:p>
            <a:endParaRPr lang="en-SG" smtClean="0"/>
          </a:p>
        </p:txBody>
      </p:sp>
      <p:sp>
        <p:nvSpPr>
          <p:cNvPr id="4" name="Header Placeholder 3"/>
          <p:cNvSpPr>
            <a:spLocks noGrp="1"/>
          </p:cNvSpPr>
          <p:nvPr>
            <p:ph type="hdr" sz="quarter"/>
          </p:nvPr>
        </p:nvSpPr>
        <p:spPr/>
        <p:txBody>
          <a:bodyPr/>
          <a:lstStyle/>
          <a:p>
            <a:pPr>
              <a:defRPr/>
            </a:pPr>
            <a:r>
              <a:rPr lang="en-US" dirty="0" smtClean="0"/>
              <a:t>CS1010 Programming Methodology</a:t>
            </a:r>
            <a:endParaRPr lang="en-US" dirty="0"/>
          </a:p>
        </p:txBody>
      </p:sp>
      <p:sp>
        <p:nvSpPr>
          <p:cNvPr id="106501" name="Slide Number Placeholder 4"/>
          <p:cNvSpPr>
            <a:spLocks noGrp="1"/>
          </p:cNvSpPr>
          <p:nvPr>
            <p:ph type="sldNum" sz="quarter" idx="5"/>
          </p:nvPr>
        </p:nvSpPr>
        <p:spPr>
          <a:noFill/>
        </p:spPr>
        <p:txBody>
          <a:bodyPr/>
          <a:lstStyle/>
          <a:p>
            <a:pPr defTabSz="940971"/>
            <a:fld id="{A9041435-4107-48F1-98CB-950DFA70E74F}" type="slidenum">
              <a:rPr lang="en-GB" smtClean="0"/>
              <a:pPr defTabSz="940971"/>
              <a:t>8</a:t>
            </a:fld>
            <a:endParaRPr lang="en-GB" dirty="0"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p:txBody>
          <a:bodyPr/>
          <a:lstStyle/>
          <a:p>
            <a:pPr>
              <a:defRPr/>
            </a:pPr>
            <a:r>
              <a:rPr lang="en-US" dirty="0" smtClean="0"/>
              <a:t>CS1010 Programming Methodology</a:t>
            </a:r>
            <a:endParaRPr lang="en-US" dirty="0"/>
          </a:p>
        </p:txBody>
      </p:sp>
      <p:sp>
        <p:nvSpPr>
          <p:cNvPr id="107523" name="Rectangle 2"/>
          <p:cNvSpPr>
            <a:spLocks noGrp="1" noRot="1" noChangeAspect="1" noChangeArrowheads="1" noTextEdit="1"/>
          </p:cNvSpPr>
          <p:nvPr>
            <p:ph type="sldImg"/>
          </p:nvPr>
        </p:nvSpPr>
        <p:spPr>
          <a:ln/>
        </p:spPr>
      </p:sp>
      <p:sp>
        <p:nvSpPr>
          <p:cNvPr id="107524" name="Rectangle 3"/>
          <p:cNvSpPr>
            <a:spLocks noGrp="1" noChangeArrowheads="1"/>
          </p:cNvSpPr>
          <p:nvPr>
            <p:ph type="body" idx="1"/>
          </p:nvPr>
        </p:nvSpPr>
        <p:spPr>
          <a:xfrm>
            <a:off x="666750" y="4670425"/>
            <a:ext cx="5329238" cy="4424363"/>
          </a:xfrm>
          <a:prstGeom prst="rect">
            <a:avLst/>
          </a:prstGeom>
          <a:noFill/>
          <a:ln w="9525"/>
        </p:spPr>
        <p:txBody>
          <a:bodyPr/>
          <a:lstStyle/>
          <a:p>
            <a:pPr marL="223441" indent="-223441" eaLnBrk="1" hangingPunct="1"/>
            <a:endParaRPr lang="en-US" dirty="0"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p:txBody>
          <a:bodyPr/>
          <a:lstStyle/>
          <a:p>
            <a:pPr>
              <a:defRPr/>
            </a:pPr>
            <a:r>
              <a:rPr lang="en-US" dirty="0" smtClean="0"/>
              <a:t>CS1010 Programming Methodology</a:t>
            </a:r>
            <a:endParaRPr lang="en-US" dirty="0"/>
          </a:p>
        </p:txBody>
      </p:sp>
      <p:sp>
        <p:nvSpPr>
          <p:cNvPr id="108547" name="Rectangle 2"/>
          <p:cNvSpPr>
            <a:spLocks noGrp="1" noRot="1" noChangeAspect="1" noChangeArrowheads="1" noTextEdit="1"/>
          </p:cNvSpPr>
          <p:nvPr>
            <p:ph type="sldImg"/>
          </p:nvPr>
        </p:nvSpPr>
        <p:spPr>
          <a:ln/>
        </p:spPr>
      </p:sp>
      <p:sp>
        <p:nvSpPr>
          <p:cNvPr id="108548" name="Rectangle 3"/>
          <p:cNvSpPr>
            <a:spLocks noGrp="1" noChangeArrowheads="1"/>
          </p:cNvSpPr>
          <p:nvPr>
            <p:ph type="body" idx="1"/>
          </p:nvPr>
        </p:nvSpPr>
        <p:spPr>
          <a:xfrm>
            <a:off x="666750" y="4670425"/>
            <a:ext cx="5329238" cy="4424363"/>
          </a:xfrm>
          <a:prstGeom prst="rect">
            <a:avLst/>
          </a:prstGeom>
          <a:noFill/>
          <a:ln w="9525"/>
        </p:spPr>
        <p:txBody>
          <a:bodyPr/>
          <a:lstStyle/>
          <a:p>
            <a:pPr marL="223441" indent="-223441" eaLnBrk="1" hangingPunct="1"/>
            <a:endParaRPr lang="en-US" dirty="0"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p:txBody>
          <a:bodyPr/>
          <a:lstStyle/>
          <a:p>
            <a:pPr>
              <a:defRPr/>
            </a:pPr>
            <a:r>
              <a:rPr lang="en-US" dirty="0" smtClean="0"/>
              <a:t>CS1010 Programming Methodology</a:t>
            </a:r>
            <a:endParaRPr lang="en-US" dirty="0"/>
          </a:p>
        </p:txBody>
      </p:sp>
      <p:sp>
        <p:nvSpPr>
          <p:cNvPr id="113667" name="Rectangle 2"/>
          <p:cNvSpPr>
            <a:spLocks noGrp="1" noRot="1" noChangeAspect="1" noChangeArrowheads="1" noTextEdit="1"/>
          </p:cNvSpPr>
          <p:nvPr>
            <p:ph type="sldImg"/>
          </p:nvPr>
        </p:nvSpPr>
        <p:spPr>
          <a:ln/>
        </p:spPr>
      </p:sp>
      <p:sp>
        <p:nvSpPr>
          <p:cNvPr id="113668" name="Rectangle 3"/>
          <p:cNvSpPr>
            <a:spLocks noGrp="1" noChangeArrowheads="1"/>
          </p:cNvSpPr>
          <p:nvPr>
            <p:ph type="body" idx="1"/>
          </p:nvPr>
        </p:nvSpPr>
        <p:spPr>
          <a:xfrm>
            <a:off x="666750" y="4670425"/>
            <a:ext cx="5329238" cy="4424363"/>
          </a:xfrm>
          <a:prstGeom prst="rect">
            <a:avLst/>
          </a:prstGeom>
          <a:noFill/>
          <a:ln w="9525"/>
        </p:spPr>
        <p:txBody>
          <a:bodyPr/>
          <a:lstStyle/>
          <a:p>
            <a:pPr marL="223441" indent="-223441" eaLnBrk="1" hangingPunct="1">
              <a:buFont typeface="Calibri" pitchFamily="34" charset="0"/>
              <a:buNone/>
            </a:pPr>
            <a:endParaRPr lang="en-US" dirty="0"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p:txBody>
          <a:bodyPr/>
          <a:lstStyle/>
          <a:p>
            <a:pPr>
              <a:defRPr/>
            </a:pPr>
            <a:r>
              <a:rPr lang="en-US" dirty="0" smtClean="0"/>
              <a:t>CS1010 Programming Methodology</a:t>
            </a:r>
            <a:endParaRPr lang="en-US" dirty="0"/>
          </a:p>
        </p:txBody>
      </p:sp>
      <p:sp>
        <p:nvSpPr>
          <p:cNvPr id="116739" name="Rectangle 2"/>
          <p:cNvSpPr>
            <a:spLocks noGrp="1" noRot="1" noChangeAspect="1" noChangeArrowheads="1" noTextEdit="1"/>
          </p:cNvSpPr>
          <p:nvPr>
            <p:ph type="sldImg"/>
          </p:nvPr>
        </p:nvSpPr>
        <p:spPr>
          <a:ln/>
        </p:spPr>
      </p:sp>
      <p:sp>
        <p:nvSpPr>
          <p:cNvPr id="116740" name="Rectangle 3"/>
          <p:cNvSpPr>
            <a:spLocks noGrp="1" noChangeArrowheads="1"/>
          </p:cNvSpPr>
          <p:nvPr>
            <p:ph type="body" idx="1"/>
          </p:nvPr>
        </p:nvSpPr>
        <p:spPr>
          <a:xfrm>
            <a:off x="666750" y="4670425"/>
            <a:ext cx="5329238" cy="4424363"/>
          </a:xfrm>
          <a:prstGeom prst="rect">
            <a:avLst/>
          </a:prstGeom>
          <a:noFill/>
          <a:ln w="9525"/>
        </p:spPr>
        <p:txBody>
          <a:bodyPr/>
          <a:lstStyle/>
          <a:p>
            <a:pPr marL="223441" indent="-223441" eaLnBrk="1" hangingPunct="1"/>
            <a:endParaRPr lang="en-US" dirty="0"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Slide Image Placeholder 1"/>
          <p:cNvSpPr>
            <a:spLocks noGrp="1" noRot="1" noChangeAspect="1" noTextEdit="1"/>
          </p:cNvSpPr>
          <p:nvPr>
            <p:ph type="sldImg"/>
          </p:nvPr>
        </p:nvSpPr>
        <p:spPr>
          <a:ln/>
        </p:spPr>
      </p:sp>
      <p:sp>
        <p:nvSpPr>
          <p:cNvPr id="117763" name="Notes Placeholder 2"/>
          <p:cNvSpPr>
            <a:spLocks noGrp="1"/>
          </p:cNvSpPr>
          <p:nvPr>
            <p:ph type="body" idx="1"/>
          </p:nvPr>
        </p:nvSpPr>
        <p:spPr>
          <a:xfrm>
            <a:off x="666750" y="4670425"/>
            <a:ext cx="5329238" cy="4424363"/>
          </a:xfrm>
          <a:prstGeom prst="rect">
            <a:avLst/>
          </a:prstGeom>
          <a:noFill/>
          <a:ln w="9525"/>
        </p:spPr>
        <p:txBody>
          <a:bodyPr/>
          <a:lstStyle/>
          <a:p>
            <a:pPr marL="228162" indent="-228162">
              <a:buFont typeface="Calibri" pitchFamily="34" charset="0"/>
              <a:buNone/>
            </a:pPr>
            <a:endParaRPr lang="en-SG" dirty="0" smtClean="0"/>
          </a:p>
        </p:txBody>
      </p:sp>
      <p:sp>
        <p:nvSpPr>
          <p:cNvPr id="4" name="Header Placeholder 3"/>
          <p:cNvSpPr>
            <a:spLocks noGrp="1"/>
          </p:cNvSpPr>
          <p:nvPr>
            <p:ph type="hdr" sz="quarter"/>
          </p:nvPr>
        </p:nvSpPr>
        <p:spPr/>
        <p:txBody>
          <a:bodyPr/>
          <a:lstStyle/>
          <a:p>
            <a:pPr>
              <a:defRPr/>
            </a:pPr>
            <a:r>
              <a:rPr lang="en-US" dirty="0" smtClean="0"/>
              <a:t>CS1010 Programming Methodology</a:t>
            </a:r>
            <a:endParaRPr lang="en-US" dirty="0"/>
          </a:p>
        </p:txBody>
      </p:sp>
      <p:sp>
        <p:nvSpPr>
          <p:cNvPr id="117765" name="Slide Number Placeholder 4"/>
          <p:cNvSpPr>
            <a:spLocks noGrp="1"/>
          </p:cNvSpPr>
          <p:nvPr>
            <p:ph type="sldNum" sz="quarter" idx="5"/>
          </p:nvPr>
        </p:nvSpPr>
        <p:spPr>
          <a:noFill/>
        </p:spPr>
        <p:txBody>
          <a:bodyPr/>
          <a:lstStyle/>
          <a:p>
            <a:pPr defTabSz="940971"/>
            <a:fld id="{93F52346-BFDD-4CEE-A44A-744B63EF9347}" type="slidenum">
              <a:rPr lang="en-GB" smtClean="0"/>
              <a:pPr defTabSz="940971"/>
              <a:t>13</a:t>
            </a:fld>
            <a:endParaRPr lang="en-GB" dirty="0"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Slide Image Placeholder 1"/>
          <p:cNvSpPr>
            <a:spLocks noGrp="1" noRot="1" noChangeAspect="1" noTextEdit="1"/>
          </p:cNvSpPr>
          <p:nvPr>
            <p:ph type="sldImg"/>
          </p:nvPr>
        </p:nvSpPr>
        <p:spPr>
          <a:ln/>
        </p:spPr>
      </p:sp>
      <p:sp>
        <p:nvSpPr>
          <p:cNvPr id="119811" name="Notes Placeholder 2"/>
          <p:cNvSpPr>
            <a:spLocks noGrp="1"/>
          </p:cNvSpPr>
          <p:nvPr>
            <p:ph type="body" idx="1"/>
          </p:nvPr>
        </p:nvSpPr>
        <p:spPr>
          <a:xfrm>
            <a:off x="666750" y="4670425"/>
            <a:ext cx="5329238" cy="4424363"/>
          </a:xfrm>
          <a:prstGeom prst="rect">
            <a:avLst/>
          </a:prstGeom>
          <a:noFill/>
          <a:ln w="9525"/>
        </p:spPr>
        <p:txBody>
          <a:bodyPr/>
          <a:lstStyle/>
          <a:p>
            <a:endParaRPr lang="en-SG" smtClean="0"/>
          </a:p>
        </p:txBody>
      </p:sp>
      <p:sp>
        <p:nvSpPr>
          <p:cNvPr id="4" name="Header Placeholder 3"/>
          <p:cNvSpPr>
            <a:spLocks noGrp="1"/>
          </p:cNvSpPr>
          <p:nvPr>
            <p:ph type="hdr" sz="quarter"/>
          </p:nvPr>
        </p:nvSpPr>
        <p:spPr/>
        <p:txBody>
          <a:bodyPr/>
          <a:lstStyle/>
          <a:p>
            <a:pPr>
              <a:defRPr/>
            </a:pPr>
            <a:r>
              <a:rPr lang="en-US" dirty="0" smtClean="0"/>
              <a:t>CS1010 Programming Methodology</a:t>
            </a:r>
            <a:endParaRPr lang="en-US" dirty="0"/>
          </a:p>
        </p:txBody>
      </p:sp>
      <p:sp>
        <p:nvSpPr>
          <p:cNvPr id="119813" name="Slide Number Placeholder 4"/>
          <p:cNvSpPr>
            <a:spLocks noGrp="1"/>
          </p:cNvSpPr>
          <p:nvPr>
            <p:ph type="sldNum" sz="quarter" idx="5"/>
          </p:nvPr>
        </p:nvSpPr>
        <p:spPr>
          <a:noFill/>
        </p:spPr>
        <p:txBody>
          <a:bodyPr/>
          <a:lstStyle/>
          <a:p>
            <a:pPr defTabSz="940971"/>
            <a:fld id="{8F61B23A-830A-4B33-BE6F-27253D7BA710}" type="slidenum">
              <a:rPr lang="en-GB" smtClean="0"/>
              <a:pPr defTabSz="940971"/>
              <a:t>14</a:t>
            </a:fld>
            <a:endParaRPr lang="en-GB" dirty="0"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p:txBody>
          <a:bodyPr/>
          <a:lstStyle/>
          <a:p>
            <a:pPr>
              <a:defRPr/>
            </a:pPr>
            <a:r>
              <a:t>CS1010 Programming Methodology</a:t>
            </a:r>
          </a:p>
        </p:txBody>
      </p:sp>
      <p:sp>
        <p:nvSpPr>
          <p:cNvPr id="73731" name="Rectangle 2"/>
          <p:cNvSpPr>
            <a:spLocks noGrp="1" noRot="1" noChangeAspect="1" noChangeArrowheads="1" noTextEdit="1"/>
          </p:cNvSpPr>
          <p:nvPr>
            <p:ph type="sldImg"/>
          </p:nvPr>
        </p:nvSpPr>
        <p:spPr>
          <a:ln/>
        </p:spPr>
      </p:sp>
      <p:sp>
        <p:nvSpPr>
          <p:cNvPr id="73732" name="Rectangle 3"/>
          <p:cNvSpPr>
            <a:spLocks noGrp="1" noChangeArrowheads="1"/>
          </p:cNvSpPr>
          <p:nvPr>
            <p:ph type="body" idx="1"/>
          </p:nvPr>
        </p:nvSpPr>
        <p:spPr>
          <a:xfrm>
            <a:off x="889000" y="4668838"/>
            <a:ext cx="4884738" cy="4425950"/>
          </a:xfrm>
          <a:prstGeom prst="rect">
            <a:avLst/>
          </a:prstGeom>
          <a:noFill/>
          <a:ln w="9525"/>
        </p:spPr>
        <p:txBody>
          <a:bodyPr/>
          <a:lstStyle/>
          <a:p>
            <a:pPr eaLnBrk="1" hangingPunct="1"/>
            <a:endParaRPr lang="en-US" dirty="0"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p:txBody>
          <a:bodyPr/>
          <a:lstStyle/>
          <a:p>
            <a:pPr>
              <a:defRPr/>
            </a:pPr>
            <a:r>
              <a:t>CS1010 Programming Methodology</a:t>
            </a:r>
          </a:p>
        </p:txBody>
      </p:sp>
      <p:sp>
        <p:nvSpPr>
          <p:cNvPr id="74755" name="Rectangle 2"/>
          <p:cNvSpPr>
            <a:spLocks noGrp="1" noRot="1" noChangeAspect="1" noChangeArrowheads="1" noTextEdit="1"/>
          </p:cNvSpPr>
          <p:nvPr>
            <p:ph type="sldImg"/>
          </p:nvPr>
        </p:nvSpPr>
        <p:spPr>
          <a:ln/>
        </p:spPr>
      </p:sp>
      <p:sp>
        <p:nvSpPr>
          <p:cNvPr id="74756" name="Rectangle 3"/>
          <p:cNvSpPr>
            <a:spLocks noGrp="1" noChangeArrowheads="1"/>
          </p:cNvSpPr>
          <p:nvPr>
            <p:ph type="body" idx="1"/>
          </p:nvPr>
        </p:nvSpPr>
        <p:spPr>
          <a:xfrm>
            <a:off x="889000" y="4668838"/>
            <a:ext cx="4884738" cy="4425950"/>
          </a:xfrm>
          <a:prstGeom prst="rect">
            <a:avLst/>
          </a:prstGeom>
          <a:noFill/>
          <a:ln w="9525"/>
        </p:spPr>
        <p:txBody>
          <a:bodyPr/>
          <a:lstStyle/>
          <a:p>
            <a:pPr marL="223838" indent="-223838" eaLnBrk="1" hangingPunct="1">
              <a:buFont typeface="Calibri" pitchFamily="34" charset="0"/>
              <a:buNone/>
            </a:pPr>
            <a:endParaRPr lang="en-US" dirty="0"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p:txBody>
          <a:bodyPr/>
          <a:lstStyle/>
          <a:p>
            <a:pPr>
              <a:defRPr/>
            </a:pPr>
            <a:r>
              <a:t>CS1010 Programming Methodology</a:t>
            </a:r>
          </a:p>
        </p:txBody>
      </p:sp>
      <p:sp>
        <p:nvSpPr>
          <p:cNvPr id="75779" name="Rectangle 2"/>
          <p:cNvSpPr>
            <a:spLocks noGrp="1" noRot="1" noChangeAspect="1" noChangeArrowheads="1" noTextEdit="1"/>
          </p:cNvSpPr>
          <p:nvPr>
            <p:ph type="sldImg"/>
          </p:nvPr>
        </p:nvSpPr>
        <p:spPr>
          <a:ln/>
        </p:spPr>
      </p:sp>
      <p:sp>
        <p:nvSpPr>
          <p:cNvPr id="75780" name="Rectangle 3"/>
          <p:cNvSpPr>
            <a:spLocks noGrp="1" noChangeArrowheads="1"/>
          </p:cNvSpPr>
          <p:nvPr>
            <p:ph type="body" idx="1"/>
          </p:nvPr>
        </p:nvSpPr>
        <p:spPr>
          <a:xfrm>
            <a:off x="889000" y="4668838"/>
            <a:ext cx="4884738" cy="4425950"/>
          </a:xfrm>
          <a:prstGeom prst="rect">
            <a:avLst/>
          </a:prstGeom>
          <a:noFill/>
          <a:ln w="9525"/>
        </p:spPr>
        <p:txBody>
          <a:bodyPr/>
          <a:lstStyle/>
          <a:p>
            <a:pPr marL="223838" indent="-223838" eaLnBrk="1" hangingPunct="1"/>
            <a:endParaRPr lang="en-US"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p:txBody>
          <a:bodyPr/>
          <a:lstStyle/>
          <a:p>
            <a:pPr>
              <a:defRPr/>
            </a:pPr>
            <a:r>
              <a:t>CS1010 Programming Methodology</a:t>
            </a:r>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xfrm>
            <a:off x="889000" y="4668838"/>
            <a:ext cx="4884738" cy="4425950"/>
          </a:xfrm>
          <a:prstGeom prst="rect">
            <a:avLst/>
          </a:prstGeom>
          <a:noFill/>
          <a:ln w="9525"/>
        </p:spPr>
        <p:txBody>
          <a:bodyPr/>
          <a:lstStyle/>
          <a:p>
            <a:pPr marL="228600" indent="-228600" eaLnBrk="1" hangingPunct="1"/>
            <a:endParaRPr lang="en-US" dirty="0"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p:txBody>
          <a:bodyPr/>
          <a:lstStyle/>
          <a:p>
            <a:pPr>
              <a:defRPr/>
            </a:pPr>
            <a:r>
              <a:t>CS1010 Programming Methodology</a:t>
            </a:r>
          </a:p>
        </p:txBody>
      </p:sp>
      <p:sp>
        <p:nvSpPr>
          <p:cNvPr id="77827" name="Rectangle 2"/>
          <p:cNvSpPr>
            <a:spLocks noGrp="1" noRot="1" noChangeAspect="1" noChangeArrowheads="1" noTextEdit="1"/>
          </p:cNvSpPr>
          <p:nvPr>
            <p:ph type="sldImg"/>
          </p:nvPr>
        </p:nvSpPr>
        <p:spPr>
          <a:ln/>
        </p:spPr>
      </p:sp>
      <p:sp>
        <p:nvSpPr>
          <p:cNvPr id="77828" name="Rectangle 3"/>
          <p:cNvSpPr>
            <a:spLocks noGrp="1" noChangeArrowheads="1"/>
          </p:cNvSpPr>
          <p:nvPr>
            <p:ph type="body" idx="1"/>
          </p:nvPr>
        </p:nvSpPr>
        <p:spPr>
          <a:xfrm>
            <a:off x="889000" y="4668838"/>
            <a:ext cx="4884738" cy="4425950"/>
          </a:xfrm>
          <a:prstGeom prst="rect">
            <a:avLst/>
          </a:prstGeom>
          <a:noFill/>
          <a:ln w="9525"/>
        </p:spPr>
        <p:txBody>
          <a:bodyPr/>
          <a:lstStyle/>
          <a:p>
            <a:pPr marL="228600" indent="-228600" eaLnBrk="1" hangingPunct="1"/>
            <a:endParaRPr lang="en-US"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p:txBody>
          <a:bodyPr/>
          <a:lstStyle/>
          <a:p>
            <a:pPr>
              <a:defRPr/>
            </a:pPr>
            <a:r>
              <a:t>CS1010 Programming Methodology</a:t>
            </a:r>
          </a:p>
        </p:txBody>
      </p:sp>
      <p:sp>
        <p:nvSpPr>
          <p:cNvPr id="77827" name="Rectangle 2"/>
          <p:cNvSpPr>
            <a:spLocks noGrp="1" noRot="1" noChangeAspect="1" noChangeArrowheads="1" noTextEdit="1"/>
          </p:cNvSpPr>
          <p:nvPr>
            <p:ph type="sldImg"/>
          </p:nvPr>
        </p:nvSpPr>
        <p:spPr>
          <a:ln/>
        </p:spPr>
      </p:sp>
      <p:sp>
        <p:nvSpPr>
          <p:cNvPr id="77828" name="Rectangle 3"/>
          <p:cNvSpPr>
            <a:spLocks noGrp="1" noChangeArrowheads="1"/>
          </p:cNvSpPr>
          <p:nvPr>
            <p:ph type="body" idx="1"/>
          </p:nvPr>
        </p:nvSpPr>
        <p:spPr>
          <a:xfrm>
            <a:off x="889000" y="4668838"/>
            <a:ext cx="4884738" cy="4425950"/>
          </a:xfrm>
          <a:prstGeom prst="rect">
            <a:avLst/>
          </a:prstGeom>
          <a:noFill/>
          <a:ln w="9525"/>
        </p:spPr>
        <p:txBody>
          <a:bodyPr/>
          <a:lstStyle/>
          <a:p>
            <a:pPr marL="228600" indent="-228600" eaLnBrk="1" hangingPunct="1">
              <a:buFont typeface="+mj-lt"/>
              <a:buNone/>
            </a:pPr>
            <a:endParaRPr lang="en-US" dirty="0"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p:txBody>
          <a:bodyPr/>
          <a:lstStyle/>
          <a:p>
            <a:pPr>
              <a:defRPr/>
            </a:pPr>
            <a:r>
              <a:t>CS1010 Programming Methodology</a:t>
            </a:r>
          </a:p>
        </p:txBody>
      </p:sp>
      <p:sp>
        <p:nvSpPr>
          <p:cNvPr id="77827" name="Rectangle 2"/>
          <p:cNvSpPr>
            <a:spLocks noGrp="1" noRot="1" noChangeAspect="1" noChangeArrowheads="1" noTextEdit="1"/>
          </p:cNvSpPr>
          <p:nvPr>
            <p:ph type="sldImg"/>
          </p:nvPr>
        </p:nvSpPr>
        <p:spPr>
          <a:ln/>
        </p:spPr>
      </p:sp>
      <p:sp>
        <p:nvSpPr>
          <p:cNvPr id="77828" name="Rectangle 3"/>
          <p:cNvSpPr>
            <a:spLocks noGrp="1" noChangeArrowheads="1"/>
          </p:cNvSpPr>
          <p:nvPr>
            <p:ph type="body" idx="1"/>
          </p:nvPr>
        </p:nvSpPr>
        <p:spPr>
          <a:xfrm>
            <a:off x="889000" y="4668838"/>
            <a:ext cx="4884738" cy="4425950"/>
          </a:xfrm>
          <a:prstGeom prst="rect">
            <a:avLst/>
          </a:prstGeom>
          <a:noFill/>
          <a:ln w="9525"/>
        </p:spPr>
        <p:txBody>
          <a:bodyPr/>
          <a:lstStyle/>
          <a:p>
            <a:pPr marL="228600" indent="-228600" eaLnBrk="1" hangingPunct="1">
              <a:buFont typeface="+mj-lt"/>
              <a:buNone/>
            </a:pPr>
            <a:endParaRPr lang="en-US" dirty="0"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p:txBody>
          <a:bodyPr/>
          <a:lstStyle/>
          <a:p>
            <a:pPr>
              <a:defRPr/>
            </a:pPr>
            <a:r>
              <a:t>CS1010 Programming Methodology</a:t>
            </a:r>
          </a:p>
        </p:txBody>
      </p:sp>
      <p:sp>
        <p:nvSpPr>
          <p:cNvPr id="77827" name="Rectangle 2"/>
          <p:cNvSpPr>
            <a:spLocks noGrp="1" noRot="1" noChangeAspect="1" noChangeArrowheads="1" noTextEdit="1"/>
          </p:cNvSpPr>
          <p:nvPr>
            <p:ph type="sldImg"/>
          </p:nvPr>
        </p:nvSpPr>
        <p:spPr>
          <a:ln/>
        </p:spPr>
      </p:sp>
      <p:sp>
        <p:nvSpPr>
          <p:cNvPr id="77828" name="Rectangle 3"/>
          <p:cNvSpPr>
            <a:spLocks noGrp="1" noChangeArrowheads="1"/>
          </p:cNvSpPr>
          <p:nvPr>
            <p:ph type="body" idx="1"/>
          </p:nvPr>
        </p:nvSpPr>
        <p:spPr>
          <a:xfrm>
            <a:off x="889000" y="4668838"/>
            <a:ext cx="4884738" cy="4425950"/>
          </a:xfrm>
          <a:prstGeom prst="rect">
            <a:avLst/>
          </a:prstGeom>
          <a:noFill/>
          <a:ln w="9525"/>
        </p:spPr>
        <p:txBody>
          <a:bodyPr/>
          <a:lstStyle/>
          <a:p>
            <a:pPr marL="228600" indent="-228600" eaLnBrk="1" hangingPunct="1">
              <a:buFont typeface="+mj-lt"/>
              <a:buNone/>
            </a:pPr>
            <a:endParaRPr lang="en-US" dirty="0"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p:txBody>
          <a:bodyPr/>
          <a:lstStyle/>
          <a:p>
            <a:pPr>
              <a:defRPr/>
            </a:pPr>
            <a:r>
              <a:t>CS1010 Programming Methodology</a:t>
            </a:r>
          </a:p>
        </p:txBody>
      </p:sp>
      <p:sp>
        <p:nvSpPr>
          <p:cNvPr id="78851" name="Rectangle 2"/>
          <p:cNvSpPr>
            <a:spLocks noGrp="1" noRot="1" noChangeAspect="1" noChangeArrowheads="1" noTextEdit="1"/>
          </p:cNvSpPr>
          <p:nvPr>
            <p:ph type="sldImg"/>
          </p:nvPr>
        </p:nvSpPr>
        <p:spPr>
          <a:ln/>
        </p:spPr>
      </p:sp>
      <p:sp>
        <p:nvSpPr>
          <p:cNvPr id="78852" name="Rectangle 3"/>
          <p:cNvSpPr>
            <a:spLocks noGrp="1" noChangeArrowheads="1"/>
          </p:cNvSpPr>
          <p:nvPr>
            <p:ph type="body" idx="1"/>
          </p:nvPr>
        </p:nvSpPr>
        <p:spPr>
          <a:xfrm>
            <a:off x="889000" y="4668838"/>
            <a:ext cx="4884738" cy="4425950"/>
          </a:xfrm>
          <a:prstGeom prst="rect">
            <a:avLst/>
          </a:prstGeom>
          <a:noFill/>
          <a:ln w="9525"/>
        </p:spPr>
        <p:txBody>
          <a:bodyPr/>
          <a:lstStyle/>
          <a:p>
            <a:pPr marL="223838" indent="-223838" eaLnBrk="1" hangingPunct="1">
              <a:buFont typeface="Calibri" pitchFamily="34" charset="0"/>
              <a:buNone/>
            </a:pPr>
            <a:endParaRPr lang="en-US" b="0" dirty="0"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p:txBody>
          <a:bodyPr/>
          <a:lstStyle/>
          <a:p>
            <a:pPr>
              <a:defRPr/>
            </a:pPr>
            <a:r>
              <a:t>CS1010 Programming Methodology</a:t>
            </a:r>
          </a:p>
        </p:txBody>
      </p:sp>
      <p:sp>
        <p:nvSpPr>
          <p:cNvPr id="79875" name="Rectangle 2"/>
          <p:cNvSpPr>
            <a:spLocks noGrp="1" noRot="1" noChangeAspect="1" noChangeArrowheads="1" noTextEdit="1"/>
          </p:cNvSpPr>
          <p:nvPr>
            <p:ph type="sldImg"/>
          </p:nvPr>
        </p:nvSpPr>
        <p:spPr>
          <a:ln/>
        </p:spPr>
      </p:sp>
      <p:sp>
        <p:nvSpPr>
          <p:cNvPr id="79876" name="Rectangle 3"/>
          <p:cNvSpPr>
            <a:spLocks noGrp="1" noChangeArrowheads="1"/>
          </p:cNvSpPr>
          <p:nvPr>
            <p:ph type="body" idx="1"/>
          </p:nvPr>
        </p:nvSpPr>
        <p:spPr>
          <a:xfrm>
            <a:off x="889000" y="4668838"/>
            <a:ext cx="4884738" cy="4425950"/>
          </a:xfrm>
          <a:prstGeom prst="rect">
            <a:avLst/>
          </a:prstGeom>
          <a:noFill/>
          <a:ln w="9525"/>
        </p:spPr>
        <p:txBody>
          <a:bodyPr/>
          <a:lstStyle/>
          <a:p>
            <a:pPr marL="223838" indent="-223838" eaLnBrk="1" hangingPunct="1">
              <a:buFont typeface="Calibri" pitchFamily="34" charset="0"/>
              <a:buNone/>
            </a:pPr>
            <a:endParaRPr lang="en-US" dirty="0"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p:txBody>
          <a:bodyPr/>
          <a:lstStyle/>
          <a:p>
            <a:pPr>
              <a:defRPr/>
            </a:pPr>
            <a:r>
              <a:t>CS1010 Programming Methodology</a:t>
            </a:r>
          </a:p>
        </p:txBody>
      </p:sp>
      <p:sp>
        <p:nvSpPr>
          <p:cNvPr id="80899" name="Rectangle 2"/>
          <p:cNvSpPr>
            <a:spLocks noGrp="1" noRot="1" noChangeAspect="1" noChangeArrowheads="1" noTextEdit="1"/>
          </p:cNvSpPr>
          <p:nvPr>
            <p:ph type="sldImg"/>
          </p:nvPr>
        </p:nvSpPr>
        <p:spPr>
          <a:ln/>
        </p:spPr>
      </p:sp>
      <p:sp>
        <p:nvSpPr>
          <p:cNvPr id="80900" name="Rectangle 3"/>
          <p:cNvSpPr>
            <a:spLocks noGrp="1" noChangeArrowheads="1"/>
          </p:cNvSpPr>
          <p:nvPr>
            <p:ph type="body" idx="1"/>
          </p:nvPr>
        </p:nvSpPr>
        <p:spPr>
          <a:xfrm>
            <a:off x="889000" y="4668838"/>
            <a:ext cx="4884738" cy="4425950"/>
          </a:xfrm>
          <a:prstGeom prst="rect">
            <a:avLst/>
          </a:prstGeom>
          <a:noFill/>
          <a:ln w="9525"/>
        </p:spPr>
        <p:txBody>
          <a:bodyPr/>
          <a:lstStyle/>
          <a:p>
            <a:pPr marL="223838" indent="-223838" eaLnBrk="1" hangingPunct="1">
              <a:buFont typeface="Calibri" pitchFamily="34" charset="0"/>
              <a:buNone/>
            </a:pPr>
            <a:endParaRPr lang="en-US" dirty="0"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p:txBody>
          <a:bodyPr/>
          <a:lstStyle/>
          <a:p>
            <a:pPr>
              <a:defRPr/>
            </a:pPr>
            <a:r>
              <a:t>CS1010 Programming Methodology</a:t>
            </a:r>
          </a:p>
        </p:txBody>
      </p:sp>
      <p:sp>
        <p:nvSpPr>
          <p:cNvPr id="81923" name="Rectangle 2"/>
          <p:cNvSpPr>
            <a:spLocks noGrp="1" noRot="1" noChangeAspect="1" noChangeArrowheads="1" noTextEdit="1"/>
          </p:cNvSpPr>
          <p:nvPr>
            <p:ph type="sldImg"/>
          </p:nvPr>
        </p:nvSpPr>
        <p:spPr>
          <a:ln/>
        </p:spPr>
      </p:sp>
      <p:sp>
        <p:nvSpPr>
          <p:cNvPr id="81924" name="Rectangle 3"/>
          <p:cNvSpPr>
            <a:spLocks noGrp="1" noChangeArrowheads="1"/>
          </p:cNvSpPr>
          <p:nvPr>
            <p:ph type="body" idx="1"/>
          </p:nvPr>
        </p:nvSpPr>
        <p:spPr>
          <a:xfrm>
            <a:off x="889000" y="4668838"/>
            <a:ext cx="4884738" cy="4425950"/>
          </a:xfrm>
          <a:prstGeom prst="rect">
            <a:avLst/>
          </a:prstGeom>
          <a:noFill/>
          <a:ln w="9525"/>
        </p:spPr>
        <p:txBody>
          <a:bodyPr/>
          <a:lstStyle/>
          <a:p>
            <a:pPr marL="223838" indent="-223838" eaLnBrk="1" hangingPunct="1">
              <a:buFont typeface="Calibri" pitchFamily="34" charset="0"/>
              <a:buNone/>
            </a:pPr>
            <a:endParaRPr lang="en-US" b="0" dirty="0"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p:txBody>
          <a:bodyPr/>
          <a:lstStyle/>
          <a:p>
            <a:pPr>
              <a:defRPr/>
            </a:pPr>
            <a:r>
              <a:t>CS1010 Programming Methodology</a:t>
            </a:r>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xfrm>
            <a:off x="889000" y="4668838"/>
            <a:ext cx="4884738" cy="4425950"/>
          </a:xfrm>
          <a:prstGeom prst="rect">
            <a:avLst/>
          </a:prstGeom>
          <a:noFill/>
          <a:ln w="9525"/>
        </p:spPr>
        <p:txBody>
          <a:bodyPr/>
          <a:lstStyle/>
          <a:p>
            <a:pPr marL="223838" indent="-223838" eaLnBrk="1" hangingPunct="1">
              <a:buFont typeface="Calibri" pitchFamily="34" charset="0"/>
              <a:buNone/>
            </a:pPr>
            <a:endParaRPr lang="en-US" dirty="0" smtClean="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p:txBody>
          <a:bodyPr/>
          <a:lstStyle/>
          <a:p>
            <a:pPr>
              <a:defRPr/>
            </a:pPr>
            <a:r>
              <a:t>CS1010 Programming Methodology</a:t>
            </a:r>
          </a:p>
        </p:txBody>
      </p:sp>
      <p:sp>
        <p:nvSpPr>
          <p:cNvPr id="83971" name="Rectangle 2"/>
          <p:cNvSpPr>
            <a:spLocks noGrp="1" noRot="1" noChangeAspect="1" noChangeArrowheads="1" noTextEdit="1"/>
          </p:cNvSpPr>
          <p:nvPr>
            <p:ph type="sldImg"/>
          </p:nvPr>
        </p:nvSpPr>
        <p:spPr>
          <a:ln/>
        </p:spPr>
      </p:sp>
      <p:sp>
        <p:nvSpPr>
          <p:cNvPr id="83972" name="Rectangle 3"/>
          <p:cNvSpPr>
            <a:spLocks noGrp="1" noChangeArrowheads="1"/>
          </p:cNvSpPr>
          <p:nvPr>
            <p:ph type="body" idx="1"/>
          </p:nvPr>
        </p:nvSpPr>
        <p:spPr>
          <a:xfrm>
            <a:off x="889000" y="4668838"/>
            <a:ext cx="4884738" cy="4425950"/>
          </a:xfrm>
          <a:prstGeom prst="rect">
            <a:avLst/>
          </a:prstGeom>
          <a:noFill/>
          <a:ln w="9525"/>
        </p:spPr>
        <p:txBody>
          <a:bodyPr/>
          <a:lstStyle/>
          <a:p>
            <a:pPr marL="223838" indent="-223838" eaLnBrk="1" hangingPunct="1">
              <a:buFont typeface="Calibri" pitchFamily="34" charset="0"/>
              <a:buNone/>
            </a:pPr>
            <a:endParaRPr lang="en-US" b="0" dirty="0" smtClean="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p:txBody>
          <a:bodyPr/>
          <a:lstStyle/>
          <a:p>
            <a:pPr>
              <a:defRPr/>
            </a:pPr>
            <a:r>
              <a:t>CS1010 Programming Methodology</a:t>
            </a:r>
          </a:p>
        </p:txBody>
      </p:sp>
      <p:sp>
        <p:nvSpPr>
          <p:cNvPr id="84995" name="Rectangle 2"/>
          <p:cNvSpPr>
            <a:spLocks noGrp="1" noRot="1" noChangeAspect="1" noChangeArrowheads="1" noTextEdit="1"/>
          </p:cNvSpPr>
          <p:nvPr>
            <p:ph type="sldImg"/>
          </p:nvPr>
        </p:nvSpPr>
        <p:spPr>
          <a:ln/>
        </p:spPr>
      </p:sp>
      <p:sp>
        <p:nvSpPr>
          <p:cNvPr id="84996" name="Rectangle 3"/>
          <p:cNvSpPr>
            <a:spLocks noGrp="1" noChangeArrowheads="1"/>
          </p:cNvSpPr>
          <p:nvPr>
            <p:ph type="body" idx="1"/>
          </p:nvPr>
        </p:nvSpPr>
        <p:spPr>
          <a:xfrm>
            <a:off x="889000" y="4668838"/>
            <a:ext cx="4884738" cy="4425950"/>
          </a:xfrm>
          <a:prstGeom prst="rect">
            <a:avLst/>
          </a:prstGeom>
          <a:noFill/>
          <a:ln w="9525"/>
        </p:spPr>
        <p:txBody>
          <a:bodyPr/>
          <a:lstStyle/>
          <a:p>
            <a:pPr marL="223838" indent="-223838" eaLnBrk="1" hangingPunct="1">
              <a:buFont typeface="Calibri" pitchFamily="34" charset="0"/>
              <a:buNone/>
            </a:pPr>
            <a:endParaRPr lang="en-US" b="0" dirty="0" smtClean="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Slide Image Placeholder 1"/>
          <p:cNvSpPr>
            <a:spLocks noGrp="1" noRot="1" noChangeAspect="1" noTextEdit="1"/>
          </p:cNvSpPr>
          <p:nvPr>
            <p:ph type="sldImg"/>
          </p:nvPr>
        </p:nvSpPr>
        <p:spPr>
          <a:ln/>
        </p:spPr>
      </p:sp>
      <p:sp>
        <p:nvSpPr>
          <p:cNvPr id="86019" name="Notes Placeholder 2"/>
          <p:cNvSpPr>
            <a:spLocks noGrp="1"/>
          </p:cNvSpPr>
          <p:nvPr>
            <p:ph type="body" idx="1"/>
          </p:nvPr>
        </p:nvSpPr>
        <p:spPr>
          <a:xfrm>
            <a:off x="889000" y="4668838"/>
            <a:ext cx="4884738" cy="4425950"/>
          </a:xfrm>
          <a:prstGeom prst="rect">
            <a:avLst/>
          </a:prstGeom>
          <a:noFill/>
          <a:ln w="9525"/>
        </p:spPr>
        <p:txBody>
          <a:bodyPr/>
          <a:lstStyle/>
          <a:p>
            <a:pPr marL="228600" indent="-228600">
              <a:buFont typeface="+mj-lt"/>
              <a:buNone/>
            </a:pPr>
            <a:endParaRPr lang="en-SG" dirty="0" smtClean="0"/>
          </a:p>
        </p:txBody>
      </p:sp>
      <p:sp>
        <p:nvSpPr>
          <p:cNvPr id="4" name="Header Placeholder 3"/>
          <p:cNvSpPr>
            <a:spLocks noGrp="1"/>
          </p:cNvSpPr>
          <p:nvPr>
            <p:ph type="hdr" sz="quarter"/>
          </p:nvPr>
        </p:nvSpPr>
        <p:spPr/>
        <p:txBody>
          <a:bodyPr/>
          <a:lstStyle/>
          <a:p>
            <a:pPr>
              <a:defRPr/>
            </a:pPr>
            <a:r>
              <a:rPr lang="en-US" dirty="0" smtClean="0"/>
              <a:t>CS1010 Programming Methodology</a:t>
            </a:r>
            <a:endParaRPr lang="en-US"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Slide Image Placeholder 1"/>
          <p:cNvSpPr>
            <a:spLocks noGrp="1" noRot="1" noChangeAspect="1" noTextEdit="1"/>
          </p:cNvSpPr>
          <p:nvPr>
            <p:ph type="sldImg"/>
          </p:nvPr>
        </p:nvSpPr>
        <p:spPr>
          <a:ln/>
        </p:spPr>
      </p:sp>
      <p:sp>
        <p:nvSpPr>
          <p:cNvPr id="86019" name="Notes Placeholder 2"/>
          <p:cNvSpPr>
            <a:spLocks noGrp="1"/>
          </p:cNvSpPr>
          <p:nvPr>
            <p:ph type="body" idx="1"/>
          </p:nvPr>
        </p:nvSpPr>
        <p:spPr>
          <a:xfrm>
            <a:off x="889000" y="4668838"/>
            <a:ext cx="4884738" cy="4425950"/>
          </a:xfrm>
          <a:prstGeom prst="rect">
            <a:avLst/>
          </a:prstGeom>
          <a:noFill/>
          <a:ln w="9525"/>
        </p:spPr>
        <p:txBody>
          <a:bodyPr/>
          <a:lstStyle/>
          <a:p>
            <a:endParaRPr lang="en-SG" smtClean="0"/>
          </a:p>
        </p:txBody>
      </p:sp>
      <p:sp>
        <p:nvSpPr>
          <p:cNvPr id="4" name="Header Placeholder 3"/>
          <p:cNvSpPr>
            <a:spLocks noGrp="1"/>
          </p:cNvSpPr>
          <p:nvPr>
            <p:ph type="hdr" sz="quarter"/>
          </p:nvPr>
        </p:nvSpPr>
        <p:spPr/>
        <p:txBody>
          <a:bodyPr/>
          <a:lstStyle/>
          <a:p>
            <a:pPr>
              <a:defRPr/>
            </a:pPr>
            <a:r>
              <a:rPr lang="en-US" dirty="0" smtClean="0"/>
              <a:t>CS1010 Programming Methodology</a:t>
            </a:r>
            <a:endParaRPr lang="en-US"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p:txBody>
          <a:bodyPr/>
          <a:lstStyle/>
          <a:p>
            <a:pPr>
              <a:defRPr/>
            </a:pPr>
            <a:r>
              <a:rPr lang="en-US" dirty="0" smtClean="0"/>
              <a:t>CS1010 Programming Methodology</a:t>
            </a:r>
            <a:endParaRPr lang="en-US" dirty="0"/>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xfrm>
            <a:off x="889000" y="4668838"/>
            <a:ext cx="4884738" cy="4425950"/>
          </a:xfrm>
          <a:prstGeom prst="rect">
            <a:avLst/>
          </a:prstGeom>
          <a:noFill/>
          <a:ln w="9525"/>
        </p:spPr>
        <p:txBody>
          <a:bodyPr/>
          <a:lstStyle/>
          <a:p>
            <a:pPr marL="223838" indent="-223838" eaLnBrk="1" hangingPunct="1"/>
            <a:endParaRPr lang="en-US" smtClean="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Slide Image Placeholder 1"/>
          <p:cNvSpPr>
            <a:spLocks noGrp="1" noRot="1" noChangeAspect="1" noTextEdit="1"/>
          </p:cNvSpPr>
          <p:nvPr>
            <p:ph type="sldImg"/>
          </p:nvPr>
        </p:nvSpPr>
        <p:spPr>
          <a:ln/>
        </p:spPr>
      </p:sp>
      <p:sp>
        <p:nvSpPr>
          <p:cNvPr id="88067" name="Notes Placeholder 2"/>
          <p:cNvSpPr>
            <a:spLocks noGrp="1"/>
          </p:cNvSpPr>
          <p:nvPr>
            <p:ph type="body" idx="1"/>
          </p:nvPr>
        </p:nvSpPr>
        <p:spPr>
          <a:xfrm>
            <a:off x="889000" y="4668838"/>
            <a:ext cx="4884738" cy="4425950"/>
          </a:xfrm>
          <a:prstGeom prst="rect">
            <a:avLst/>
          </a:prstGeom>
          <a:noFill/>
          <a:ln w="9525"/>
        </p:spPr>
        <p:txBody>
          <a:bodyPr/>
          <a:lstStyle/>
          <a:p>
            <a:endParaRPr lang="en-SG" smtClean="0"/>
          </a:p>
        </p:txBody>
      </p:sp>
      <p:sp>
        <p:nvSpPr>
          <p:cNvPr id="4" name="Header Placeholder 3"/>
          <p:cNvSpPr>
            <a:spLocks noGrp="1"/>
          </p:cNvSpPr>
          <p:nvPr>
            <p:ph type="hdr" sz="quarter"/>
          </p:nvPr>
        </p:nvSpPr>
        <p:spPr/>
        <p:txBody>
          <a:bodyPr/>
          <a:lstStyle/>
          <a:p>
            <a:pPr>
              <a:defRPr/>
            </a:pPr>
            <a:r>
              <a:rPr lang="en-US" dirty="0" smtClean="0"/>
              <a:t>CS1010 Programming Methodology</a:t>
            </a:r>
            <a:endParaRPr lang="en-US"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Slide Image Placeholder 1"/>
          <p:cNvSpPr>
            <a:spLocks noGrp="1" noRot="1" noChangeAspect="1" noTextEdit="1"/>
          </p:cNvSpPr>
          <p:nvPr>
            <p:ph type="sldImg"/>
          </p:nvPr>
        </p:nvSpPr>
        <p:spPr>
          <a:ln/>
        </p:spPr>
      </p:sp>
      <p:sp>
        <p:nvSpPr>
          <p:cNvPr id="89091" name="Notes Placeholder 2"/>
          <p:cNvSpPr>
            <a:spLocks noGrp="1"/>
          </p:cNvSpPr>
          <p:nvPr>
            <p:ph type="body" idx="1"/>
          </p:nvPr>
        </p:nvSpPr>
        <p:spPr>
          <a:xfrm>
            <a:off x="889000" y="4668838"/>
            <a:ext cx="4884738" cy="4425950"/>
          </a:xfrm>
          <a:prstGeom prst="rect">
            <a:avLst/>
          </a:prstGeom>
          <a:noFill/>
          <a:ln w="9525"/>
        </p:spPr>
        <p:txBody>
          <a:bodyPr/>
          <a:lstStyle/>
          <a:p>
            <a:endParaRPr lang="en-SG" smtClean="0"/>
          </a:p>
        </p:txBody>
      </p:sp>
      <p:sp>
        <p:nvSpPr>
          <p:cNvPr id="4" name="Header Placeholder 3"/>
          <p:cNvSpPr>
            <a:spLocks noGrp="1"/>
          </p:cNvSpPr>
          <p:nvPr>
            <p:ph type="hdr" sz="quarter"/>
          </p:nvPr>
        </p:nvSpPr>
        <p:spPr/>
        <p:txBody>
          <a:bodyPr/>
          <a:lstStyle/>
          <a:p>
            <a:pPr>
              <a:defRPr/>
            </a:pPr>
            <a:r>
              <a:rPr lang="en-US" dirty="0" smtClean="0"/>
              <a:t>CS1010 Programming Methodology</a:t>
            </a:r>
            <a:endParaRPr lang="en-US"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Slide Image Placeholder 1"/>
          <p:cNvSpPr>
            <a:spLocks noGrp="1" noRot="1" noChangeAspect="1" noTextEdit="1"/>
          </p:cNvSpPr>
          <p:nvPr>
            <p:ph type="sldImg"/>
          </p:nvPr>
        </p:nvSpPr>
        <p:spPr>
          <a:ln/>
        </p:spPr>
      </p:sp>
      <p:sp>
        <p:nvSpPr>
          <p:cNvPr id="90115" name="Notes Placeholder 2"/>
          <p:cNvSpPr>
            <a:spLocks noGrp="1"/>
          </p:cNvSpPr>
          <p:nvPr>
            <p:ph type="body" idx="1"/>
          </p:nvPr>
        </p:nvSpPr>
        <p:spPr>
          <a:xfrm>
            <a:off x="889000" y="4668838"/>
            <a:ext cx="4884738" cy="4425950"/>
          </a:xfrm>
          <a:prstGeom prst="rect">
            <a:avLst/>
          </a:prstGeom>
          <a:noFill/>
          <a:ln w="9525"/>
        </p:spPr>
        <p:txBody>
          <a:bodyPr/>
          <a:lstStyle/>
          <a:p>
            <a:endParaRPr lang="en-SG" dirty="0" smtClean="0"/>
          </a:p>
        </p:txBody>
      </p:sp>
      <p:sp>
        <p:nvSpPr>
          <p:cNvPr id="4" name="Header Placeholder 3"/>
          <p:cNvSpPr>
            <a:spLocks noGrp="1"/>
          </p:cNvSpPr>
          <p:nvPr>
            <p:ph type="hdr" sz="quarter"/>
          </p:nvPr>
        </p:nvSpPr>
        <p:spPr/>
        <p:txBody>
          <a:bodyPr/>
          <a:lstStyle/>
          <a:p>
            <a:pPr>
              <a:defRPr/>
            </a:pPr>
            <a:r>
              <a:rPr lang="en-US" dirty="0" smtClean="0"/>
              <a:t>CS1010 Programming Methodology</a:t>
            </a:r>
            <a:endParaRPr lang="en-US"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Slide Image Placeholder 1"/>
          <p:cNvSpPr>
            <a:spLocks noGrp="1" noRot="1" noChangeAspect="1" noTextEdit="1"/>
          </p:cNvSpPr>
          <p:nvPr>
            <p:ph type="sldImg"/>
          </p:nvPr>
        </p:nvSpPr>
        <p:spPr>
          <a:ln/>
        </p:spPr>
      </p:sp>
      <p:sp>
        <p:nvSpPr>
          <p:cNvPr id="91139" name="Notes Placeholder 2"/>
          <p:cNvSpPr>
            <a:spLocks noGrp="1"/>
          </p:cNvSpPr>
          <p:nvPr>
            <p:ph type="body" idx="1"/>
          </p:nvPr>
        </p:nvSpPr>
        <p:spPr>
          <a:xfrm>
            <a:off x="889000" y="4668838"/>
            <a:ext cx="4884738" cy="4425950"/>
          </a:xfrm>
          <a:prstGeom prst="rect">
            <a:avLst/>
          </a:prstGeom>
          <a:noFill/>
          <a:ln w="9525"/>
        </p:spPr>
        <p:txBody>
          <a:bodyPr/>
          <a:lstStyle/>
          <a:p>
            <a:pPr marL="223838" indent="-223838">
              <a:buFont typeface="Calibri" pitchFamily="34" charset="0"/>
              <a:buNone/>
            </a:pPr>
            <a:endParaRPr lang="en-SG" b="0" dirty="0" smtClean="0"/>
          </a:p>
        </p:txBody>
      </p:sp>
      <p:sp>
        <p:nvSpPr>
          <p:cNvPr id="4" name="Header Placeholder 3"/>
          <p:cNvSpPr>
            <a:spLocks noGrp="1"/>
          </p:cNvSpPr>
          <p:nvPr>
            <p:ph type="hdr" sz="quarter"/>
          </p:nvPr>
        </p:nvSpPr>
        <p:spPr/>
        <p:txBody>
          <a:bodyPr/>
          <a:lstStyle/>
          <a:p>
            <a:pPr>
              <a:defRPr/>
            </a:pPr>
            <a:r>
              <a:rPr lang="en-US" dirty="0" smtClean="0"/>
              <a:t>CS1010 Programming Methodology</a:t>
            </a:r>
            <a:endParaRPr lang="en-US"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Slide Image Placeholder 1"/>
          <p:cNvSpPr>
            <a:spLocks noGrp="1" noRot="1" noChangeAspect="1" noTextEdit="1"/>
          </p:cNvSpPr>
          <p:nvPr>
            <p:ph type="sldImg"/>
          </p:nvPr>
        </p:nvSpPr>
        <p:spPr>
          <a:ln/>
        </p:spPr>
      </p:sp>
      <p:sp>
        <p:nvSpPr>
          <p:cNvPr id="92163" name="Notes Placeholder 2"/>
          <p:cNvSpPr>
            <a:spLocks noGrp="1"/>
          </p:cNvSpPr>
          <p:nvPr>
            <p:ph type="body" idx="1"/>
          </p:nvPr>
        </p:nvSpPr>
        <p:spPr>
          <a:xfrm>
            <a:off x="889000" y="4668838"/>
            <a:ext cx="4884738" cy="4425950"/>
          </a:xfrm>
          <a:prstGeom prst="rect">
            <a:avLst/>
          </a:prstGeom>
          <a:noFill/>
          <a:ln w="9525"/>
        </p:spPr>
        <p:txBody>
          <a:bodyPr/>
          <a:lstStyle/>
          <a:p>
            <a:pPr marL="223838" indent="-223838">
              <a:buFont typeface="Calibri" pitchFamily="34" charset="0"/>
              <a:buNone/>
            </a:pPr>
            <a:endParaRPr lang="en-SG" b="0" dirty="0" smtClean="0"/>
          </a:p>
        </p:txBody>
      </p:sp>
      <p:sp>
        <p:nvSpPr>
          <p:cNvPr id="4" name="Header Placeholder 3"/>
          <p:cNvSpPr>
            <a:spLocks noGrp="1"/>
          </p:cNvSpPr>
          <p:nvPr>
            <p:ph type="hdr" sz="quarter"/>
          </p:nvPr>
        </p:nvSpPr>
        <p:spPr/>
        <p:txBody>
          <a:bodyPr/>
          <a:lstStyle/>
          <a:p>
            <a:pPr>
              <a:defRPr/>
            </a:pPr>
            <a:r>
              <a:rPr lang="en-US" dirty="0" smtClean="0"/>
              <a:t>CS1010 Programming Methodology</a:t>
            </a:r>
            <a:endParaRPr lang="en-US"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Slide Image Placeholder 1"/>
          <p:cNvSpPr>
            <a:spLocks noGrp="1" noRot="1" noChangeAspect="1" noTextEdit="1"/>
          </p:cNvSpPr>
          <p:nvPr>
            <p:ph type="sldImg"/>
          </p:nvPr>
        </p:nvSpPr>
        <p:spPr>
          <a:ln/>
        </p:spPr>
      </p:sp>
      <p:sp>
        <p:nvSpPr>
          <p:cNvPr id="93187" name="Notes Placeholder 2"/>
          <p:cNvSpPr>
            <a:spLocks noGrp="1"/>
          </p:cNvSpPr>
          <p:nvPr>
            <p:ph type="body" idx="1"/>
          </p:nvPr>
        </p:nvSpPr>
        <p:spPr>
          <a:xfrm>
            <a:off x="889000" y="4668838"/>
            <a:ext cx="4884738" cy="4425950"/>
          </a:xfrm>
          <a:prstGeom prst="rect">
            <a:avLst/>
          </a:prstGeom>
          <a:noFill/>
          <a:ln w="9525"/>
        </p:spPr>
        <p:txBody>
          <a:bodyPr/>
          <a:lstStyle/>
          <a:p>
            <a:endParaRPr lang="en-SG" dirty="0" smtClean="0"/>
          </a:p>
        </p:txBody>
      </p:sp>
      <p:sp>
        <p:nvSpPr>
          <p:cNvPr id="4" name="Header Placeholder 3"/>
          <p:cNvSpPr>
            <a:spLocks noGrp="1"/>
          </p:cNvSpPr>
          <p:nvPr>
            <p:ph type="hdr" sz="quarter"/>
          </p:nvPr>
        </p:nvSpPr>
        <p:spPr/>
        <p:txBody>
          <a:bodyPr/>
          <a:lstStyle/>
          <a:p>
            <a:pPr>
              <a:defRPr/>
            </a:pPr>
            <a:r>
              <a:rPr lang="en-US" dirty="0" smtClean="0"/>
              <a:t>CS1010 Programming Methodology</a:t>
            </a:r>
            <a:endParaRPr lang="en-US"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Slide Image Placeholder 1"/>
          <p:cNvSpPr>
            <a:spLocks noGrp="1" noRot="1" noChangeAspect="1" noTextEdit="1"/>
          </p:cNvSpPr>
          <p:nvPr>
            <p:ph type="sldImg"/>
          </p:nvPr>
        </p:nvSpPr>
        <p:spPr>
          <a:ln/>
        </p:spPr>
      </p:sp>
      <p:sp>
        <p:nvSpPr>
          <p:cNvPr id="94211" name="Notes Placeholder 2"/>
          <p:cNvSpPr>
            <a:spLocks noGrp="1"/>
          </p:cNvSpPr>
          <p:nvPr>
            <p:ph type="body" idx="1"/>
          </p:nvPr>
        </p:nvSpPr>
        <p:spPr>
          <a:xfrm>
            <a:off x="889000" y="4668838"/>
            <a:ext cx="4884738" cy="4425950"/>
          </a:xfrm>
          <a:prstGeom prst="rect">
            <a:avLst/>
          </a:prstGeom>
          <a:noFill/>
          <a:ln w="9525"/>
        </p:spPr>
        <p:txBody>
          <a:bodyPr/>
          <a:lstStyle/>
          <a:p>
            <a:endParaRPr lang="en-SG" dirty="0" smtClean="0"/>
          </a:p>
        </p:txBody>
      </p:sp>
      <p:sp>
        <p:nvSpPr>
          <p:cNvPr id="4" name="Header Placeholder 3"/>
          <p:cNvSpPr>
            <a:spLocks noGrp="1"/>
          </p:cNvSpPr>
          <p:nvPr>
            <p:ph type="hdr" sz="quarter"/>
          </p:nvPr>
        </p:nvSpPr>
        <p:spPr/>
        <p:txBody>
          <a:bodyPr/>
          <a:lstStyle/>
          <a:p>
            <a:pPr>
              <a:defRPr/>
            </a:pPr>
            <a:r>
              <a:rPr lang="en-US" dirty="0" smtClean="0"/>
              <a:t>CS1010 Programming Methodology</a:t>
            </a:r>
            <a:endParaRPr lang="en-US"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Slide Image Placeholder 1"/>
          <p:cNvSpPr>
            <a:spLocks noGrp="1" noRot="1" noChangeAspect="1" noTextEdit="1"/>
          </p:cNvSpPr>
          <p:nvPr>
            <p:ph type="sldImg"/>
          </p:nvPr>
        </p:nvSpPr>
        <p:spPr>
          <a:ln/>
        </p:spPr>
      </p:sp>
      <p:sp>
        <p:nvSpPr>
          <p:cNvPr id="95235" name="Notes Placeholder 2"/>
          <p:cNvSpPr>
            <a:spLocks noGrp="1"/>
          </p:cNvSpPr>
          <p:nvPr>
            <p:ph type="body" idx="1"/>
          </p:nvPr>
        </p:nvSpPr>
        <p:spPr>
          <a:xfrm>
            <a:off x="889000" y="4668838"/>
            <a:ext cx="4884738" cy="4425950"/>
          </a:xfrm>
          <a:prstGeom prst="rect">
            <a:avLst/>
          </a:prstGeom>
          <a:noFill/>
          <a:ln w="9525"/>
        </p:spPr>
        <p:txBody>
          <a:bodyPr/>
          <a:lstStyle/>
          <a:p>
            <a:endParaRPr lang="en-SG" dirty="0" smtClean="0"/>
          </a:p>
        </p:txBody>
      </p:sp>
      <p:sp>
        <p:nvSpPr>
          <p:cNvPr id="4" name="Header Placeholder 3"/>
          <p:cNvSpPr>
            <a:spLocks noGrp="1"/>
          </p:cNvSpPr>
          <p:nvPr>
            <p:ph type="hdr" sz="quarter"/>
          </p:nvPr>
        </p:nvSpPr>
        <p:spPr/>
        <p:txBody>
          <a:bodyPr/>
          <a:lstStyle/>
          <a:p>
            <a:pPr>
              <a:defRPr/>
            </a:pPr>
            <a:r>
              <a:rPr lang="en-US" dirty="0" smtClean="0"/>
              <a:t>CS1010 Programming Methodology</a:t>
            </a:r>
            <a:endParaRPr lang="en-US"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Slide Image Placeholder 1"/>
          <p:cNvSpPr>
            <a:spLocks noGrp="1" noRot="1" noChangeAspect="1" noTextEdit="1"/>
          </p:cNvSpPr>
          <p:nvPr>
            <p:ph type="sldImg"/>
          </p:nvPr>
        </p:nvSpPr>
        <p:spPr>
          <a:ln/>
        </p:spPr>
      </p:sp>
      <p:sp>
        <p:nvSpPr>
          <p:cNvPr id="96259" name="Notes Placeholder 2"/>
          <p:cNvSpPr>
            <a:spLocks noGrp="1"/>
          </p:cNvSpPr>
          <p:nvPr>
            <p:ph type="body" idx="1"/>
          </p:nvPr>
        </p:nvSpPr>
        <p:spPr>
          <a:xfrm>
            <a:off x="889000" y="4668838"/>
            <a:ext cx="4884738" cy="4425950"/>
          </a:xfrm>
          <a:prstGeom prst="rect">
            <a:avLst/>
          </a:prstGeom>
          <a:noFill/>
          <a:ln w="9525"/>
        </p:spPr>
        <p:txBody>
          <a:bodyPr/>
          <a:lstStyle/>
          <a:p>
            <a:endParaRPr lang="en-SG" smtClean="0"/>
          </a:p>
        </p:txBody>
      </p:sp>
      <p:sp>
        <p:nvSpPr>
          <p:cNvPr id="4" name="Header Placeholder 3"/>
          <p:cNvSpPr>
            <a:spLocks noGrp="1"/>
          </p:cNvSpPr>
          <p:nvPr>
            <p:ph type="hdr" sz="quarter"/>
          </p:nvPr>
        </p:nvSpPr>
        <p:spPr/>
        <p:txBody>
          <a:bodyPr/>
          <a:lstStyle/>
          <a:p>
            <a:pPr>
              <a:defRPr/>
            </a:pPr>
            <a:r>
              <a:rPr lang="en-US" dirty="0" smtClean="0"/>
              <a:t>CS1010 Programming Methodology</a:t>
            </a:r>
            <a:endParaRPr lang="en-US"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Slide Image Placeholder 1"/>
          <p:cNvSpPr>
            <a:spLocks noGrp="1" noRot="1" noChangeAspect="1" noTextEdit="1"/>
          </p:cNvSpPr>
          <p:nvPr>
            <p:ph type="sldImg"/>
          </p:nvPr>
        </p:nvSpPr>
        <p:spPr>
          <a:ln/>
        </p:spPr>
      </p:sp>
      <p:sp>
        <p:nvSpPr>
          <p:cNvPr id="97283" name="Notes Placeholder 2"/>
          <p:cNvSpPr>
            <a:spLocks noGrp="1"/>
          </p:cNvSpPr>
          <p:nvPr>
            <p:ph type="body" idx="1"/>
          </p:nvPr>
        </p:nvSpPr>
        <p:spPr>
          <a:xfrm>
            <a:off x="889000" y="4668838"/>
            <a:ext cx="4884738" cy="4425950"/>
          </a:xfrm>
          <a:prstGeom prst="rect">
            <a:avLst/>
          </a:prstGeom>
          <a:noFill/>
          <a:ln w="9525"/>
        </p:spPr>
        <p:txBody>
          <a:bodyPr/>
          <a:lstStyle/>
          <a:p>
            <a:endParaRPr lang="en-SG" smtClean="0"/>
          </a:p>
        </p:txBody>
      </p:sp>
      <p:sp>
        <p:nvSpPr>
          <p:cNvPr id="4" name="Header Placeholder 3"/>
          <p:cNvSpPr>
            <a:spLocks noGrp="1"/>
          </p:cNvSpPr>
          <p:nvPr>
            <p:ph type="hdr" sz="quarter"/>
          </p:nvPr>
        </p:nvSpPr>
        <p:spPr/>
        <p:txBody>
          <a:bodyPr/>
          <a:lstStyle/>
          <a:p>
            <a:pPr>
              <a:defRPr/>
            </a:pPr>
            <a:r>
              <a:rPr lang="en-US" dirty="0" smtClean="0"/>
              <a:t>CS1010 Programming Methodology</a:t>
            </a:r>
            <a:endParaRPr lang="en-US"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Slide Image Placeholder 1"/>
          <p:cNvSpPr>
            <a:spLocks noGrp="1" noRot="1" noChangeAspect="1" noTextEdit="1"/>
          </p:cNvSpPr>
          <p:nvPr>
            <p:ph type="sldImg"/>
          </p:nvPr>
        </p:nvSpPr>
        <p:spPr>
          <a:ln/>
        </p:spPr>
      </p:sp>
      <p:sp>
        <p:nvSpPr>
          <p:cNvPr id="97283" name="Notes Placeholder 2"/>
          <p:cNvSpPr>
            <a:spLocks noGrp="1"/>
          </p:cNvSpPr>
          <p:nvPr>
            <p:ph type="body" idx="1"/>
          </p:nvPr>
        </p:nvSpPr>
        <p:spPr>
          <a:xfrm>
            <a:off x="889000" y="4668838"/>
            <a:ext cx="4884738" cy="4425950"/>
          </a:xfrm>
          <a:prstGeom prst="rect">
            <a:avLst/>
          </a:prstGeom>
          <a:noFill/>
          <a:ln w="9525"/>
        </p:spPr>
        <p:txBody>
          <a:bodyPr/>
          <a:lstStyle/>
          <a:p>
            <a:pPr marL="228600" indent="-228600">
              <a:buFont typeface="+mj-lt"/>
              <a:buNone/>
            </a:pPr>
            <a:endParaRPr lang="en-SG" dirty="0" smtClean="0"/>
          </a:p>
        </p:txBody>
      </p:sp>
      <p:sp>
        <p:nvSpPr>
          <p:cNvPr id="4" name="Header Placeholder 3"/>
          <p:cNvSpPr>
            <a:spLocks noGrp="1"/>
          </p:cNvSpPr>
          <p:nvPr>
            <p:ph type="hdr" sz="quarter"/>
          </p:nvPr>
        </p:nvSpPr>
        <p:spPr/>
        <p:txBody>
          <a:bodyPr/>
          <a:lstStyle/>
          <a:p>
            <a:pPr>
              <a:defRPr/>
            </a:pPr>
            <a:r>
              <a:rPr lang="en-US" dirty="0" smtClean="0"/>
              <a:t>CS1010 Programming Methodology</a:t>
            </a:r>
            <a:endParaRPr lang="en-US"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Slide Image Placeholder 1"/>
          <p:cNvSpPr>
            <a:spLocks noGrp="1" noRot="1" noChangeAspect="1" noTextEdit="1"/>
          </p:cNvSpPr>
          <p:nvPr>
            <p:ph type="sldImg"/>
          </p:nvPr>
        </p:nvSpPr>
        <p:spPr>
          <a:ln/>
        </p:spPr>
      </p:sp>
      <p:sp>
        <p:nvSpPr>
          <p:cNvPr id="97283" name="Notes Placeholder 2"/>
          <p:cNvSpPr>
            <a:spLocks noGrp="1"/>
          </p:cNvSpPr>
          <p:nvPr>
            <p:ph type="body" idx="1"/>
          </p:nvPr>
        </p:nvSpPr>
        <p:spPr>
          <a:xfrm>
            <a:off x="889000" y="4668838"/>
            <a:ext cx="4884738" cy="4425950"/>
          </a:xfrm>
          <a:prstGeom prst="rect">
            <a:avLst/>
          </a:prstGeom>
          <a:noFill/>
          <a:ln w="9525"/>
        </p:spPr>
        <p:txBody>
          <a:bodyPr/>
          <a:lstStyle/>
          <a:p>
            <a:pPr marL="228600" indent="-228600">
              <a:buFont typeface="+mj-lt"/>
              <a:buNone/>
            </a:pPr>
            <a:endParaRPr lang="en-SG" dirty="0" smtClean="0"/>
          </a:p>
        </p:txBody>
      </p:sp>
      <p:sp>
        <p:nvSpPr>
          <p:cNvPr id="4" name="Header Placeholder 3"/>
          <p:cNvSpPr>
            <a:spLocks noGrp="1"/>
          </p:cNvSpPr>
          <p:nvPr>
            <p:ph type="hdr" sz="quarter"/>
          </p:nvPr>
        </p:nvSpPr>
        <p:spPr/>
        <p:txBody>
          <a:bodyPr/>
          <a:lstStyle/>
          <a:p>
            <a:pPr>
              <a:defRPr/>
            </a:pPr>
            <a:r>
              <a:rPr lang="en-US" dirty="0" smtClean="0"/>
              <a:t>CS1010 Programming Methodology</a:t>
            </a:r>
            <a:endParaRPr lang="en-US" dirty="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Slide Image Placeholder 1"/>
          <p:cNvSpPr>
            <a:spLocks noGrp="1" noRot="1" noChangeAspect="1" noTextEdit="1"/>
          </p:cNvSpPr>
          <p:nvPr>
            <p:ph type="sldImg"/>
          </p:nvPr>
        </p:nvSpPr>
        <p:spPr>
          <a:ln/>
        </p:spPr>
      </p:sp>
      <p:sp>
        <p:nvSpPr>
          <p:cNvPr id="97283" name="Notes Placeholder 2"/>
          <p:cNvSpPr>
            <a:spLocks noGrp="1"/>
          </p:cNvSpPr>
          <p:nvPr>
            <p:ph type="body" idx="1"/>
          </p:nvPr>
        </p:nvSpPr>
        <p:spPr>
          <a:xfrm>
            <a:off x="889000" y="4668838"/>
            <a:ext cx="4884738" cy="4425950"/>
          </a:xfrm>
          <a:prstGeom prst="rect">
            <a:avLst/>
          </a:prstGeom>
          <a:noFill/>
          <a:ln w="9525"/>
        </p:spPr>
        <p:txBody>
          <a:bodyPr/>
          <a:lstStyle/>
          <a:p>
            <a:pPr marL="228600" indent="-228600">
              <a:buFont typeface="+mj-lt"/>
              <a:buNone/>
            </a:pPr>
            <a:endParaRPr lang="en-SG" dirty="0" smtClean="0"/>
          </a:p>
        </p:txBody>
      </p:sp>
      <p:sp>
        <p:nvSpPr>
          <p:cNvPr id="4" name="Header Placeholder 3"/>
          <p:cNvSpPr>
            <a:spLocks noGrp="1"/>
          </p:cNvSpPr>
          <p:nvPr>
            <p:ph type="hdr" sz="quarter"/>
          </p:nvPr>
        </p:nvSpPr>
        <p:spPr/>
        <p:txBody>
          <a:bodyPr/>
          <a:lstStyle/>
          <a:p>
            <a:pPr>
              <a:defRPr/>
            </a:pPr>
            <a:r>
              <a:rPr lang="en-US" dirty="0" smtClean="0"/>
              <a:t>CS1010 Programming Methodology</a:t>
            </a:r>
            <a:endParaRPr lang="en-US" dirty="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Slide Image Placeholder 1"/>
          <p:cNvSpPr>
            <a:spLocks noGrp="1" noRot="1" noChangeAspect="1" noTextEdit="1"/>
          </p:cNvSpPr>
          <p:nvPr>
            <p:ph type="sldImg"/>
          </p:nvPr>
        </p:nvSpPr>
        <p:spPr>
          <a:ln/>
        </p:spPr>
      </p:sp>
      <p:sp>
        <p:nvSpPr>
          <p:cNvPr id="97283" name="Notes Placeholder 2"/>
          <p:cNvSpPr>
            <a:spLocks noGrp="1"/>
          </p:cNvSpPr>
          <p:nvPr>
            <p:ph type="body" idx="1"/>
          </p:nvPr>
        </p:nvSpPr>
        <p:spPr>
          <a:xfrm>
            <a:off x="889000" y="4668838"/>
            <a:ext cx="4884738" cy="4425950"/>
          </a:xfrm>
          <a:prstGeom prst="rect">
            <a:avLst/>
          </a:prstGeom>
          <a:noFill/>
          <a:ln w="9525"/>
        </p:spPr>
        <p:txBody>
          <a:bodyPr/>
          <a:lstStyle/>
          <a:p>
            <a:pPr marL="228600" indent="-228600">
              <a:buFont typeface="+mj-lt"/>
              <a:buNone/>
            </a:pPr>
            <a:endParaRPr lang="en-SG" dirty="0" smtClean="0"/>
          </a:p>
        </p:txBody>
      </p:sp>
      <p:sp>
        <p:nvSpPr>
          <p:cNvPr id="4" name="Header Placeholder 3"/>
          <p:cNvSpPr>
            <a:spLocks noGrp="1"/>
          </p:cNvSpPr>
          <p:nvPr>
            <p:ph type="hdr" sz="quarter"/>
          </p:nvPr>
        </p:nvSpPr>
        <p:spPr/>
        <p:txBody>
          <a:bodyPr/>
          <a:lstStyle/>
          <a:p>
            <a:pPr>
              <a:defRPr/>
            </a:pPr>
            <a:r>
              <a:rPr lang="en-US" dirty="0" smtClean="0"/>
              <a:t>CS1010 Programming Methodology</a:t>
            </a:r>
            <a:endParaRPr lang="en-US" dirty="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Slide Image Placeholder 1"/>
          <p:cNvSpPr>
            <a:spLocks noGrp="1" noRot="1" noChangeAspect="1" noTextEdit="1"/>
          </p:cNvSpPr>
          <p:nvPr>
            <p:ph type="sldImg"/>
          </p:nvPr>
        </p:nvSpPr>
        <p:spPr>
          <a:ln/>
        </p:spPr>
      </p:sp>
      <p:sp>
        <p:nvSpPr>
          <p:cNvPr id="97283" name="Notes Placeholder 2"/>
          <p:cNvSpPr>
            <a:spLocks noGrp="1"/>
          </p:cNvSpPr>
          <p:nvPr>
            <p:ph type="body" idx="1"/>
          </p:nvPr>
        </p:nvSpPr>
        <p:spPr>
          <a:xfrm>
            <a:off x="889000" y="4668838"/>
            <a:ext cx="4884738" cy="4425950"/>
          </a:xfrm>
          <a:prstGeom prst="rect">
            <a:avLst/>
          </a:prstGeom>
          <a:noFill/>
          <a:ln w="9525"/>
        </p:spPr>
        <p:txBody>
          <a:bodyPr/>
          <a:lstStyle/>
          <a:p>
            <a:pPr marL="228600" indent="-228600">
              <a:buFont typeface="+mj-lt"/>
              <a:buNone/>
            </a:pPr>
            <a:endParaRPr lang="en-SG" dirty="0" smtClean="0"/>
          </a:p>
        </p:txBody>
      </p:sp>
      <p:sp>
        <p:nvSpPr>
          <p:cNvPr id="4" name="Header Placeholder 3"/>
          <p:cNvSpPr>
            <a:spLocks noGrp="1"/>
          </p:cNvSpPr>
          <p:nvPr>
            <p:ph type="hdr" sz="quarter"/>
          </p:nvPr>
        </p:nvSpPr>
        <p:spPr/>
        <p:txBody>
          <a:bodyPr/>
          <a:lstStyle/>
          <a:p>
            <a:pPr>
              <a:defRPr/>
            </a:pPr>
            <a:r>
              <a:rPr lang="en-US" dirty="0" smtClean="0"/>
              <a:t>CS1010 Programming Methodology</a:t>
            </a:r>
            <a:endParaRPr lang="en-US" dirty="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Slide Image Placeholder 1"/>
          <p:cNvSpPr>
            <a:spLocks noGrp="1" noRot="1" noChangeAspect="1" noTextEdit="1"/>
          </p:cNvSpPr>
          <p:nvPr>
            <p:ph type="sldImg"/>
          </p:nvPr>
        </p:nvSpPr>
        <p:spPr>
          <a:ln/>
        </p:spPr>
      </p:sp>
      <p:sp>
        <p:nvSpPr>
          <p:cNvPr id="97283" name="Notes Placeholder 2"/>
          <p:cNvSpPr>
            <a:spLocks noGrp="1"/>
          </p:cNvSpPr>
          <p:nvPr>
            <p:ph type="body" idx="1"/>
          </p:nvPr>
        </p:nvSpPr>
        <p:spPr>
          <a:xfrm>
            <a:off x="889000" y="4668838"/>
            <a:ext cx="4884738" cy="4425950"/>
          </a:xfrm>
          <a:prstGeom prst="rect">
            <a:avLst/>
          </a:prstGeom>
          <a:noFill/>
          <a:ln w="9525"/>
        </p:spPr>
        <p:txBody>
          <a:bodyPr/>
          <a:lstStyle/>
          <a:p>
            <a:pPr marL="228600" indent="-228600">
              <a:buFont typeface="+mj-lt"/>
              <a:buNone/>
            </a:pPr>
            <a:endParaRPr lang="en-SG" dirty="0" smtClean="0"/>
          </a:p>
        </p:txBody>
      </p:sp>
      <p:sp>
        <p:nvSpPr>
          <p:cNvPr id="4" name="Header Placeholder 3"/>
          <p:cNvSpPr>
            <a:spLocks noGrp="1"/>
          </p:cNvSpPr>
          <p:nvPr>
            <p:ph type="hdr" sz="quarter"/>
          </p:nvPr>
        </p:nvSpPr>
        <p:spPr/>
        <p:txBody>
          <a:bodyPr/>
          <a:lstStyle/>
          <a:p>
            <a:pPr>
              <a:defRPr/>
            </a:pPr>
            <a:r>
              <a:rPr lang="en-US" dirty="0" smtClean="0"/>
              <a:t>CS1010 Programming Methodology</a:t>
            </a:r>
            <a:endParaRPr lang="en-US" dirty="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Slide Image Placeholder 1"/>
          <p:cNvSpPr>
            <a:spLocks noGrp="1" noRot="1" noChangeAspect="1" noTextEdit="1"/>
          </p:cNvSpPr>
          <p:nvPr>
            <p:ph type="sldImg"/>
          </p:nvPr>
        </p:nvSpPr>
        <p:spPr>
          <a:ln/>
        </p:spPr>
      </p:sp>
      <p:sp>
        <p:nvSpPr>
          <p:cNvPr id="97283" name="Notes Placeholder 2"/>
          <p:cNvSpPr>
            <a:spLocks noGrp="1"/>
          </p:cNvSpPr>
          <p:nvPr>
            <p:ph type="body" idx="1"/>
          </p:nvPr>
        </p:nvSpPr>
        <p:spPr>
          <a:xfrm>
            <a:off x="889000" y="4668838"/>
            <a:ext cx="4884738" cy="4425950"/>
          </a:xfrm>
          <a:prstGeom prst="rect">
            <a:avLst/>
          </a:prstGeom>
          <a:noFill/>
          <a:ln w="9525"/>
        </p:spPr>
        <p:txBody>
          <a:bodyPr/>
          <a:lstStyle/>
          <a:p>
            <a:pPr marL="228600" marR="0" indent="-228600" algn="l" defTabSz="914400" rtl="0" eaLnBrk="0" fontAlgn="base" latinLnBrk="0" hangingPunct="0">
              <a:lnSpc>
                <a:spcPct val="100000"/>
              </a:lnSpc>
              <a:spcBef>
                <a:spcPct val="30000"/>
              </a:spcBef>
              <a:spcAft>
                <a:spcPct val="0"/>
              </a:spcAft>
              <a:buClrTx/>
              <a:buSzTx/>
              <a:buFont typeface="+mj-lt"/>
              <a:buNone/>
              <a:tabLst/>
              <a:defRPr/>
            </a:pPr>
            <a:endParaRPr lang="en-SG" dirty="0" smtClean="0"/>
          </a:p>
        </p:txBody>
      </p:sp>
      <p:sp>
        <p:nvSpPr>
          <p:cNvPr id="4" name="Header Placeholder 3"/>
          <p:cNvSpPr>
            <a:spLocks noGrp="1"/>
          </p:cNvSpPr>
          <p:nvPr>
            <p:ph type="hdr" sz="quarter"/>
          </p:nvPr>
        </p:nvSpPr>
        <p:spPr/>
        <p:txBody>
          <a:bodyPr/>
          <a:lstStyle/>
          <a:p>
            <a:pPr>
              <a:defRPr/>
            </a:pPr>
            <a:r>
              <a:rPr lang="en-US" dirty="0" smtClean="0"/>
              <a:t>CS1010 Programming Methodology</a:t>
            </a:r>
            <a:endParaRPr lang="en-US" dirty="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Slide Image Placeholder 1"/>
          <p:cNvSpPr>
            <a:spLocks noGrp="1" noRot="1" noChangeAspect="1" noTextEdit="1"/>
          </p:cNvSpPr>
          <p:nvPr>
            <p:ph type="sldImg"/>
          </p:nvPr>
        </p:nvSpPr>
        <p:spPr>
          <a:ln/>
        </p:spPr>
      </p:sp>
      <p:sp>
        <p:nvSpPr>
          <p:cNvPr id="97283" name="Notes Placeholder 2"/>
          <p:cNvSpPr>
            <a:spLocks noGrp="1"/>
          </p:cNvSpPr>
          <p:nvPr>
            <p:ph type="body" idx="1"/>
          </p:nvPr>
        </p:nvSpPr>
        <p:spPr>
          <a:xfrm>
            <a:off x="889000" y="4668838"/>
            <a:ext cx="4884738" cy="4425950"/>
          </a:xfrm>
          <a:prstGeom prst="rect">
            <a:avLst/>
          </a:prstGeom>
          <a:noFill/>
          <a:ln w="9525"/>
        </p:spPr>
        <p:txBody>
          <a:bodyPr/>
          <a:lstStyle/>
          <a:p>
            <a:pPr marL="228600" indent="-228600">
              <a:buFont typeface="+mj-lt"/>
              <a:buNone/>
            </a:pPr>
            <a:endParaRPr lang="en-SG" dirty="0" smtClean="0"/>
          </a:p>
        </p:txBody>
      </p:sp>
      <p:sp>
        <p:nvSpPr>
          <p:cNvPr id="4" name="Header Placeholder 3"/>
          <p:cNvSpPr>
            <a:spLocks noGrp="1"/>
          </p:cNvSpPr>
          <p:nvPr>
            <p:ph type="hdr" sz="quarter"/>
          </p:nvPr>
        </p:nvSpPr>
        <p:spPr/>
        <p:txBody>
          <a:bodyPr/>
          <a:lstStyle/>
          <a:p>
            <a:pPr>
              <a:defRPr/>
            </a:pPr>
            <a:r>
              <a:rPr lang="en-US" dirty="0" smtClean="0"/>
              <a:t>CS1010 Programming Methodology</a:t>
            </a:r>
            <a:endParaRPr lang="en-US" dirty="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p:txBody>
          <a:bodyPr/>
          <a:lstStyle/>
          <a:p>
            <a:pPr>
              <a:defRPr/>
            </a:pPr>
            <a:r>
              <a:rPr lang="en-US" dirty="0" smtClean="0"/>
              <a:t>CS1010 Programming Methodology</a:t>
            </a:r>
            <a:endParaRPr lang="en-US" dirty="0"/>
          </a:p>
        </p:txBody>
      </p:sp>
      <p:sp>
        <p:nvSpPr>
          <p:cNvPr id="121859" name="Rectangle 2"/>
          <p:cNvSpPr>
            <a:spLocks noGrp="1" noRot="1" noChangeAspect="1" noChangeArrowheads="1" noTextEdit="1"/>
          </p:cNvSpPr>
          <p:nvPr>
            <p:ph type="sldImg"/>
          </p:nvPr>
        </p:nvSpPr>
        <p:spPr>
          <a:ln/>
        </p:spPr>
      </p:sp>
      <p:sp>
        <p:nvSpPr>
          <p:cNvPr id="121860" name="Rectangle 3"/>
          <p:cNvSpPr>
            <a:spLocks noGrp="1" noChangeArrowheads="1"/>
          </p:cNvSpPr>
          <p:nvPr>
            <p:ph type="body" idx="1"/>
          </p:nvPr>
        </p:nvSpPr>
        <p:spPr>
          <a:xfrm>
            <a:off x="889000" y="4668838"/>
            <a:ext cx="4884738" cy="4425950"/>
          </a:xfrm>
          <a:prstGeom prst="rect">
            <a:avLst/>
          </a:prstGeom>
          <a:noFill/>
          <a:ln w="9525"/>
        </p:spPr>
        <p:txBody>
          <a:bodyPr/>
          <a:lstStyle/>
          <a:p>
            <a:pPr marL="225425" indent="-225425" eaLnBrk="1" hangingPunct="1"/>
            <a:endParaRPr lang="en-US" smtClean="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p:txBody>
          <a:bodyPr/>
          <a:lstStyle/>
          <a:p>
            <a:pPr>
              <a:defRPr/>
            </a:pPr>
            <a:r>
              <a:rPr lang="en-US" dirty="0" smtClean="0"/>
              <a:t>CS1010 Programming Methodology</a:t>
            </a:r>
            <a:endParaRPr lang="en-US" dirty="0"/>
          </a:p>
        </p:txBody>
      </p:sp>
      <p:sp>
        <p:nvSpPr>
          <p:cNvPr id="123907" name="Rectangle 2"/>
          <p:cNvSpPr>
            <a:spLocks noGrp="1" noRot="1" noChangeAspect="1" noChangeArrowheads="1" noTextEdit="1"/>
          </p:cNvSpPr>
          <p:nvPr>
            <p:ph type="sldImg"/>
          </p:nvPr>
        </p:nvSpPr>
        <p:spPr>
          <a:ln/>
        </p:spPr>
      </p:sp>
      <p:sp>
        <p:nvSpPr>
          <p:cNvPr id="123908" name="Rectangle 3"/>
          <p:cNvSpPr>
            <a:spLocks noGrp="1" noChangeArrowheads="1"/>
          </p:cNvSpPr>
          <p:nvPr>
            <p:ph type="body" idx="1"/>
          </p:nvPr>
        </p:nvSpPr>
        <p:spPr>
          <a:xfrm>
            <a:off x="889000" y="4668838"/>
            <a:ext cx="4884738" cy="4425950"/>
          </a:xfrm>
          <a:prstGeom prst="rect">
            <a:avLst/>
          </a:prstGeom>
          <a:noFill/>
          <a:ln w="9525"/>
        </p:spPr>
        <p:txBody>
          <a:bodyPr/>
          <a:lstStyle/>
          <a:p>
            <a:pPr eaLnBrk="1" hangingPunct="1"/>
            <a:endParaRPr lang="en-US"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en-US" smtClean="0"/>
              <a:t>Click to edit Master title style</a:t>
            </a:r>
            <a:endParaRPr kumimoji="0" lang="en-US"/>
          </a:p>
        </p:txBody>
      </p:sp>
      <p:sp>
        <p:nvSpPr>
          <p:cNvPr id="9" name="Subtitle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a:xfrm>
            <a:off x="6400800" y="6355080"/>
            <a:ext cx="2286000" cy="365760"/>
          </a:xfrm>
        </p:spPr>
        <p:txBody>
          <a:bodyPr/>
          <a:lstStyle>
            <a:lvl1pPr>
              <a:defRPr sz="1400"/>
            </a:lvl1pPr>
          </a:lstStyle>
          <a:p>
            <a:pPr>
              <a:defRPr/>
            </a:pPr>
            <a:endParaRPr lang="en-US"/>
          </a:p>
        </p:txBody>
      </p:sp>
      <p:sp>
        <p:nvSpPr>
          <p:cNvPr id="17" name="Footer Placeholder 16"/>
          <p:cNvSpPr>
            <a:spLocks noGrp="1"/>
          </p:cNvSpPr>
          <p:nvPr>
            <p:ph type="ftr" sz="quarter" idx="11"/>
          </p:nvPr>
        </p:nvSpPr>
        <p:spPr>
          <a:xfrm>
            <a:off x="2898648" y="6355080"/>
            <a:ext cx="3474720" cy="365760"/>
          </a:xfrm>
        </p:spPr>
        <p:txBody>
          <a:bodyPr/>
          <a:lstStyle/>
          <a:p>
            <a:pPr algn="l">
              <a:defRPr/>
            </a:pPr>
            <a:r>
              <a:rPr lang="en-US" smtClean="0"/>
              <a:t>CS1010 (AY2012/3 Semester 1)</a:t>
            </a:r>
            <a:endParaRPr lang="en-US" dirty="0"/>
          </a:p>
        </p:txBody>
      </p:sp>
      <p:sp>
        <p:nvSpPr>
          <p:cNvPr id="29" name="Slide Number Placeholder 28"/>
          <p:cNvSpPr>
            <a:spLocks noGrp="1"/>
          </p:cNvSpPr>
          <p:nvPr>
            <p:ph type="sldNum" sz="quarter" idx="12"/>
          </p:nvPr>
        </p:nvSpPr>
        <p:spPr>
          <a:xfrm>
            <a:off x="1216152" y="6355080"/>
            <a:ext cx="1219200" cy="365760"/>
          </a:xfrm>
        </p:spPr>
        <p:txBody>
          <a:bodyPr/>
          <a:lstStyle/>
          <a:p>
            <a:pPr>
              <a:defRPr/>
            </a:pPr>
            <a:r>
              <a:rPr lang="en-US" smtClean="0"/>
              <a:t>Week6 - </a:t>
            </a:r>
            <a:fld id="{1C32B94C-36FD-4F93-A343-CD819190AE24}" type="slidenum">
              <a:rPr lang="en-US" smtClean="0"/>
              <a:pPr>
                <a:defRPr/>
              </a:pPr>
              <a:t>‹#›</a:t>
            </a:fld>
            <a:endParaRPr lang="en-US"/>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transition>
    <p:fade/>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lgn="l">
              <a:defRPr/>
            </a:pPr>
            <a:r>
              <a:rPr lang="en-US" smtClean="0"/>
              <a:t>CS1010 (AY2012/3 Semester 1)</a:t>
            </a:r>
            <a:endParaRPr lang="en-US" dirty="0"/>
          </a:p>
        </p:txBody>
      </p:sp>
      <p:sp>
        <p:nvSpPr>
          <p:cNvPr id="6" name="Slide Number Placeholder 5"/>
          <p:cNvSpPr>
            <a:spLocks noGrp="1"/>
          </p:cNvSpPr>
          <p:nvPr>
            <p:ph type="sldNum" sz="quarter" idx="12"/>
          </p:nvPr>
        </p:nvSpPr>
        <p:spPr/>
        <p:txBody>
          <a:bodyPr/>
          <a:lstStyle/>
          <a:p>
            <a:pPr>
              <a:defRPr/>
            </a:pPr>
            <a:r>
              <a:rPr lang="en-US" smtClean="0"/>
              <a:t>Week6 - </a:t>
            </a:r>
            <a:fld id="{862EAC80-4D47-4337-9794-8D7627173231}" type="slidenum">
              <a:rPr lang="en-US" smtClean="0"/>
              <a:pPr>
                <a:defRPr/>
              </a:pPr>
              <a:t>‹#›</a:t>
            </a:fld>
            <a:endParaRPr lang="en-US"/>
          </a:p>
        </p:txBody>
      </p:sp>
      <p:sp>
        <p:nvSpPr>
          <p:cNvPr id="8" name="Content Placeholder 7"/>
          <p:cNvSpPr>
            <a:spLocks noGrp="1"/>
          </p:cNvSpPr>
          <p:nvPr>
            <p:ph sz="quarter" idx="1"/>
          </p:nvPr>
        </p:nvSpPr>
        <p:spPr>
          <a:xfrm>
            <a:off x="457200" y="1219200"/>
            <a:ext cx="8229600" cy="493776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transition>
    <p:fade/>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a:xfrm>
            <a:off x="6400800" y="6355080"/>
            <a:ext cx="2286000" cy="365760"/>
          </a:xfrm>
        </p:spPr>
        <p:txBody>
          <a:bodyPr/>
          <a:lstStyle/>
          <a:p>
            <a:pPr>
              <a:defRPr/>
            </a:pPr>
            <a:endParaRPr lang="en-US"/>
          </a:p>
        </p:txBody>
      </p:sp>
      <p:sp>
        <p:nvSpPr>
          <p:cNvPr id="5" name="Footer Placeholder 4"/>
          <p:cNvSpPr>
            <a:spLocks noGrp="1"/>
          </p:cNvSpPr>
          <p:nvPr>
            <p:ph type="ftr" sz="quarter" idx="11"/>
          </p:nvPr>
        </p:nvSpPr>
        <p:spPr>
          <a:xfrm>
            <a:off x="2898648" y="6355080"/>
            <a:ext cx="3474720" cy="365760"/>
          </a:xfrm>
        </p:spPr>
        <p:txBody>
          <a:bodyPr/>
          <a:lstStyle/>
          <a:p>
            <a:pPr algn="l">
              <a:defRPr/>
            </a:pPr>
            <a:r>
              <a:rPr lang="en-US" smtClean="0"/>
              <a:t>CS1010 (AY2012/3 Semester 1)</a:t>
            </a:r>
            <a:endParaRPr lang="en-US" dirty="0"/>
          </a:p>
        </p:txBody>
      </p:sp>
      <p:sp>
        <p:nvSpPr>
          <p:cNvPr id="6" name="Slide Number Placeholder 5"/>
          <p:cNvSpPr>
            <a:spLocks noGrp="1"/>
          </p:cNvSpPr>
          <p:nvPr>
            <p:ph type="sldNum" sz="quarter" idx="12"/>
          </p:nvPr>
        </p:nvSpPr>
        <p:spPr>
          <a:xfrm>
            <a:off x="1069848" y="6355080"/>
            <a:ext cx="1520952" cy="365760"/>
          </a:xfrm>
        </p:spPr>
        <p:txBody>
          <a:bodyPr/>
          <a:lstStyle/>
          <a:p>
            <a:pPr>
              <a:defRPr/>
            </a:pPr>
            <a:r>
              <a:rPr lang="en-US" smtClean="0"/>
              <a:t>Week6 - </a:t>
            </a:r>
            <a:fld id="{BFD05FE5-D899-4239-B865-1A90391D6139}" type="slidenum">
              <a:rPr lang="en-US" smtClean="0"/>
              <a:pPr>
                <a:defRPr/>
              </a:pPr>
              <a:t>‹#›</a:t>
            </a:fld>
            <a:endParaRPr lang="en-US"/>
          </a:p>
        </p:txBody>
      </p:sp>
      <p:sp>
        <p:nvSpPr>
          <p:cNvPr id="7" name="Rectangle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lgn="l">
              <a:defRPr/>
            </a:pPr>
            <a:r>
              <a:rPr lang="en-US" smtClean="0"/>
              <a:t>CS1010 (AY2012/3 Semester 1)</a:t>
            </a:r>
            <a:endParaRPr lang="en-US" dirty="0"/>
          </a:p>
        </p:txBody>
      </p:sp>
      <p:sp>
        <p:nvSpPr>
          <p:cNvPr id="7" name="Slide Number Placeholder 6"/>
          <p:cNvSpPr>
            <a:spLocks noGrp="1"/>
          </p:cNvSpPr>
          <p:nvPr>
            <p:ph type="sldNum" sz="quarter" idx="12"/>
          </p:nvPr>
        </p:nvSpPr>
        <p:spPr/>
        <p:txBody>
          <a:bodyPr/>
          <a:lstStyle/>
          <a:p>
            <a:pPr>
              <a:defRPr/>
            </a:pPr>
            <a:r>
              <a:rPr lang="en-US" smtClean="0"/>
              <a:t>Week6 - </a:t>
            </a:r>
            <a:fld id="{EAC8BFC7-9E9B-4858-BB65-C7989A1E1D6A}" type="slidenum">
              <a:rPr lang="en-US" smtClean="0"/>
              <a:pPr>
                <a:defRPr/>
              </a:pPr>
              <a:t>‹#›</a:t>
            </a:fld>
            <a:endParaRPr lang="en-US"/>
          </a:p>
        </p:txBody>
      </p:sp>
      <p:sp>
        <p:nvSpPr>
          <p:cNvPr id="9" name="Content Placeholder 8"/>
          <p:cNvSpPr>
            <a:spLocks noGrp="1"/>
          </p:cNvSpPr>
          <p:nvPr>
            <p:ph sz="quarter" idx="1"/>
          </p:nvPr>
        </p:nvSpPr>
        <p:spPr>
          <a:xfrm>
            <a:off x="457200" y="1219200"/>
            <a:ext cx="4041648" cy="493776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632198" y="1216152"/>
            <a:ext cx="4041648" cy="493776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transition>
    <p:fade/>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7" name="Date Placeholder 6"/>
          <p:cNvSpPr>
            <a:spLocks noGrp="1"/>
          </p:cNvSpPr>
          <p:nvPr>
            <p:ph type="dt" sz="half" idx="10"/>
          </p:nvPr>
        </p:nvSpPr>
        <p:spPr/>
        <p:txBody>
          <a:bodyPr/>
          <a:lstStyle/>
          <a:p>
            <a:pPr>
              <a:defRPr/>
            </a:pPr>
            <a:endParaRPr lang="en-US"/>
          </a:p>
        </p:txBody>
      </p:sp>
      <p:sp>
        <p:nvSpPr>
          <p:cNvPr id="8" name="Footer Placeholder 7"/>
          <p:cNvSpPr>
            <a:spLocks noGrp="1"/>
          </p:cNvSpPr>
          <p:nvPr>
            <p:ph type="ftr" sz="quarter" idx="11"/>
          </p:nvPr>
        </p:nvSpPr>
        <p:spPr/>
        <p:txBody>
          <a:bodyPr/>
          <a:lstStyle/>
          <a:p>
            <a:pPr algn="l">
              <a:defRPr/>
            </a:pPr>
            <a:r>
              <a:rPr lang="en-US" smtClean="0"/>
              <a:t>CS1010 (AY2012/3 Semester 1)</a:t>
            </a:r>
            <a:endParaRPr lang="en-US" dirty="0"/>
          </a:p>
        </p:txBody>
      </p:sp>
      <p:sp>
        <p:nvSpPr>
          <p:cNvPr id="9" name="Slide Number Placeholder 8"/>
          <p:cNvSpPr>
            <a:spLocks noGrp="1"/>
          </p:cNvSpPr>
          <p:nvPr>
            <p:ph type="sldNum" sz="quarter" idx="12"/>
          </p:nvPr>
        </p:nvSpPr>
        <p:spPr/>
        <p:txBody>
          <a:bodyPr/>
          <a:lstStyle/>
          <a:p>
            <a:pPr>
              <a:defRPr/>
            </a:pPr>
            <a:r>
              <a:rPr lang="en-US" smtClean="0"/>
              <a:t>Week6 - </a:t>
            </a:r>
            <a:fld id="{331CAFA5-8086-42B3-99E0-CC2E0F2A84B9}" type="slidenum">
              <a:rPr lang="en-US" smtClean="0"/>
              <a:pPr>
                <a:defRPr/>
              </a:pPr>
              <a:t>‹#›</a:t>
            </a:fld>
            <a:endParaRPr lang="en-US"/>
          </a:p>
        </p:txBody>
      </p:sp>
      <p:sp>
        <p:nvSpPr>
          <p:cNvPr id="11" name="Content Placeholder 10"/>
          <p:cNvSpPr>
            <a:spLocks noGrp="1"/>
          </p:cNvSpPr>
          <p:nvPr>
            <p:ph sz="quarter" idx="2"/>
          </p:nvPr>
        </p:nvSpPr>
        <p:spPr>
          <a:xfrm>
            <a:off x="457200" y="2133600"/>
            <a:ext cx="4038600" cy="40386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648200" y="2133600"/>
            <a:ext cx="4038600" cy="40386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transition>
    <p:fade/>
  </p:transition>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pPr>
              <a:defRPr/>
            </a:pPr>
            <a:endParaRPr lang="en-US"/>
          </a:p>
        </p:txBody>
      </p:sp>
      <p:sp>
        <p:nvSpPr>
          <p:cNvPr id="4" name="Footer Placeholder 3"/>
          <p:cNvSpPr>
            <a:spLocks noGrp="1"/>
          </p:cNvSpPr>
          <p:nvPr>
            <p:ph type="ftr" sz="quarter" idx="11"/>
          </p:nvPr>
        </p:nvSpPr>
        <p:spPr/>
        <p:txBody>
          <a:bodyPr/>
          <a:lstStyle/>
          <a:p>
            <a:pPr algn="l">
              <a:defRPr/>
            </a:pPr>
            <a:r>
              <a:rPr lang="en-US" smtClean="0"/>
              <a:t>CS1010 (AY2012/3 Semester 1)</a:t>
            </a:r>
            <a:endParaRPr lang="en-US" dirty="0"/>
          </a:p>
        </p:txBody>
      </p:sp>
      <p:sp>
        <p:nvSpPr>
          <p:cNvPr id="5" name="Slide Number Placeholder 4"/>
          <p:cNvSpPr>
            <a:spLocks noGrp="1"/>
          </p:cNvSpPr>
          <p:nvPr>
            <p:ph type="sldNum" sz="quarter" idx="12"/>
          </p:nvPr>
        </p:nvSpPr>
        <p:spPr/>
        <p:txBody>
          <a:bodyPr/>
          <a:lstStyle/>
          <a:p>
            <a:pPr>
              <a:defRPr/>
            </a:pPr>
            <a:r>
              <a:rPr lang="en-US" smtClean="0"/>
              <a:t>Week6 - </a:t>
            </a:r>
            <a:fld id="{D2E41109-7A88-4B65-A09E-B69326577230}" type="slidenum">
              <a:rPr lang="en-US" smtClean="0"/>
              <a:pPr>
                <a:defRPr/>
              </a:pPr>
              <a:t>‹#›</a:t>
            </a:fld>
            <a:endParaRPr lang="en-US"/>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transition>
    <p:fade/>
  </p:transition>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en-US"/>
          </a:p>
        </p:txBody>
      </p:sp>
      <p:sp>
        <p:nvSpPr>
          <p:cNvPr id="3" name="Footer Placeholder 2"/>
          <p:cNvSpPr>
            <a:spLocks noGrp="1"/>
          </p:cNvSpPr>
          <p:nvPr>
            <p:ph type="ftr" sz="quarter" idx="11"/>
          </p:nvPr>
        </p:nvSpPr>
        <p:spPr/>
        <p:txBody>
          <a:bodyPr/>
          <a:lstStyle/>
          <a:p>
            <a:pPr algn="l">
              <a:defRPr/>
            </a:pPr>
            <a:r>
              <a:rPr lang="en-US" smtClean="0"/>
              <a:t>CS1010 (AY2012/3 Semester 1)</a:t>
            </a:r>
            <a:endParaRPr lang="en-US" dirty="0"/>
          </a:p>
        </p:txBody>
      </p:sp>
      <p:sp>
        <p:nvSpPr>
          <p:cNvPr id="4" name="Slide Number Placeholder 3"/>
          <p:cNvSpPr>
            <a:spLocks noGrp="1"/>
          </p:cNvSpPr>
          <p:nvPr>
            <p:ph type="sldNum" sz="quarter" idx="12"/>
          </p:nvPr>
        </p:nvSpPr>
        <p:spPr/>
        <p:txBody>
          <a:bodyPr/>
          <a:lstStyle/>
          <a:p>
            <a:pPr>
              <a:defRPr/>
            </a:pPr>
            <a:r>
              <a:rPr lang="en-US" smtClean="0"/>
              <a:t>Week6 - </a:t>
            </a:r>
            <a:fld id="{37E977FC-C46A-44F4-B65B-9BD0E898BE39}" type="slidenum">
              <a:rPr lang="en-US" smtClean="0"/>
              <a:pPr>
                <a:defRPr/>
              </a:pPr>
              <a:t>‹#›</a:t>
            </a:fld>
            <a:endParaRPr lang="en-US"/>
          </a:p>
        </p:txBody>
      </p:sp>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transition>
    <p:fade/>
  </p:transition>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lgn="l">
              <a:defRPr/>
            </a:pPr>
            <a:r>
              <a:rPr lang="en-US" smtClean="0"/>
              <a:t>CS1010 (AY2012/3 Semester 1)</a:t>
            </a:r>
            <a:endParaRPr lang="en-US" dirty="0"/>
          </a:p>
        </p:txBody>
      </p:sp>
      <p:sp>
        <p:nvSpPr>
          <p:cNvPr id="7" name="Slide Number Placeholder 6"/>
          <p:cNvSpPr>
            <a:spLocks noGrp="1"/>
          </p:cNvSpPr>
          <p:nvPr>
            <p:ph type="sldNum" sz="quarter" idx="12"/>
          </p:nvPr>
        </p:nvSpPr>
        <p:spPr/>
        <p:txBody>
          <a:bodyPr/>
          <a:lstStyle/>
          <a:p>
            <a:pPr>
              <a:defRPr/>
            </a:pPr>
            <a:r>
              <a:rPr lang="en-US" smtClean="0"/>
              <a:t>Week6 - </a:t>
            </a:r>
            <a:fld id="{8C2DD85F-6F2C-4171-ACFC-C81EA434C16F}" type="slidenum">
              <a:rPr lang="en-US" smtClean="0"/>
              <a:pPr>
                <a:defRPr/>
              </a:pPr>
              <a:t>‹#›</a:t>
            </a:fld>
            <a:endParaRPr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Straight Connector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Content Placeholder 11"/>
          <p:cNvSpPr>
            <a:spLocks noGrp="1"/>
          </p:cNvSpPr>
          <p:nvPr>
            <p:ph sz="quarter" idx="1"/>
          </p:nvPr>
        </p:nvSpPr>
        <p:spPr>
          <a:xfrm>
            <a:off x="304800" y="304800"/>
            <a:ext cx="5715000" cy="5715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transition>
    <p:fade/>
  </p:transition>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en-US" smtClean="0"/>
              <a:t>Click icon to add picture</a:t>
            </a:r>
            <a:endParaRPr kumimoji="0" lang="en-US" dirty="0"/>
          </a:p>
        </p:txBody>
      </p:sp>
      <p:sp>
        <p:nvSpPr>
          <p:cNvPr id="4" name="Text Placeholder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lgn="l">
              <a:defRPr/>
            </a:pPr>
            <a:r>
              <a:rPr lang="en-US" smtClean="0"/>
              <a:t>CS1010 (AY2012/3 Semester 1)</a:t>
            </a:r>
            <a:endParaRPr lang="en-US" dirty="0"/>
          </a:p>
        </p:txBody>
      </p:sp>
      <p:sp>
        <p:nvSpPr>
          <p:cNvPr id="7" name="Slide Number Placeholder 6"/>
          <p:cNvSpPr>
            <a:spLocks noGrp="1"/>
          </p:cNvSpPr>
          <p:nvPr>
            <p:ph type="sldNum" sz="quarter" idx="12"/>
          </p:nvPr>
        </p:nvSpPr>
        <p:spPr/>
        <p:txBody>
          <a:bodyPr/>
          <a:lstStyle/>
          <a:p>
            <a:pPr>
              <a:defRPr/>
            </a:pPr>
            <a:r>
              <a:rPr lang="en-US" smtClean="0"/>
              <a:t>Week6 - </a:t>
            </a:r>
            <a:fld id="{C791B7DB-B1A0-4237-9F19-2BDD669CEBAD}" type="slidenum">
              <a:rPr lang="en-US" smtClean="0"/>
              <a:pPr>
                <a:defRPr/>
              </a:pPr>
              <a:t>‹#›</a:t>
            </a:fld>
            <a:endParaRPr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lgn="l">
              <a:defRPr/>
            </a:pPr>
            <a:r>
              <a:rPr lang="en-US" smtClean="0"/>
              <a:t>CS1010 (AY2012/3 Semester 1)</a:t>
            </a:r>
            <a:endParaRPr lang="en-US" dirty="0"/>
          </a:p>
        </p:txBody>
      </p:sp>
      <p:sp>
        <p:nvSpPr>
          <p:cNvPr id="6" name="Slide Number Placeholder 5"/>
          <p:cNvSpPr>
            <a:spLocks noGrp="1"/>
          </p:cNvSpPr>
          <p:nvPr>
            <p:ph type="sldNum" sz="quarter" idx="12"/>
          </p:nvPr>
        </p:nvSpPr>
        <p:spPr/>
        <p:txBody>
          <a:bodyPr/>
          <a:lstStyle/>
          <a:p>
            <a:pPr>
              <a:defRPr/>
            </a:pPr>
            <a:r>
              <a:rPr lang="en-US" smtClean="0"/>
              <a:t>Week6 - </a:t>
            </a:r>
            <a:fld id="{33028317-9F15-4DD3-BCBB-0DB947CE6F74}" type="slidenum">
              <a:rPr lang="en-US" smtClean="0"/>
              <a:pPr>
                <a:defRPr/>
              </a:pPr>
              <a:t>‹#›</a:t>
            </a:fld>
            <a:endParaRPr lang="en-US"/>
          </a:p>
        </p:txBody>
      </p:sp>
    </p:spTree>
  </p:cSld>
  <p:clrMapOvr>
    <a:masterClrMapping/>
  </p:clrMapOvr>
  <p:transition>
    <p:fade/>
  </p:transition>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lgn="l">
              <a:defRPr/>
            </a:pPr>
            <a:r>
              <a:rPr lang="en-US" smtClean="0"/>
              <a:t>CS1010 (AY2012/3 Semester 1)</a:t>
            </a:r>
            <a:endParaRPr lang="en-US" dirty="0"/>
          </a:p>
        </p:txBody>
      </p:sp>
      <p:sp>
        <p:nvSpPr>
          <p:cNvPr id="6" name="Slide Number Placeholder 5"/>
          <p:cNvSpPr>
            <a:spLocks noGrp="1"/>
          </p:cNvSpPr>
          <p:nvPr>
            <p:ph type="sldNum" sz="quarter" idx="12"/>
          </p:nvPr>
        </p:nvSpPr>
        <p:spPr/>
        <p:txBody>
          <a:bodyPr/>
          <a:lstStyle/>
          <a:p>
            <a:pPr>
              <a:defRPr/>
            </a:pPr>
            <a:r>
              <a:rPr lang="en-US" smtClean="0"/>
              <a:t>Week6 - </a:t>
            </a:r>
            <a:fld id="{54BCB5AF-9C55-4C0C-8CB7-444AC30E93B2}" type="slidenum">
              <a:rPr lang="en-US" smtClean="0"/>
              <a:pPr>
                <a:defRPr/>
              </a:pPr>
              <a:t>‹#›</a:t>
            </a:fld>
            <a:endParaRPr lang="en-US"/>
          </a:p>
        </p:txBody>
      </p:sp>
      <p:sp>
        <p:nvSpPr>
          <p:cNvPr id="7" name="Straight Connector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8" name="Isosceles Triangle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traight Connector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Tree>
  </p:cSld>
  <p:clrMapOvr>
    <a:masterClrMapping/>
  </p:clrMapOvr>
  <p:transition>
    <p:fade/>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pPr>
              <a:defRPr/>
            </a:pPr>
            <a:endParaRPr lang="en-US"/>
          </a:p>
        </p:txBody>
      </p:sp>
      <p:sp>
        <p:nvSpPr>
          <p:cNvPr id="3" name="Footer Placeholder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400">
                <a:solidFill>
                  <a:schemeClr val="tx2"/>
                </a:solidFill>
              </a:defRPr>
            </a:lvl1pPr>
          </a:lstStyle>
          <a:p>
            <a:pPr algn="l">
              <a:defRPr/>
            </a:pPr>
            <a:r>
              <a:rPr lang="en-US" smtClean="0"/>
              <a:t>CS1010 (AY2012/3 Semester 1)</a:t>
            </a:r>
            <a:endParaRPr lang="en-US" dirty="0"/>
          </a:p>
        </p:txBody>
      </p:sp>
      <p:sp>
        <p:nvSpPr>
          <p:cNvPr id="23" name="Slide Number Placeholder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pPr>
              <a:defRPr/>
            </a:pPr>
            <a:r>
              <a:rPr lang="en-US" smtClean="0"/>
              <a:t>Week6 - </a:t>
            </a:r>
            <a:fld id="{9061B80F-24BC-49AF-ABDC-3479B6B28098}" type="slidenum">
              <a:rPr lang="en-US" smtClean="0"/>
              <a:pPr>
                <a:defRPr/>
              </a:pPr>
              <a:t>‹#›</a:t>
            </a:fld>
            <a:endParaRPr lang="en-US"/>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Isosceles Triangle 9"/>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4977" r:id="rId1"/>
    <p:sldLayoutId id="2147484978" r:id="rId2"/>
    <p:sldLayoutId id="2147484979" r:id="rId3"/>
    <p:sldLayoutId id="2147484980" r:id="rId4"/>
    <p:sldLayoutId id="2147484981" r:id="rId5"/>
    <p:sldLayoutId id="2147484982" r:id="rId6"/>
    <p:sldLayoutId id="2147484983" r:id="rId7"/>
    <p:sldLayoutId id="2147484984" r:id="rId8"/>
    <p:sldLayoutId id="2147484985" r:id="rId9"/>
    <p:sldLayoutId id="2147484986" r:id="rId10"/>
    <p:sldLayoutId id="2147484987" r:id="rId11"/>
  </p:sldLayoutIdLst>
  <p:transition>
    <p:fade/>
  </p:transition>
  <p:timing>
    <p:tnLst>
      <p:par>
        <p:cTn id="1" dur="indefinite" restart="never" nodeType="tmRoot"/>
      </p:par>
    </p:tnLst>
  </p:timing>
  <p:hf hdr="0" ftr="0" dt="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www.youtube.com/watch?v=Z6zMxp6r4mc"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1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9.jpeg"/></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ctrTitle"/>
          </p:nvPr>
        </p:nvSpPr>
        <p:spPr>
          <a:xfrm>
            <a:off x="399393" y="3741683"/>
            <a:ext cx="8153400" cy="1066800"/>
          </a:xfrm>
        </p:spPr>
        <p:txBody>
          <a:bodyPr/>
          <a:lstStyle/>
          <a:p>
            <a:pPr algn="ctr" eaLnBrk="1" hangingPunct="1"/>
            <a:r>
              <a:rPr lang="en-GB" sz="2900" b="1" dirty="0" smtClean="0"/>
              <a:t>CSE 115</a:t>
            </a:r>
            <a:br>
              <a:rPr lang="en-GB" sz="2900" b="1" dirty="0" smtClean="0"/>
            </a:br>
            <a:r>
              <a:rPr lang="en-GB" sz="2900" b="1" dirty="0" smtClean="0"/>
              <a:t>Nova Ahmed</a:t>
            </a:r>
          </a:p>
        </p:txBody>
      </p:sp>
    </p:spTree>
  </p:cSld>
  <p:clrMapOvr>
    <a:masterClrMapping/>
  </p:clrMapOvr>
  <p:transition>
    <p:fad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533400" y="381000"/>
            <a:ext cx="8382000" cy="1483426"/>
          </a:xfrm>
        </p:spPr>
        <p:txBody>
          <a:bodyPr>
            <a:normAutofit/>
          </a:bodyPr>
          <a:lstStyle/>
          <a:p>
            <a:pPr eaLnBrk="1" hangingPunct="1"/>
            <a:r>
              <a:rPr lang="en-GB" dirty="0" smtClean="0"/>
              <a:t>Week 6: Modular Programming – More about Functions</a:t>
            </a:r>
          </a:p>
        </p:txBody>
      </p:sp>
      <p:sp>
        <p:nvSpPr>
          <p:cNvPr id="8" name="Slide Number Placeholder 7"/>
          <p:cNvSpPr>
            <a:spLocks noGrp="1"/>
          </p:cNvSpPr>
          <p:nvPr>
            <p:ph type="sldNum" sz="quarter" idx="12"/>
          </p:nvPr>
        </p:nvSpPr>
        <p:spPr/>
        <p:txBody>
          <a:bodyPr/>
          <a:lstStyle/>
          <a:p>
            <a:pPr>
              <a:defRPr/>
            </a:pPr>
            <a:r>
              <a:t>Week6 - </a:t>
            </a:r>
            <a:fld id="{A2900893-948F-4ADC-AE50-E902E6653E4B}" type="slidenum">
              <a:rPr/>
              <a:pPr>
                <a:defRPr/>
              </a:pPr>
              <a:t>2</a:t>
            </a:fld>
            <a:endParaRPr/>
          </a:p>
        </p:txBody>
      </p:sp>
      <p:sp>
        <p:nvSpPr>
          <p:cNvPr id="14339" name="Rectangle 3"/>
          <p:cNvSpPr>
            <a:spLocks noGrp="1" noChangeArrowheads="1"/>
          </p:cNvSpPr>
          <p:nvPr>
            <p:ph sz="quarter" idx="1"/>
          </p:nvPr>
        </p:nvSpPr>
        <p:spPr>
          <a:xfrm>
            <a:off x="773113" y="1911927"/>
            <a:ext cx="7620000" cy="1985516"/>
          </a:xfrm>
        </p:spPr>
        <p:txBody>
          <a:bodyPr>
            <a:normAutofit lnSpcReduction="10000"/>
          </a:bodyPr>
          <a:lstStyle/>
          <a:p>
            <a:pPr eaLnBrk="1" hangingPunct="1">
              <a:buSzPct val="120000"/>
              <a:buFont typeface="Wingdings" pitchFamily="2" charset="2"/>
              <a:buChar char="§"/>
            </a:pPr>
            <a:r>
              <a:rPr lang="en-GB" dirty="0" smtClean="0">
                <a:solidFill>
                  <a:srgbClr val="C00000"/>
                </a:solidFill>
              </a:rPr>
              <a:t>Objectives:</a:t>
            </a:r>
          </a:p>
          <a:p>
            <a:pPr lvl="1" eaLnBrk="1" hangingPunct="1">
              <a:buSzPct val="120000"/>
              <a:buFont typeface="Wingdings" pitchFamily="2" charset="2"/>
              <a:buChar char="§"/>
            </a:pPr>
            <a:r>
              <a:rPr lang="en-GB" dirty="0" smtClean="0"/>
              <a:t>Understand how to use pointers to return more than one value in a function</a:t>
            </a:r>
          </a:p>
          <a:p>
            <a:pPr lvl="1" eaLnBrk="1" hangingPunct="1">
              <a:buSzPct val="120000"/>
              <a:buFont typeface="Wingdings" pitchFamily="2" charset="2"/>
              <a:buChar char="§"/>
            </a:pPr>
            <a:r>
              <a:rPr lang="en-GB" dirty="0" smtClean="0"/>
              <a:t>Understand how to use header files and separate compilation to make your program modular</a:t>
            </a:r>
          </a:p>
        </p:txBody>
      </p:sp>
      <p:sp>
        <p:nvSpPr>
          <p:cNvPr id="6" name="Rectangle 3"/>
          <p:cNvSpPr txBox="1">
            <a:spLocks noChangeArrowheads="1"/>
          </p:cNvSpPr>
          <p:nvPr/>
        </p:nvSpPr>
        <p:spPr bwMode="auto">
          <a:xfrm>
            <a:off x="773113" y="4117978"/>
            <a:ext cx="7620000" cy="193804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0"/>
              </a:spcAft>
              <a:buClr>
                <a:schemeClr val="bg2"/>
              </a:buClr>
              <a:buSzPct val="120000"/>
              <a:buFont typeface="Wingdings" pitchFamily="2" charset="2"/>
              <a:buChar char="§"/>
              <a:tabLst/>
              <a:defRPr/>
            </a:pPr>
            <a:r>
              <a:rPr kumimoji="0" lang="en-GB" sz="2400" b="0" i="0" u="none" strike="noStrike" kern="0" cap="none" spc="0" normalizeH="0" baseline="0" noProof="0" dirty="0" smtClean="0">
                <a:ln>
                  <a:noFill/>
                </a:ln>
                <a:solidFill>
                  <a:srgbClr val="C00000"/>
                </a:solidFill>
                <a:effectLst/>
                <a:uLnTx/>
                <a:uFillTx/>
                <a:latin typeface="+mn-lt"/>
                <a:ea typeface="+mn-ea"/>
                <a:cs typeface="+mn-cs"/>
              </a:rPr>
              <a:t>References:</a:t>
            </a:r>
          </a:p>
          <a:p>
            <a:pPr marL="742950" marR="0" lvl="1" indent="-285750" algn="l" defTabSz="914400" rtl="0" eaLnBrk="1" fontAlgn="base" latinLnBrk="0" hangingPunct="1">
              <a:lnSpc>
                <a:spcPct val="100000"/>
              </a:lnSpc>
              <a:spcBef>
                <a:spcPct val="20000"/>
              </a:spcBef>
              <a:spcAft>
                <a:spcPct val="0"/>
              </a:spcAft>
              <a:buClr>
                <a:schemeClr val="accent2"/>
              </a:buClr>
              <a:buSzPct val="120000"/>
              <a:buFont typeface="Wingdings" pitchFamily="2" charset="2"/>
              <a:buChar char="§"/>
              <a:tabLst/>
              <a:defRPr/>
            </a:pPr>
            <a:r>
              <a:rPr kumimoji="0" lang="en-GB" sz="2000" b="0" i="0" u="none" strike="noStrike" kern="0" cap="none" spc="0" normalizeH="0" baseline="0" noProof="0" dirty="0" smtClean="0">
                <a:ln>
                  <a:noFill/>
                </a:ln>
                <a:solidFill>
                  <a:schemeClr val="tx1"/>
                </a:solidFill>
                <a:effectLst/>
                <a:uLnTx/>
                <a:uFillTx/>
                <a:latin typeface="+mn-lt"/>
                <a:cs typeface="+mn-cs"/>
              </a:rPr>
              <a:t>Chapter 5: Functions</a:t>
            </a:r>
          </a:p>
          <a:p>
            <a:pPr marL="742950" marR="0" lvl="1" indent="-285750" algn="l" defTabSz="914400" rtl="0" eaLnBrk="1" fontAlgn="base" latinLnBrk="0" hangingPunct="1">
              <a:lnSpc>
                <a:spcPct val="100000"/>
              </a:lnSpc>
              <a:spcBef>
                <a:spcPct val="20000"/>
              </a:spcBef>
              <a:spcAft>
                <a:spcPct val="0"/>
              </a:spcAft>
              <a:buClr>
                <a:schemeClr val="accent2"/>
              </a:buClr>
              <a:buSzPct val="120000"/>
              <a:buFont typeface="Wingdings" pitchFamily="2" charset="2"/>
              <a:buChar char="§"/>
              <a:tabLst/>
              <a:defRPr/>
            </a:pPr>
            <a:r>
              <a:rPr kumimoji="0" lang="en-GB" sz="2000" b="0" i="0" u="none" strike="noStrike" kern="0" cap="none" spc="0" normalizeH="0" baseline="0" noProof="0" dirty="0" smtClean="0">
                <a:ln>
                  <a:noFill/>
                </a:ln>
                <a:solidFill>
                  <a:schemeClr val="tx1"/>
                </a:solidFill>
                <a:effectLst/>
                <a:uLnTx/>
                <a:uFillTx/>
                <a:latin typeface="+mn-lt"/>
                <a:cs typeface="+mn-cs"/>
              </a:rPr>
              <a:t>Chapter 8,</a:t>
            </a:r>
            <a:r>
              <a:rPr kumimoji="0" lang="en-GB" sz="2000" b="0" i="0" u="none" strike="noStrike" kern="0" cap="none" spc="0" normalizeH="0" noProof="0" dirty="0" smtClean="0">
                <a:ln>
                  <a:noFill/>
                </a:ln>
                <a:solidFill>
                  <a:schemeClr val="tx1"/>
                </a:solidFill>
                <a:effectLst/>
                <a:uLnTx/>
                <a:uFillTx/>
                <a:latin typeface="+mn-lt"/>
                <a:cs typeface="+mn-cs"/>
              </a:rPr>
              <a:t> Lesson 8.8 (only for reading, non-examinable)</a:t>
            </a:r>
            <a:endParaRPr kumimoji="0" lang="en-GB" sz="2000" b="0" i="0" u="none" strike="noStrike" kern="0" cap="none" spc="0" normalizeH="0" baseline="0" noProof="0" dirty="0" smtClean="0">
              <a:ln>
                <a:noFill/>
              </a:ln>
              <a:solidFill>
                <a:schemeClr val="tx1"/>
              </a:solidFill>
              <a:effectLst/>
              <a:uLnTx/>
              <a:uFillTx/>
              <a:latin typeface="+mn-lt"/>
              <a:cs typeface="+mn-cs"/>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dissolve">
                                      <p:cBhvr>
                                        <p:cTn id="7" dur="500"/>
                                        <p:tgtEl>
                                          <p:spTgt spid="6">
                                            <p:txEl>
                                              <p:pRg st="0" end="0"/>
                                            </p:txEl>
                                          </p:spTgt>
                                        </p:tgtEl>
                                      </p:cBhvr>
                                    </p:animEffect>
                                  </p:childTnLst>
                                </p:cTn>
                              </p:par>
                              <p:par>
                                <p:cTn id="8" presetID="9" presetClass="entr" presetSubtype="0" fill="hold" grpId="0" nodeType="withEffect">
                                  <p:stCondLst>
                                    <p:cond delay="0"/>
                                  </p:stCondLst>
                                  <p:childTnLst>
                                    <p:set>
                                      <p:cBhvr>
                                        <p:cTn id="9" dur="1" fill="hold">
                                          <p:stCondLst>
                                            <p:cond delay="0"/>
                                          </p:stCondLst>
                                        </p:cTn>
                                        <p:tgtEl>
                                          <p:spTgt spid="6">
                                            <p:txEl>
                                              <p:pRg st="1" end="1"/>
                                            </p:txEl>
                                          </p:spTgt>
                                        </p:tgtEl>
                                        <p:attrNameLst>
                                          <p:attrName>style.visibility</p:attrName>
                                        </p:attrNameLst>
                                      </p:cBhvr>
                                      <p:to>
                                        <p:strVal val="visible"/>
                                      </p:to>
                                    </p:set>
                                    <p:animEffect transition="in" filter="dissolve">
                                      <p:cBhvr>
                                        <p:cTn id="10" dur="500"/>
                                        <p:tgtEl>
                                          <p:spTgt spid="6">
                                            <p:txEl>
                                              <p:pRg st="1" end="1"/>
                                            </p:txEl>
                                          </p:spTgt>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animEffect transition="in" filter="dissolve">
                                      <p:cBhvr>
                                        <p:cTn id="13" dur="5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533400" y="381000"/>
            <a:ext cx="8382000" cy="838200"/>
          </a:xfrm>
        </p:spPr>
        <p:txBody>
          <a:bodyPr>
            <a:normAutofit/>
          </a:bodyPr>
          <a:lstStyle/>
          <a:p>
            <a:pPr eaLnBrk="1" hangingPunct="1"/>
            <a:r>
              <a:rPr lang="en-GB" dirty="0" smtClean="0"/>
              <a:t>1. Week 5 Exercise #4: Prime Number</a:t>
            </a:r>
            <a:endParaRPr lang="en-GB" sz="4800" dirty="0" smtClean="0"/>
          </a:p>
        </p:txBody>
      </p:sp>
      <p:sp>
        <p:nvSpPr>
          <p:cNvPr id="16389" name="Slide Number Placeholder 7"/>
          <p:cNvSpPr>
            <a:spLocks noGrp="1"/>
          </p:cNvSpPr>
          <p:nvPr>
            <p:ph type="sldNum" sz="quarter" idx="12"/>
          </p:nvPr>
        </p:nvSpPr>
        <p:spPr/>
        <p:txBody>
          <a:bodyPr/>
          <a:lstStyle/>
          <a:p>
            <a:pPr>
              <a:defRPr/>
            </a:pPr>
            <a:r>
              <a:rPr smtClean="0">
                <a:cs typeface="Arial" pitchFamily="34" charset="0"/>
              </a:rPr>
              <a:t>Week6 - </a:t>
            </a:r>
            <a:fld id="{1B6AEB12-5058-478E-AE33-581B50F3D75D}" type="slidenum">
              <a:rPr smtClean="0">
                <a:cs typeface="Arial" pitchFamily="34" charset="0"/>
              </a:rPr>
              <a:pPr>
                <a:defRPr/>
              </a:pPr>
              <a:t>3</a:t>
            </a:fld>
            <a:endParaRPr smtClean="0">
              <a:cs typeface="Arial" pitchFamily="34" charset="0"/>
            </a:endParaRPr>
          </a:p>
        </p:txBody>
      </p:sp>
      <p:sp>
        <p:nvSpPr>
          <p:cNvPr id="31747" name="Rectangle 3"/>
          <p:cNvSpPr>
            <a:spLocks noGrp="1" noChangeArrowheads="1"/>
          </p:cNvSpPr>
          <p:nvPr>
            <p:ph sz="quarter" idx="1"/>
          </p:nvPr>
        </p:nvSpPr>
        <p:spPr>
          <a:xfrm>
            <a:off x="471487" y="1289050"/>
            <a:ext cx="8402690" cy="2833245"/>
          </a:xfrm>
        </p:spPr>
        <p:txBody>
          <a:bodyPr>
            <a:normAutofit lnSpcReduction="10000"/>
          </a:bodyPr>
          <a:lstStyle/>
          <a:p>
            <a:pPr marL="457200" indent="-457200" eaLnBrk="1" hangingPunct="1">
              <a:spcBef>
                <a:spcPts val="1200"/>
              </a:spcBef>
              <a:buSzPct val="100000"/>
              <a:buFont typeface="Wingdings" pitchFamily="2" charset="2"/>
              <a:buChar char="§"/>
            </a:pPr>
            <a:r>
              <a:rPr lang="en-GB" dirty="0" err="1" smtClean="0">
                <a:solidFill>
                  <a:srgbClr val="C00000"/>
                </a:solidFill>
              </a:rPr>
              <a:t>Primality</a:t>
            </a:r>
            <a:r>
              <a:rPr lang="en-GB" dirty="0" smtClean="0">
                <a:solidFill>
                  <a:srgbClr val="C00000"/>
                </a:solidFill>
              </a:rPr>
              <a:t> test </a:t>
            </a:r>
            <a:r>
              <a:rPr lang="en-GB" dirty="0" smtClean="0">
                <a:solidFill>
                  <a:schemeClr val="tx1"/>
                </a:solidFill>
              </a:rPr>
              <a:t>is a classic programming problem</a:t>
            </a:r>
          </a:p>
          <a:p>
            <a:pPr marL="857250" lvl="1" indent="-457200" eaLnBrk="1" hangingPunct="1">
              <a:spcBef>
                <a:spcPct val="0"/>
              </a:spcBef>
              <a:spcAft>
                <a:spcPts val="600"/>
              </a:spcAft>
              <a:buSzPct val="100000"/>
              <a:buFont typeface="Wingdings" pitchFamily="2" charset="2"/>
              <a:buChar char="§"/>
            </a:pPr>
            <a:r>
              <a:rPr lang="en-GB" dirty="0" smtClean="0"/>
              <a:t>Given a positive integer, determine whether it is a prime.</a:t>
            </a:r>
          </a:p>
          <a:p>
            <a:pPr marL="857250" lvl="1" indent="-457200" eaLnBrk="1" hangingPunct="1">
              <a:spcBef>
                <a:spcPct val="0"/>
              </a:spcBef>
              <a:spcAft>
                <a:spcPts val="600"/>
              </a:spcAft>
              <a:buSzPct val="100000"/>
              <a:buFont typeface="Wingdings" pitchFamily="2" charset="2"/>
              <a:buChar char="§"/>
            </a:pPr>
            <a:r>
              <a:rPr lang="en-GB" dirty="0" smtClean="0"/>
              <a:t>A prime number has two distinct factors (divisors): 1 and itself. Examples: 2, 3, 5, 7, 11, ... (Note: 1 is not a prime!)</a:t>
            </a:r>
          </a:p>
          <a:p>
            <a:pPr marL="457200" indent="-457200" eaLnBrk="1" hangingPunct="1">
              <a:spcBef>
                <a:spcPts val="600"/>
              </a:spcBef>
              <a:buSzPct val="100000"/>
              <a:buFont typeface="Wingdings" pitchFamily="2" charset="2"/>
              <a:buChar char="§"/>
            </a:pPr>
            <a:r>
              <a:rPr lang="en-GB" dirty="0" smtClean="0">
                <a:solidFill>
                  <a:schemeClr val="tx1"/>
                </a:solidFill>
              </a:rPr>
              <a:t>Write a program </a:t>
            </a:r>
            <a:r>
              <a:rPr lang="en-GB" dirty="0" smtClean="0"/>
              <a:t>Week5_PrimeTest.c</a:t>
            </a:r>
            <a:r>
              <a:rPr lang="en-GB" dirty="0" smtClean="0">
                <a:solidFill>
                  <a:schemeClr val="tx1"/>
                </a:solidFill>
              </a:rPr>
              <a:t>. You should include a function</a:t>
            </a:r>
            <a:r>
              <a:rPr lang="en-GB" dirty="0" smtClean="0"/>
              <a:t> </a:t>
            </a:r>
            <a:r>
              <a:rPr lang="en-GB" dirty="0" err="1" smtClean="0"/>
              <a:t>is_prime</a:t>
            </a:r>
            <a:r>
              <a:rPr lang="en-GB" dirty="0" smtClean="0"/>
              <a:t>(</a:t>
            </a:r>
            <a:r>
              <a:rPr lang="en-GB" dirty="0" err="1" smtClean="0"/>
              <a:t>int</a:t>
            </a:r>
            <a:r>
              <a:rPr lang="en-GB" dirty="0" smtClean="0"/>
              <a:t>). </a:t>
            </a:r>
            <a:r>
              <a:rPr lang="en-GB" dirty="0" smtClean="0">
                <a:solidFill>
                  <a:schemeClr val="tx1"/>
                </a:solidFill>
              </a:rPr>
              <a:t>(What does it return?)</a:t>
            </a:r>
          </a:p>
          <a:p>
            <a:pPr marL="457200" indent="-457200" eaLnBrk="1" hangingPunct="1">
              <a:spcBef>
                <a:spcPts val="600"/>
              </a:spcBef>
              <a:buSzPct val="100000"/>
              <a:buFont typeface="Wingdings" pitchFamily="2" charset="2"/>
              <a:buChar char="§"/>
            </a:pPr>
            <a:r>
              <a:rPr lang="en-GB" dirty="0" smtClean="0">
                <a:solidFill>
                  <a:schemeClr val="tx1"/>
                </a:solidFill>
              </a:rPr>
              <a:t>Sample runs:</a:t>
            </a:r>
          </a:p>
          <a:p>
            <a:pPr marL="457200" indent="-457200" eaLnBrk="1" hangingPunct="1">
              <a:buSzPct val="120000"/>
              <a:buFont typeface="Wingdings" pitchFamily="2" charset="2"/>
              <a:buNone/>
            </a:pPr>
            <a:endParaRPr lang="en-GB" b="1" dirty="0" smtClean="0"/>
          </a:p>
          <a:p>
            <a:pPr marL="457200" indent="-457200" eaLnBrk="1" hangingPunct="1">
              <a:buSzPct val="120000"/>
              <a:buFont typeface="Wingdings" pitchFamily="2" charset="2"/>
              <a:buNone/>
            </a:pPr>
            <a:endParaRPr lang="en-GB" b="1" dirty="0" smtClean="0"/>
          </a:p>
          <a:p>
            <a:pPr marL="457200" indent="-457200" eaLnBrk="1" hangingPunct="1">
              <a:buSzPct val="120000"/>
              <a:buFont typeface="Wingdings" pitchFamily="2" charset="2"/>
              <a:buNone/>
            </a:pPr>
            <a:endParaRPr lang="en-GB" b="1" dirty="0" smtClean="0"/>
          </a:p>
          <a:p>
            <a:pPr marL="457200" indent="-457200" eaLnBrk="1" hangingPunct="1">
              <a:buSzPct val="120000"/>
              <a:buFont typeface="Wingdings" pitchFamily="2" charset="2"/>
              <a:buNone/>
            </a:pPr>
            <a:endParaRPr lang="en-GB" b="1" dirty="0" smtClean="0"/>
          </a:p>
          <a:p>
            <a:pPr marL="457200" indent="-457200" eaLnBrk="1" hangingPunct="1">
              <a:buSzPct val="120000"/>
              <a:buFont typeface="Wingdings" pitchFamily="2" charset="2"/>
              <a:buNone/>
            </a:pPr>
            <a:endParaRPr lang="en-GB" sz="2000" dirty="0" smtClean="0"/>
          </a:p>
        </p:txBody>
      </p:sp>
      <p:sp>
        <p:nvSpPr>
          <p:cNvPr id="9" name="TextBox 8"/>
          <p:cNvSpPr txBox="1"/>
          <p:nvPr/>
        </p:nvSpPr>
        <p:spPr>
          <a:xfrm>
            <a:off x="1428750" y="4282242"/>
            <a:ext cx="5796509" cy="707886"/>
          </a:xfrm>
          <a:prstGeom prst="rect">
            <a:avLst/>
          </a:prstGeom>
          <a:ln>
            <a:solidFill>
              <a:srgbClr val="800000"/>
            </a:solidFill>
          </a:ln>
        </p:spPr>
        <p:style>
          <a:lnRef idx="2">
            <a:schemeClr val="accent4"/>
          </a:lnRef>
          <a:fillRef idx="1">
            <a:schemeClr val="lt1"/>
          </a:fillRef>
          <a:effectRef idx="0">
            <a:schemeClr val="accent4"/>
          </a:effectRef>
          <a:fontRef idx="minor">
            <a:schemeClr val="dk1"/>
          </a:fontRef>
        </p:style>
        <p:txBody>
          <a:bodyPr wrap="square">
            <a:spAutoFit/>
          </a:bodyPr>
          <a:lstStyle/>
          <a:p>
            <a:pPr>
              <a:defRPr/>
            </a:pPr>
            <a:r>
              <a:rPr lang="en-US" sz="2000" b="1" dirty="0">
                <a:latin typeface="Courier New" pitchFamily="49" charset="0"/>
                <a:cs typeface="Courier New" pitchFamily="49" charset="0"/>
              </a:rPr>
              <a:t>Enter a positive integer: </a:t>
            </a:r>
            <a:r>
              <a:rPr lang="en-US" sz="2000" b="1" dirty="0">
                <a:solidFill>
                  <a:srgbClr val="0000FF"/>
                </a:solidFill>
                <a:latin typeface="Courier New" pitchFamily="49" charset="0"/>
                <a:cs typeface="Courier New" pitchFamily="49" charset="0"/>
              </a:rPr>
              <a:t>131</a:t>
            </a:r>
          </a:p>
          <a:p>
            <a:pPr>
              <a:defRPr/>
            </a:pPr>
            <a:r>
              <a:rPr lang="en-US" sz="2000" b="1" dirty="0">
                <a:latin typeface="Courier New" pitchFamily="49" charset="0"/>
                <a:cs typeface="Courier New" pitchFamily="49" charset="0"/>
              </a:rPr>
              <a:t>131 is a prime.</a:t>
            </a:r>
          </a:p>
        </p:txBody>
      </p:sp>
      <p:sp>
        <p:nvSpPr>
          <p:cNvPr id="10" name="TextBox 9"/>
          <p:cNvSpPr txBox="1"/>
          <p:nvPr/>
        </p:nvSpPr>
        <p:spPr>
          <a:xfrm>
            <a:off x="1412875" y="5207208"/>
            <a:ext cx="5796509" cy="707886"/>
          </a:xfrm>
          <a:prstGeom prst="rect">
            <a:avLst/>
          </a:prstGeom>
          <a:ln>
            <a:solidFill>
              <a:srgbClr val="800000"/>
            </a:solidFill>
          </a:ln>
        </p:spPr>
        <p:style>
          <a:lnRef idx="2">
            <a:schemeClr val="accent4"/>
          </a:lnRef>
          <a:fillRef idx="1">
            <a:schemeClr val="lt1"/>
          </a:fillRef>
          <a:effectRef idx="0">
            <a:schemeClr val="accent4"/>
          </a:effectRef>
          <a:fontRef idx="minor">
            <a:schemeClr val="dk1"/>
          </a:fontRef>
        </p:style>
        <p:txBody>
          <a:bodyPr wrap="square">
            <a:spAutoFit/>
          </a:bodyPr>
          <a:lstStyle/>
          <a:p>
            <a:pPr>
              <a:defRPr/>
            </a:pPr>
            <a:r>
              <a:rPr lang="en-US" sz="2000" b="1" dirty="0">
                <a:latin typeface="Courier New" pitchFamily="49" charset="0"/>
                <a:cs typeface="Courier New" pitchFamily="49" charset="0"/>
              </a:rPr>
              <a:t>Enter a positive integer: </a:t>
            </a:r>
            <a:r>
              <a:rPr lang="en-US" sz="2000" b="1" dirty="0">
                <a:solidFill>
                  <a:srgbClr val="0000FF"/>
                </a:solidFill>
                <a:latin typeface="Courier New" pitchFamily="49" charset="0"/>
                <a:cs typeface="Courier New" pitchFamily="49" charset="0"/>
              </a:rPr>
              <a:t>713</a:t>
            </a:r>
          </a:p>
          <a:p>
            <a:pPr>
              <a:defRPr/>
            </a:pPr>
            <a:r>
              <a:rPr lang="en-US" sz="2000" b="1" dirty="0">
                <a:latin typeface="Courier New" pitchFamily="49" charset="0"/>
                <a:cs typeface="Courier New" pitchFamily="49" charset="0"/>
              </a:rPr>
              <a:t>713 is not a prime.</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ssolve">
                                      <p:cBhvr>
                                        <p:cTn id="7" dur="500"/>
                                        <p:tgtEl>
                                          <p:spTgt spid="9"/>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dissolve">
                                      <p:cBhvr>
                                        <p:cTn id="1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1"/>
          <p:cNvSpPr>
            <a:spLocks noGrp="1"/>
          </p:cNvSpPr>
          <p:nvPr>
            <p:ph type="title"/>
          </p:nvPr>
        </p:nvSpPr>
        <p:spPr/>
        <p:txBody>
          <a:bodyPr/>
          <a:lstStyle/>
          <a:p>
            <a:r>
              <a:rPr lang="en-US" sz="4000" dirty="0" smtClean="0">
                <a:solidFill>
                  <a:srgbClr val="9933FF"/>
                </a:solidFill>
                <a:latin typeface="Garamond" pitchFamily="18" charset="0"/>
              </a:rPr>
              <a:t>2. Testing and Debugging (1/8)</a:t>
            </a:r>
          </a:p>
        </p:txBody>
      </p:sp>
      <p:sp>
        <p:nvSpPr>
          <p:cNvPr id="20" name="Slide Number Placeholder 7"/>
          <p:cNvSpPr>
            <a:spLocks noGrp="1"/>
          </p:cNvSpPr>
          <p:nvPr>
            <p:ph type="sldNum" sz="quarter" idx="12"/>
          </p:nvPr>
        </p:nvSpPr>
        <p:spPr/>
        <p:txBody>
          <a:bodyPr/>
          <a:lstStyle/>
          <a:p>
            <a:pPr>
              <a:defRPr/>
            </a:pPr>
            <a:r>
              <a:rPr smtClean="0">
                <a:cs typeface="Arial" pitchFamily="34" charset="0"/>
              </a:rPr>
              <a:t>Week6 - </a:t>
            </a:r>
            <a:fld id="{1B6AEB12-5058-478E-AE33-581B50F3D75D}" type="slidenum">
              <a:rPr smtClean="0">
                <a:cs typeface="Arial" pitchFamily="34" charset="0"/>
              </a:rPr>
              <a:pPr>
                <a:defRPr/>
              </a:pPr>
              <a:t>4</a:t>
            </a:fld>
            <a:endParaRPr smtClean="0">
              <a:cs typeface="Arial" pitchFamily="34" charset="0"/>
            </a:endParaRPr>
          </a:p>
        </p:txBody>
      </p:sp>
      <p:sp>
        <p:nvSpPr>
          <p:cNvPr id="19" name="Content Placeholder 2"/>
          <p:cNvSpPr>
            <a:spLocks noGrp="1"/>
          </p:cNvSpPr>
          <p:nvPr>
            <p:ph sz="quarter" idx="1"/>
          </p:nvPr>
        </p:nvSpPr>
        <p:spPr>
          <a:xfrm>
            <a:off x="457200" y="1185333"/>
            <a:ext cx="8229600" cy="5063067"/>
          </a:xfrm>
        </p:spPr>
        <p:txBody>
          <a:bodyPr/>
          <a:lstStyle/>
          <a:p>
            <a:r>
              <a:rPr lang="en-US" sz="1600" dirty="0" smtClean="0">
                <a:solidFill>
                  <a:srgbClr val="006600"/>
                </a:solidFill>
              </a:rPr>
              <a:t>(Section 2 is only for your reading. You may try out the </a:t>
            </a:r>
            <a:r>
              <a:rPr lang="en-US" sz="1600" dirty="0" err="1" smtClean="0">
                <a:solidFill>
                  <a:srgbClr val="006600"/>
                </a:solidFill>
              </a:rPr>
              <a:t>gdb</a:t>
            </a:r>
            <a:r>
              <a:rPr lang="en-US" sz="1600" dirty="0" smtClean="0">
                <a:solidFill>
                  <a:srgbClr val="006600"/>
                </a:solidFill>
              </a:rPr>
              <a:t> debugger on your own.)</a:t>
            </a:r>
          </a:p>
          <a:p>
            <a:r>
              <a:rPr lang="en-US" sz="2000" dirty="0" smtClean="0"/>
              <a:t>The previous exercise shows the importance of testing.</a:t>
            </a:r>
          </a:p>
          <a:p>
            <a:r>
              <a:rPr lang="en-US" sz="2000" dirty="0" smtClean="0"/>
              <a:t>Where does the term “debugging” come from?</a:t>
            </a:r>
          </a:p>
          <a:p>
            <a:pPr lvl="1"/>
            <a:r>
              <a:rPr lang="en-US" sz="1800" dirty="0" smtClean="0"/>
              <a:t>Very early computers used mechanical relays for switching currents. However, most likely the term</a:t>
            </a:r>
            <a:br>
              <a:rPr lang="en-US" sz="1800" dirty="0" smtClean="0"/>
            </a:br>
            <a:r>
              <a:rPr lang="en-US" sz="1800" dirty="0" smtClean="0"/>
              <a:t>bug existed before</a:t>
            </a:r>
            <a:br>
              <a:rPr lang="en-US" sz="1800" dirty="0" smtClean="0"/>
            </a:br>
            <a:r>
              <a:rPr lang="en-US" sz="1800" dirty="0" smtClean="0"/>
              <a:t>the “moth-in-a-relay”</a:t>
            </a:r>
            <a:br>
              <a:rPr lang="en-US" sz="1800" dirty="0" smtClean="0"/>
            </a:br>
            <a:r>
              <a:rPr lang="en-US" sz="1800" dirty="0" smtClean="0"/>
              <a:t>story.</a:t>
            </a:r>
          </a:p>
          <a:p>
            <a:pPr lvl="2"/>
            <a:endParaRPr lang="en-US" sz="1800" dirty="0" smtClean="0"/>
          </a:p>
          <a:p>
            <a:pPr lvl="1">
              <a:buNone/>
            </a:pPr>
            <a:endParaRPr lang="en-US" sz="2000" dirty="0" smtClean="0"/>
          </a:p>
          <a:p>
            <a:pPr lvl="1"/>
            <a:r>
              <a:rPr lang="en-US" sz="2000" dirty="0" smtClean="0"/>
              <a:t>Why does a program “core dump”?</a:t>
            </a:r>
          </a:p>
          <a:p>
            <a:pPr lvl="2"/>
            <a:r>
              <a:rPr lang="en-US" sz="1800" dirty="0" smtClean="0"/>
              <a:t>Early computers used</a:t>
            </a:r>
            <a:br>
              <a:rPr lang="en-US" sz="1800" dirty="0" smtClean="0"/>
            </a:br>
            <a:r>
              <a:rPr lang="en-US" sz="1800" dirty="0" smtClean="0"/>
              <a:t>tiny magnetic</a:t>
            </a:r>
            <a:br>
              <a:rPr lang="en-US" sz="1800" dirty="0" smtClean="0"/>
            </a:br>
            <a:r>
              <a:rPr lang="en-US" sz="1800" dirty="0" smtClean="0"/>
              <a:t>cores (rings) as</a:t>
            </a:r>
            <a:br>
              <a:rPr lang="en-US" sz="1800" dirty="0" smtClean="0"/>
            </a:br>
            <a:r>
              <a:rPr lang="en-US" sz="1800" dirty="0" smtClean="0"/>
              <a:t>memory cells to hold</a:t>
            </a:r>
            <a:br>
              <a:rPr lang="en-US" sz="1800" dirty="0" smtClean="0"/>
            </a:br>
            <a:r>
              <a:rPr lang="en-US" sz="1800" dirty="0" smtClean="0"/>
              <a:t>0 and 1 values.</a:t>
            </a:r>
          </a:p>
        </p:txBody>
      </p:sp>
      <p:grpSp>
        <p:nvGrpSpPr>
          <p:cNvPr id="2" name="Group 15"/>
          <p:cNvGrpSpPr>
            <a:grpSpLocks/>
          </p:cNvGrpSpPr>
          <p:nvPr/>
        </p:nvGrpSpPr>
        <p:grpSpPr bwMode="auto">
          <a:xfrm>
            <a:off x="6564136" y="2553583"/>
            <a:ext cx="2146300" cy="3554412"/>
            <a:chOff x="6607175" y="2458216"/>
            <a:chExt cx="2145797" cy="3554381"/>
          </a:xfrm>
        </p:grpSpPr>
        <p:sp>
          <p:nvSpPr>
            <p:cNvPr id="21" name="TextBox 6"/>
            <p:cNvSpPr txBox="1">
              <a:spLocks noChangeArrowheads="1"/>
            </p:cNvSpPr>
            <p:nvPr/>
          </p:nvSpPr>
          <p:spPr bwMode="auto">
            <a:xfrm>
              <a:off x="6607175" y="2797175"/>
              <a:ext cx="1576072" cy="338554"/>
            </a:xfrm>
            <a:prstGeom prst="rect">
              <a:avLst/>
            </a:prstGeom>
            <a:noFill/>
            <a:ln w="9525">
              <a:noFill/>
              <a:miter lim="800000"/>
              <a:headEnd/>
              <a:tailEnd/>
            </a:ln>
          </p:spPr>
          <p:txBody>
            <a:bodyPr wrap="none">
              <a:spAutoFit/>
            </a:bodyPr>
            <a:lstStyle/>
            <a:p>
              <a:r>
                <a:rPr lang="en-US" sz="1600">
                  <a:solidFill>
                    <a:srgbClr val="C00000"/>
                  </a:solidFill>
                </a:rPr>
                <a:t>Electro-magnet</a:t>
              </a:r>
            </a:p>
          </p:txBody>
        </p:sp>
        <p:sp>
          <p:nvSpPr>
            <p:cNvPr id="22" name="TextBox 9"/>
            <p:cNvSpPr txBox="1">
              <a:spLocks noChangeArrowheads="1"/>
            </p:cNvSpPr>
            <p:nvPr/>
          </p:nvSpPr>
          <p:spPr bwMode="auto">
            <a:xfrm>
              <a:off x="6800193" y="2458216"/>
              <a:ext cx="1952779" cy="338554"/>
            </a:xfrm>
            <a:prstGeom prst="rect">
              <a:avLst/>
            </a:prstGeom>
            <a:noFill/>
            <a:ln w="9525">
              <a:noFill/>
              <a:miter lim="800000"/>
              <a:headEnd/>
              <a:tailEnd/>
            </a:ln>
          </p:spPr>
          <p:txBody>
            <a:bodyPr wrap="none">
              <a:spAutoFit/>
            </a:bodyPr>
            <a:lstStyle/>
            <a:p>
              <a:r>
                <a:rPr lang="en-US" sz="1600" dirty="0">
                  <a:solidFill>
                    <a:srgbClr val="C00000"/>
                  </a:solidFill>
                </a:rPr>
                <a:t>Moveable armature</a:t>
              </a:r>
            </a:p>
          </p:txBody>
        </p:sp>
        <p:sp>
          <p:nvSpPr>
            <p:cNvPr id="23" name="TextBox 10"/>
            <p:cNvSpPr txBox="1">
              <a:spLocks noChangeArrowheads="1"/>
            </p:cNvSpPr>
            <p:nvPr/>
          </p:nvSpPr>
          <p:spPr bwMode="auto">
            <a:xfrm>
              <a:off x="7086600" y="5181600"/>
              <a:ext cx="1508746" cy="830997"/>
            </a:xfrm>
            <a:prstGeom prst="rect">
              <a:avLst/>
            </a:prstGeom>
            <a:noFill/>
            <a:ln w="9525">
              <a:noFill/>
              <a:miter lim="800000"/>
              <a:headEnd/>
              <a:tailEnd/>
            </a:ln>
          </p:spPr>
          <p:txBody>
            <a:bodyPr wrap="none">
              <a:spAutoFit/>
            </a:bodyPr>
            <a:lstStyle/>
            <a:p>
              <a:r>
                <a:rPr lang="en-US" sz="1600">
                  <a:solidFill>
                    <a:srgbClr val="C00000"/>
                  </a:solidFill>
                </a:rPr>
                <a:t>Space</a:t>
              </a:r>
            </a:p>
            <a:p>
              <a:r>
                <a:rPr lang="en-US" sz="1600">
                  <a:solidFill>
                    <a:srgbClr val="0000FF"/>
                  </a:solidFill>
                </a:rPr>
                <a:t>(Bugs may get</a:t>
              </a:r>
            </a:p>
            <a:p>
              <a:r>
                <a:rPr lang="en-US" sz="1600">
                  <a:solidFill>
                    <a:srgbClr val="0000FF"/>
                  </a:solidFill>
                </a:rPr>
                <a:t>stuck here!)</a:t>
              </a:r>
            </a:p>
          </p:txBody>
        </p:sp>
        <p:pic>
          <p:nvPicPr>
            <p:cNvPr id="24" name="Picture 5"/>
            <p:cNvPicPr>
              <a:picLocks noChangeAspect="1" noChangeArrowheads="1"/>
            </p:cNvPicPr>
            <p:nvPr/>
          </p:nvPicPr>
          <p:blipFill>
            <a:blip r:embed="rId3" cstate="print"/>
            <a:srcRect/>
            <a:stretch>
              <a:fillRect/>
            </a:stretch>
          </p:blipFill>
          <p:spPr bwMode="auto">
            <a:xfrm>
              <a:off x="6872288" y="3265488"/>
              <a:ext cx="1714500" cy="1676400"/>
            </a:xfrm>
            <a:prstGeom prst="rect">
              <a:avLst/>
            </a:prstGeom>
            <a:noFill/>
            <a:ln w="9525">
              <a:noFill/>
              <a:miter lim="800000"/>
              <a:headEnd/>
              <a:tailEnd/>
            </a:ln>
          </p:spPr>
        </p:pic>
        <p:cxnSp>
          <p:nvCxnSpPr>
            <p:cNvPr id="25" name="Straight Arrow Connector 13"/>
            <p:cNvCxnSpPr>
              <a:cxnSpLocks noChangeShapeType="1"/>
            </p:cNvCxnSpPr>
            <p:nvPr/>
          </p:nvCxnSpPr>
          <p:spPr bwMode="auto">
            <a:xfrm rot="5400000">
              <a:off x="7930356" y="3031332"/>
              <a:ext cx="892175" cy="468312"/>
            </a:xfrm>
            <a:prstGeom prst="straightConnector1">
              <a:avLst/>
            </a:prstGeom>
            <a:noFill/>
            <a:ln w="25400" cap="sq" algn="ctr">
              <a:solidFill>
                <a:srgbClr val="FF0000"/>
              </a:solidFill>
              <a:round/>
              <a:headEnd type="none" w="sm" len="sm"/>
              <a:tailEnd type="arrow" w="med" len="med"/>
            </a:ln>
          </p:spPr>
        </p:cxnSp>
        <p:cxnSp>
          <p:nvCxnSpPr>
            <p:cNvPr id="26" name="Straight Arrow Connector 15"/>
            <p:cNvCxnSpPr>
              <a:cxnSpLocks noChangeShapeType="1"/>
            </p:cNvCxnSpPr>
            <p:nvPr/>
          </p:nvCxnSpPr>
          <p:spPr bwMode="auto">
            <a:xfrm>
              <a:off x="7151688" y="3146425"/>
              <a:ext cx="587375" cy="533400"/>
            </a:xfrm>
            <a:prstGeom prst="straightConnector1">
              <a:avLst/>
            </a:prstGeom>
            <a:noFill/>
            <a:ln w="25400" cap="sq" algn="ctr">
              <a:solidFill>
                <a:srgbClr val="FF0000"/>
              </a:solidFill>
              <a:round/>
              <a:headEnd type="none" w="sm" len="sm"/>
              <a:tailEnd type="arrow" w="med" len="med"/>
            </a:ln>
          </p:spPr>
        </p:cxnSp>
        <p:cxnSp>
          <p:nvCxnSpPr>
            <p:cNvPr id="27" name="Straight Arrow Connector 17"/>
            <p:cNvCxnSpPr>
              <a:cxnSpLocks noChangeShapeType="1"/>
            </p:cNvCxnSpPr>
            <p:nvPr/>
          </p:nvCxnSpPr>
          <p:spPr bwMode="auto">
            <a:xfrm rot="5400000" flipH="1" flipV="1">
              <a:off x="7113588" y="4262438"/>
              <a:ext cx="1436687" cy="446087"/>
            </a:xfrm>
            <a:prstGeom prst="straightConnector1">
              <a:avLst/>
            </a:prstGeom>
            <a:noFill/>
            <a:ln w="25400" cap="sq" algn="ctr">
              <a:solidFill>
                <a:srgbClr val="FF0000"/>
              </a:solidFill>
              <a:round/>
              <a:headEnd type="none" w="sm" len="sm"/>
              <a:tailEnd type="arrow" w="med" len="med"/>
            </a:ln>
          </p:spPr>
        </p:cxnSp>
      </p:grpSp>
      <p:pic>
        <p:nvPicPr>
          <p:cNvPr id="28" name="Picture 6"/>
          <p:cNvPicPr>
            <a:picLocks noChangeAspect="1" noChangeArrowheads="1"/>
          </p:cNvPicPr>
          <p:nvPr/>
        </p:nvPicPr>
        <p:blipFill>
          <a:blip r:embed="rId4" cstate="print"/>
          <a:srcRect/>
          <a:stretch>
            <a:fillRect/>
          </a:stretch>
        </p:blipFill>
        <p:spPr bwMode="auto">
          <a:xfrm>
            <a:off x="4144963" y="4702175"/>
            <a:ext cx="1825625" cy="1822450"/>
          </a:xfrm>
          <a:prstGeom prst="rect">
            <a:avLst/>
          </a:prstGeom>
          <a:noFill/>
          <a:ln w="9525">
            <a:noFill/>
            <a:miter lim="800000"/>
            <a:headEnd/>
            <a:tailEnd/>
          </a:ln>
        </p:spPr>
      </p:pic>
      <p:grpSp>
        <p:nvGrpSpPr>
          <p:cNvPr id="3" name="Group 16"/>
          <p:cNvGrpSpPr>
            <a:grpSpLocks/>
          </p:cNvGrpSpPr>
          <p:nvPr/>
        </p:nvGrpSpPr>
        <p:grpSpPr bwMode="auto">
          <a:xfrm>
            <a:off x="1897769" y="2844447"/>
            <a:ext cx="4548187" cy="1598613"/>
            <a:chOff x="1852066" y="2562225"/>
            <a:chExt cx="4548734" cy="1598613"/>
          </a:xfrm>
        </p:grpSpPr>
        <p:pic>
          <p:nvPicPr>
            <p:cNvPr id="30" name="Picture 7"/>
            <p:cNvPicPr>
              <a:picLocks noChangeAspect="1" noChangeArrowheads="1"/>
            </p:cNvPicPr>
            <p:nvPr/>
          </p:nvPicPr>
          <p:blipFill>
            <a:blip r:embed="rId5" cstate="print"/>
            <a:srcRect/>
            <a:stretch>
              <a:fillRect/>
            </a:stretch>
          </p:blipFill>
          <p:spPr bwMode="auto">
            <a:xfrm>
              <a:off x="4371975" y="2562225"/>
              <a:ext cx="2028825" cy="1598613"/>
            </a:xfrm>
            <a:prstGeom prst="rect">
              <a:avLst/>
            </a:prstGeom>
            <a:noFill/>
            <a:ln w="9525">
              <a:noFill/>
              <a:miter lim="800000"/>
              <a:headEnd/>
              <a:tailEnd/>
            </a:ln>
          </p:spPr>
        </p:pic>
        <p:sp>
          <p:nvSpPr>
            <p:cNvPr id="31" name="TextBox 20"/>
            <p:cNvSpPr txBox="1">
              <a:spLocks noChangeArrowheads="1"/>
            </p:cNvSpPr>
            <p:nvPr/>
          </p:nvSpPr>
          <p:spPr bwMode="auto">
            <a:xfrm>
              <a:off x="1852066" y="3250105"/>
              <a:ext cx="2467342" cy="584775"/>
            </a:xfrm>
            <a:prstGeom prst="rect">
              <a:avLst/>
            </a:prstGeom>
            <a:noFill/>
            <a:ln w="9525">
              <a:noFill/>
              <a:miter lim="800000"/>
              <a:headEnd/>
              <a:tailEnd/>
            </a:ln>
          </p:spPr>
          <p:txBody>
            <a:bodyPr wrap="none">
              <a:spAutoFit/>
            </a:bodyPr>
            <a:lstStyle/>
            <a:p>
              <a:r>
                <a:rPr lang="en-US" sz="1600" dirty="0">
                  <a:solidFill>
                    <a:srgbClr val="C00000"/>
                  </a:solidFill>
                </a:rPr>
                <a:t>Notebook with moth from</a:t>
              </a:r>
              <a:br>
                <a:rPr lang="en-US" sz="1600" dirty="0">
                  <a:solidFill>
                    <a:srgbClr val="C00000"/>
                  </a:solidFill>
                </a:rPr>
              </a:br>
              <a:r>
                <a:rPr lang="en-US" sz="1600" dirty="0">
                  <a:solidFill>
                    <a:srgbClr val="C00000"/>
                  </a:solidFill>
                </a:rPr>
                <a:t>Mark II computer:</a:t>
              </a:r>
            </a:p>
          </p:txBody>
        </p:sp>
      </p:grpSp>
    </p:spTree>
  </p:cSld>
  <p:clrMapOvr>
    <a:masterClrMapping/>
  </p:clrMapOvr>
  <p:transition>
    <p:fad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8"/>
          <p:cNvSpPr>
            <a:spLocks noChangeArrowheads="1"/>
          </p:cNvSpPr>
          <p:nvPr/>
        </p:nvSpPr>
        <p:spPr bwMode="auto">
          <a:xfrm>
            <a:off x="838200" y="1411112"/>
            <a:ext cx="7908925" cy="3048000"/>
          </a:xfrm>
          <a:prstGeom prst="rect">
            <a:avLst/>
          </a:prstGeom>
          <a:noFill/>
          <a:ln w="9525">
            <a:noFill/>
            <a:miter lim="800000"/>
            <a:headEnd/>
            <a:tailEnd/>
          </a:ln>
        </p:spPr>
        <p:txBody>
          <a:bodyPr/>
          <a:lstStyle/>
          <a:p>
            <a:pPr marL="342900" indent="-342900">
              <a:spcBef>
                <a:spcPct val="20000"/>
              </a:spcBef>
              <a:buClr>
                <a:schemeClr val="bg2"/>
              </a:buClr>
              <a:buSzPct val="75000"/>
              <a:buFont typeface="Wingdings" pitchFamily="2" charset="2"/>
              <a:buChar char="n"/>
            </a:pPr>
            <a:r>
              <a:rPr lang="en-US" sz="2400" dirty="0">
                <a:solidFill>
                  <a:srgbClr val="0000FF"/>
                </a:solidFill>
              </a:rPr>
              <a:t>Testing</a:t>
            </a:r>
          </a:p>
          <a:p>
            <a:pPr marL="742950" lvl="1" indent="-285750">
              <a:spcBef>
                <a:spcPct val="20000"/>
              </a:spcBef>
              <a:buClr>
                <a:schemeClr val="accent2"/>
              </a:buClr>
              <a:buSzPct val="80000"/>
              <a:buFont typeface="Wingdings" pitchFamily="2" charset="2"/>
              <a:buChar char="¨"/>
            </a:pPr>
            <a:r>
              <a:rPr lang="en-US" sz="2000" dirty="0"/>
              <a:t>To determine if a code contains errors.</a:t>
            </a:r>
          </a:p>
          <a:p>
            <a:pPr marL="342900" indent="-342900">
              <a:spcBef>
                <a:spcPct val="20000"/>
              </a:spcBef>
              <a:buClr>
                <a:schemeClr val="bg2"/>
              </a:buClr>
              <a:buSzPct val="75000"/>
              <a:buFont typeface="Wingdings" pitchFamily="2" charset="2"/>
              <a:buChar char="n"/>
            </a:pPr>
            <a:r>
              <a:rPr lang="en-US" sz="2400" dirty="0">
                <a:solidFill>
                  <a:srgbClr val="0000FF"/>
                </a:solidFill>
              </a:rPr>
              <a:t>Debugging</a:t>
            </a:r>
          </a:p>
          <a:p>
            <a:pPr marL="742950" lvl="1" indent="-285750">
              <a:spcBef>
                <a:spcPct val="20000"/>
              </a:spcBef>
              <a:buClr>
                <a:schemeClr val="accent2"/>
              </a:buClr>
              <a:buSzPct val="80000"/>
              <a:buFont typeface="Wingdings" pitchFamily="2" charset="2"/>
              <a:buChar char="¨"/>
            </a:pPr>
            <a:r>
              <a:rPr lang="en-US" sz="2000" dirty="0"/>
              <a:t>To locate the </a:t>
            </a:r>
            <a:r>
              <a:rPr lang="en-US" sz="2000" dirty="0" smtClean="0"/>
              <a:t>errors </a:t>
            </a:r>
            <a:r>
              <a:rPr lang="en-US" sz="2000" dirty="0"/>
              <a:t>and </a:t>
            </a:r>
            <a:r>
              <a:rPr lang="en-US" sz="2000" dirty="0" smtClean="0"/>
              <a:t>them.</a:t>
            </a:r>
            <a:endParaRPr lang="en-US" sz="2000" dirty="0"/>
          </a:p>
          <a:p>
            <a:pPr marL="342900" indent="-342900">
              <a:spcBef>
                <a:spcPct val="20000"/>
              </a:spcBef>
              <a:buClr>
                <a:schemeClr val="bg2"/>
              </a:buClr>
              <a:buSzPct val="75000"/>
              <a:buFont typeface="Wingdings" pitchFamily="2" charset="2"/>
              <a:buChar char="n"/>
            </a:pPr>
            <a:r>
              <a:rPr lang="en-US" sz="2400" dirty="0">
                <a:solidFill>
                  <a:srgbClr val="0000FF"/>
                </a:solidFill>
              </a:rPr>
              <a:t>Documentation</a:t>
            </a:r>
          </a:p>
          <a:p>
            <a:pPr marL="742950" lvl="1" indent="-285750">
              <a:spcBef>
                <a:spcPct val="20000"/>
              </a:spcBef>
              <a:buClr>
                <a:schemeClr val="accent2"/>
              </a:buClr>
              <a:buSzPct val="80000"/>
              <a:buFont typeface="Wingdings" pitchFamily="2" charset="2"/>
              <a:buChar char="¨"/>
            </a:pPr>
            <a:r>
              <a:rPr lang="en-US" sz="2000" dirty="0"/>
              <a:t>To improve maintainability of the code.</a:t>
            </a:r>
          </a:p>
          <a:p>
            <a:pPr marL="742950" lvl="1" indent="-285750">
              <a:spcBef>
                <a:spcPct val="20000"/>
              </a:spcBef>
              <a:buClr>
                <a:schemeClr val="accent2"/>
              </a:buClr>
              <a:buSzPct val="80000"/>
              <a:buFont typeface="Wingdings" pitchFamily="2" charset="2"/>
              <a:buChar char="¨"/>
            </a:pPr>
            <a:r>
              <a:rPr lang="en-US" sz="2000" dirty="0"/>
              <a:t>Include sensible comments, good coding style and clear logic.</a:t>
            </a:r>
          </a:p>
        </p:txBody>
      </p:sp>
      <p:grpSp>
        <p:nvGrpSpPr>
          <p:cNvPr id="2" name="Group 23"/>
          <p:cNvGrpSpPr>
            <a:grpSpLocks/>
          </p:cNvGrpSpPr>
          <p:nvPr/>
        </p:nvGrpSpPr>
        <p:grpSpPr bwMode="auto">
          <a:xfrm>
            <a:off x="2667000" y="4343400"/>
            <a:ext cx="4343400" cy="1676400"/>
            <a:chOff x="1728" y="2832"/>
            <a:chExt cx="2736" cy="1056"/>
          </a:xfrm>
        </p:grpSpPr>
        <p:grpSp>
          <p:nvGrpSpPr>
            <p:cNvPr id="3" name="Group 18"/>
            <p:cNvGrpSpPr>
              <a:grpSpLocks/>
            </p:cNvGrpSpPr>
            <p:nvPr/>
          </p:nvGrpSpPr>
          <p:grpSpPr bwMode="auto">
            <a:xfrm>
              <a:off x="1728" y="2880"/>
              <a:ext cx="1008" cy="432"/>
              <a:chOff x="1728" y="2880"/>
              <a:chExt cx="1008" cy="432"/>
            </a:xfrm>
          </p:grpSpPr>
          <p:sp>
            <p:nvSpPr>
              <p:cNvPr id="47124" name="Rectangle 17"/>
              <p:cNvSpPr>
                <a:spLocks noChangeArrowheads="1"/>
              </p:cNvSpPr>
              <p:nvPr/>
            </p:nvSpPr>
            <p:spPr bwMode="auto">
              <a:xfrm>
                <a:off x="1728" y="2880"/>
                <a:ext cx="1008" cy="432"/>
              </a:xfrm>
              <a:prstGeom prst="rect">
                <a:avLst/>
              </a:prstGeom>
              <a:solidFill>
                <a:srgbClr val="CCFFFF"/>
              </a:solidFill>
              <a:ln w="31750" cap="sq">
                <a:solidFill>
                  <a:srgbClr val="9900CC"/>
                </a:solidFill>
                <a:miter lim="800000"/>
                <a:headEnd type="none" w="sm" len="sm"/>
                <a:tailEnd type="none" w="sm" len="sm"/>
              </a:ln>
            </p:spPr>
            <p:txBody>
              <a:bodyPr wrap="none" anchor="ctr"/>
              <a:lstStyle/>
              <a:p>
                <a:endParaRPr lang="en-SG"/>
              </a:p>
            </p:txBody>
          </p:sp>
          <p:sp>
            <p:nvSpPr>
              <p:cNvPr id="47125" name="Text Box 18"/>
              <p:cNvSpPr txBox="1">
                <a:spLocks noChangeArrowheads="1"/>
              </p:cNvSpPr>
              <p:nvPr/>
            </p:nvSpPr>
            <p:spPr bwMode="auto">
              <a:xfrm>
                <a:off x="1896" y="2976"/>
                <a:ext cx="672" cy="231"/>
              </a:xfrm>
              <a:prstGeom prst="rect">
                <a:avLst/>
              </a:prstGeom>
              <a:noFill/>
              <a:ln w="12700" cap="sq">
                <a:noFill/>
                <a:miter lim="800000"/>
                <a:headEnd type="none" w="sm" len="sm"/>
                <a:tailEnd type="none" w="sm" len="sm"/>
              </a:ln>
            </p:spPr>
            <p:txBody>
              <a:bodyPr>
                <a:spAutoFit/>
              </a:bodyPr>
              <a:lstStyle/>
              <a:p>
                <a:pPr algn="ctr">
                  <a:spcBef>
                    <a:spcPct val="50000"/>
                  </a:spcBef>
                </a:pPr>
                <a:r>
                  <a:rPr lang="en-US" b="1"/>
                  <a:t>Testing</a:t>
                </a:r>
              </a:p>
            </p:txBody>
          </p:sp>
        </p:grpSp>
        <p:sp>
          <p:nvSpPr>
            <p:cNvPr id="47112" name="Text Box 19"/>
            <p:cNvSpPr txBox="1">
              <a:spLocks noChangeArrowheads="1"/>
            </p:cNvSpPr>
            <p:nvPr/>
          </p:nvSpPr>
          <p:spPr bwMode="auto">
            <a:xfrm>
              <a:off x="3888" y="3408"/>
              <a:ext cx="480" cy="185"/>
            </a:xfrm>
            <a:prstGeom prst="rect">
              <a:avLst/>
            </a:prstGeom>
            <a:noFill/>
            <a:ln w="12700" cap="sq">
              <a:noFill/>
              <a:miter lim="800000"/>
              <a:headEnd type="none" w="sm" len="sm"/>
              <a:tailEnd type="none" w="sm" len="sm"/>
            </a:ln>
          </p:spPr>
          <p:txBody>
            <a:bodyPr lIns="9144" tIns="9144" rIns="9144" bIns="9144">
              <a:spAutoFit/>
            </a:bodyPr>
            <a:lstStyle/>
            <a:p>
              <a:pPr algn="ctr">
                <a:spcBef>
                  <a:spcPct val="50000"/>
                </a:spcBef>
              </a:pPr>
              <a:r>
                <a:rPr lang="en-US" b="1"/>
                <a:t>Yes</a:t>
              </a:r>
            </a:p>
          </p:txBody>
        </p:sp>
        <p:grpSp>
          <p:nvGrpSpPr>
            <p:cNvPr id="4" name="Group 20"/>
            <p:cNvGrpSpPr>
              <a:grpSpLocks/>
            </p:cNvGrpSpPr>
            <p:nvPr/>
          </p:nvGrpSpPr>
          <p:grpSpPr bwMode="auto">
            <a:xfrm>
              <a:off x="3312" y="2832"/>
              <a:ext cx="1152" cy="576"/>
              <a:chOff x="2640" y="2928"/>
              <a:chExt cx="1152" cy="576"/>
            </a:xfrm>
          </p:grpSpPr>
          <p:sp>
            <p:nvSpPr>
              <p:cNvPr id="47122" name="AutoShape 21"/>
              <p:cNvSpPr>
                <a:spLocks noChangeArrowheads="1"/>
              </p:cNvSpPr>
              <p:nvPr/>
            </p:nvSpPr>
            <p:spPr bwMode="auto">
              <a:xfrm>
                <a:off x="2640" y="2928"/>
                <a:ext cx="1152" cy="576"/>
              </a:xfrm>
              <a:prstGeom prst="diamond">
                <a:avLst/>
              </a:prstGeom>
              <a:solidFill>
                <a:srgbClr val="CCFFCC"/>
              </a:solidFill>
              <a:ln w="31750" cap="sq">
                <a:solidFill>
                  <a:srgbClr val="9900CC"/>
                </a:solidFill>
                <a:miter lim="800000"/>
                <a:headEnd type="none" w="sm" len="sm"/>
                <a:tailEnd type="none" w="sm" len="sm"/>
              </a:ln>
            </p:spPr>
            <p:txBody>
              <a:bodyPr wrap="none" anchor="ctr"/>
              <a:lstStyle/>
              <a:p>
                <a:endParaRPr lang="en-SG"/>
              </a:p>
            </p:txBody>
          </p:sp>
          <p:sp>
            <p:nvSpPr>
              <p:cNvPr id="47123" name="Text Box 22"/>
              <p:cNvSpPr txBox="1">
                <a:spLocks noChangeArrowheads="1"/>
              </p:cNvSpPr>
              <p:nvPr/>
            </p:nvSpPr>
            <p:spPr bwMode="auto">
              <a:xfrm>
                <a:off x="2880" y="3072"/>
                <a:ext cx="672" cy="231"/>
              </a:xfrm>
              <a:prstGeom prst="rect">
                <a:avLst/>
              </a:prstGeom>
              <a:noFill/>
              <a:ln w="12700" cap="sq">
                <a:noFill/>
                <a:miter lim="800000"/>
                <a:headEnd type="none" w="sm" len="sm"/>
                <a:tailEnd type="none" w="sm" len="sm"/>
              </a:ln>
            </p:spPr>
            <p:txBody>
              <a:bodyPr>
                <a:spAutoFit/>
              </a:bodyPr>
              <a:lstStyle/>
              <a:p>
                <a:pPr algn="ctr">
                  <a:spcBef>
                    <a:spcPct val="50000"/>
                  </a:spcBef>
                </a:pPr>
                <a:r>
                  <a:rPr lang="en-US" b="1"/>
                  <a:t>Error?</a:t>
                </a:r>
              </a:p>
            </p:txBody>
          </p:sp>
        </p:grpSp>
        <p:sp>
          <p:nvSpPr>
            <p:cNvPr id="47114" name="Line 23"/>
            <p:cNvSpPr>
              <a:spLocks noChangeShapeType="1"/>
            </p:cNvSpPr>
            <p:nvPr/>
          </p:nvSpPr>
          <p:spPr bwMode="auto">
            <a:xfrm>
              <a:off x="2736" y="3120"/>
              <a:ext cx="528" cy="0"/>
            </a:xfrm>
            <a:prstGeom prst="line">
              <a:avLst/>
            </a:prstGeom>
            <a:noFill/>
            <a:ln w="31750" cap="sq">
              <a:solidFill>
                <a:schemeClr val="tx1"/>
              </a:solidFill>
              <a:round/>
              <a:headEnd type="none" w="sm" len="sm"/>
              <a:tailEnd type="triangle" w="med" len="med"/>
            </a:ln>
          </p:spPr>
          <p:txBody>
            <a:bodyPr/>
            <a:lstStyle/>
            <a:p>
              <a:endParaRPr lang="en-US"/>
            </a:p>
          </p:txBody>
        </p:sp>
        <p:sp>
          <p:nvSpPr>
            <p:cNvPr id="47115" name="Line 24"/>
            <p:cNvSpPr>
              <a:spLocks noChangeShapeType="1"/>
            </p:cNvSpPr>
            <p:nvPr/>
          </p:nvSpPr>
          <p:spPr bwMode="auto">
            <a:xfrm>
              <a:off x="3888" y="3408"/>
              <a:ext cx="0" cy="288"/>
            </a:xfrm>
            <a:prstGeom prst="line">
              <a:avLst/>
            </a:prstGeom>
            <a:noFill/>
            <a:ln w="31750" cap="sq">
              <a:solidFill>
                <a:schemeClr val="tx1"/>
              </a:solidFill>
              <a:round/>
              <a:headEnd type="none" w="sm" len="sm"/>
              <a:tailEnd type="none" w="sm" len="sm"/>
            </a:ln>
          </p:spPr>
          <p:txBody>
            <a:bodyPr/>
            <a:lstStyle/>
            <a:p>
              <a:endParaRPr lang="en-US"/>
            </a:p>
          </p:txBody>
        </p:sp>
        <p:sp>
          <p:nvSpPr>
            <p:cNvPr id="47116" name="Line 25"/>
            <p:cNvSpPr>
              <a:spLocks noChangeShapeType="1"/>
            </p:cNvSpPr>
            <p:nvPr/>
          </p:nvSpPr>
          <p:spPr bwMode="auto">
            <a:xfrm>
              <a:off x="2208" y="3696"/>
              <a:ext cx="288" cy="0"/>
            </a:xfrm>
            <a:prstGeom prst="line">
              <a:avLst/>
            </a:prstGeom>
            <a:noFill/>
            <a:ln w="31750" cap="sq">
              <a:solidFill>
                <a:schemeClr val="tx1"/>
              </a:solidFill>
              <a:round/>
              <a:headEnd type="none" w="sm" len="sm"/>
              <a:tailEnd type="none" w="sm" len="sm"/>
            </a:ln>
          </p:spPr>
          <p:txBody>
            <a:bodyPr/>
            <a:lstStyle/>
            <a:p>
              <a:endParaRPr lang="en-US"/>
            </a:p>
          </p:txBody>
        </p:sp>
        <p:sp>
          <p:nvSpPr>
            <p:cNvPr id="47117" name="Line 26"/>
            <p:cNvSpPr>
              <a:spLocks noChangeShapeType="1"/>
            </p:cNvSpPr>
            <p:nvPr/>
          </p:nvSpPr>
          <p:spPr bwMode="auto">
            <a:xfrm flipV="1">
              <a:off x="2208" y="3312"/>
              <a:ext cx="0" cy="384"/>
            </a:xfrm>
            <a:prstGeom prst="line">
              <a:avLst/>
            </a:prstGeom>
            <a:noFill/>
            <a:ln w="31750" cap="sq">
              <a:solidFill>
                <a:schemeClr val="tx1"/>
              </a:solidFill>
              <a:round/>
              <a:headEnd type="none" w="sm" len="sm"/>
              <a:tailEnd type="triangle" w="med" len="med"/>
            </a:ln>
          </p:spPr>
          <p:txBody>
            <a:bodyPr/>
            <a:lstStyle/>
            <a:p>
              <a:endParaRPr lang="en-US"/>
            </a:p>
          </p:txBody>
        </p:sp>
        <p:grpSp>
          <p:nvGrpSpPr>
            <p:cNvPr id="5" name="Group 19"/>
            <p:cNvGrpSpPr>
              <a:grpSpLocks/>
            </p:cNvGrpSpPr>
            <p:nvPr/>
          </p:nvGrpSpPr>
          <p:grpSpPr bwMode="auto">
            <a:xfrm>
              <a:off x="2544" y="3456"/>
              <a:ext cx="1008" cy="432"/>
              <a:chOff x="1728" y="2880"/>
              <a:chExt cx="1008" cy="432"/>
            </a:xfrm>
          </p:grpSpPr>
          <p:sp>
            <p:nvSpPr>
              <p:cNvPr id="47120" name="Rectangle 17"/>
              <p:cNvSpPr>
                <a:spLocks noChangeArrowheads="1"/>
              </p:cNvSpPr>
              <p:nvPr/>
            </p:nvSpPr>
            <p:spPr bwMode="auto">
              <a:xfrm>
                <a:off x="1728" y="2880"/>
                <a:ext cx="1008" cy="432"/>
              </a:xfrm>
              <a:prstGeom prst="rect">
                <a:avLst/>
              </a:prstGeom>
              <a:solidFill>
                <a:srgbClr val="CCFFFF"/>
              </a:solidFill>
              <a:ln w="31750" cap="sq">
                <a:solidFill>
                  <a:srgbClr val="9900CC"/>
                </a:solidFill>
                <a:miter lim="800000"/>
                <a:headEnd type="none" w="sm" len="sm"/>
                <a:tailEnd type="none" w="sm" len="sm"/>
              </a:ln>
            </p:spPr>
            <p:txBody>
              <a:bodyPr wrap="none" anchor="ctr"/>
              <a:lstStyle/>
              <a:p>
                <a:endParaRPr lang="en-SG"/>
              </a:p>
            </p:txBody>
          </p:sp>
          <p:sp>
            <p:nvSpPr>
              <p:cNvPr id="47121" name="Text Box 18"/>
              <p:cNvSpPr txBox="1">
                <a:spLocks noChangeArrowheads="1"/>
              </p:cNvSpPr>
              <p:nvPr/>
            </p:nvSpPr>
            <p:spPr bwMode="auto">
              <a:xfrm>
                <a:off x="1896" y="2976"/>
                <a:ext cx="672" cy="231"/>
              </a:xfrm>
              <a:prstGeom prst="rect">
                <a:avLst/>
              </a:prstGeom>
              <a:noFill/>
              <a:ln w="12700" cap="sq">
                <a:noFill/>
                <a:miter lim="800000"/>
                <a:headEnd type="none" w="sm" len="sm"/>
                <a:tailEnd type="none" w="sm" len="sm"/>
              </a:ln>
            </p:spPr>
            <p:txBody>
              <a:bodyPr>
                <a:spAutoFit/>
              </a:bodyPr>
              <a:lstStyle/>
              <a:p>
                <a:pPr algn="ctr">
                  <a:spcBef>
                    <a:spcPct val="50000"/>
                  </a:spcBef>
                </a:pPr>
                <a:r>
                  <a:rPr lang="en-US" b="1"/>
                  <a:t>Debug</a:t>
                </a:r>
              </a:p>
            </p:txBody>
          </p:sp>
        </p:grpSp>
        <p:sp>
          <p:nvSpPr>
            <p:cNvPr id="47119" name="Line 25"/>
            <p:cNvSpPr>
              <a:spLocks noChangeShapeType="1"/>
            </p:cNvSpPr>
            <p:nvPr/>
          </p:nvSpPr>
          <p:spPr bwMode="auto">
            <a:xfrm>
              <a:off x="3552" y="3696"/>
              <a:ext cx="336" cy="0"/>
            </a:xfrm>
            <a:prstGeom prst="line">
              <a:avLst/>
            </a:prstGeom>
            <a:noFill/>
            <a:ln w="31750" cap="sq">
              <a:solidFill>
                <a:schemeClr val="tx1"/>
              </a:solidFill>
              <a:round/>
              <a:headEnd type="triangle" w="med" len="med"/>
              <a:tailEnd type="none" w="sm" len="sm"/>
            </a:ln>
          </p:spPr>
          <p:txBody>
            <a:bodyPr/>
            <a:lstStyle/>
            <a:p>
              <a:endParaRPr lang="en-US"/>
            </a:p>
          </p:txBody>
        </p:sp>
      </p:grpSp>
      <p:sp>
        <p:nvSpPr>
          <p:cNvPr id="47110" name="Title 21"/>
          <p:cNvSpPr>
            <a:spLocks noGrp="1"/>
          </p:cNvSpPr>
          <p:nvPr>
            <p:ph type="title"/>
          </p:nvPr>
        </p:nvSpPr>
        <p:spPr/>
        <p:txBody>
          <a:bodyPr/>
          <a:lstStyle/>
          <a:p>
            <a:r>
              <a:rPr lang="en-US" sz="4000" dirty="0" smtClean="0">
                <a:solidFill>
                  <a:srgbClr val="9933FF"/>
                </a:solidFill>
                <a:latin typeface="Garamond" pitchFamily="18" charset="0"/>
              </a:rPr>
              <a:t>2. Testing and Debugging (2/8)</a:t>
            </a:r>
            <a:endParaRPr lang="en-US" sz="4000" dirty="0" smtClean="0"/>
          </a:p>
        </p:txBody>
      </p:sp>
      <p:sp>
        <p:nvSpPr>
          <p:cNvPr id="23" name="Slide Number Placeholder 7"/>
          <p:cNvSpPr>
            <a:spLocks noGrp="1"/>
          </p:cNvSpPr>
          <p:nvPr>
            <p:ph type="sldNum" sz="quarter" idx="12"/>
          </p:nvPr>
        </p:nvSpPr>
        <p:spPr/>
        <p:txBody>
          <a:bodyPr/>
          <a:lstStyle/>
          <a:p>
            <a:pPr>
              <a:defRPr/>
            </a:pPr>
            <a:r>
              <a:rPr smtClean="0">
                <a:cs typeface="Arial" pitchFamily="34" charset="0"/>
              </a:rPr>
              <a:t>Week6 - </a:t>
            </a:r>
            <a:fld id="{1B6AEB12-5058-478E-AE33-581B50F3D75D}" type="slidenum">
              <a:rPr smtClean="0">
                <a:cs typeface="Arial" pitchFamily="34" charset="0"/>
              </a:rPr>
              <a:pPr>
                <a:defRPr/>
              </a:pPr>
              <a:t>5</a:t>
            </a:fld>
            <a:endParaRPr smtClean="0">
              <a:cs typeface="Arial" pitchFamily="34" charset="0"/>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p:cNvSpPr>
            <a:spLocks noGrp="1"/>
          </p:cNvSpPr>
          <p:nvPr>
            <p:ph type="title"/>
          </p:nvPr>
        </p:nvSpPr>
        <p:spPr/>
        <p:txBody>
          <a:bodyPr/>
          <a:lstStyle/>
          <a:p>
            <a:r>
              <a:rPr lang="en-US" sz="4000" dirty="0" smtClean="0">
                <a:solidFill>
                  <a:srgbClr val="9933FF"/>
                </a:solidFill>
                <a:latin typeface="Garamond" pitchFamily="18" charset="0"/>
              </a:rPr>
              <a:t>2. Testing and Debugging (3/8)</a:t>
            </a:r>
            <a:endParaRPr lang="en-US" sz="4000" dirty="0" smtClean="0"/>
          </a:p>
        </p:txBody>
      </p:sp>
      <p:sp>
        <p:nvSpPr>
          <p:cNvPr id="8" name="Slide Number Placeholder 7"/>
          <p:cNvSpPr>
            <a:spLocks noGrp="1"/>
          </p:cNvSpPr>
          <p:nvPr>
            <p:ph type="sldNum" sz="quarter" idx="12"/>
          </p:nvPr>
        </p:nvSpPr>
        <p:spPr/>
        <p:txBody>
          <a:bodyPr/>
          <a:lstStyle/>
          <a:p>
            <a:pPr>
              <a:defRPr/>
            </a:pPr>
            <a:r>
              <a:rPr smtClean="0">
                <a:cs typeface="Arial" pitchFamily="34" charset="0"/>
              </a:rPr>
              <a:t>Week6 - </a:t>
            </a:r>
            <a:fld id="{1B6AEB12-5058-478E-AE33-581B50F3D75D}" type="slidenum">
              <a:rPr smtClean="0">
                <a:cs typeface="Arial" pitchFamily="34" charset="0"/>
              </a:rPr>
              <a:pPr>
                <a:defRPr/>
              </a:pPr>
              <a:t>6</a:t>
            </a:fld>
            <a:endParaRPr smtClean="0">
              <a:cs typeface="Arial" pitchFamily="34" charset="0"/>
            </a:endParaRPr>
          </a:p>
        </p:txBody>
      </p:sp>
      <p:sp>
        <p:nvSpPr>
          <p:cNvPr id="7" name="Content Placeholder 2"/>
          <p:cNvSpPr>
            <a:spLocks noGrp="1"/>
          </p:cNvSpPr>
          <p:nvPr>
            <p:ph sz="quarter" idx="1"/>
          </p:nvPr>
        </p:nvSpPr>
        <p:spPr/>
        <p:txBody>
          <a:bodyPr>
            <a:normAutofit/>
          </a:bodyPr>
          <a:lstStyle/>
          <a:p>
            <a:r>
              <a:rPr lang="en-US" sz="2400" dirty="0" smtClean="0"/>
              <a:t>Philosophical notes on program design, debugging and testing</a:t>
            </a:r>
          </a:p>
          <a:p>
            <a:pPr lvl="1">
              <a:spcBef>
                <a:spcPts val="1200"/>
              </a:spcBef>
            </a:pPr>
            <a:r>
              <a:rPr lang="en-US" sz="2000" dirty="0" smtClean="0">
                <a:solidFill>
                  <a:srgbClr val="0000FF"/>
                </a:solidFill>
              </a:rPr>
              <a:t>A good design is important</a:t>
            </a:r>
            <a:r>
              <a:rPr lang="en-US" sz="2000" dirty="0" smtClean="0"/>
              <a:t/>
            </a:r>
            <a:br>
              <a:rPr lang="en-US" sz="2000" dirty="0" smtClean="0"/>
            </a:br>
            <a:r>
              <a:rPr lang="en-US" sz="2000" dirty="0" smtClean="0"/>
              <a:t>A good design results in a high quality program. A low quality design cannot be “debugged into” high quality.</a:t>
            </a:r>
          </a:p>
          <a:p>
            <a:pPr lvl="1">
              <a:spcBef>
                <a:spcPts val="1200"/>
              </a:spcBef>
            </a:pPr>
            <a:r>
              <a:rPr lang="en-US" sz="2000" dirty="0" smtClean="0">
                <a:solidFill>
                  <a:srgbClr val="0000FF"/>
                </a:solidFill>
              </a:rPr>
              <a:t>Don’t optimize for speed too early</a:t>
            </a:r>
            <a:r>
              <a:rPr lang="en-US" sz="2000" dirty="0" smtClean="0"/>
              <a:t/>
            </a:r>
            <a:br>
              <a:rPr lang="en-US" sz="2000" dirty="0" smtClean="0"/>
            </a:br>
            <a:r>
              <a:rPr lang="en-US" sz="2000" dirty="0" smtClean="0"/>
              <a:t>It is possible to make a correct program run faster.</a:t>
            </a:r>
            <a:br>
              <a:rPr lang="en-US" sz="2000" dirty="0" smtClean="0"/>
            </a:br>
            <a:r>
              <a:rPr lang="en-US" sz="2000" dirty="0" smtClean="0"/>
              <a:t>It is much more difficult to make a fast (but wrong) program run correctly. </a:t>
            </a:r>
          </a:p>
        </p:txBody>
      </p:sp>
    </p:spTree>
  </p:cSld>
  <p:clrMapOvr>
    <a:masterClrMapping/>
  </p:clrMapOvr>
  <p:transition>
    <p:fad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p:cNvSpPr>
            <a:spLocks noGrp="1"/>
          </p:cNvSpPr>
          <p:nvPr>
            <p:ph type="title"/>
          </p:nvPr>
        </p:nvSpPr>
        <p:spPr/>
        <p:txBody>
          <a:bodyPr/>
          <a:lstStyle/>
          <a:p>
            <a:r>
              <a:rPr lang="en-US" sz="4000" dirty="0" smtClean="0">
                <a:solidFill>
                  <a:srgbClr val="9933FF"/>
                </a:solidFill>
                <a:latin typeface="Garamond" pitchFamily="18" charset="0"/>
              </a:rPr>
              <a:t>2. Testing and Debugging (4/8)</a:t>
            </a:r>
            <a:endParaRPr lang="en-US" sz="4000" dirty="0" smtClean="0"/>
          </a:p>
        </p:txBody>
      </p:sp>
      <p:sp>
        <p:nvSpPr>
          <p:cNvPr id="8" name="Slide Number Placeholder 7"/>
          <p:cNvSpPr>
            <a:spLocks noGrp="1"/>
          </p:cNvSpPr>
          <p:nvPr>
            <p:ph type="sldNum" sz="quarter" idx="12"/>
          </p:nvPr>
        </p:nvSpPr>
        <p:spPr/>
        <p:txBody>
          <a:bodyPr/>
          <a:lstStyle/>
          <a:p>
            <a:pPr>
              <a:defRPr/>
            </a:pPr>
            <a:r>
              <a:rPr smtClean="0">
                <a:cs typeface="Arial" pitchFamily="34" charset="0"/>
              </a:rPr>
              <a:t>Week6 - </a:t>
            </a:r>
            <a:fld id="{1B6AEB12-5058-478E-AE33-581B50F3D75D}" type="slidenum">
              <a:rPr smtClean="0">
                <a:cs typeface="Arial" pitchFamily="34" charset="0"/>
              </a:rPr>
              <a:pPr>
                <a:defRPr/>
              </a:pPr>
              <a:t>7</a:t>
            </a:fld>
            <a:endParaRPr smtClean="0">
              <a:cs typeface="Arial" pitchFamily="34" charset="0"/>
            </a:endParaRPr>
          </a:p>
        </p:txBody>
      </p:sp>
      <p:sp>
        <p:nvSpPr>
          <p:cNvPr id="7" name="Content Placeholder 2"/>
          <p:cNvSpPr>
            <a:spLocks noGrp="1"/>
          </p:cNvSpPr>
          <p:nvPr>
            <p:ph sz="quarter" idx="1"/>
          </p:nvPr>
        </p:nvSpPr>
        <p:spPr/>
        <p:txBody>
          <a:bodyPr>
            <a:normAutofit/>
          </a:bodyPr>
          <a:lstStyle/>
          <a:p>
            <a:pPr lvl="1"/>
            <a:r>
              <a:rPr lang="en-US" sz="2000" dirty="0" smtClean="0"/>
              <a:t>A program should be </a:t>
            </a:r>
            <a:r>
              <a:rPr lang="en-US" sz="2000" dirty="0" smtClean="0">
                <a:solidFill>
                  <a:srgbClr val="0000FF"/>
                </a:solidFill>
              </a:rPr>
              <a:t>tested with various input values </a:t>
            </a:r>
            <a:r>
              <a:rPr lang="en-US" sz="2000" dirty="0" smtClean="0"/>
              <a:t>to make sure that it performs correctly across all inputs.</a:t>
            </a:r>
          </a:p>
          <a:p>
            <a:pPr lvl="1">
              <a:spcBef>
                <a:spcPts val="1200"/>
              </a:spcBef>
            </a:pPr>
            <a:r>
              <a:rPr lang="en-US" sz="2000" dirty="0" smtClean="0"/>
              <a:t>A program should make </a:t>
            </a:r>
            <a:r>
              <a:rPr lang="en-US" sz="2000" dirty="0" smtClean="0">
                <a:solidFill>
                  <a:srgbClr val="0000FF"/>
                </a:solidFill>
              </a:rPr>
              <a:t>as few assumptions about the input </a:t>
            </a:r>
            <a:r>
              <a:rPr lang="en-US" sz="2000" dirty="0" smtClean="0"/>
              <a:t>as possible.</a:t>
            </a:r>
          </a:p>
          <a:p>
            <a:pPr lvl="2"/>
            <a:r>
              <a:rPr lang="en-US" sz="1800" dirty="0" smtClean="0"/>
              <a:t>E.g.: Your program assumes that the user will type a number. But she types a string </a:t>
            </a:r>
            <a:r>
              <a:rPr lang="en-US" sz="1800" dirty="0" smtClean="0">
                <a:sym typeface="Wingdings" pitchFamily="2" charset="2"/>
              </a:rPr>
              <a:t></a:t>
            </a:r>
            <a:r>
              <a:rPr lang="en-US" sz="1800" dirty="0" smtClean="0"/>
              <a:t> crash!</a:t>
            </a:r>
          </a:p>
          <a:p>
            <a:pPr lvl="2"/>
            <a:r>
              <a:rPr lang="en-US" sz="1800" dirty="0" smtClean="0"/>
              <a:t>However, in CS1010 we assume that input follows the specification. We do this to focus on the basics first. Writing robust programs is not trivial.</a:t>
            </a:r>
          </a:p>
          <a:p>
            <a:pPr lvl="1">
              <a:spcBef>
                <a:spcPts val="1200"/>
              </a:spcBef>
            </a:pPr>
            <a:r>
              <a:rPr lang="en-US" sz="2000" dirty="0" smtClean="0"/>
              <a:t>Many of today’s methods to hack into computers work by feeding programs with </a:t>
            </a:r>
            <a:r>
              <a:rPr lang="en-US" sz="2000" dirty="0" smtClean="0">
                <a:solidFill>
                  <a:srgbClr val="0000FF"/>
                </a:solidFill>
              </a:rPr>
              <a:t>unexpected inputs</a:t>
            </a:r>
            <a:r>
              <a:rPr lang="en-US" sz="2000" dirty="0" smtClean="0"/>
              <a:t>. This results in crashes, buffer overflows, etc.</a:t>
            </a:r>
          </a:p>
        </p:txBody>
      </p:sp>
    </p:spTree>
  </p:cSld>
  <p:clrMapOvr>
    <a:masterClrMapping/>
  </p:clrMapOvr>
  <p:transition>
    <p:fad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p:cNvSpPr>
            <a:spLocks noGrp="1"/>
          </p:cNvSpPr>
          <p:nvPr>
            <p:ph type="title"/>
          </p:nvPr>
        </p:nvSpPr>
        <p:spPr/>
        <p:txBody>
          <a:bodyPr/>
          <a:lstStyle/>
          <a:p>
            <a:r>
              <a:rPr lang="en-US" sz="4000" dirty="0" smtClean="0">
                <a:solidFill>
                  <a:srgbClr val="9933FF"/>
                </a:solidFill>
                <a:latin typeface="Garamond" pitchFamily="18" charset="0"/>
              </a:rPr>
              <a:t>2. Testing and Debugging (5/8)</a:t>
            </a:r>
            <a:endParaRPr lang="en-US" sz="4000" dirty="0" smtClean="0"/>
          </a:p>
        </p:txBody>
      </p:sp>
      <p:sp>
        <p:nvSpPr>
          <p:cNvPr id="8" name="Slide Number Placeholder 7"/>
          <p:cNvSpPr>
            <a:spLocks noGrp="1"/>
          </p:cNvSpPr>
          <p:nvPr>
            <p:ph type="sldNum" sz="quarter" idx="12"/>
          </p:nvPr>
        </p:nvSpPr>
        <p:spPr/>
        <p:txBody>
          <a:bodyPr/>
          <a:lstStyle/>
          <a:p>
            <a:pPr>
              <a:defRPr/>
            </a:pPr>
            <a:r>
              <a:rPr smtClean="0">
                <a:cs typeface="Arial" pitchFamily="34" charset="0"/>
              </a:rPr>
              <a:t>Week6 - </a:t>
            </a:r>
            <a:fld id="{1B6AEB12-5058-478E-AE33-581B50F3D75D}" type="slidenum">
              <a:rPr smtClean="0">
                <a:cs typeface="Arial" pitchFamily="34" charset="0"/>
              </a:rPr>
              <a:pPr>
                <a:defRPr/>
              </a:pPr>
              <a:t>8</a:t>
            </a:fld>
            <a:endParaRPr smtClean="0">
              <a:cs typeface="Arial" pitchFamily="34" charset="0"/>
            </a:endParaRPr>
          </a:p>
        </p:txBody>
      </p:sp>
      <p:sp>
        <p:nvSpPr>
          <p:cNvPr id="33795" name="Content Placeholder 2"/>
          <p:cNvSpPr>
            <a:spLocks noGrp="1"/>
          </p:cNvSpPr>
          <p:nvPr>
            <p:ph sz="quarter" idx="1"/>
          </p:nvPr>
        </p:nvSpPr>
        <p:spPr>
          <a:xfrm>
            <a:off x="914400" y="1828800"/>
            <a:ext cx="7477125" cy="4495800"/>
          </a:xfrm>
        </p:spPr>
        <p:txBody>
          <a:bodyPr/>
          <a:lstStyle/>
          <a:p>
            <a:r>
              <a:rPr lang="en-US" sz="2400" dirty="0" smtClean="0">
                <a:solidFill>
                  <a:srgbClr val="0000FF"/>
                </a:solidFill>
              </a:rPr>
              <a:t>By user/programmer:</a:t>
            </a:r>
          </a:p>
          <a:p>
            <a:pPr lvl="1"/>
            <a:r>
              <a:rPr lang="en-US" sz="2000" dirty="0" smtClean="0"/>
              <a:t>Run program by hand multiple times.</a:t>
            </a:r>
          </a:p>
          <a:p>
            <a:pPr>
              <a:spcBef>
                <a:spcPts val="1200"/>
              </a:spcBef>
            </a:pPr>
            <a:r>
              <a:rPr lang="en-US" sz="2400" dirty="0" smtClean="0">
                <a:solidFill>
                  <a:srgbClr val="0000FF"/>
                </a:solidFill>
              </a:rPr>
              <a:t>By test program:</a:t>
            </a:r>
          </a:p>
          <a:p>
            <a:pPr lvl="1"/>
            <a:r>
              <a:rPr lang="en-US" sz="2000" dirty="0" smtClean="0"/>
              <a:t>Write a little test program that runs the program to be tested with different inputs.</a:t>
            </a:r>
          </a:p>
          <a:p>
            <a:pPr>
              <a:spcBef>
                <a:spcPts val="1200"/>
              </a:spcBef>
            </a:pPr>
            <a:r>
              <a:rPr lang="en-US" sz="2400" dirty="0" smtClean="0">
                <a:solidFill>
                  <a:srgbClr val="0000FF"/>
                </a:solidFill>
              </a:rPr>
              <a:t>By test environments:</a:t>
            </a:r>
          </a:p>
          <a:p>
            <a:pPr lvl="1"/>
            <a:r>
              <a:rPr lang="en-US" sz="2000" dirty="0" smtClean="0"/>
              <a:t>Large-scale test suites that generate test cases, run them, compare the expected output and provide a pass/fail assessment.</a:t>
            </a:r>
          </a:p>
        </p:txBody>
      </p:sp>
      <p:sp>
        <p:nvSpPr>
          <p:cNvPr id="50182" name="TextBox 5"/>
          <p:cNvSpPr txBox="1">
            <a:spLocks noChangeArrowheads="1"/>
          </p:cNvSpPr>
          <p:nvPr/>
        </p:nvSpPr>
        <p:spPr bwMode="auto">
          <a:xfrm>
            <a:off x="677863" y="1282700"/>
            <a:ext cx="2508250" cy="523875"/>
          </a:xfrm>
          <a:prstGeom prst="rect">
            <a:avLst/>
          </a:prstGeom>
          <a:noFill/>
          <a:ln w="9525">
            <a:noFill/>
            <a:miter lim="800000"/>
            <a:headEnd/>
            <a:tailEnd/>
          </a:ln>
        </p:spPr>
        <p:txBody>
          <a:bodyPr>
            <a:spAutoFit/>
          </a:bodyPr>
          <a:lstStyle/>
          <a:p>
            <a:r>
              <a:rPr lang="en-US" sz="2800" dirty="0"/>
              <a:t>How to </a:t>
            </a:r>
            <a:r>
              <a:rPr lang="en-US" sz="2800" dirty="0" smtClean="0"/>
              <a:t>test?</a:t>
            </a:r>
            <a:endParaRPr lang="en-US" sz="2800" dirty="0"/>
          </a:p>
        </p:txBody>
      </p:sp>
    </p:spTree>
  </p:cSld>
  <p:clrMapOvr>
    <a:masterClrMapping/>
  </p:clrMapOvr>
  <p:transition>
    <p:fad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8"/>
          <p:cNvSpPr>
            <a:spLocks noChangeArrowheads="1"/>
          </p:cNvSpPr>
          <p:nvPr/>
        </p:nvSpPr>
        <p:spPr bwMode="auto">
          <a:xfrm>
            <a:off x="674688" y="1250950"/>
            <a:ext cx="7908925" cy="4975225"/>
          </a:xfrm>
          <a:prstGeom prst="rect">
            <a:avLst/>
          </a:prstGeom>
          <a:noFill/>
          <a:ln w="9525">
            <a:noFill/>
            <a:miter lim="800000"/>
            <a:headEnd/>
            <a:tailEnd/>
          </a:ln>
        </p:spPr>
        <p:txBody>
          <a:bodyPr/>
          <a:lstStyle/>
          <a:p>
            <a:pPr marL="342900" indent="-342900">
              <a:spcBef>
                <a:spcPct val="20000"/>
              </a:spcBef>
              <a:buClr>
                <a:schemeClr val="bg2"/>
              </a:buClr>
              <a:buSzPct val="75000"/>
              <a:buFont typeface="Wingdings" pitchFamily="2" charset="2"/>
              <a:buChar char="n"/>
            </a:pPr>
            <a:r>
              <a:rPr lang="en-US" sz="2400" dirty="0">
                <a:solidFill>
                  <a:srgbClr val="0000FF"/>
                </a:solidFill>
              </a:rPr>
              <a:t>Manual walkthroughs</a:t>
            </a:r>
          </a:p>
          <a:p>
            <a:pPr marL="742950" lvl="1" indent="-285750">
              <a:spcBef>
                <a:spcPct val="20000"/>
              </a:spcBef>
              <a:buClr>
                <a:schemeClr val="accent2"/>
              </a:buClr>
              <a:buSzPct val="80000"/>
              <a:buFont typeface="Wingdings" pitchFamily="2" charset="2"/>
              <a:buChar char="¨"/>
            </a:pPr>
            <a:r>
              <a:rPr lang="en-US" sz="2000" dirty="0"/>
              <a:t>Tracing with </a:t>
            </a:r>
            <a:r>
              <a:rPr lang="en-US" sz="2000" dirty="0" smtClean="0"/>
              <a:t>pencil-and-paper</a:t>
            </a:r>
            <a:endParaRPr lang="en-US" sz="2000" dirty="0"/>
          </a:p>
          <a:p>
            <a:pPr marL="742950" lvl="1" indent="-285750">
              <a:spcBef>
                <a:spcPct val="20000"/>
              </a:spcBef>
              <a:buClr>
                <a:schemeClr val="accent2"/>
              </a:buClr>
              <a:buSzPct val="80000"/>
              <a:buFont typeface="Wingdings" pitchFamily="2" charset="2"/>
              <a:buChar char="¨"/>
            </a:pPr>
            <a:r>
              <a:rPr lang="en-US" sz="2000" dirty="0"/>
              <a:t>Verbal </a:t>
            </a:r>
            <a:r>
              <a:rPr lang="en-US" sz="2000" dirty="0" smtClean="0"/>
              <a:t>walkthroughs</a:t>
            </a:r>
            <a:endParaRPr lang="en-US" sz="2000" dirty="0"/>
          </a:p>
          <a:p>
            <a:pPr marL="342900" indent="-342900">
              <a:spcBef>
                <a:spcPct val="20000"/>
              </a:spcBef>
              <a:buClr>
                <a:schemeClr val="bg2"/>
              </a:buClr>
              <a:buSzPct val="75000"/>
              <a:buFont typeface="Wingdings" pitchFamily="2" charset="2"/>
              <a:buChar char="n"/>
            </a:pPr>
            <a:r>
              <a:rPr lang="en-US" sz="2400" dirty="0" err="1" smtClean="0">
                <a:solidFill>
                  <a:srgbClr val="0000FF"/>
                </a:solidFill>
              </a:rPr>
              <a:t>printf</a:t>
            </a:r>
            <a:r>
              <a:rPr lang="en-US" sz="2400" dirty="0" smtClean="0">
                <a:solidFill>
                  <a:srgbClr val="0000FF"/>
                </a:solidFill>
              </a:rPr>
              <a:t>() </a:t>
            </a:r>
            <a:r>
              <a:rPr lang="en-US" sz="2400" dirty="0">
                <a:solidFill>
                  <a:srgbClr val="0000FF"/>
                </a:solidFill>
              </a:rPr>
              <a:t>statements</a:t>
            </a:r>
          </a:p>
          <a:p>
            <a:pPr marL="742950" lvl="1" indent="-285750">
              <a:spcBef>
                <a:spcPct val="20000"/>
              </a:spcBef>
              <a:buClr>
                <a:schemeClr val="accent2"/>
              </a:buClr>
              <a:buSzPct val="80000"/>
              <a:buFont typeface="Wingdings" pitchFamily="2" charset="2"/>
              <a:buChar char="¨"/>
            </a:pPr>
            <a:r>
              <a:rPr lang="en-US" sz="2000" dirty="0"/>
              <a:t>Easy to add</a:t>
            </a:r>
          </a:p>
          <a:p>
            <a:pPr marL="742950" lvl="1" indent="-285750">
              <a:spcBef>
                <a:spcPct val="20000"/>
              </a:spcBef>
              <a:buClr>
                <a:schemeClr val="accent2"/>
              </a:buClr>
              <a:buSzPct val="80000"/>
              <a:buFont typeface="Wingdings" pitchFamily="2" charset="2"/>
              <a:buChar char="¨"/>
            </a:pPr>
            <a:r>
              <a:rPr lang="en-US" sz="2000" dirty="0"/>
              <a:t>Provide information:</a:t>
            </a:r>
          </a:p>
          <a:p>
            <a:pPr marL="1143000" lvl="2" indent="-228600">
              <a:spcBef>
                <a:spcPct val="20000"/>
              </a:spcBef>
              <a:buClr>
                <a:schemeClr val="bg2"/>
              </a:buClr>
              <a:buSzPct val="65000"/>
              <a:buFont typeface="Wingdings" pitchFamily="2" charset="2"/>
              <a:buChar char="v"/>
            </a:pPr>
            <a:r>
              <a:rPr lang="en-US" dirty="0"/>
              <a:t>Which functions have been called</a:t>
            </a:r>
          </a:p>
          <a:p>
            <a:pPr marL="1143000" lvl="2" indent="-228600">
              <a:spcBef>
                <a:spcPct val="20000"/>
              </a:spcBef>
              <a:buClr>
                <a:schemeClr val="bg2"/>
              </a:buClr>
              <a:buSzPct val="65000"/>
              <a:buFont typeface="Wingdings" pitchFamily="2" charset="2"/>
              <a:buChar char="v"/>
            </a:pPr>
            <a:r>
              <a:rPr lang="en-US" dirty="0"/>
              <a:t>The value of parameters</a:t>
            </a:r>
          </a:p>
          <a:p>
            <a:pPr marL="1143000" lvl="2" indent="-228600">
              <a:spcBef>
                <a:spcPct val="20000"/>
              </a:spcBef>
              <a:buClr>
                <a:schemeClr val="bg2"/>
              </a:buClr>
              <a:buSzPct val="65000"/>
              <a:buFont typeface="Wingdings" pitchFamily="2" charset="2"/>
              <a:buChar char="v"/>
            </a:pPr>
            <a:r>
              <a:rPr lang="en-US" dirty="0"/>
              <a:t>The order in which functions have been called</a:t>
            </a:r>
          </a:p>
          <a:p>
            <a:pPr marL="1143000" lvl="2" indent="-228600">
              <a:spcBef>
                <a:spcPct val="20000"/>
              </a:spcBef>
              <a:buClr>
                <a:schemeClr val="bg2"/>
              </a:buClr>
              <a:buSzPct val="65000"/>
              <a:buFont typeface="Wingdings" pitchFamily="2" charset="2"/>
              <a:buChar char="v"/>
            </a:pPr>
            <a:r>
              <a:rPr lang="en-US" dirty="0"/>
              <a:t>The values of local variables and fields at strategic points</a:t>
            </a:r>
          </a:p>
          <a:p>
            <a:pPr marL="742950" lvl="1" indent="-285750">
              <a:spcBef>
                <a:spcPct val="20000"/>
              </a:spcBef>
              <a:buClr>
                <a:schemeClr val="accent2"/>
              </a:buClr>
              <a:buSzPct val="80000"/>
              <a:buFont typeface="Wingdings" pitchFamily="2" charset="2"/>
              <a:buChar char="¨"/>
            </a:pPr>
            <a:r>
              <a:rPr lang="en-US" sz="2000" dirty="0"/>
              <a:t>Disadvantages</a:t>
            </a:r>
          </a:p>
          <a:p>
            <a:pPr marL="1143000" lvl="2" indent="-228600">
              <a:spcBef>
                <a:spcPct val="20000"/>
              </a:spcBef>
              <a:buClr>
                <a:schemeClr val="bg2"/>
              </a:buClr>
              <a:buSzPct val="65000"/>
              <a:buFont typeface="Wingdings" pitchFamily="2" charset="2"/>
              <a:buChar char="v"/>
            </a:pPr>
            <a:r>
              <a:rPr lang="en-US" dirty="0"/>
              <a:t>Not practical to add </a:t>
            </a:r>
            <a:r>
              <a:rPr lang="en-US" dirty="0" err="1" smtClean="0"/>
              <a:t>printf</a:t>
            </a:r>
            <a:r>
              <a:rPr lang="en-US" dirty="0" smtClean="0"/>
              <a:t>() </a:t>
            </a:r>
            <a:r>
              <a:rPr lang="en-US" dirty="0"/>
              <a:t>statements in every function</a:t>
            </a:r>
          </a:p>
          <a:p>
            <a:pPr marL="1143000" lvl="2" indent="-228600">
              <a:spcBef>
                <a:spcPct val="20000"/>
              </a:spcBef>
              <a:buClr>
                <a:schemeClr val="bg2"/>
              </a:buClr>
              <a:buSzPct val="65000"/>
              <a:buFont typeface="Wingdings" pitchFamily="2" charset="2"/>
              <a:buChar char="v"/>
            </a:pPr>
            <a:r>
              <a:rPr lang="en-US" dirty="0"/>
              <a:t>Too many </a:t>
            </a:r>
            <a:r>
              <a:rPr lang="en-US" dirty="0" err="1" smtClean="0"/>
              <a:t>printf</a:t>
            </a:r>
            <a:r>
              <a:rPr lang="en-US" dirty="0" smtClean="0"/>
              <a:t>() </a:t>
            </a:r>
            <a:r>
              <a:rPr lang="en-US" dirty="0"/>
              <a:t>statements lead to information overload</a:t>
            </a:r>
          </a:p>
          <a:p>
            <a:pPr marL="1143000" lvl="2" indent="-228600">
              <a:spcBef>
                <a:spcPct val="20000"/>
              </a:spcBef>
              <a:buClr>
                <a:schemeClr val="bg2"/>
              </a:buClr>
              <a:buSzPct val="65000"/>
              <a:buFont typeface="Wingdings" pitchFamily="2" charset="2"/>
              <a:buChar char="v"/>
            </a:pPr>
            <a:r>
              <a:rPr lang="en-US" dirty="0"/>
              <a:t>Removal of </a:t>
            </a:r>
            <a:r>
              <a:rPr lang="en-US" dirty="0" err="1" smtClean="0"/>
              <a:t>printf</a:t>
            </a:r>
            <a:r>
              <a:rPr lang="en-US" dirty="0" smtClean="0"/>
              <a:t>() </a:t>
            </a:r>
            <a:r>
              <a:rPr lang="en-US" dirty="0"/>
              <a:t>statements tedious</a:t>
            </a:r>
          </a:p>
          <a:p>
            <a:pPr marL="742950" lvl="1" indent="-285750">
              <a:spcBef>
                <a:spcPct val="20000"/>
              </a:spcBef>
              <a:buClr>
                <a:schemeClr val="accent2"/>
              </a:buClr>
              <a:buSzPct val="80000"/>
              <a:buFont typeface="Wingdings" pitchFamily="2" charset="2"/>
              <a:buChar char="¨"/>
            </a:pPr>
            <a:endParaRPr lang="en-US" sz="2000" dirty="0"/>
          </a:p>
        </p:txBody>
      </p:sp>
      <p:sp>
        <p:nvSpPr>
          <p:cNvPr id="51205" name="Title 5"/>
          <p:cNvSpPr>
            <a:spLocks noGrp="1"/>
          </p:cNvSpPr>
          <p:nvPr>
            <p:ph type="title"/>
          </p:nvPr>
        </p:nvSpPr>
        <p:spPr/>
        <p:txBody>
          <a:bodyPr/>
          <a:lstStyle/>
          <a:p>
            <a:r>
              <a:rPr lang="en-US" sz="4000" dirty="0" smtClean="0">
                <a:solidFill>
                  <a:srgbClr val="9933FF"/>
                </a:solidFill>
                <a:latin typeface="Garamond" pitchFamily="18" charset="0"/>
              </a:rPr>
              <a:t>2. Testing and Debugging (6/8)</a:t>
            </a:r>
            <a:endParaRPr lang="en-US" sz="4000" dirty="0" smtClean="0"/>
          </a:p>
        </p:txBody>
      </p:sp>
      <p:sp>
        <p:nvSpPr>
          <p:cNvPr id="7" name="Slide Number Placeholder 7"/>
          <p:cNvSpPr>
            <a:spLocks noGrp="1"/>
          </p:cNvSpPr>
          <p:nvPr>
            <p:ph type="sldNum" sz="quarter" idx="12"/>
          </p:nvPr>
        </p:nvSpPr>
        <p:spPr/>
        <p:txBody>
          <a:bodyPr/>
          <a:lstStyle/>
          <a:p>
            <a:pPr>
              <a:defRPr/>
            </a:pPr>
            <a:r>
              <a:rPr smtClean="0">
                <a:cs typeface="Arial" pitchFamily="34" charset="0"/>
              </a:rPr>
              <a:t>Week6 - </a:t>
            </a:r>
            <a:fld id="{1B6AEB12-5058-478E-AE33-581B50F3D75D}" type="slidenum">
              <a:rPr smtClean="0">
                <a:cs typeface="Arial" pitchFamily="34" charset="0"/>
              </a:rPr>
              <a:pPr>
                <a:defRPr/>
              </a:pPr>
              <a:t>9</a:t>
            </a:fld>
            <a:endParaRPr smtClean="0">
              <a:cs typeface="Arial" pitchFamily="34" charset="0"/>
            </a:endParaRPr>
          </a:p>
        </p:txBody>
      </p:sp>
    </p:spTree>
  </p:cSld>
  <p:clrMapOvr>
    <a:masterClrMapping/>
  </p:clrMapOvr>
  <p:transition>
    <p:fad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8"/>
          <p:cNvSpPr>
            <a:spLocks noChangeArrowheads="1"/>
          </p:cNvSpPr>
          <p:nvPr/>
        </p:nvSpPr>
        <p:spPr bwMode="auto">
          <a:xfrm>
            <a:off x="609600" y="1481138"/>
            <a:ext cx="7908925" cy="4846637"/>
          </a:xfrm>
          <a:prstGeom prst="rect">
            <a:avLst/>
          </a:prstGeom>
          <a:noFill/>
          <a:ln w="9525">
            <a:noFill/>
            <a:miter lim="800000"/>
            <a:headEnd/>
            <a:tailEnd/>
          </a:ln>
        </p:spPr>
        <p:txBody>
          <a:bodyPr/>
          <a:lstStyle/>
          <a:p>
            <a:pPr marL="342900" indent="-342900">
              <a:spcBef>
                <a:spcPct val="20000"/>
              </a:spcBef>
              <a:buClr>
                <a:schemeClr val="bg2"/>
              </a:buClr>
              <a:buSzPct val="75000"/>
              <a:buFont typeface="Wingdings" pitchFamily="2" charset="2"/>
              <a:buChar char="n"/>
            </a:pPr>
            <a:r>
              <a:rPr lang="en-US" sz="2400" dirty="0">
                <a:solidFill>
                  <a:srgbClr val="0000FF"/>
                </a:solidFill>
              </a:rPr>
              <a:t>Tips and Techniques</a:t>
            </a:r>
          </a:p>
          <a:p>
            <a:pPr marL="742950" lvl="1" indent="-285750">
              <a:spcBef>
                <a:spcPct val="20000"/>
              </a:spcBef>
              <a:buClr>
                <a:schemeClr val="accent2"/>
              </a:buClr>
              <a:buSzPct val="80000"/>
              <a:buFont typeface="Wingdings" pitchFamily="2" charset="2"/>
              <a:buChar char="¨"/>
            </a:pPr>
            <a:r>
              <a:rPr lang="en-US" sz="2000" dirty="0"/>
              <a:t>Start off with a working algorithm</a:t>
            </a:r>
          </a:p>
          <a:p>
            <a:pPr marL="742950" lvl="1" indent="-285750">
              <a:spcBef>
                <a:spcPct val="20000"/>
              </a:spcBef>
              <a:buClr>
                <a:schemeClr val="accent2"/>
              </a:buClr>
              <a:buSzPct val="80000"/>
              <a:buFont typeface="Wingdings" pitchFamily="2" charset="2"/>
              <a:buChar char="¨"/>
            </a:pPr>
            <a:r>
              <a:rPr lang="en-US" sz="2000" dirty="0"/>
              <a:t>Incremental coding/test early/fix bugs as you find them</a:t>
            </a:r>
          </a:p>
          <a:p>
            <a:pPr marL="742950" lvl="1" indent="-285750">
              <a:spcBef>
                <a:spcPct val="20000"/>
              </a:spcBef>
              <a:buClr>
                <a:schemeClr val="accent2"/>
              </a:buClr>
              <a:buSzPct val="80000"/>
              <a:buFont typeface="Wingdings" pitchFamily="2" charset="2"/>
              <a:buChar char="¨"/>
            </a:pPr>
            <a:r>
              <a:rPr lang="en-US" sz="2000" dirty="0"/>
              <a:t>Simplify the problem</a:t>
            </a:r>
          </a:p>
          <a:p>
            <a:pPr marL="742950" lvl="1" indent="-285750">
              <a:spcBef>
                <a:spcPct val="20000"/>
              </a:spcBef>
              <a:buClr>
                <a:schemeClr val="accent2"/>
              </a:buClr>
              <a:buSzPct val="80000"/>
              <a:buFont typeface="Wingdings" pitchFamily="2" charset="2"/>
              <a:buChar char="¨"/>
            </a:pPr>
            <a:r>
              <a:rPr lang="en-US" sz="2000" dirty="0"/>
              <a:t>Explain the bug to someone else</a:t>
            </a:r>
          </a:p>
          <a:p>
            <a:pPr marL="742950" lvl="1" indent="-285750">
              <a:spcBef>
                <a:spcPct val="20000"/>
              </a:spcBef>
              <a:buClr>
                <a:schemeClr val="accent2"/>
              </a:buClr>
              <a:buSzPct val="80000"/>
              <a:buFont typeface="Wingdings" pitchFamily="2" charset="2"/>
              <a:buChar char="¨"/>
            </a:pPr>
            <a:r>
              <a:rPr lang="en-US" sz="2000" dirty="0"/>
              <a:t>Recognize common errors (such as using ‘=’ instead of ‘==’, </a:t>
            </a:r>
            <a:r>
              <a:rPr lang="en-US" sz="2000" dirty="0" smtClean="0"/>
              <a:t>wrong addition of semi-colon, infinite </a:t>
            </a:r>
            <a:r>
              <a:rPr lang="en-US" sz="2000" dirty="0"/>
              <a:t>loop, etc.)</a:t>
            </a:r>
          </a:p>
          <a:p>
            <a:pPr marL="742950" lvl="1" indent="-285750">
              <a:spcBef>
                <a:spcPct val="20000"/>
              </a:spcBef>
              <a:buClr>
                <a:schemeClr val="accent2"/>
              </a:buClr>
              <a:buSzPct val="80000"/>
              <a:buFont typeface="Wingdings" pitchFamily="2" charset="2"/>
              <a:buChar char="¨"/>
            </a:pPr>
            <a:r>
              <a:rPr lang="en-US" sz="2000" dirty="0"/>
              <a:t>Recompile </a:t>
            </a:r>
            <a:r>
              <a:rPr lang="en-US" sz="2000" dirty="0" smtClean="0"/>
              <a:t>everything (referring to a suite of programs)</a:t>
            </a:r>
            <a:endParaRPr lang="en-US" sz="2000" dirty="0"/>
          </a:p>
          <a:p>
            <a:pPr marL="742950" lvl="1" indent="-285750">
              <a:spcBef>
                <a:spcPct val="20000"/>
              </a:spcBef>
              <a:buClr>
                <a:schemeClr val="accent2"/>
              </a:buClr>
              <a:buSzPct val="80000"/>
              <a:buFont typeface="Wingdings" pitchFamily="2" charset="2"/>
              <a:buChar char="¨"/>
            </a:pPr>
            <a:r>
              <a:rPr lang="en-US" sz="2000" dirty="0"/>
              <a:t>Test </a:t>
            </a:r>
            <a:r>
              <a:rPr lang="en-US" sz="2000" dirty="0" smtClean="0"/>
              <a:t>boundaries</a:t>
            </a:r>
          </a:p>
          <a:p>
            <a:pPr marL="1200150" lvl="2" indent="-285750">
              <a:spcBef>
                <a:spcPct val="20000"/>
              </a:spcBef>
              <a:buClr>
                <a:schemeClr val="accent2"/>
              </a:buClr>
              <a:buSzPct val="80000"/>
              <a:buFont typeface="Wingdings" pitchFamily="2" charset="2"/>
              <a:buChar char="¨"/>
            </a:pPr>
            <a:r>
              <a:rPr lang="en-US" dirty="0" err="1" smtClean="0"/>
              <a:t>Eg</a:t>
            </a:r>
            <a:r>
              <a:rPr lang="en-US" dirty="0" smtClean="0"/>
              <a:t>: For </a:t>
            </a:r>
            <a:r>
              <a:rPr lang="en-US" dirty="0" err="1" smtClean="0">
                <a:solidFill>
                  <a:srgbClr val="0000FF"/>
                </a:solidFill>
              </a:rPr>
              <a:t>primality</a:t>
            </a:r>
            <a:r>
              <a:rPr lang="en-US" dirty="0" smtClean="0">
                <a:solidFill>
                  <a:srgbClr val="0000FF"/>
                </a:solidFill>
              </a:rPr>
              <a:t> test </a:t>
            </a:r>
            <a:r>
              <a:rPr lang="en-US" dirty="0" smtClean="0"/>
              <a:t>(Week 5 Exercise 4), did you test your program with the value 1? 2?</a:t>
            </a:r>
            <a:endParaRPr lang="en-US" dirty="0"/>
          </a:p>
          <a:p>
            <a:pPr marL="742950" lvl="1" indent="-285750">
              <a:spcBef>
                <a:spcPct val="20000"/>
              </a:spcBef>
              <a:buClr>
                <a:schemeClr val="accent2"/>
              </a:buClr>
              <a:buSzPct val="80000"/>
              <a:buFont typeface="Wingdings" pitchFamily="2" charset="2"/>
              <a:buChar char="¨"/>
            </a:pPr>
            <a:r>
              <a:rPr lang="en-US" sz="2000" dirty="0"/>
              <a:t>Test exceptional conditions</a:t>
            </a:r>
          </a:p>
          <a:p>
            <a:pPr marL="742950" lvl="1" indent="-285750">
              <a:spcBef>
                <a:spcPct val="20000"/>
              </a:spcBef>
              <a:buClr>
                <a:schemeClr val="accent2"/>
              </a:buClr>
              <a:buSzPct val="80000"/>
              <a:buFont typeface="Wingdings" pitchFamily="2" charset="2"/>
              <a:buChar char="¨"/>
            </a:pPr>
            <a:r>
              <a:rPr lang="en-US" sz="2000" dirty="0">
                <a:solidFill>
                  <a:srgbClr val="0000FF"/>
                </a:solidFill>
              </a:rPr>
              <a:t>Take a </a:t>
            </a:r>
            <a:r>
              <a:rPr lang="en-US" sz="2000" dirty="0" smtClean="0">
                <a:solidFill>
                  <a:srgbClr val="0000FF"/>
                </a:solidFill>
              </a:rPr>
              <a:t>break!</a:t>
            </a:r>
            <a:endParaRPr lang="en-US" sz="2400" dirty="0">
              <a:solidFill>
                <a:srgbClr val="0000FF"/>
              </a:solidFill>
            </a:endParaRPr>
          </a:p>
        </p:txBody>
      </p:sp>
      <p:sp>
        <p:nvSpPr>
          <p:cNvPr id="52229" name="Title 5"/>
          <p:cNvSpPr>
            <a:spLocks noGrp="1"/>
          </p:cNvSpPr>
          <p:nvPr>
            <p:ph type="title"/>
          </p:nvPr>
        </p:nvSpPr>
        <p:spPr/>
        <p:txBody>
          <a:bodyPr/>
          <a:lstStyle/>
          <a:p>
            <a:r>
              <a:rPr lang="en-US" sz="4000" dirty="0" smtClean="0">
                <a:solidFill>
                  <a:srgbClr val="9933FF"/>
                </a:solidFill>
                <a:latin typeface="Garamond" pitchFamily="18" charset="0"/>
              </a:rPr>
              <a:t>2. Testing and Debugging (7/8)</a:t>
            </a:r>
            <a:endParaRPr lang="en-US" sz="4000" dirty="0" smtClean="0"/>
          </a:p>
        </p:txBody>
      </p:sp>
      <p:sp>
        <p:nvSpPr>
          <p:cNvPr id="7" name="Slide Number Placeholder 7"/>
          <p:cNvSpPr>
            <a:spLocks noGrp="1"/>
          </p:cNvSpPr>
          <p:nvPr>
            <p:ph type="sldNum" sz="quarter" idx="12"/>
          </p:nvPr>
        </p:nvSpPr>
        <p:spPr/>
        <p:txBody>
          <a:bodyPr/>
          <a:lstStyle/>
          <a:p>
            <a:pPr>
              <a:defRPr/>
            </a:pPr>
            <a:r>
              <a:rPr smtClean="0">
                <a:cs typeface="Arial" pitchFamily="34" charset="0"/>
              </a:rPr>
              <a:t>Week6 - </a:t>
            </a:r>
            <a:fld id="{1B6AEB12-5058-478E-AE33-581B50F3D75D}" type="slidenum">
              <a:rPr smtClean="0">
                <a:cs typeface="Arial" pitchFamily="34" charset="0"/>
              </a:rPr>
              <a:pPr>
                <a:defRPr/>
              </a:pPr>
              <a:t>10</a:t>
            </a:fld>
            <a:endParaRPr smtClean="0">
              <a:cs typeface="Arial" pitchFamily="34" charset="0"/>
            </a:endParaRPr>
          </a:p>
        </p:txBody>
      </p:sp>
    </p:spTree>
  </p:cSld>
  <p:clrMapOvr>
    <a:masterClrMapping/>
  </p:clrMapOvr>
  <p:transition>
    <p:fad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8"/>
          <p:cNvSpPr>
            <a:spLocks noChangeArrowheads="1"/>
          </p:cNvSpPr>
          <p:nvPr/>
        </p:nvSpPr>
        <p:spPr bwMode="auto">
          <a:xfrm>
            <a:off x="838200" y="1354667"/>
            <a:ext cx="7908925" cy="4969933"/>
          </a:xfrm>
          <a:prstGeom prst="rect">
            <a:avLst/>
          </a:prstGeom>
          <a:noFill/>
          <a:ln w="9525">
            <a:noFill/>
            <a:miter lim="800000"/>
            <a:headEnd/>
            <a:tailEnd/>
          </a:ln>
        </p:spPr>
        <p:txBody>
          <a:bodyPr/>
          <a:lstStyle/>
          <a:p>
            <a:pPr marL="342900" indent="-342900">
              <a:spcBef>
                <a:spcPct val="20000"/>
              </a:spcBef>
              <a:buClr>
                <a:schemeClr val="bg2"/>
              </a:buClr>
              <a:buSzPct val="75000"/>
              <a:buFont typeface="Wingdings" pitchFamily="2" charset="2"/>
              <a:buChar char="n"/>
            </a:pPr>
            <a:r>
              <a:rPr lang="en-US" sz="2400" dirty="0"/>
              <a:t>Test your programs with your own data</a:t>
            </a:r>
          </a:p>
          <a:p>
            <a:pPr marL="800100" lvl="1" indent="-342900">
              <a:spcBef>
                <a:spcPct val="20000"/>
              </a:spcBef>
              <a:buClr>
                <a:schemeClr val="bg2"/>
              </a:buClr>
              <a:buSzPct val="75000"/>
              <a:buFont typeface="Wingdings" pitchFamily="2" charset="2"/>
              <a:buChar char="q"/>
            </a:pPr>
            <a:r>
              <a:rPr lang="en-US" sz="2000" dirty="0">
                <a:solidFill>
                  <a:srgbClr val="0000FF"/>
                </a:solidFill>
              </a:rPr>
              <a:t>Do not rely on </a:t>
            </a:r>
            <a:r>
              <a:rPr lang="en-US" sz="2000" dirty="0" err="1" smtClean="0">
                <a:solidFill>
                  <a:srgbClr val="0000FF"/>
                </a:solidFill>
              </a:rPr>
              <a:t>CodeCrunch</a:t>
            </a:r>
            <a:r>
              <a:rPr lang="en-US" sz="2000" dirty="0" smtClean="0">
                <a:solidFill>
                  <a:srgbClr val="0000FF"/>
                </a:solidFill>
              </a:rPr>
              <a:t> </a:t>
            </a:r>
            <a:r>
              <a:rPr lang="en-US" sz="2000" dirty="0"/>
              <a:t>to test your programs!</a:t>
            </a:r>
          </a:p>
          <a:p>
            <a:pPr marL="342900" indent="-342900">
              <a:spcBef>
                <a:spcPct val="20000"/>
              </a:spcBef>
              <a:buClr>
                <a:schemeClr val="bg2"/>
              </a:buClr>
              <a:buSzPct val="75000"/>
              <a:buFont typeface="Wingdings" pitchFamily="2" charset="2"/>
              <a:buChar char="n"/>
            </a:pPr>
            <a:r>
              <a:rPr lang="en-US" sz="2400" dirty="0"/>
              <a:t>We discussed this in week 4. There is an error in this code:</a:t>
            </a:r>
          </a:p>
        </p:txBody>
      </p:sp>
      <p:sp>
        <p:nvSpPr>
          <p:cNvPr id="6" name="Rectangle 5"/>
          <p:cNvSpPr>
            <a:spLocks noChangeArrowheads="1"/>
          </p:cNvSpPr>
          <p:nvPr/>
        </p:nvSpPr>
        <p:spPr bwMode="auto">
          <a:xfrm>
            <a:off x="1484313" y="3002845"/>
            <a:ext cx="5519737" cy="2086725"/>
          </a:xfrm>
          <a:prstGeom prst="rect">
            <a:avLst/>
          </a:prstGeom>
          <a:ln>
            <a:headEnd type="none" w="sm" len="sm"/>
            <a:tailEnd type="none" w="sm" len="sm"/>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wrap="square">
            <a:spAutoFit/>
          </a:bodyPr>
          <a:lstStyle/>
          <a:p>
            <a:pPr marL="233363" lvl="1">
              <a:lnSpc>
                <a:spcPct val="90000"/>
              </a:lnSpc>
              <a:spcBef>
                <a:spcPct val="40000"/>
              </a:spcBef>
              <a:buClr>
                <a:schemeClr val="accent2"/>
              </a:buClr>
              <a:buSzPct val="120000"/>
              <a:buFont typeface="Wingdings" pitchFamily="2" charset="2"/>
              <a:buNone/>
              <a:defRPr/>
            </a:pPr>
            <a:r>
              <a:rPr lang="en-GB" sz="1600" b="1" dirty="0">
                <a:solidFill>
                  <a:srgbClr val="C00000"/>
                </a:solidFill>
                <a:latin typeface="Courier New" pitchFamily="49" charset="0"/>
              </a:rPr>
              <a:t>// To find the maximum among 3 integer</a:t>
            </a:r>
            <a:br>
              <a:rPr lang="en-GB" sz="1600" b="1" dirty="0">
                <a:solidFill>
                  <a:srgbClr val="C00000"/>
                </a:solidFill>
                <a:latin typeface="Courier New" pitchFamily="49" charset="0"/>
              </a:rPr>
            </a:br>
            <a:r>
              <a:rPr lang="en-GB" sz="1600" b="1" dirty="0">
                <a:solidFill>
                  <a:srgbClr val="C00000"/>
                </a:solidFill>
                <a:latin typeface="Courier New" pitchFamily="49" charset="0"/>
              </a:rPr>
              <a:t>// values in variables num1, num2, num3.</a:t>
            </a:r>
            <a:br>
              <a:rPr lang="en-GB" sz="1600" b="1" dirty="0">
                <a:solidFill>
                  <a:srgbClr val="C00000"/>
                </a:solidFill>
                <a:latin typeface="Courier New" pitchFamily="49" charset="0"/>
              </a:rPr>
            </a:br>
            <a:r>
              <a:rPr lang="en-GB" sz="1600" b="1" dirty="0" err="1">
                <a:solidFill>
                  <a:srgbClr val="0000FF"/>
                </a:solidFill>
                <a:latin typeface="Courier New" pitchFamily="49" charset="0"/>
              </a:rPr>
              <a:t>int</a:t>
            </a:r>
            <a:r>
              <a:rPr lang="en-GB" sz="1600" b="1" dirty="0">
                <a:latin typeface="Courier New" pitchFamily="49" charset="0"/>
              </a:rPr>
              <a:t> max = </a:t>
            </a:r>
            <a:r>
              <a:rPr lang="en-GB" sz="1600" b="1" dirty="0">
                <a:solidFill>
                  <a:srgbClr val="006600"/>
                </a:solidFill>
                <a:latin typeface="Courier New" pitchFamily="49" charset="0"/>
              </a:rPr>
              <a:t>0</a:t>
            </a:r>
            <a:r>
              <a:rPr lang="en-GB" sz="1600" b="1" dirty="0">
                <a:latin typeface="Courier New" pitchFamily="49" charset="0"/>
              </a:rPr>
              <a:t>;</a:t>
            </a:r>
            <a:br>
              <a:rPr lang="en-GB" sz="1600" b="1" dirty="0">
                <a:latin typeface="Courier New" pitchFamily="49" charset="0"/>
              </a:rPr>
            </a:br>
            <a:r>
              <a:rPr lang="en-GB" sz="1600" b="1" dirty="0">
                <a:solidFill>
                  <a:srgbClr val="0000FF"/>
                </a:solidFill>
                <a:latin typeface="Courier New" pitchFamily="49" charset="0"/>
              </a:rPr>
              <a:t>if</a:t>
            </a:r>
            <a:r>
              <a:rPr lang="en-GB" sz="1600" b="1" dirty="0">
                <a:latin typeface="Courier New" pitchFamily="49" charset="0"/>
              </a:rPr>
              <a:t> </a:t>
            </a:r>
            <a:r>
              <a:rPr lang="en-GB" sz="1600" b="1" dirty="0" smtClean="0">
                <a:latin typeface="Courier New" pitchFamily="49" charset="0"/>
              </a:rPr>
              <a:t>((num1 </a:t>
            </a:r>
            <a:r>
              <a:rPr lang="en-GB" sz="1600" b="1" dirty="0">
                <a:latin typeface="Courier New" pitchFamily="49" charset="0"/>
              </a:rPr>
              <a:t>&gt; </a:t>
            </a:r>
            <a:r>
              <a:rPr lang="en-GB" sz="1600" b="1" dirty="0" smtClean="0">
                <a:latin typeface="Courier New" pitchFamily="49" charset="0"/>
              </a:rPr>
              <a:t>num2) </a:t>
            </a:r>
            <a:r>
              <a:rPr lang="en-GB" sz="1600" b="1" dirty="0">
                <a:latin typeface="Courier New" pitchFamily="49" charset="0"/>
              </a:rPr>
              <a:t>&amp;&amp; </a:t>
            </a:r>
            <a:r>
              <a:rPr lang="en-GB" sz="1600" b="1" dirty="0" smtClean="0">
                <a:latin typeface="Courier New" pitchFamily="49" charset="0"/>
              </a:rPr>
              <a:t>(num1 </a:t>
            </a:r>
            <a:r>
              <a:rPr lang="en-GB" sz="1600" b="1" dirty="0">
                <a:latin typeface="Courier New" pitchFamily="49" charset="0"/>
              </a:rPr>
              <a:t>&gt; </a:t>
            </a:r>
            <a:r>
              <a:rPr lang="en-GB" sz="1600" b="1" dirty="0" smtClean="0">
                <a:latin typeface="Courier New" pitchFamily="49" charset="0"/>
              </a:rPr>
              <a:t>num3))</a:t>
            </a:r>
            <a:r>
              <a:rPr lang="en-GB" sz="1600" b="1" dirty="0">
                <a:latin typeface="Courier New" pitchFamily="49" charset="0"/>
              </a:rPr>
              <a:t/>
            </a:r>
            <a:br>
              <a:rPr lang="en-GB" sz="1600" b="1" dirty="0">
                <a:latin typeface="Courier New" pitchFamily="49" charset="0"/>
              </a:rPr>
            </a:br>
            <a:r>
              <a:rPr lang="en-GB" sz="1600" b="1" dirty="0">
                <a:latin typeface="Courier New" pitchFamily="49" charset="0"/>
              </a:rPr>
              <a:t>  max = num1;</a:t>
            </a:r>
            <a:br>
              <a:rPr lang="en-GB" sz="1600" b="1" dirty="0">
                <a:latin typeface="Courier New" pitchFamily="49" charset="0"/>
              </a:rPr>
            </a:br>
            <a:r>
              <a:rPr lang="en-GB" sz="1600" b="1" dirty="0">
                <a:solidFill>
                  <a:srgbClr val="0000FF"/>
                </a:solidFill>
                <a:latin typeface="Courier New" pitchFamily="49" charset="0"/>
              </a:rPr>
              <a:t>if</a:t>
            </a:r>
            <a:r>
              <a:rPr lang="en-GB" sz="1600" b="1" dirty="0">
                <a:latin typeface="Courier New" pitchFamily="49" charset="0"/>
              </a:rPr>
              <a:t> </a:t>
            </a:r>
            <a:r>
              <a:rPr lang="en-GB" sz="1600" b="1" dirty="0" smtClean="0">
                <a:latin typeface="Courier New" pitchFamily="49" charset="0"/>
              </a:rPr>
              <a:t>((num2 </a:t>
            </a:r>
            <a:r>
              <a:rPr lang="en-GB" sz="1600" b="1" dirty="0">
                <a:latin typeface="Courier New" pitchFamily="49" charset="0"/>
              </a:rPr>
              <a:t>&gt; </a:t>
            </a:r>
            <a:r>
              <a:rPr lang="en-GB" sz="1600" b="1" dirty="0" smtClean="0">
                <a:latin typeface="Courier New" pitchFamily="49" charset="0"/>
              </a:rPr>
              <a:t>num1) </a:t>
            </a:r>
            <a:r>
              <a:rPr lang="en-GB" sz="1600" b="1" dirty="0">
                <a:latin typeface="Courier New" pitchFamily="49" charset="0"/>
              </a:rPr>
              <a:t>&amp;&amp; </a:t>
            </a:r>
            <a:r>
              <a:rPr lang="en-GB" sz="1600" b="1" dirty="0" smtClean="0">
                <a:latin typeface="Courier New" pitchFamily="49" charset="0"/>
              </a:rPr>
              <a:t>(num2 </a:t>
            </a:r>
            <a:r>
              <a:rPr lang="en-GB" sz="1600" b="1" dirty="0">
                <a:latin typeface="Courier New" pitchFamily="49" charset="0"/>
              </a:rPr>
              <a:t>&gt; </a:t>
            </a:r>
            <a:r>
              <a:rPr lang="en-GB" sz="1600" b="1" dirty="0" smtClean="0">
                <a:latin typeface="Courier New" pitchFamily="49" charset="0"/>
              </a:rPr>
              <a:t>num3))</a:t>
            </a:r>
            <a:r>
              <a:rPr lang="en-GB" sz="1600" b="1" dirty="0">
                <a:latin typeface="Courier New" pitchFamily="49" charset="0"/>
              </a:rPr>
              <a:t/>
            </a:r>
            <a:br>
              <a:rPr lang="en-GB" sz="1600" b="1" dirty="0">
                <a:latin typeface="Courier New" pitchFamily="49" charset="0"/>
              </a:rPr>
            </a:br>
            <a:r>
              <a:rPr lang="en-GB" sz="1600" b="1" dirty="0">
                <a:latin typeface="Courier New" pitchFamily="49" charset="0"/>
              </a:rPr>
              <a:t>  max = num2;</a:t>
            </a:r>
            <a:br>
              <a:rPr lang="en-GB" sz="1600" b="1" dirty="0">
                <a:latin typeface="Courier New" pitchFamily="49" charset="0"/>
              </a:rPr>
            </a:br>
            <a:r>
              <a:rPr lang="en-GB" sz="1600" b="1" dirty="0">
                <a:solidFill>
                  <a:srgbClr val="0000FF"/>
                </a:solidFill>
                <a:latin typeface="Courier New" pitchFamily="49" charset="0"/>
              </a:rPr>
              <a:t>if</a:t>
            </a:r>
            <a:r>
              <a:rPr lang="en-GB" sz="1600" b="1" dirty="0">
                <a:latin typeface="Courier New" pitchFamily="49" charset="0"/>
              </a:rPr>
              <a:t> </a:t>
            </a:r>
            <a:r>
              <a:rPr lang="en-GB" sz="1600" b="1" dirty="0" smtClean="0">
                <a:latin typeface="Courier New" pitchFamily="49" charset="0"/>
              </a:rPr>
              <a:t>((num3 </a:t>
            </a:r>
            <a:r>
              <a:rPr lang="en-GB" sz="1600" b="1" dirty="0">
                <a:latin typeface="Courier New" pitchFamily="49" charset="0"/>
              </a:rPr>
              <a:t>&gt; </a:t>
            </a:r>
            <a:r>
              <a:rPr lang="en-GB" sz="1600" b="1" dirty="0" smtClean="0">
                <a:latin typeface="Courier New" pitchFamily="49" charset="0"/>
              </a:rPr>
              <a:t>num1) </a:t>
            </a:r>
            <a:r>
              <a:rPr lang="en-GB" sz="1600" b="1" dirty="0">
                <a:latin typeface="Courier New" pitchFamily="49" charset="0"/>
              </a:rPr>
              <a:t>&amp;&amp; </a:t>
            </a:r>
            <a:r>
              <a:rPr lang="en-GB" sz="1600" b="1" dirty="0" smtClean="0">
                <a:latin typeface="Courier New" pitchFamily="49" charset="0"/>
              </a:rPr>
              <a:t>(num3 </a:t>
            </a:r>
            <a:r>
              <a:rPr lang="en-GB" sz="1600" b="1" dirty="0">
                <a:latin typeface="Courier New" pitchFamily="49" charset="0"/>
              </a:rPr>
              <a:t>&gt; num2</a:t>
            </a:r>
            <a:r>
              <a:rPr lang="en-GB" sz="1600" b="1" dirty="0" smtClean="0">
                <a:latin typeface="Courier New" pitchFamily="49" charset="0"/>
              </a:rPr>
              <a:t>))</a:t>
            </a:r>
            <a:r>
              <a:rPr lang="en-GB" sz="1600" b="1" dirty="0">
                <a:latin typeface="Courier New" pitchFamily="49" charset="0"/>
              </a:rPr>
              <a:t/>
            </a:r>
            <a:br>
              <a:rPr lang="en-GB" sz="1600" b="1" dirty="0">
                <a:latin typeface="Courier New" pitchFamily="49" charset="0"/>
              </a:rPr>
            </a:br>
            <a:r>
              <a:rPr lang="en-GB" sz="1600" b="1" dirty="0">
                <a:latin typeface="Courier New" pitchFamily="49" charset="0"/>
              </a:rPr>
              <a:t>  max = num3;</a:t>
            </a:r>
          </a:p>
        </p:txBody>
      </p:sp>
      <p:sp>
        <p:nvSpPr>
          <p:cNvPr id="7" name="Rectangle 44"/>
          <p:cNvSpPr>
            <a:spLocks noChangeArrowheads="1"/>
          </p:cNvSpPr>
          <p:nvPr/>
        </p:nvSpPr>
        <p:spPr bwMode="auto">
          <a:xfrm>
            <a:off x="919163" y="5219700"/>
            <a:ext cx="7983537" cy="1155700"/>
          </a:xfrm>
          <a:prstGeom prst="rect">
            <a:avLst/>
          </a:prstGeom>
          <a:noFill/>
          <a:ln w="9525">
            <a:noFill/>
            <a:miter lim="800000"/>
            <a:headEnd/>
            <a:tailEnd/>
          </a:ln>
        </p:spPr>
        <p:txBody>
          <a:bodyPr/>
          <a:lstStyle/>
          <a:p>
            <a:pPr marL="800100" lvl="1" indent="-342900">
              <a:spcBef>
                <a:spcPct val="20000"/>
              </a:spcBef>
              <a:buClr>
                <a:schemeClr val="bg2"/>
              </a:buClr>
              <a:buSzPct val="75000"/>
              <a:buFont typeface="Wingdings" pitchFamily="2" charset="2"/>
              <a:buChar char="q"/>
            </a:pPr>
            <a:r>
              <a:rPr lang="en-US" sz="2000" dirty="0"/>
              <a:t>It works fine if it is tested on some sets of data: &lt;3,5,9&gt;, &lt;12,1,6&gt;, &lt;2,7,4&gt;, </a:t>
            </a:r>
            <a:r>
              <a:rPr lang="en-US" sz="2000" dirty="0" smtClean="0"/>
              <a:t>etc.</a:t>
            </a:r>
            <a:endParaRPr lang="en-US" sz="2000" dirty="0"/>
          </a:p>
          <a:p>
            <a:pPr marL="800100" lvl="1" indent="-342900">
              <a:spcBef>
                <a:spcPct val="20000"/>
              </a:spcBef>
              <a:buClr>
                <a:schemeClr val="bg2"/>
              </a:buClr>
              <a:buSzPct val="75000"/>
              <a:buFont typeface="Wingdings" pitchFamily="2" charset="2"/>
              <a:buChar char="q"/>
            </a:pPr>
            <a:r>
              <a:rPr lang="en-US" sz="2000" dirty="0" smtClean="0"/>
              <a:t>But what test data are missing?</a:t>
            </a:r>
            <a:endParaRPr lang="en-US" sz="2000" dirty="0"/>
          </a:p>
        </p:txBody>
      </p:sp>
      <p:sp>
        <p:nvSpPr>
          <p:cNvPr id="57351" name="Title 8"/>
          <p:cNvSpPr>
            <a:spLocks noGrp="1"/>
          </p:cNvSpPr>
          <p:nvPr>
            <p:ph type="title"/>
          </p:nvPr>
        </p:nvSpPr>
        <p:spPr/>
        <p:txBody>
          <a:bodyPr>
            <a:normAutofit/>
          </a:bodyPr>
          <a:lstStyle/>
          <a:p>
            <a:pPr>
              <a:tabLst>
                <a:tab pos="3768725" algn="l"/>
              </a:tabLst>
            </a:pPr>
            <a:r>
              <a:rPr lang="en-US" sz="4000" dirty="0" smtClean="0">
                <a:solidFill>
                  <a:srgbClr val="9933FF"/>
                </a:solidFill>
                <a:latin typeface="Garamond" pitchFamily="18" charset="0"/>
              </a:rPr>
              <a:t>2. Testing </a:t>
            </a:r>
            <a:r>
              <a:rPr lang="en-US" dirty="0" smtClean="0"/>
              <a:t>and Debugging</a:t>
            </a:r>
            <a:r>
              <a:rPr lang="en-US" sz="4000" dirty="0" smtClean="0">
                <a:solidFill>
                  <a:srgbClr val="9933FF"/>
                </a:solidFill>
                <a:latin typeface="Garamond" pitchFamily="18" charset="0"/>
              </a:rPr>
              <a:t> (8/8)</a:t>
            </a:r>
          </a:p>
        </p:txBody>
      </p:sp>
      <p:sp>
        <p:nvSpPr>
          <p:cNvPr id="10" name="Slide Number Placeholder 7"/>
          <p:cNvSpPr>
            <a:spLocks noGrp="1"/>
          </p:cNvSpPr>
          <p:nvPr>
            <p:ph type="sldNum" sz="quarter" idx="12"/>
          </p:nvPr>
        </p:nvSpPr>
        <p:spPr/>
        <p:txBody>
          <a:bodyPr/>
          <a:lstStyle/>
          <a:p>
            <a:pPr>
              <a:defRPr/>
            </a:pPr>
            <a:r>
              <a:rPr smtClean="0">
                <a:cs typeface="Arial" pitchFamily="34" charset="0"/>
              </a:rPr>
              <a:t>Week6 - </a:t>
            </a:r>
            <a:fld id="{1B6AEB12-5058-478E-AE33-581B50F3D75D}" type="slidenum">
              <a:rPr smtClean="0">
                <a:cs typeface="Arial" pitchFamily="34" charset="0"/>
              </a:rPr>
              <a:pPr>
                <a:defRPr/>
              </a:pPr>
              <a:t>11</a:t>
            </a:fld>
            <a:endParaRPr smtClean="0">
              <a:cs typeface="Arial" pitchFamily="34" charset="0"/>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dissolve">
                                      <p:cBhvr>
                                        <p:cTn id="1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8"/>
          <p:cNvSpPr>
            <a:spLocks noChangeArrowheads="1"/>
          </p:cNvSpPr>
          <p:nvPr/>
        </p:nvSpPr>
        <p:spPr bwMode="auto">
          <a:xfrm>
            <a:off x="640080" y="1414463"/>
            <a:ext cx="7970520" cy="4910137"/>
          </a:xfrm>
          <a:prstGeom prst="rect">
            <a:avLst/>
          </a:prstGeom>
          <a:noFill/>
          <a:ln w="9525">
            <a:noFill/>
            <a:miter lim="800000"/>
            <a:headEnd/>
            <a:tailEnd/>
          </a:ln>
        </p:spPr>
        <p:txBody>
          <a:bodyPr/>
          <a:lstStyle/>
          <a:p>
            <a:pPr marL="342900" indent="-342900">
              <a:spcBef>
                <a:spcPct val="20000"/>
              </a:spcBef>
              <a:buClr>
                <a:schemeClr val="bg2"/>
              </a:buClr>
              <a:buSzPct val="75000"/>
              <a:buFont typeface="Wingdings" pitchFamily="2" charset="2"/>
              <a:buChar char="n"/>
            </a:pPr>
            <a:r>
              <a:rPr lang="en-US" sz="2800" dirty="0"/>
              <a:t>Debugger usually provides the following</a:t>
            </a:r>
          </a:p>
          <a:p>
            <a:pPr marL="800100" lvl="1" indent="-342900">
              <a:spcBef>
                <a:spcPct val="20000"/>
              </a:spcBef>
              <a:buClr>
                <a:schemeClr val="bg2"/>
              </a:buClr>
              <a:buSzPct val="75000"/>
              <a:buFont typeface="Wingdings" pitchFamily="2" charset="2"/>
              <a:buChar char="q"/>
            </a:pPr>
            <a:r>
              <a:rPr lang="en-US" sz="2400" dirty="0">
                <a:solidFill>
                  <a:srgbClr val="0000FF"/>
                </a:solidFill>
              </a:rPr>
              <a:t>Stepping</a:t>
            </a:r>
          </a:p>
          <a:p>
            <a:pPr marL="800100" lvl="1" indent="-342900">
              <a:spcBef>
                <a:spcPct val="20000"/>
              </a:spcBef>
              <a:buClr>
                <a:schemeClr val="bg2"/>
              </a:buClr>
              <a:buSzPct val="75000"/>
              <a:buFont typeface="Wingdings" pitchFamily="2" charset="2"/>
              <a:buChar char="q"/>
            </a:pPr>
            <a:r>
              <a:rPr lang="en-US" sz="2400" dirty="0">
                <a:solidFill>
                  <a:srgbClr val="0000FF"/>
                </a:solidFill>
              </a:rPr>
              <a:t>Breakpoint</a:t>
            </a:r>
          </a:p>
          <a:p>
            <a:pPr marL="800100" lvl="1" indent="-342900">
              <a:spcBef>
                <a:spcPct val="20000"/>
              </a:spcBef>
              <a:buClr>
                <a:schemeClr val="bg2"/>
              </a:buClr>
              <a:buSzPct val="75000"/>
              <a:buFont typeface="Wingdings" pitchFamily="2" charset="2"/>
              <a:buChar char="q"/>
            </a:pPr>
            <a:r>
              <a:rPr lang="en-US" sz="2400" dirty="0">
                <a:solidFill>
                  <a:srgbClr val="0000FF"/>
                </a:solidFill>
              </a:rPr>
              <a:t>Watches (inspecting variables)</a:t>
            </a:r>
          </a:p>
          <a:p>
            <a:pPr marL="342900" indent="-342900">
              <a:spcBef>
                <a:spcPts val="1800"/>
              </a:spcBef>
              <a:buClr>
                <a:schemeClr val="bg2"/>
              </a:buClr>
              <a:buSzPct val="75000"/>
              <a:buFont typeface="Wingdings" pitchFamily="2" charset="2"/>
              <a:buChar char="n"/>
            </a:pPr>
            <a:r>
              <a:rPr lang="en-US" sz="2800" dirty="0"/>
              <a:t>We will illustrate these with Gnu debugger </a:t>
            </a:r>
            <a:r>
              <a:rPr lang="en-US" sz="2800" dirty="0" err="1">
                <a:solidFill>
                  <a:srgbClr val="0000FF"/>
                </a:solidFill>
              </a:rPr>
              <a:t>gdb</a:t>
            </a:r>
            <a:r>
              <a:rPr lang="en-US" sz="2800" dirty="0" smtClean="0"/>
              <a:t>.</a:t>
            </a:r>
          </a:p>
          <a:p>
            <a:pPr marL="800100" lvl="1" indent="-342900">
              <a:spcBef>
                <a:spcPts val="1800"/>
              </a:spcBef>
              <a:buClr>
                <a:schemeClr val="bg2"/>
              </a:buClr>
              <a:buSzPct val="75000"/>
              <a:buFont typeface="Wingdings" pitchFamily="2" charset="2"/>
              <a:buChar char="n"/>
            </a:pPr>
            <a:r>
              <a:rPr lang="en-US" sz="2400" dirty="0" smtClean="0"/>
              <a:t>See video </a:t>
            </a:r>
            <a:br>
              <a:rPr lang="en-US" sz="2400" dirty="0" smtClean="0"/>
            </a:br>
            <a:r>
              <a:rPr lang="en-US" sz="2400" dirty="0" smtClean="0">
                <a:hlinkClick r:id="rId3"/>
              </a:rPr>
              <a:t>http://www.youtube.com/watch?v=Z6zMxp6r4mc</a:t>
            </a:r>
            <a:r>
              <a:rPr lang="en-US" sz="2400" dirty="0" smtClean="0"/>
              <a:t> </a:t>
            </a:r>
            <a:endParaRPr lang="en-US" sz="2400" dirty="0"/>
          </a:p>
        </p:txBody>
      </p:sp>
      <p:sp>
        <p:nvSpPr>
          <p:cNvPr id="60421" name="Title 5"/>
          <p:cNvSpPr>
            <a:spLocks noGrp="1"/>
          </p:cNvSpPr>
          <p:nvPr>
            <p:ph type="title"/>
          </p:nvPr>
        </p:nvSpPr>
        <p:spPr/>
        <p:txBody>
          <a:bodyPr>
            <a:normAutofit/>
          </a:bodyPr>
          <a:lstStyle/>
          <a:p>
            <a:r>
              <a:rPr lang="en-US" sz="4000" dirty="0" smtClean="0">
                <a:solidFill>
                  <a:srgbClr val="9933FF"/>
                </a:solidFill>
                <a:latin typeface="Garamond" pitchFamily="18" charset="0"/>
              </a:rPr>
              <a:t>2.1 Using </a:t>
            </a:r>
            <a:r>
              <a:rPr lang="en-US" dirty="0" smtClean="0"/>
              <a:t>the </a:t>
            </a:r>
            <a:r>
              <a:rPr lang="en-US" dirty="0" err="1" smtClean="0"/>
              <a:t>gdb</a:t>
            </a:r>
            <a:r>
              <a:rPr lang="en-US" dirty="0" smtClean="0"/>
              <a:t> Debugger (</a:t>
            </a:r>
            <a:r>
              <a:rPr lang="en-US" sz="4000" dirty="0" smtClean="0">
                <a:solidFill>
                  <a:srgbClr val="9933FF"/>
                </a:solidFill>
                <a:latin typeface="Garamond" pitchFamily="18" charset="0"/>
              </a:rPr>
              <a:t>1/2)</a:t>
            </a:r>
          </a:p>
        </p:txBody>
      </p:sp>
      <p:sp>
        <p:nvSpPr>
          <p:cNvPr id="7" name="Slide Number Placeholder 7"/>
          <p:cNvSpPr>
            <a:spLocks noGrp="1"/>
          </p:cNvSpPr>
          <p:nvPr>
            <p:ph type="sldNum" sz="quarter" idx="12"/>
          </p:nvPr>
        </p:nvSpPr>
        <p:spPr/>
        <p:txBody>
          <a:bodyPr/>
          <a:lstStyle/>
          <a:p>
            <a:pPr>
              <a:defRPr/>
            </a:pPr>
            <a:r>
              <a:rPr smtClean="0">
                <a:cs typeface="Arial" pitchFamily="34" charset="0"/>
              </a:rPr>
              <a:t>Week6 - </a:t>
            </a:r>
            <a:fld id="{1B6AEB12-5058-478E-AE33-581B50F3D75D}" type="slidenum">
              <a:rPr smtClean="0">
                <a:cs typeface="Arial" pitchFamily="34" charset="0"/>
              </a:rPr>
              <a:pPr>
                <a:defRPr/>
              </a:pPr>
              <a:t>12</a:t>
            </a:fld>
            <a:endParaRPr smtClean="0">
              <a:cs typeface="Arial" pitchFamily="34" charset="0"/>
            </a:endParaRPr>
          </a:p>
        </p:txBody>
      </p:sp>
    </p:spTree>
  </p:cSld>
  <p:clrMapOvr>
    <a:masterClrMapping/>
  </p:clrMapOvr>
  <p:transition>
    <p:fad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itle 1"/>
          <p:cNvSpPr>
            <a:spLocks noGrp="1"/>
          </p:cNvSpPr>
          <p:nvPr>
            <p:ph type="title"/>
          </p:nvPr>
        </p:nvSpPr>
        <p:spPr/>
        <p:txBody>
          <a:bodyPr/>
          <a:lstStyle/>
          <a:p>
            <a:r>
              <a:rPr lang="en-US" sz="4000" dirty="0" smtClean="0">
                <a:solidFill>
                  <a:srgbClr val="9933FF"/>
                </a:solidFill>
                <a:latin typeface="Garamond" pitchFamily="18" charset="0"/>
              </a:rPr>
              <a:t>2.1 Using the </a:t>
            </a:r>
            <a:r>
              <a:rPr lang="en-US" sz="4000" dirty="0" err="1" smtClean="0">
                <a:solidFill>
                  <a:srgbClr val="9933FF"/>
                </a:solidFill>
                <a:latin typeface="Garamond" pitchFamily="18" charset="0"/>
              </a:rPr>
              <a:t>gdb</a:t>
            </a:r>
            <a:r>
              <a:rPr lang="en-US" sz="4000" dirty="0" smtClean="0">
                <a:solidFill>
                  <a:srgbClr val="9933FF"/>
                </a:solidFill>
                <a:latin typeface="Garamond" pitchFamily="18" charset="0"/>
              </a:rPr>
              <a:t> Debugger (2/2)</a:t>
            </a:r>
          </a:p>
        </p:txBody>
      </p:sp>
      <p:sp>
        <p:nvSpPr>
          <p:cNvPr id="8" name="Slide Number Placeholder 7"/>
          <p:cNvSpPr>
            <a:spLocks noGrp="1"/>
          </p:cNvSpPr>
          <p:nvPr>
            <p:ph type="sldNum" sz="quarter" idx="12"/>
          </p:nvPr>
        </p:nvSpPr>
        <p:spPr/>
        <p:txBody>
          <a:bodyPr/>
          <a:lstStyle/>
          <a:p>
            <a:pPr>
              <a:defRPr/>
            </a:pPr>
            <a:r>
              <a:rPr smtClean="0">
                <a:cs typeface="Arial" pitchFamily="34" charset="0"/>
              </a:rPr>
              <a:t>Week6 - </a:t>
            </a:r>
            <a:fld id="{1B6AEB12-5058-478E-AE33-581B50F3D75D}" type="slidenum">
              <a:rPr smtClean="0">
                <a:cs typeface="Arial" pitchFamily="34" charset="0"/>
              </a:rPr>
              <a:pPr>
                <a:defRPr/>
              </a:pPr>
              <a:t>13</a:t>
            </a:fld>
            <a:endParaRPr smtClean="0">
              <a:cs typeface="Arial" pitchFamily="34" charset="0"/>
            </a:endParaRPr>
          </a:p>
        </p:txBody>
      </p:sp>
      <p:sp>
        <p:nvSpPr>
          <p:cNvPr id="55299" name="Content Placeholder 2"/>
          <p:cNvSpPr>
            <a:spLocks noGrp="1"/>
          </p:cNvSpPr>
          <p:nvPr>
            <p:ph sz="quarter" idx="1"/>
          </p:nvPr>
        </p:nvSpPr>
        <p:spPr>
          <a:xfrm>
            <a:off x="457200" y="1371600"/>
            <a:ext cx="8229600" cy="4926013"/>
          </a:xfrm>
        </p:spPr>
        <p:txBody>
          <a:bodyPr/>
          <a:lstStyle/>
          <a:p>
            <a:r>
              <a:rPr lang="en-US" sz="2400" dirty="0" smtClean="0">
                <a:solidFill>
                  <a:srgbClr val="0000FF"/>
                </a:solidFill>
              </a:rPr>
              <a:t>Step 1: add the –g option when compiling and linking:</a:t>
            </a:r>
          </a:p>
          <a:p>
            <a:pPr lvl="1"/>
            <a:r>
              <a:rPr lang="en-US" sz="2000" dirty="0" err="1" smtClean="0">
                <a:solidFill>
                  <a:srgbClr val="C00000"/>
                </a:solidFill>
                <a:latin typeface="Courier New" pitchFamily="49" charset="0"/>
                <a:cs typeface="Courier New" pitchFamily="49" charset="0"/>
              </a:rPr>
              <a:t>gcc</a:t>
            </a:r>
            <a:r>
              <a:rPr lang="en-US" sz="2000" dirty="0" smtClean="0">
                <a:solidFill>
                  <a:srgbClr val="C00000"/>
                </a:solidFill>
                <a:latin typeface="Courier New" pitchFamily="49" charset="0"/>
                <a:cs typeface="Courier New" pitchFamily="49" charset="0"/>
              </a:rPr>
              <a:t> –g Week8_WashersWeight_Printf.c</a:t>
            </a:r>
          </a:p>
          <a:p>
            <a:r>
              <a:rPr lang="en-US" sz="2400" dirty="0" smtClean="0">
                <a:solidFill>
                  <a:srgbClr val="0000FF"/>
                </a:solidFill>
              </a:rPr>
              <a:t>Step 2: start the </a:t>
            </a:r>
            <a:r>
              <a:rPr lang="en-US" sz="2400" dirty="0" err="1" smtClean="0">
                <a:solidFill>
                  <a:srgbClr val="0000FF"/>
                </a:solidFill>
              </a:rPr>
              <a:t>gdb</a:t>
            </a:r>
            <a:r>
              <a:rPr lang="en-US" sz="2400" dirty="0" smtClean="0">
                <a:solidFill>
                  <a:srgbClr val="0000FF"/>
                </a:solidFill>
              </a:rPr>
              <a:t> with your program:</a:t>
            </a:r>
          </a:p>
          <a:p>
            <a:pPr lvl="1"/>
            <a:r>
              <a:rPr lang="en-US" sz="2000" dirty="0" err="1" smtClean="0">
                <a:solidFill>
                  <a:srgbClr val="C00000"/>
                </a:solidFill>
                <a:latin typeface="Courier New" pitchFamily="49" charset="0"/>
                <a:cs typeface="Courier New" pitchFamily="49" charset="0"/>
              </a:rPr>
              <a:t>gdb</a:t>
            </a:r>
            <a:r>
              <a:rPr lang="en-US" sz="2000" dirty="0" smtClean="0">
                <a:solidFill>
                  <a:srgbClr val="C00000"/>
                </a:solidFill>
                <a:latin typeface="Courier New" pitchFamily="49" charset="0"/>
                <a:cs typeface="Courier New" pitchFamily="49" charset="0"/>
              </a:rPr>
              <a:t> </a:t>
            </a:r>
            <a:r>
              <a:rPr lang="en-US" sz="2000" dirty="0" err="1" smtClean="0">
                <a:solidFill>
                  <a:srgbClr val="C00000"/>
                </a:solidFill>
                <a:latin typeface="Courier New" pitchFamily="49" charset="0"/>
                <a:cs typeface="Courier New" pitchFamily="49" charset="0"/>
              </a:rPr>
              <a:t>a.out</a:t>
            </a:r>
            <a:endParaRPr lang="en-US" sz="2000" dirty="0" smtClean="0">
              <a:solidFill>
                <a:srgbClr val="C00000"/>
              </a:solidFill>
              <a:latin typeface="Courier New" pitchFamily="49" charset="0"/>
              <a:cs typeface="Courier New" pitchFamily="49" charset="0"/>
            </a:endParaRPr>
          </a:p>
          <a:p>
            <a:r>
              <a:rPr lang="en-US" sz="2400" dirty="0" smtClean="0">
                <a:solidFill>
                  <a:srgbClr val="0000FF"/>
                </a:solidFill>
              </a:rPr>
              <a:t>Step 3: use the different </a:t>
            </a:r>
            <a:r>
              <a:rPr lang="en-US" sz="2400" dirty="0" err="1" smtClean="0">
                <a:solidFill>
                  <a:srgbClr val="0000FF"/>
                </a:solidFill>
              </a:rPr>
              <a:t>gdb</a:t>
            </a:r>
            <a:r>
              <a:rPr lang="en-US" sz="2400" dirty="0" smtClean="0">
                <a:solidFill>
                  <a:srgbClr val="0000FF"/>
                </a:solidFill>
              </a:rPr>
              <a:t> commands to step through your program:</a:t>
            </a:r>
          </a:p>
          <a:p>
            <a:pPr lvl="2"/>
            <a:r>
              <a:rPr lang="en-US" sz="1800" dirty="0" smtClean="0"/>
              <a:t>Break at a specific function: </a:t>
            </a:r>
            <a:r>
              <a:rPr lang="en-US" sz="1800" i="1" dirty="0" smtClean="0"/>
              <a:t>break </a:t>
            </a:r>
            <a:r>
              <a:rPr lang="en-US" sz="1800" i="1" dirty="0" err="1" smtClean="0"/>
              <a:t>function_name</a:t>
            </a:r>
            <a:endParaRPr lang="en-US" sz="1800" i="1" dirty="0" smtClean="0"/>
          </a:p>
          <a:p>
            <a:pPr lvl="3"/>
            <a:r>
              <a:rPr lang="en-US" sz="1800" dirty="0" smtClean="0"/>
              <a:t>Start with: </a:t>
            </a:r>
            <a:r>
              <a:rPr lang="en-US" sz="1800" i="1" dirty="0" smtClean="0"/>
              <a:t>break main</a:t>
            </a:r>
          </a:p>
          <a:p>
            <a:pPr lvl="2"/>
            <a:r>
              <a:rPr lang="en-US" sz="1800" dirty="0" smtClean="0"/>
              <a:t>Run program: </a:t>
            </a:r>
            <a:r>
              <a:rPr lang="en-US" sz="1800" i="1" dirty="0" smtClean="0"/>
              <a:t>run </a:t>
            </a:r>
            <a:r>
              <a:rPr lang="en-US" sz="1800" dirty="0" smtClean="0"/>
              <a:t>(or </a:t>
            </a:r>
            <a:r>
              <a:rPr lang="en-US" sz="1800" i="1" dirty="0" smtClean="0"/>
              <a:t>r</a:t>
            </a:r>
            <a:r>
              <a:rPr lang="en-US" sz="1800" dirty="0" smtClean="0"/>
              <a:t>)</a:t>
            </a:r>
          </a:p>
          <a:p>
            <a:pPr lvl="2"/>
            <a:r>
              <a:rPr lang="en-US" sz="1800" dirty="0" smtClean="0"/>
              <a:t>Step to the next line of code: </a:t>
            </a:r>
            <a:r>
              <a:rPr lang="en-US" sz="1800" i="1" dirty="0" smtClean="0"/>
              <a:t>step</a:t>
            </a:r>
            <a:r>
              <a:rPr lang="en-US" sz="1800" dirty="0" smtClean="0"/>
              <a:t> (or </a:t>
            </a:r>
            <a:r>
              <a:rPr lang="en-US" sz="1800" i="1" dirty="0" smtClean="0"/>
              <a:t>s</a:t>
            </a:r>
            <a:r>
              <a:rPr lang="en-US" sz="1800" dirty="0" smtClean="0"/>
              <a:t>)</a:t>
            </a:r>
          </a:p>
          <a:p>
            <a:pPr lvl="2"/>
            <a:r>
              <a:rPr lang="en-US" sz="1800" dirty="0" smtClean="0"/>
              <a:t>List source code: </a:t>
            </a:r>
            <a:r>
              <a:rPr lang="en-US" sz="1800" i="1" dirty="0" smtClean="0"/>
              <a:t>list</a:t>
            </a:r>
            <a:r>
              <a:rPr lang="en-US" sz="1800" dirty="0" smtClean="0"/>
              <a:t> (or </a:t>
            </a:r>
            <a:r>
              <a:rPr lang="en-US" sz="1800" i="1" dirty="0" smtClean="0"/>
              <a:t>l</a:t>
            </a:r>
            <a:r>
              <a:rPr lang="en-US" sz="1800" dirty="0" smtClean="0"/>
              <a:t>)</a:t>
            </a:r>
          </a:p>
          <a:p>
            <a:pPr lvl="2"/>
            <a:r>
              <a:rPr lang="en-US" sz="1800" dirty="0" smtClean="0"/>
              <a:t>Examine the value of a variable: </a:t>
            </a:r>
            <a:r>
              <a:rPr lang="en-US" sz="1800" i="1" dirty="0" smtClean="0"/>
              <a:t>print </a:t>
            </a:r>
            <a:r>
              <a:rPr lang="en-US" sz="1800" i="1" dirty="0" err="1" smtClean="0"/>
              <a:t>variable_name</a:t>
            </a:r>
            <a:endParaRPr lang="en-US" sz="1800" i="1" dirty="0" smtClean="0"/>
          </a:p>
          <a:p>
            <a:pPr lvl="2"/>
            <a:r>
              <a:rPr lang="en-US" sz="1800" dirty="0" smtClean="0"/>
              <a:t>Quit the debugger: </a:t>
            </a:r>
            <a:r>
              <a:rPr lang="en-US" sz="1800" i="1" dirty="0" smtClean="0"/>
              <a:t>quit</a:t>
            </a:r>
          </a:p>
        </p:txBody>
      </p:sp>
      <p:sp>
        <p:nvSpPr>
          <p:cNvPr id="6" name="TextBox 6"/>
          <p:cNvSpPr txBox="1">
            <a:spLocks noChangeArrowheads="1"/>
          </p:cNvSpPr>
          <p:nvPr/>
        </p:nvSpPr>
        <p:spPr bwMode="auto">
          <a:xfrm>
            <a:off x="4306888" y="6007100"/>
            <a:ext cx="4583112" cy="369888"/>
          </a:xfrm>
          <a:prstGeom prst="rect">
            <a:avLst/>
          </a:prstGeom>
          <a:solidFill>
            <a:srgbClr val="FFC000"/>
          </a:solidFill>
          <a:ln w="9525">
            <a:noFill/>
            <a:miter lim="800000"/>
            <a:headEnd/>
            <a:tailEnd/>
          </a:ln>
        </p:spPr>
        <p:txBody>
          <a:bodyPr wrap="none">
            <a:spAutoFit/>
          </a:bodyPr>
          <a:lstStyle/>
          <a:p>
            <a:r>
              <a:rPr lang="en-US" dirty="0"/>
              <a:t>Explore other </a:t>
            </a:r>
            <a:r>
              <a:rPr lang="en-US" dirty="0" err="1"/>
              <a:t>gdb</a:t>
            </a:r>
            <a:r>
              <a:rPr lang="en-US" dirty="0"/>
              <a:t> commands on your own!</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itle 1"/>
          <p:cNvSpPr>
            <a:spLocks noGrp="1"/>
          </p:cNvSpPr>
          <p:nvPr>
            <p:ph type="title"/>
          </p:nvPr>
        </p:nvSpPr>
        <p:spPr/>
        <p:txBody>
          <a:bodyPr/>
          <a:lstStyle/>
          <a:p>
            <a:r>
              <a:rPr lang="en-US" sz="4000" dirty="0" smtClean="0">
                <a:solidFill>
                  <a:srgbClr val="9933FF"/>
                </a:solidFill>
                <a:latin typeface="Garamond" pitchFamily="18" charset="0"/>
              </a:rPr>
              <a:t>2.2 Famous Programming Errors</a:t>
            </a:r>
          </a:p>
        </p:txBody>
      </p:sp>
      <p:sp>
        <p:nvSpPr>
          <p:cNvPr id="8" name="Slide Number Placeholder 7"/>
          <p:cNvSpPr>
            <a:spLocks noGrp="1"/>
          </p:cNvSpPr>
          <p:nvPr>
            <p:ph type="sldNum" sz="quarter" idx="12"/>
          </p:nvPr>
        </p:nvSpPr>
        <p:spPr/>
        <p:txBody>
          <a:bodyPr/>
          <a:lstStyle/>
          <a:p>
            <a:pPr>
              <a:defRPr/>
            </a:pPr>
            <a:r>
              <a:rPr smtClean="0">
                <a:cs typeface="Arial" pitchFamily="34" charset="0"/>
              </a:rPr>
              <a:t>Week6 - </a:t>
            </a:r>
            <a:fld id="{1B6AEB12-5058-478E-AE33-581B50F3D75D}" type="slidenum">
              <a:rPr smtClean="0">
                <a:cs typeface="Arial" pitchFamily="34" charset="0"/>
              </a:rPr>
              <a:pPr>
                <a:defRPr/>
              </a:pPr>
              <a:t>14</a:t>
            </a:fld>
            <a:endParaRPr smtClean="0">
              <a:cs typeface="Arial" pitchFamily="34" charset="0"/>
            </a:endParaRPr>
          </a:p>
        </p:txBody>
      </p:sp>
      <p:sp>
        <p:nvSpPr>
          <p:cNvPr id="63491" name="Content Placeholder 2"/>
          <p:cNvSpPr>
            <a:spLocks noGrp="1"/>
          </p:cNvSpPr>
          <p:nvPr>
            <p:ph sz="quarter" idx="1"/>
          </p:nvPr>
        </p:nvSpPr>
        <p:spPr>
          <a:xfrm>
            <a:off x="319087" y="1176274"/>
            <a:ext cx="8406271" cy="2668613"/>
          </a:xfrm>
        </p:spPr>
        <p:txBody>
          <a:bodyPr/>
          <a:lstStyle/>
          <a:p>
            <a:pPr marL="228600" lvl="1" indent="-228600"/>
            <a:r>
              <a:rPr lang="en-US" b="1" dirty="0" smtClean="0"/>
              <a:t>Mariner Bugs Out (1962)</a:t>
            </a:r>
          </a:p>
          <a:p>
            <a:pPr marL="625475" lvl="2"/>
            <a:r>
              <a:rPr lang="en-US" sz="1600" b="1" dirty="0" smtClean="0"/>
              <a:t>Cost:</a:t>
            </a:r>
            <a:r>
              <a:rPr lang="en-US" sz="1600" dirty="0" smtClean="0"/>
              <a:t>  $18.5 million</a:t>
            </a:r>
          </a:p>
          <a:p>
            <a:pPr marL="625475" lvl="2"/>
            <a:r>
              <a:rPr lang="en-US" sz="1600" b="1" dirty="0" smtClean="0"/>
              <a:t>Disaster:</a:t>
            </a:r>
            <a:r>
              <a:rPr lang="en-US" sz="1600" dirty="0" smtClean="0"/>
              <a:t>  The Mariner 1 rocket with a space probe headed for Venus diverted from its intended flight path shortly after launch.  Mission Control destroyed the rocket 293 seconds after liftoff.</a:t>
            </a:r>
          </a:p>
          <a:p>
            <a:pPr marL="625475" lvl="2"/>
            <a:r>
              <a:rPr lang="en-US" sz="1600" b="1" dirty="0" smtClean="0"/>
              <a:t>Cause:</a:t>
            </a:r>
            <a:r>
              <a:rPr lang="en-US" sz="1600" dirty="0" smtClean="0"/>
              <a:t>  A programmer incorrectly transcribed a handwritten formula into computer code, missing a single superscript bar.  Without the smoothing function indicated by the bar, the software treated normal variations of velocity as if they were serious, causing faulty corrections that sent the rocket off course. </a:t>
            </a:r>
          </a:p>
        </p:txBody>
      </p:sp>
      <p:pic>
        <p:nvPicPr>
          <p:cNvPr id="63494" name="Picture 2"/>
          <p:cNvPicPr>
            <a:picLocks noChangeAspect="1" noChangeArrowheads="1"/>
          </p:cNvPicPr>
          <p:nvPr/>
        </p:nvPicPr>
        <p:blipFill>
          <a:blip r:embed="rId3" cstate="print"/>
          <a:srcRect/>
          <a:stretch>
            <a:fillRect/>
          </a:stretch>
        </p:blipFill>
        <p:spPr bwMode="auto">
          <a:xfrm>
            <a:off x="7269297" y="269972"/>
            <a:ext cx="1558829" cy="1558829"/>
          </a:xfrm>
          <a:prstGeom prst="rect">
            <a:avLst/>
          </a:prstGeom>
          <a:noFill/>
          <a:ln w="9525">
            <a:noFill/>
            <a:miter lim="800000"/>
            <a:headEnd/>
            <a:tailEnd/>
          </a:ln>
        </p:spPr>
      </p:pic>
      <p:sp>
        <p:nvSpPr>
          <p:cNvPr id="9" name="Content Placeholder 2"/>
          <p:cNvSpPr txBox="1">
            <a:spLocks/>
          </p:cNvSpPr>
          <p:nvPr/>
        </p:nvSpPr>
        <p:spPr bwMode="auto">
          <a:xfrm>
            <a:off x="2038121" y="3782357"/>
            <a:ext cx="6687238" cy="265149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290513" marR="0" lvl="1" indent="-285750" algn="l" defTabSz="914400" rtl="0" eaLnBrk="0" fontAlgn="base" latinLnBrk="0" hangingPunct="0">
              <a:lnSpc>
                <a:spcPct val="100000"/>
              </a:lnSpc>
              <a:spcBef>
                <a:spcPct val="20000"/>
              </a:spcBef>
              <a:spcAft>
                <a:spcPct val="0"/>
              </a:spcAft>
              <a:buClr>
                <a:schemeClr val="accent2"/>
              </a:buClr>
              <a:buSzPct val="80000"/>
              <a:buFont typeface="Wingdings" pitchFamily="2" charset="2"/>
              <a:buChar char="¨"/>
              <a:tabLst/>
              <a:defRPr/>
            </a:pPr>
            <a:r>
              <a:rPr kumimoji="0" lang="en-US" sz="2000" b="1" i="0" u="none" strike="noStrike" kern="0" cap="none" spc="0" normalizeH="0" baseline="0" noProof="0" dirty="0" smtClean="0">
                <a:ln>
                  <a:noFill/>
                </a:ln>
                <a:solidFill>
                  <a:schemeClr val="tx1"/>
                </a:solidFill>
                <a:effectLst/>
                <a:uLnTx/>
                <a:uFillTx/>
                <a:latin typeface="+mn-lt"/>
                <a:cs typeface="+mn-cs"/>
              </a:rPr>
              <a:t>Mars Climate Crasher (1998)</a:t>
            </a:r>
          </a:p>
          <a:p>
            <a:pPr marL="679450" marR="0" lvl="2" indent="-228600" algn="l" defTabSz="914400" rtl="0" eaLnBrk="0" fontAlgn="base" latinLnBrk="0" hangingPunct="0">
              <a:lnSpc>
                <a:spcPct val="100000"/>
              </a:lnSpc>
              <a:spcBef>
                <a:spcPct val="20000"/>
              </a:spcBef>
              <a:spcAft>
                <a:spcPct val="0"/>
              </a:spcAft>
              <a:buClr>
                <a:schemeClr val="bg2"/>
              </a:buClr>
              <a:buSzPct val="65000"/>
              <a:buFont typeface="Wingdings" pitchFamily="2" charset="2"/>
              <a:buChar char="n"/>
              <a:tabLst/>
              <a:defRPr/>
            </a:pPr>
            <a:r>
              <a:rPr kumimoji="0" lang="en-US" sz="1600" b="1" i="0" u="none" strike="noStrike" kern="0" cap="none" spc="0" normalizeH="0" baseline="0" noProof="0" dirty="0" smtClean="0">
                <a:ln>
                  <a:noFill/>
                </a:ln>
                <a:solidFill>
                  <a:schemeClr val="tx1"/>
                </a:solidFill>
                <a:effectLst/>
                <a:uLnTx/>
                <a:uFillTx/>
                <a:latin typeface="+mn-lt"/>
                <a:cs typeface="+mn-cs"/>
              </a:rPr>
              <a:t>Cost:</a:t>
            </a:r>
            <a:r>
              <a:rPr kumimoji="0" lang="en-US" sz="1600" b="0" i="0" u="none" strike="noStrike" kern="0" cap="none" spc="0" normalizeH="0" baseline="0" noProof="0" dirty="0" smtClean="0">
                <a:ln>
                  <a:noFill/>
                </a:ln>
                <a:solidFill>
                  <a:schemeClr val="tx1"/>
                </a:solidFill>
                <a:effectLst/>
                <a:uLnTx/>
                <a:uFillTx/>
                <a:latin typeface="+mn-lt"/>
                <a:cs typeface="+mn-cs"/>
              </a:rPr>
              <a:t>  $125 million</a:t>
            </a:r>
          </a:p>
          <a:p>
            <a:pPr marL="679450" marR="0" lvl="2" indent="-228600" algn="l" defTabSz="914400" rtl="0" eaLnBrk="0" fontAlgn="base" latinLnBrk="0" hangingPunct="0">
              <a:lnSpc>
                <a:spcPct val="100000"/>
              </a:lnSpc>
              <a:spcBef>
                <a:spcPct val="20000"/>
              </a:spcBef>
              <a:spcAft>
                <a:spcPct val="0"/>
              </a:spcAft>
              <a:buClr>
                <a:schemeClr val="bg2"/>
              </a:buClr>
              <a:buSzPct val="65000"/>
              <a:buFont typeface="Wingdings" pitchFamily="2" charset="2"/>
              <a:buChar char="n"/>
              <a:tabLst/>
              <a:defRPr/>
            </a:pPr>
            <a:r>
              <a:rPr kumimoji="0" lang="en-US" sz="1600" b="1" i="0" u="none" strike="noStrike" kern="0" cap="none" spc="0" normalizeH="0" baseline="0" noProof="0" dirty="0" smtClean="0">
                <a:ln>
                  <a:noFill/>
                </a:ln>
                <a:solidFill>
                  <a:schemeClr val="tx1"/>
                </a:solidFill>
                <a:effectLst/>
                <a:uLnTx/>
                <a:uFillTx/>
                <a:latin typeface="+mn-lt"/>
                <a:cs typeface="+mn-cs"/>
              </a:rPr>
              <a:t>Disaster:</a:t>
            </a:r>
            <a:r>
              <a:rPr kumimoji="0" lang="en-US" sz="1600" b="0" i="0" u="none" strike="noStrike" kern="0" cap="none" spc="0" normalizeH="0" baseline="0" noProof="0" dirty="0" smtClean="0">
                <a:ln>
                  <a:noFill/>
                </a:ln>
                <a:solidFill>
                  <a:schemeClr val="tx1"/>
                </a:solidFill>
                <a:effectLst/>
                <a:uLnTx/>
                <a:uFillTx/>
                <a:latin typeface="+mn-lt"/>
                <a:cs typeface="+mn-cs"/>
              </a:rPr>
              <a:t>  After a 286-day journey from Earth, the Mars Climate Orbiter fired its engines to push into orbit around Mars.  The engines fired, but the spacecraft fell too far into the planet’s atmosphere, likely causing it to crash on Mars. </a:t>
            </a:r>
          </a:p>
          <a:p>
            <a:pPr marL="679450" marR="0" lvl="2" indent="-228600" algn="l" defTabSz="914400" rtl="0" eaLnBrk="0" fontAlgn="base" latinLnBrk="0" hangingPunct="0">
              <a:lnSpc>
                <a:spcPct val="100000"/>
              </a:lnSpc>
              <a:spcBef>
                <a:spcPct val="20000"/>
              </a:spcBef>
              <a:spcAft>
                <a:spcPct val="0"/>
              </a:spcAft>
              <a:buClr>
                <a:schemeClr val="bg2"/>
              </a:buClr>
              <a:buSzPct val="65000"/>
              <a:buFont typeface="Wingdings" pitchFamily="2" charset="2"/>
              <a:buChar char="n"/>
              <a:tabLst/>
              <a:defRPr/>
            </a:pPr>
            <a:r>
              <a:rPr kumimoji="0" lang="en-US" sz="1600" b="1" i="0" u="none" strike="noStrike" kern="0" cap="none" spc="0" normalizeH="0" baseline="0" noProof="0" dirty="0" smtClean="0">
                <a:ln>
                  <a:noFill/>
                </a:ln>
                <a:solidFill>
                  <a:schemeClr val="tx1"/>
                </a:solidFill>
                <a:effectLst/>
                <a:uLnTx/>
                <a:uFillTx/>
                <a:latin typeface="+mn-lt"/>
                <a:cs typeface="+mn-cs"/>
              </a:rPr>
              <a:t>Cause:</a:t>
            </a:r>
            <a:r>
              <a:rPr kumimoji="0" lang="en-US" sz="1600" b="0" i="0" u="none" strike="noStrike" kern="0" cap="none" spc="0" normalizeH="0" baseline="0" noProof="0" dirty="0" smtClean="0">
                <a:ln>
                  <a:noFill/>
                </a:ln>
                <a:solidFill>
                  <a:schemeClr val="tx1"/>
                </a:solidFill>
                <a:effectLst/>
                <a:uLnTx/>
                <a:uFillTx/>
                <a:latin typeface="+mn-lt"/>
                <a:cs typeface="+mn-cs"/>
              </a:rPr>
              <a:t>  The  software that controlled the Orbiter thrusters used imperial units (pounds of force), rather than metric units (</a:t>
            </a:r>
            <a:r>
              <a:rPr kumimoji="0" lang="en-US" sz="1600" b="0" i="0" u="none" strike="noStrike" kern="0" cap="none" spc="0" normalizeH="0" baseline="0" noProof="0" dirty="0" err="1" smtClean="0">
                <a:ln>
                  <a:noFill/>
                </a:ln>
                <a:solidFill>
                  <a:schemeClr val="tx1"/>
                </a:solidFill>
                <a:effectLst/>
                <a:uLnTx/>
                <a:uFillTx/>
                <a:latin typeface="+mn-lt"/>
                <a:cs typeface="+mn-cs"/>
              </a:rPr>
              <a:t>Newtons</a:t>
            </a:r>
            <a:r>
              <a:rPr kumimoji="0" lang="en-US" sz="1600" b="0" i="0" u="none" strike="noStrike" kern="0" cap="none" spc="0" normalizeH="0" baseline="0" noProof="0" dirty="0" smtClean="0">
                <a:ln>
                  <a:noFill/>
                </a:ln>
                <a:solidFill>
                  <a:schemeClr val="tx1"/>
                </a:solidFill>
                <a:effectLst/>
                <a:uLnTx/>
                <a:uFillTx/>
                <a:latin typeface="+mn-lt"/>
                <a:cs typeface="+mn-cs"/>
              </a:rPr>
              <a:t>) as specified by NASA.</a:t>
            </a:r>
          </a:p>
        </p:txBody>
      </p:sp>
      <p:pic>
        <p:nvPicPr>
          <p:cNvPr id="10" name="Picture 2"/>
          <p:cNvPicPr>
            <a:picLocks noChangeAspect="1" noChangeArrowheads="1"/>
          </p:cNvPicPr>
          <p:nvPr/>
        </p:nvPicPr>
        <p:blipFill>
          <a:blip r:embed="rId4" cstate="print"/>
          <a:srcRect/>
          <a:stretch>
            <a:fillRect/>
          </a:stretch>
        </p:blipFill>
        <p:spPr bwMode="auto">
          <a:xfrm>
            <a:off x="375396" y="4291127"/>
            <a:ext cx="1993230" cy="1561364"/>
          </a:xfrm>
          <a:prstGeom prst="rect">
            <a:avLst/>
          </a:prstGeom>
          <a:noFill/>
          <a:ln w="9525">
            <a:noFill/>
            <a:miter lim="800000"/>
            <a:headEnd/>
            <a:tailEnd/>
          </a:ln>
        </p:spPr>
      </p:pic>
      <p:cxnSp>
        <p:nvCxnSpPr>
          <p:cNvPr id="12" name="Straight Connector 11"/>
          <p:cNvCxnSpPr/>
          <p:nvPr/>
        </p:nvCxnSpPr>
        <p:spPr bwMode="auto">
          <a:xfrm>
            <a:off x="341523" y="3745735"/>
            <a:ext cx="8405870" cy="0"/>
          </a:xfrm>
          <a:prstGeom prst="line">
            <a:avLst/>
          </a:prstGeom>
          <a:solidFill>
            <a:schemeClr val="accent1"/>
          </a:solidFill>
          <a:ln w="12700" cap="sq" cmpd="sng" algn="ctr">
            <a:solidFill>
              <a:schemeClr val="tx1"/>
            </a:solidFill>
            <a:prstDash val="solid"/>
            <a:round/>
            <a:headEnd type="none" w="sm" len="sm"/>
            <a:tailEnd type="none" w="sm" len="sm"/>
          </a:ln>
          <a:effectLst/>
        </p:spPr>
      </p:cxnSp>
    </p:spTree>
  </p:cSld>
  <p:clrMapOvr>
    <a:masterClrMapping/>
  </p:clrMapOvr>
  <p:transition>
    <p:fad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533400" y="381000"/>
            <a:ext cx="8382000" cy="838200"/>
          </a:xfrm>
        </p:spPr>
        <p:txBody>
          <a:bodyPr/>
          <a:lstStyle/>
          <a:p>
            <a:pPr eaLnBrk="1" hangingPunct="1"/>
            <a:r>
              <a:rPr lang="en-GB" dirty="0" smtClean="0"/>
              <a:t>3. Functions: Revisit (1/3)</a:t>
            </a:r>
            <a:endParaRPr lang="en-GB" sz="4800" dirty="0" smtClean="0"/>
          </a:p>
        </p:txBody>
      </p:sp>
      <p:sp>
        <p:nvSpPr>
          <p:cNvPr id="16389" name="Slide Number Placeholder 7"/>
          <p:cNvSpPr>
            <a:spLocks noGrp="1"/>
          </p:cNvSpPr>
          <p:nvPr>
            <p:ph type="sldNum" sz="quarter" idx="12"/>
          </p:nvPr>
        </p:nvSpPr>
        <p:spPr/>
        <p:txBody>
          <a:bodyPr/>
          <a:lstStyle/>
          <a:p>
            <a:pPr>
              <a:defRPr/>
            </a:pPr>
            <a:r>
              <a:rPr dirty="0" smtClean="0">
                <a:cs typeface="Arial" pitchFamily="34" charset="0"/>
              </a:rPr>
              <a:t>Week6 - </a:t>
            </a:r>
            <a:fld id="{8D5215CB-FD04-4917-9699-151BB0A3EC1C}" type="slidenum">
              <a:rPr smtClean="0">
                <a:cs typeface="Arial" pitchFamily="34" charset="0"/>
              </a:rPr>
              <a:pPr>
                <a:defRPr/>
              </a:pPr>
              <a:t>15</a:t>
            </a:fld>
            <a:endParaRPr dirty="0" smtClean="0">
              <a:cs typeface="Arial" pitchFamily="34" charset="0"/>
            </a:endParaRPr>
          </a:p>
        </p:txBody>
      </p:sp>
      <p:sp>
        <p:nvSpPr>
          <p:cNvPr id="31747" name="Rectangle 3"/>
          <p:cNvSpPr>
            <a:spLocks noGrp="1" noChangeArrowheads="1"/>
          </p:cNvSpPr>
          <p:nvPr>
            <p:ph sz="quarter" idx="1"/>
          </p:nvPr>
        </p:nvSpPr>
        <p:spPr>
          <a:xfrm>
            <a:off x="471488" y="1387475"/>
            <a:ext cx="7948612" cy="5011738"/>
          </a:xfrm>
        </p:spPr>
        <p:txBody>
          <a:bodyPr>
            <a:normAutofit lnSpcReduction="10000"/>
          </a:bodyPr>
          <a:lstStyle/>
          <a:p>
            <a:pPr marL="457200" indent="-457200" eaLnBrk="1" hangingPunct="1">
              <a:buSzPct val="100000"/>
              <a:buFont typeface="Wingdings" pitchFamily="2" charset="2"/>
              <a:buChar char="§"/>
            </a:pPr>
            <a:r>
              <a:rPr lang="en-GB" dirty="0" smtClean="0">
                <a:solidFill>
                  <a:schemeClr val="tx1"/>
                </a:solidFill>
              </a:rPr>
              <a:t>In week 3, we learned about functions</a:t>
            </a:r>
          </a:p>
          <a:p>
            <a:pPr marL="457200" indent="-457200" eaLnBrk="1" hangingPunct="1">
              <a:spcBef>
                <a:spcPts val="1200"/>
              </a:spcBef>
              <a:buSzPct val="100000"/>
              <a:buFont typeface="Wingdings" pitchFamily="2" charset="2"/>
              <a:buChar char="§"/>
            </a:pPr>
            <a:r>
              <a:rPr lang="en-GB" dirty="0" smtClean="0">
                <a:solidFill>
                  <a:schemeClr val="tx1"/>
                </a:solidFill>
              </a:rPr>
              <a:t>In C, a function maps some input values to zero or more output values</a:t>
            </a:r>
          </a:p>
          <a:p>
            <a:pPr marL="857250" lvl="1" indent="-317500" eaLnBrk="1" hangingPunct="1">
              <a:spcBef>
                <a:spcPts val="300"/>
              </a:spcBef>
              <a:buClrTx/>
              <a:buSzPct val="120000"/>
              <a:buFontTx/>
              <a:buChar char="-"/>
            </a:pPr>
            <a:r>
              <a:rPr lang="en-GB" dirty="0" smtClean="0">
                <a:solidFill>
                  <a:srgbClr val="0000FF"/>
                </a:solidFill>
              </a:rPr>
              <a:t>Zero output </a:t>
            </a:r>
            <a:r>
              <a:rPr lang="en-GB" dirty="0" smtClean="0"/>
              <a:t>through   </a:t>
            </a:r>
            <a:r>
              <a:rPr lang="en-GB" dirty="0" smtClean="0">
                <a:solidFill>
                  <a:srgbClr val="0000FF"/>
                </a:solidFill>
              </a:rPr>
              <a:t>      </a:t>
            </a:r>
            <a:r>
              <a:rPr lang="en-GB" dirty="0" smtClean="0"/>
              <a:t> </a:t>
            </a:r>
            <a:r>
              <a:rPr lang="en-GB" sz="1600" dirty="0" smtClean="0">
                <a:solidFill>
                  <a:srgbClr val="006600"/>
                </a:solidFill>
              </a:rPr>
              <a:t>“</a:t>
            </a:r>
            <a:r>
              <a:rPr lang="en-GB" sz="1600" dirty="0" smtClean="0">
                <a:solidFill>
                  <a:srgbClr val="0000FF"/>
                </a:solidFill>
              </a:rPr>
              <a:t>void</a:t>
            </a:r>
            <a:r>
              <a:rPr lang="en-GB" sz="1600" dirty="0" smtClean="0"/>
              <a:t> </a:t>
            </a:r>
            <a:r>
              <a:rPr lang="en-GB" sz="1600" dirty="0" err="1" smtClean="0"/>
              <a:t>func</a:t>
            </a:r>
            <a:r>
              <a:rPr lang="en-GB" sz="1600" dirty="0" smtClean="0"/>
              <a:t> (  … ) {  … };”</a:t>
            </a:r>
          </a:p>
          <a:p>
            <a:pPr marL="857250" lvl="1" indent="-317500" eaLnBrk="1" hangingPunct="1">
              <a:spcBef>
                <a:spcPts val="300"/>
              </a:spcBef>
              <a:buClrTx/>
              <a:buSzPct val="120000"/>
              <a:buFontTx/>
              <a:buChar char="-"/>
            </a:pPr>
            <a:r>
              <a:rPr lang="en-GB" dirty="0" smtClean="0">
                <a:solidFill>
                  <a:srgbClr val="0000FF"/>
                </a:solidFill>
              </a:rPr>
              <a:t>One output </a:t>
            </a:r>
            <a:r>
              <a:rPr lang="en-GB" dirty="0" smtClean="0"/>
              <a:t>through, e.g.,  </a:t>
            </a:r>
            <a:r>
              <a:rPr lang="en-GB" sz="1600" dirty="0" smtClean="0">
                <a:solidFill>
                  <a:srgbClr val="006600"/>
                </a:solidFill>
              </a:rPr>
              <a:t>“</a:t>
            </a:r>
            <a:r>
              <a:rPr lang="en-GB" sz="1600" dirty="0" smtClean="0">
                <a:solidFill>
                  <a:srgbClr val="0000FF"/>
                </a:solidFill>
              </a:rPr>
              <a:t>double</a:t>
            </a:r>
            <a:r>
              <a:rPr lang="en-GB" sz="1600" dirty="0" smtClean="0">
                <a:solidFill>
                  <a:srgbClr val="006600"/>
                </a:solidFill>
              </a:rPr>
              <a:t> </a:t>
            </a:r>
            <a:r>
              <a:rPr lang="en-GB" sz="1600" dirty="0" err="1" smtClean="0"/>
              <a:t>func</a:t>
            </a:r>
            <a:r>
              <a:rPr lang="en-GB" sz="1600" dirty="0" smtClean="0"/>
              <a:t> ( … ) { …; </a:t>
            </a:r>
            <a:r>
              <a:rPr lang="en-GB" sz="1600" dirty="0" smtClean="0">
                <a:solidFill>
                  <a:srgbClr val="0000FF"/>
                </a:solidFill>
              </a:rPr>
              <a:t>return</a:t>
            </a:r>
            <a:r>
              <a:rPr lang="en-GB" sz="1600" dirty="0" smtClean="0">
                <a:solidFill>
                  <a:srgbClr val="006600"/>
                </a:solidFill>
              </a:rPr>
              <a:t> </a:t>
            </a:r>
            <a:r>
              <a:rPr lang="en-GB" sz="1600" dirty="0" smtClean="0"/>
              <a:t>value; };”</a:t>
            </a:r>
          </a:p>
          <a:p>
            <a:pPr marL="857250" lvl="1" indent="-317500" eaLnBrk="1" hangingPunct="1">
              <a:spcBef>
                <a:spcPts val="300"/>
              </a:spcBef>
              <a:buClrTx/>
              <a:buSzPct val="120000"/>
              <a:buFontTx/>
              <a:buChar char="-"/>
            </a:pPr>
            <a:r>
              <a:rPr lang="en-GB" dirty="0" smtClean="0">
                <a:solidFill>
                  <a:srgbClr val="0000FF"/>
                </a:solidFill>
              </a:rPr>
              <a:t>More outputs </a:t>
            </a:r>
            <a:r>
              <a:rPr lang="en-GB" dirty="0" smtClean="0"/>
              <a:t>through </a:t>
            </a:r>
            <a:r>
              <a:rPr lang="en-GB" dirty="0" smtClean="0">
                <a:solidFill>
                  <a:srgbClr val="0000FF"/>
                </a:solidFill>
              </a:rPr>
              <a:t>changing input values</a:t>
            </a:r>
            <a:r>
              <a:rPr lang="en-GB" dirty="0" smtClean="0">
                <a:solidFill>
                  <a:srgbClr val="FF0000"/>
                </a:solidFill>
              </a:rPr>
              <a:t>  </a:t>
            </a:r>
          </a:p>
          <a:p>
            <a:pPr marL="1257300" lvl="2" indent="-354013" eaLnBrk="1" hangingPunct="1">
              <a:spcBef>
                <a:spcPts val="300"/>
              </a:spcBef>
              <a:buSzPct val="100000"/>
              <a:buFont typeface="Arial" charset="0"/>
              <a:buChar char="•"/>
            </a:pPr>
            <a:r>
              <a:rPr lang="en-GB" dirty="0" smtClean="0">
                <a:solidFill>
                  <a:srgbClr val="0000FF"/>
                </a:solidFill>
              </a:rPr>
              <a:t>‘&amp;’</a:t>
            </a:r>
            <a:r>
              <a:rPr lang="en-GB" b="1" dirty="0" smtClean="0">
                <a:solidFill>
                  <a:srgbClr val="0000FF"/>
                </a:solidFill>
              </a:rPr>
              <a:t> </a:t>
            </a:r>
            <a:r>
              <a:rPr lang="en-GB" dirty="0" smtClean="0"/>
              <a:t>– ‘address of’ operator </a:t>
            </a:r>
          </a:p>
          <a:p>
            <a:pPr marL="1257300" lvl="2" indent="-354013" eaLnBrk="1" hangingPunct="1">
              <a:spcBef>
                <a:spcPts val="300"/>
              </a:spcBef>
              <a:buSzPct val="100000"/>
              <a:buFont typeface="Arial" charset="0"/>
              <a:buChar char="•"/>
            </a:pPr>
            <a:r>
              <a:rPr lang="en-GB" b="1" dirty="0" smtClean="0">
                <a:solidFill>
                  <a:srgbClr val="0000FF"/>
                </a:solidFill>
              </a:rPr>
              <a:t>‘*’</a:t>
            </a:r>
            <a:r>
              <a:rPr lang="en-GB" b="1" dirty="0" smtClean="0">
                <a:solidFill>
                  <a:srgbClr val="FF0000"/>
                </a:solidFill>
              </a:rPr>
              <a:t> </a:t>
            </a:r>
            <a:r>
              <a:rPr lang="en-GB" dirty="0" smtClean="0"/>
              <a:t>– ‘indirection’ operator; go to the address stored in the variable following the * to get the value at that address or put a value there.</a:t>
            </a:r>
          </a:p>
          <a:p>
            <a:pPr marL="457200" indent="-457200" eaLnBrk="1" hangingPunct="1">
              <a:spcBef>
                <a:spcPts val="1200"/>
              </a:spcBef>
              <a:buSzPct val="100000"/>
              <a:buFont typeface="Wingdings" pitchFamily="2" charset="2"/>
              <a:buChar char="§"/>
            </a:pPr>
            <a:r>
              <a:rPr lang="en-GB" dirty="0" smtClean="0">
                <a:solidFill>
                  <a:schemeClr val="tx1"/>
                </a:solidFill>
              </a:rPr>
              <a:t>We have done void functions and functions that return a single value, how about functions that return more than one value?</a:t>
            </a:r>
          </a:p>
          <a:p>
            <a:pPr marL="457200" indent="-457200" eaLnBrk="1" hangingPunct="1">
              <a:buSzPct val="120000"/>
              <a:buFont typeface="Wingdings" pitchFamily="2" charset="2"/>
              <a:buNone/>
            </a:pPr>
            <a:endParaRPr lang="en-GB" b="1" dirty="0" smtClean="0"/>
          </a:p>
          <a:p>
            <a:pPr marL="457200" indent="-457200" eaLnBrk="1" hangingPunct="1">
              <a:buSzPct val="120000"/>
              <a:buFont typeface="Wingdings" pitchFamily="2" charset="2"/>
              <a:buNone/>
            </a:pPr>
            <a:endParaRPr lang="en-GB" b="1" dirty="0" smtClean="0"/>
          </a:p>
          <a:p>
            <a:pPr marL="457200" indent="-457200" eaLnBrk="1" hangingPunct="1">
              <a:buSzPct val="120000"/>
              <a:buFont typeface="Wingdings" pitchFamily="2" charset="2"/>
              <a:buNone/>
            </a:pPr>
            <a:endParaRPr lang="en-GB" b="1" dirty="0" smtClean="0"/>
          </a:p>
          <a:p>
            <a:pPr marL="457200" indent="-457200" eaLnBrk="1" hangingPunct="1">
              <a:buSzPct val="120000"/>
              <a:buFont typeface="Wingdings" pitchFamily="2" charset="2"/>
              <a:buNone/>
            </a:pPr>
            <a:endParaRPr lang="en-GB" b="1" dirty="0" smtClean="0"/>
          </a:p>
          <a:p>
            <a:pPr marL="457200" indent="-457200" eaLnBrk="1" hangingPunct="1">
              <a:buSzPct val="120000"/>
              <a:buFont typeface="Wingdings" pitchFamily="2" charset="2"/>
              <a:buNone/>
            </a:pPr>
            <a:endParaRPr lang="en-GB" sz="2000" dirty="0" smtClean="0"/>
          </a:p>
        </p:txBody>
      </p:sp>
      <p:pic>
        <p:nvPicPr>
          <p:cNvPr id="6" name="Picture 5" descr="tick_small.jpg"/>
          <p:cNvPicPr>
            <a:picLocks noChangeAspect="1"/>
          </p:cNvPicPr>
          <p:nvPr/>
        </p:nvPicPr>
        <p:blipFill>
          <a:blip r:embed="rId3" cstate="print"/>
          <a:stretch>
            <a:fillRect/>
          </a:stretch>
        </p:blipFill>
        <p:spPr>
          <a:xfrm>
            <a:off x="6800122" y="2697917"/>
            <a:ext cx="350186" cy="262640"/>
          </a:xfrm>
          <a:prstGeom prst="rect">
            <a:avLst/>
          </a:prstGeom>
        </p:spPr>
      </p:pic>
      <p:pic>
        <p:nvPicPr>
          <p:cNvPr id="8" name="Picture 7" descr="tick_small.jpg"/>
          <p:cNvPicPr>
            <a:picLocks noChangeAspect="1"/>
          </p:cNvPicPr>
          <p:nvPr/>
        </p:nvPicPr>
        <p:blipFill>
          <a:blip r:embed="rId3" cstate="print"/>
          <a:stretch>
            <a:fillRect/>
          </a:stretch>
        </p:blipFill>
        <p:spPr>
          <a:xfrm>
            <a:off x="8031813" y="3135130"/>
            <a:ext cx="350186" cy="262640"/>
          </a:xfrm>
          <a:prstGeom prst="rect">
            <a:avLst/>
          </a:prstGeom>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3174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1747">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1747">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1747">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1747">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1747">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1747">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dissolve">
                                      <p:cBhvr>
                                        <p:cTn id="23" dur="500"/>
                                        <p:tgtEl>
                                          <p:spTgt spid="6"/>
                                        </p:tgtEl>
                                      </p:cBhvr>
                                    </p:animEffect>
                                  </p:childTnLst>
                                </p:cTn>
                              </p:par>
                            </p:childTnLst>
                          </p:cTn>
                        </p:par>
                        <p:par>
                          <p:cTn id="24" fill="hold">
                            <p:stCondLst>
                              <p:cond delay="500"/>
                            </p:stCondLst>
                            <p:childTnLst>
                              <p:par>
                                <p:cTn id="25" presetID="9" presetClass="entr" presetSubtype="0" fill="hold" nodeType="after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dissolve">
                                      <p:cBhvr>
                                        <p:cTn id="27" dur="500"/>
                                        <p:tgtEl>
                                          <p:spTgt spid="8"/>
                                        </p:tgtEl>
                                      </p:cBhvr>
                                    </p:animEffect>
                                  </p:childTnLst>
                                </p:cTn>
                              </p:par>
                            </p:childTnLst>
                          </p:cTn>
                        </p:par>
                        <p:par>
                          <p:cTn id="28" fill="hold">
                            <p:stCondLst>
                              <p:cond delay="1000"/>
                            </p:stCondLst>
                            <p:childTnLst>
                              <p:par>
                                <p:cTn id="29" presetID="9" presetClass="entr" presetSubtype="0" fill="hold" grpId="0" nodeType="afterEffect">
                                  <p:stCondLst>
                                    <p:cond delay="0"/>
                                  </p:stCondLst>
                                  <p:childTnLst>
                                    <p:set>
                                      <p:cBhvr>
                                        <p:cTn id="30" dur="1" fill="hold">
                                          <p:stCondLst>
                                            <p:cond delay="0"/>
                                          </p:stCondLst>
                                        </p:cTn>
                                        <p:tgtEl>
                                          <p:spTgt spid="31747">
                                            <p:txEl>
                                              <p:pRg st="7" end="7"/>
                                            </p:txEl>
                                          </p:spTgt>
                                        </p:tgtEl>
                                        <p:attrNameLst>
                                          <p:attrName>style.visibility</p:attrName>
                                        </p:attrNameLst>
                                      </p:cBhvr>
                                      <p:to>
                                        <p:strVal val="visible"/>
                                      </p:to>
                                    </p:set>
                                    <p:animEffect transition="in" filter="dissolve">
                                      <p:cBhvr>
                                        <p:cTn id="31" dur="500"/>
                                        <p:tgtEl>
                                          <p:spTgt spid="3174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7" grpId="0" uiExpand="1" build="allAtOnce"/>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533400" y="381000"/>
            <a:ext cx="8382000" cy="838200"/>
          </a:xfrm>
        </p:spPr>
        <p:txBody>
          <a:bodyPr/>
          <a:lstStyle/>
          <a:p>
            <a:pPr eaLnBrk="1" hangingPunct="1"/>
            <a:r>
              <a:rPr lang="en-GB" dirty="0" smtClean="0"/>
              <a:t>3. Functions: Revisit (2/3)</a:t>
            </a:r>
            <a:endParaRPr lang="en-GB" sz="4800" dirty="0" smtClean="0"/>
          </a:p>
        </p:txBody>
      </p:sp>
      <p:sp>
        <p:nvSpPr>
          <p:cNvPr id="17413" name="Slide Number Placeholder 7"/>
          <p:cNvSpPr>
            <a:spLocks noGrp="1"/>
          </p:cNvSpPr>
          <p:nvPr>
            <p:ph type="sldNum" sz="quarter" idx="12"/>
          </p:nvPr>
        </p:nvSpPr>
        <p:spPr/>
        <p:txBody>
          <a:bodyPr/>
          <a:lstStyle/>
          <a:p>
            <a:pPr>
              <a:defRPr/>
            </a:pPr>
            <a:r>
              <a:rPr dirty="0" smtClean="0">
                <a:cs typeface="Arial" pitchFamily="34" charset="0"/>
              </a:rPr>
              <a:t>Week6 - </a:t>
            </a:r>
            <a:fld id="{6879A84D-1230-4A2F-870B-2E0C284F8D37}" type="slidenum">
              <a:rPr smtClean="0">
                <a:cs typeface="Arial" pitchFamily="34" charset="0"/>
              </a:rPr>
              <a:pPr>
                <a:defRPr/>
              </a:pPr>
              <a:t>16</a:t>
            </a:fld>
            <a:endParaRPr dirty="0" smtClean="0">
              <a:cs typeface="Arial" pitchFamily="34" charset="0"/>
            </a:endParaRPr>
          </a:p>
        </p:txBody>
      </p:sp>
      <p:sp>
        <p:nvSpPr>
          <p:cNvPr id="31747" name="Rectangle 3"/>
          <p:cNvSpPr>
            <a:spLocks noGrp="1" noChangeArrowheads="1"/>
          </p:cNvSpPr>
          <p:nvPr>
            <p:ph sz="quarter" idx="1"/>
          </p:nvPr>
        </p:nvSpPr>
        <p:spPr>
          <a:xfrm>
            <a:off x="471488" y="1244184"/>
            <a:ext cx="7948612" cy="1057691"/>
          </a:xfrm>
        </p:spPr>
        <p:txBody>
          <a:bodyPr/>
          <a:lstStyle/>
          <a:p>
            <a:pPr marL="457200" indent="-457200" eaLnBrk="1" hangingPunct="1">
              <a:buSzPct val="100000"/>
              <a:buFont typeface="Wingdings" pitchFamily="2" charset="2"/>
              <a:buChar char="§"/>
            </a:pPr>
            <a:r>
              <a:rPr lang="en-GB" dirty="0" smtClean="0">
                <a:solidFill>
                  <a:schemeClr val="tx1"/>
                </a:solidFill>
              </a:rPr>
              <a:t>But a function can </a:t>
            </a:r>
            <a:r>
              <a:rPr lang="en-GB" u="sng" dirty="0" smtClean="0">
                <a:solidFill>
                  <a:srgbClr val="C00000"/>
                </a:solidFill>
              </a:rPr>
              <a:t>return only one value</a:t>
            </a:r>
            <a:r>
              <a:rPr lang="en-GB" dirty="0" smtClean="0">
                <a:solidFill>
                  <a:srgbClr val="C00000"/>
                </a:solidFill>
              </a:rPr>
              <a:t>!</a:t>
            </a:r>
          </a:p>
          <a:p>
            <a:pPr marL="457200" indent="-457200" eaLnBrk="1" hangingPunct="1">
              <a:buSzPct val="100000"/>
              <a:buFont typeface="Wingdings" pitchFamily="2" charset="2"/>
              <a:buChar char="§"/>
            </a:pPr>
            <a:r>
              <a:rPr lang="en-GB" dirty="0" smtClean="0">
                <a:solidFill>
                  <a:schemeClr val="tx1"/>
                </a:solidFill>
              </a:rPr>
              <a:t>What is the output of this program?</a:t>
            </a:r>
          </a:p>
          <a:p>
            <a:pPr marL="457200" indent="-457200" eaLnBrk="1" hangingPunct="1">
              <a:buSzPct val="120000"/>
              <a:buFont typeface="Wingdings" pitchFamily="2" charset="2"/>
              <a:buNone/>
            </a:pPr>
            <a:endParaRPr lang="en-GB" b="1" dirty="0" smtClean="0"/>
          </a:p>
          <a:p>
            <a:pPr marL="457200" indent="-457200" eaLnBrk="1" hangingPunct="1">
              <a:buSzPct val="120000"/>
              <a:buFont typeface="Wingdings" pitchFamily="2" charset="2"/>
              <a:buNone/>
            </a:pPr>
            <a:endParaRPr lang="en-GB" b="1" dirty="0" smtClean="0"/>
          </a:p>
          <a:p>
            <a:pPr marL="457200" indent="-457200" eaLnBrk="1" hangingPunct="1">
              <a:buSzPct val="120000"/>
              <a:buFont typeface="Wingdings" pitchFamily="2" charset="2"/>
              <a:buNone/>
            </a:pPr>
            <a:endParaRPr lang="en-GB" b="1" dirty="0" smtClean="0"/>
          </a:p>
          <a:p>
            <a:pPr marL="457200" indent="-457200" eaLnBrk="1" hangingPunct="1">
              <a:buSzPct val="120000"/>
              <a:buFont typeface="Wingdings" pitchFamily="2" charset="2"/>
              <a:buNone/>
            </a:pPr>
            <a:endParaRPr lang="en-GB" b="1" dirty="0" smtClean="0"/>
          </a:p>
          <a:p>
            <a:pPr marL="457200" indent="-457200" eaLnBrk="1" hangingPunct="1">
              <a:buSzPct val="120000"/>
              <a:buFont typeface="Wingdings" pitchFamily="2" charset="2"/>
              <a:buNone/>
            </a:pPr>
            <a:endParaRPr lang="en-GB" sz="2000" dirty="0" smtClean="0"/>
          </a:p>
        </p:txBody>
      </p:sp>
      <p:sp>
        <p:nvSpPr>
          <p:cNvPr id="9" name="Text Box 4"/>
          <p:cNvSpPr txBox="1">
            <a:spLocks noChangeArrowheads="1"/>
          </p:cNvSpPr>
          <p:nvPr/>
        </p:nvSpPr>
        <p:spPr bwMode="auto">
          <a:xfrm>
            <a:off x="152400" y="6400800"/>
            <a:ext cx="304800" cy="201613"/>
          </a:xfrm>
          <a:prstGeom prst="rect">
            <a:avLst/>
          </a:prstGeom>
          <a:noFill/>
          <a:ln w="9525">
            <a:noFill/>
            <a:miter lim="800000"/>
            <a:headEnd/>
            <a:tailEnd/>
          </a:ln>
        </p:spPr>
        <p:txBody>
          <a:bodyPr lIns="9144" tIns="9144" rIns="9144" bIns="9144">
            <a:spAutoFit/>
          </a:bodyPr>
          <a:lstStyle/>
          <a:p>
            <a:pPr algn="ctr">
              <a:spcBef>
                <a:spcPct val="50000"/>
              </a:spcBef>
            </a:pPr>
            <a:r>
              <a:rPr lang="en-US" sz="1200" dirty="0">
                <a:sym typeface="Wingdings 2" pitchFamily="18" charset="2"/>
              </a:rPr>
              <a:t></a:t>
            </a:r>
          </a:p>
        </p:txBody>
      </p:sp>
      <p:grpSp>
        <p:nvGrpSpPr>
          <p:cNvPr id="11" name="Group 10"/>
          <p:cNvGrpSpPr/>
          <p:nvPr/>
        </p:nvGrpSpPr>
        <p:grpSpPr>
          <a:xfrm>
            <a:off x="1519238" y="2188781"/>
            <a:ext cx="6230678" cy="4113575"/>
            <a:chOff x="1519238" y="2188781"/>
            <a:chExt cx="6230678" cy="4113575"/>
          </a:xfrm>
        </p:grpSpPr>
        <p:sp>
          <p:nvSpPr>
            <p:cNvPr id="6" name="TextBox 5"/>
            <p:cNvSpPr txBox="1"/>
            <p:nvPr/>
          </p:nvSpPr>
          <p:spPr>
            <a:xfrm>
              <a:off x="1519238" y="2332038"/>
              <a:ext cx="5616080" cy="3970318"/>
            </a:xfrm>
            <a:prstGeom prst="rect">
              <a:avLst/>
            </a:prstGeom>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wrap="square">
              <a:spAutoFit/>
            </a:bodyPr>
            <a:lstStyle/>
            <a:p>
              <a:pPr>
                <a:defRPr/>
              </a:pPr>
              <a:r>
                <a:rPr lang="en-US" b="1" dirty="0" smtClean="0">
                  <a:solidFill>
                    <a:srgbClr val="7030A0"/>
                  </a:solidFill>
                  <a:latin typeface="Courier New" pitchFamily="49" charset="0"/>
                  <a:cs typeface="Courier New" pitchFamily="49" charset="0"/>
                </a:rPr>
                <a:t>#include </a:t>
              </a:r>
              <a:r>
                <a:rPr lang="en-US" b="1" dirty="0" smtClean="0">
                  <a:solidFill>
                    <a:srgbClr val="006600"/>
                  </a:solidFill>
                  <a:latin typeface="Courier New" pitchFamily="49" charset="0"/>
                  <a:cs typeface="Courier New" pitchFamily="49" charset="0"/>
                </a:rPr>
                <a:t>&lt;</a:t>
              </a:r>
              <a:r>
                <a:rPr lang="en-US" b="1" dirty="0" err="1" smtClean="0">
                  <a:solidFill>
                    <a:srgbClr val="006600"/>
                  </a:solidFill>
                  <a:latin typeface="Courier New" pitchFamily="49" charset="0"/>
                  <a:cs typeface="Courier New" pitchFamily="49" charset="0"/>
                </a:rPr>
                <a:t>stdio.h</a:t>
              </a:r>
              <a:r>
                <a:rPr lang="en-US" b="1" dirty="0" smtClean="0">
                  <a:solidFill>
                    <a:srgbClr val="006600"/>
                  </a:solidFill>
                  <a:latin typeface="Courier New" pitchFamily="49" charset="0"/>
                  <a:cs typeface="Courier New" pitchFamily="49" charset="0"/>
                </a:rPr>
                <a:t>&gt;</a:t>
              </a:r>
            </a:p>
            <a:p>
              <a:pPr>
                <a:defRPr/>
              </a:pPr>
              <a:r>
                <a:rPr lang="en-US" b="1" dirty="0" err="1" smtClean="0">
                  <a:solidFill>
                    <a:srgbClr val="0000FF"/>
                  </a:solidFill>
                  <a:latin typeface="Courier New" pitchFamily="49" charset="0"/>
                  <a:cs typeface="Courier New" pitchFamily="49" charset="0"/>
                </a:rPr>
                <a:t>int</a:t>
              </a:r>
              <a:r>
                <a:rPr lang="en-US" b="1" dirty="0" smtClean="0">
                  <a:latin typeface="Courier New" pitchFamily="49" charset="0"/>
                  <a:cs typeface="Courier New" pitchFamily="49" charset="0"/>
                </a:rPr>
                <a:t> f(</a:t>
              </a:r>
              <a:r>
                <a:rPr lang="en-US" b="1" dirty="0" err="1" smtClean="0">
                  <a:solidFill>
                    <a:srgbClr val="0000FF"/>
                  </a:solidFill>
                  <a:latin typeface="Courier New" pitchFamily="49" charset="0"/>
                  <a:cs typeface="Courier New" pitchFamily="49" charset="0"/>
                </a:rPr>
                <a:t>int</a:t>
              </a:r>
              <a:r>
                <a:rPr lang="en-US" b="1" dirty="0" smtClean="0">
                  <a:latin typeface="Courier New" pitchFamily="49" charset="0"/>
                  <a:cs typeface="Courier New" pitchFamily="49" charset="0"/>
                </a:rPr>
                <a:t>, </a:t>
              </a:r>
              <a:r>
                <a:rPr lang="en-US" b="1" dirty="0" err="1" smtClean="0">
                  <a:solidFill>
                    <a:srgbClr val="0000FF"/>
                  </a:solidFill>
                  <a:latin typeface="Courier New" pitchFamily="49" charset="0"/>
                  <a:cs typeface="Courier New" pitchFamily="49" charset="0"/>
                </a:rPr>
                <a:t>int</a:t>
              </a:r>
              <a:r>
                <a:rPr lang="en-US" b="1" dirty="0" smtClean="0">
                  <a:latin typeface="Courier New" pitchFamily="49" charset="0"/>
                  <a:cs typeface="Courier New" pitchFamily="49" charset="0"/>
                </a:rPr>
                <a:t>, </a:t>
              </a:r>
              <a:r>
                <a:rPr lang="en-US" b="1" dirty="0" err="1" smtClean="0">
                  <a:solidFill>
                    <a:srgbClr val="0000FF"/>
                  </a:solidFill>
                  <a:latin typeface="Courier New" pitchFamily="49" charset="0"/>
                  <a:cs typeface="Courier New" pitchFamily="49" charset="0"/>
                </a:rPr>
                <a:t>int</a:t>
              </a:r>
              <a:r>
                <a:rPr lang="en-US" b="1" dirty="0" smtClean="0">
                  <a:latin typeface="Courier New" pitchFamily="49" charset="0"/>
                  <a:cs typeface="Courier New" pitchFamily="49" charset="0"/>
                </a:rPr>
                <a:t>);</a:t>
              </a:r>
            </a:p>
            <a:p>
              <a:pPr>
                <a:defRPr/>
              </a:pPr>
              <a:endParaRPr lang="en-US" b="1" dirty="0">
                <a:latin typeface="Courier New" pitchFamily="49" charset="0"/>
                <a:cs typeface="Courier New" pitchFamily="49" charset="0"/>
              </a:endParaRPr>
            </a:p>
            <a:p>
              <a:pPr>
                <a:defRPr/>
              </a:pPr>
              <a:r>
                <a:rPr lang="en-US" b="1" dirty="0" err="1">
                  <a:solidFill>
                    <a:srgbClr val="0000FF"/>
                  </a:solidFill>
                  <a:latin typeface="Courier New" pitchFamily="49" charset="0"/>
                  <a:cs typeface="Courier New" pitchFamily="49" charset="0"/>
                </a:rPr>
                <a:t>int</a:t>
              </a:r>
              <a:r>
                <a:rPr lang="en-US" b="1" dirty="0">
                  <a:latin typeface="Courier New" pitchFamily="49" charset="0"/>
                  <a:cs typeface="Courier New" pitchFamily="49" charset="0"/>
                </a:rPr>
                <a:t> main(</a:t>
              </a:r>
              <a:r>
                <a:rPr lang="en-US" b="1" dirty="0">
                  <a:solidFill>
                    <a:srgbClr val="0000FF"/>
                  </a:solidFill>
                  <a:latin typeface="Courier New" pitchFamily="49" charset="0"/>
                  <a:cs typeface="Courier New" pitchFamily="49" charset="0"/>
                </a:rPr>
                <a:t>void</a:t>
              </a:r>
              <a:r>
                <a:rPr lang="en-US" b="1" dirty="0">
                  <a:latin typeface="Courier New" pitchFamily="49" charset="0"/>
                  <a:cs typeface="Courier New" pitchFamily="49" charset="0"/>
                </a:rPr>
                <a:t>) {</a:t>
              </a:r>
            </a:p>
            <a:p>
              <a:pPr>
                <a:defRPr/>
              </a:pPr>
              <a:r>
                <a:rPr lang="en-US" b="1" dirty="0">
                  <a:latin typeface="Courier New" pitchFamily="49" charset="0"/>
                  <a:cs typeface="Courier New" pitchFamily="49" charset="0"/>
                </a:rPr>
                <a:t>    </a:t>
              </a:r>
              <a:r>
                <a:rPr lang="en-US" b="1" dirty="0" err="1">
                  <a:solidFill>
                    <a:srgbClr val="0000FF"/>
                  </a:solidFill>
                  <a:latin typeface="Courier New" pitchFamily="49" charset="0"/>
                  <a:cs typeface="Courier New" pitchFamily="49" charset="0"/>
                </a:rPr>
                <a:t>int</a:t>
              </a:r>
              <a:r>
                <a:rPr lang="en-US" b="1" dirty="0">
                  <a:latin typeface="Courier New" pitchFamily="49" charset="0"/>
                  <a:cs typeface="Courier New" pitchFamily="49" charset="0"/>
                </a:rPr>
                <a:t> a = </a:t>
              </a:r>
              <a:r>
                <a:rPr lang="en-US" b="1" dirty="0" smtClean="0">
                  <a:solidFill>
                    <a:srgbClr val="006600"/>
                  </a:solidFill>
                  <a:latin typeface="Courier New" pitchFamily="49" charset="0"/>
                  <a:cs typeface="Courier New" pitchFamily="49" charset="0"/>
                </a:rPr>
                <a:t>9</a:t>
              </a:r>
              <a:r>
                <a:rPr lang="en-US" b="1" dirty="0" smtClean="0">
                  <a:latin typeface="Courier New" pitchFamily="49" charset="0"/>
                  <a:cs typeface="Courier New" pitchFamily="49" charset="0"/>
                </a:rPr>
                <a:t>, </a:t>
              </a:r>
              <a:r>
                <a:rPr lang="en-US" b="1" dirty="0">
                  <a:latin typeface="Courier New" pitchFamily="49" charset="0"/>
                  <a:cs typeface="Courier New" pitchFamily="49" charset="0"/>
                </a:rPr>
                <a:t>b = </a:t>
              </a:r>
              <a:r>
                <a:rPr lang="en-US" b="1" dirty="0">
                  <a:solidFill>
                    <a:srgbClr val="006600"/>
                  </a:solidFill>
                  <a:latin typeface="Courier New" pitchFamily="49" charset="0"/>
                  <a:cs typeface="Courier New" pitchFamily="49" charset="0"/>
                </a:rPr>
                <a:t>-2</a:t>
              </a:r>
              <a:r>
                <a:rPr lang="en-US" b="1" dirty="0">
                  <a:latin typeface="Courier New" pitchFamily="49" charset="0"/>
                  <a:cs typeface="Courier New" pitchFamily="49" charset="0"/>
                </a:rPr>
                <a:t>, c = </a:t>
              </a:r>
              <a:r>
                <a:rPr lang="en-US" b="1" dirty="0">
                  <a:solidFill>
                    <a:srgbClr val="006600"/>
                  </a:solidFill>
                  <a:latin typeface="Courier New" pitchFamily="49" charset="0"/>
                  <a:cs typeface="Courier New" pitchFamily="49" charset="0"/>
                </a:rPr>
                <a:t>5</a:t>
              </a:r>
              <a:r>
                <a:rPr lang="en-US" b="1" dirty="0">
                  <a:latin typeface="Courier New" pitchFamily="49" charset="0"/>
                  <a:cs typeface="Courier New" pitchFamily="49" charset="0"/>
                </a:rPr>
                <a:t>;</a:t>
              </a:r>
            </a:p>
            <a:p>
              <a:pPr>
                <a:defRPr/>
              </a:pPr>
              <a:r>
                <a:rPr lang="en-US" b="1" dirty="0">
                  <a:latin typeface="Courier New" pitchFamily="49" charset="0"/>
                  <a:cs typeface="Courier New" pitchFamily="49" charset="0"/>
                </a:rPr>
                <a:t>    </a:t>
              </a:r>
              <a:r>
                <a:rPr lang="en-US" b="1" dirty="0" err="1">
                  <a:latin typeface="Courier New" pitchFamily="49" charset="0"/>
                  <a:cs typeface="Courier New" pitchFamily="49" charset="0"/>
                </a:rPr>
                <a:t>printf</a:t>
              </a:r>
              <a:r>
                <a:rPr lang="en-US" b="1" dirty="0">
                  <a:latin typeface="Courier New" pitchFamily="49" charset="0"/>
                  <a:cs typeface="Courier New" pitchFamily="49" charset="0"/>
                </a:rPr>
                <a:t>(</a:t>
              </a:r>
              <a:r>
                <a:rPr lang="en-US" b="1" dirty="0">
                  <a:solidFill>
                    <a:srgbClr val="006600"/>
                  </a:solidFill>
                  <a:latin typeface="Courier New" pitchFamily="49" charset="0"/>
                  <a:cs typeface="Courier New" pitchFamily="49" charset="0"/>
                </a:rPr>
                <a:t>"Result = </a:t>
              </a:r>
              <a:r>
                <a:rPr lang="en-US" b="1" dirty="0">
                  <a:solidFill>
                    <a:srgbClr val="FF0000"/>
                  </a:solidFill>
                  <a:latin typeface="Courier New" pitchFamily="49" charset="0"/>
                  <a:cs typeface="Courier New" pitchFamily="49" charset="0"/>
                </a:rPr>
                <a:t>%d\n</a:t>
              </a:r>
              <a:r>
                <a:rPr lang="en-US" b="1" dirty="0">
                  <a:solidFill>
                    <a:srgbClr val="006600"/>
                  </a:solidFill>
                  <a:latin typeface="Courier New" pitchFamily="49" charset="0"/>
                  <a:cs typeface="Courier New" pitchFamily="49" charset="0"/>
                </a:rPr>
                <a:t>"</a:t>
              </a:r>
              <a:r>
                <a:rPr lang="en-US" b="1" dirty="0">
                  <a:latin typeface="Courier New" pitchFamily="49" charset="0"/>
                  <a:cs typeface="Courier New" pitchFamily="49" charset="0"/>
                </a:rPr>
                <a:t>, f(</a:t>
              </a:r>
              <a:r>
                <a:rPr lang="en-US" b="1" dirty="0" err="1">
                  <a:latin typeface="Courier New" pitchFamily="49" charset="0"/>
                  <a:cs typeface="Courier New" pitchFamily="49" charset="0"/>
                </a:rPr>
                <a:t>a,b,c</a:t>
              </a:r>
              <a:r>
                <a:rPr lang="en-US" b="1" dirty="0">
                  <a:latin typeface="Courier New" pitchFamily="49" charset="0"/>
                  <a:cs typeface="Courier New" pitchFamily="49" charset="0"/>
                </a:rPr>
                <a:t>));</a:t>
              </a:r>
            </a:p>
            <a:p>
              <a:pPr>
                <a:defRPr/>
              </a:pPr>
              <a:r>
                <a:rPr lang="en-US" b="1" dirty="0">
                  <a:latin typeface="Courier New" pitchFamily="49" charset="0"/>
                  <a:cs typeface="Courier New" pitchFamily="49" charset="0"/>
                </a:rPr>
                <a:t>    </a:t>
              </a:r>
              <a:r>
                <a:rPr lang="en-US" b="1" dirty="0">
                  <a:solidFill>
                    <a:srgbClr val="0000FF"/>
                  </a:solidFill>
                  <a:latin typeface="Courier New" pitchFamily="49" charset="0"/>
                  <a:cs typeface="Courier New" pitchFamily="49" charset="0"/>
                </a:rPr>
                <a:t>return</a:t>
              </a:r>
              <a:r>
                <a:rPr lang="en-US" b="1" dirty="0">
                  <a:latin typeface="Courier New" pitchFamily="49" charset="0"/>
                  <a:cs typeface="Courier New" pitchFamily="49" charset="0"/>
                </a:rPr>
                <a:t> </a:t>
              </a:r>
              <a:r>
                <a:rPr lang="en-US" b="1" dirty="0">
                  <a:solidFill>
                    <a:srgbClr val="006600"/>
                  </a:solidFill>
                  <a:latin typeface="Courier New" pitchFamily="49" charset="0"/>
                  <a:cs typeface="Courier New" pitchFamily="49" charset="0"/>
                </a:rPr>
                <a:t>0</a:t>
              </a:r>
              <a:r>
                <a:rPr lang="en-US" b="1" dirty="0">
                  <a:latin typeface="Courier New" pitchFamily="49" charset="0"/>
                  <a:cs typeface="Courier New" pitchFamily="49" charset="0"/>
                </a:rPr>
                <a:t>;</a:t>
              </a:r>
            </a:p>
            <a:p>
              <a:pPr>
                <a:defRPr/>
              </a:pPr>
              <a:r>
                <a:rPr lang="en-US" b="1" dirty="0">
                  <a:latin typeface="Courier New" pitchFamily="49" charset="0"/>
                  <a:cs typeface="Courier New" pitchFamily="49" charset="0"/>
                </a:rPr>
                <a:t>}</a:t>
              </a:r>
            </a:p>
            <a:p>
              <a:pPr>
                <a:defRPr/>
              </a:pPr>
              <a:endParaRPr lang="en-US" b="1" dirty="0">
                <a:latin typeface="Courier New" pitchFamily="49" charset="0"/>
                <a:cs typeface="Courier New" pitchFamily="49" charset="0"/>
              </a:endParaRPr>
            </a:p>
            <a:p>
              <a:pPr>
                <a:defRPr/>
              </a:pPr>
              <a:r>
                <a:rPr lang="en-US" b="1" dirty="0" err="1">
                  <a:solidFill>
                    <a:srgbClr val="0000FF"/>
                  </a:solidFill>
                  <a:latin typeface="Courier New" pitchFamily="49" charset="0"/>
                  <a:cs typeface="Courier New" pitchFamily="49" charset="0"/>
                </a:rPr>
                <a:t>int</a:t>
              </a:r>
              <a:r>
                <a:rPr lang="en-US" b="1" dirty="0">
                  <a:latin typeface="Courier New" pitchFamily="49" charset="0"/>
                  <a:cs typeface="Courier New" pitchFamily="49" charset="0"/>
                </a:rPr>
                <a:t> f(</a:t>
              </a:r>
              <a:r>
                <a:rPr lang="en-US" b="1" dirty="0" err="1">
                  <a:solidFill>
                    <a:srgbClr val="0000FF"/>
                  </a:solidFill>
                  <a:latin typeface="Courier New" pitchFamily="49" charset="0"/>
                  <a:cs typeface="Courier New" pitchFamily="49" charset="0"/>
                </a:rPr>
                <a:t>int</a:t>
              </a:r>
              <a:r>
                <a:rPr lang="en-US" b="1" dirty="0">
                  <a:latin typeface="Courier New" pitchFamily="49" charset="0"/>
                  <a:cs typeface="Courier New" pitchFamily="49" charset="0"/>
                </a:rPr>
                <a:t> x, </a:t>
              </a:r>
              <a:r>
                <a:rPr lang="en-US" b="1" dirty="0" err="1">
                  <a:solidFill>
                    <a:srgbClr val="0000FF"/>
                  </a:solidFill>
                  <a:latin typeface="Courier New" pitchFamily="49" charset="0"/>
                  <a:cs typeface="Courier New" pitchFamily="49" charset="0"/>
                </a:rPr>
                <a:t>int</a:t>
              </a:r>
              <a:r>
                <a:rPr lang="en-US" b="1" dirty="0">
                  <a:latin typeface="Courier New" pitchFamily="49" charset="0"/>
                  <a:cs typeface="Courier New" pitchFamily="49" charset="0"/>
                </a:rPr>
                <a:t> y, </a:t>
              </a:r>
              <a:r>
                <a:rPr lang="en-US" b="1" dirty="0" err="1">
                  <a:solidFill>
                    <a:srgbClr val="0000FF"/>
                  </a:solidFill>
                  <a:latin typeface="Courier New" pitchFamily="49" charset="0"/>
                  <a:cs typeface="Courier New" pitchFamily="49" charset="0"/>
                </a:rPr>
                <a:t>int</a:t>
              </a:r>
              <a:r>
                <a:rPr lang="en-US" b="1" dirty="0">
                  <a:latin typeface="Courier New" pitchFamily="49" charset="0"/>
                  <a:cs typeface="Courier New" pitchFamily="49" charset="0"/>
                </a:rPr>
                <a:t> z</a:t>
              </a:r>
              <a:r>
                <a:rPr lang="en-US" b="1" dirty="0" smtClean="0">
                  <a:latin typeface="Courier New" pitchFamily="49" charset="0"/>
                  <a:cs typeface="Courier New" pitchFamily="49" charset="0"/>
                </a:rPr>
                <a:t>) {</a:t>
              </a:r>
              <a:endParaRPr lang="en-US" b="1" dirty="0">
                <a:latin typeface="Courier New" pitchFamily="49" charset="0"/>
                <a:cs typeface="Courier New" pitchFamily="49" charset="0"/>
              </a:endParaRPr>
            </a:p>
            <a:p>
              <a:pPr>
                <a:defRPr/>
              </a:pPr>
              <a:r>
                <a:rPr lang="en-US" b="1" dirty="0">
                  <a:latin typeface="Courier New" pitchFamily="49" charset="0"/>
                  <a:cs typeface="Courier New" pitchFamily="49" charset="0"/>
                </a:rPr>
                <a:t>    </a:t>
              </a:r>
              <a:r>
                <a:rPr lang="en-US" b="1" dirty="0">
                  <a:solidFill>
                    <a:srgbClr val="0000FF"/>
                  </a:solidFill>
                  <a:latin typeface="Courier New" pitchFamily="49" charset="0"/>
                  <a:cs typeface="Courier New" pitchFamily="49" charset="0"/>
                </a:rPr>
                <a:t>return</a:t>
              </a:r>
              <a:r>
                <a:rPr lang="en-US" b="1" dirty="0">
                  <a:latin typeface="Courier New" pitchFamily="49" charset="0"/>
                  <a:cs typeface="Courier New" pitchFamily="49" charset="0"/>
                </a:rPr>
                <a:t> </a:t>
              </a:r>
              <a:r>
                <a:rPr lang="en-US" b="1" dirty="0" err="1" smtClean="0">
                  <a:latin typeface="Courier New" pitchFamily="49" charset="0"/>
                  <a:cs typeface="Courier New" pitchFamily="49" charset="0"/>
                </a:rPr>
                <a:t>x+y</a:t>
              </a:r>
              <a:r>
                <a:rPr lang="en-US" b="1" dirty="0" smtClean="0">
                  <a:latin typeface="Courier New" pitchFamily="49" charset="0"/>
                  <a:cs typeface="Courier New" pitchFamily="49" charset="0"/>
                </a:rPr>
                <a:t>;</a:t>
              </a:r>
              <a:endParaRPr lang="en-US" b="1" dirty="0">
                <a:latin typeface="Courier New" pitchFamily="49" charset="0"/>
                <a:cs typeface="Courier New" pitchFamily="49" charset="0"/>
              </a:endParaRPr>
            </a:p>
            <a:p>
              <a:pPr>
                <a:defRPr/>
              </a:pPr>
              <a:r>
                <a:rPr lang="en-US" b="1" dirty="0">
                  <a:latin typeface="Courier New" pitchFamily="49" charset="0"/>
                  <a:cs typeface="Courier New" pitchFamily="49" charset="0"/>
                </a:rPr>
                <a:t>    </a:t>
              </a:r>
              <a:r>
                <a:rPr lang="en-US" b="1" dirty="0">
                  <a:solidFill>
                    <a:srgbClr val="0000FF"/>
                  </a:solidFill>
                  <a:latin typeface="Courier New" pitchFamily="49" charset="0"/>
                  <a:cs typeface="Courier New" pitchFamily="49" charset="0"/>
                </a:rPr>
                <a:t>return</a:t>
              </a:r>
              <a:r>
                <a:rPr lang="en-US" b="1" dirty="0">
                  <a:latin typeface="Courier New" pitchFamily="49" charset="0"/>
                  <a:cs typeface="Courier New" pitchFamily="49" charset="0"/>
                </a:rPr>
                <a:t> </a:t>
              </a:r>
              <a:r>
                <a:rPr lang="en-US" b="1" dirty="0" err="1" smtClean="0">
                  <a:latin typeface="Courier New" pitchFamily="49" charset="0"/>
                  <a:cs typeface="Courier New" pitchFamily="49" charset="0"/>
                </a:rPr>
                <a:t>y+z</a:t>
              </a:r>
              <a:r>
                <a:rPr lang="en-US" b="1" dirty="0" smtClean="0">
                  <a:latin typeface="Courier New" pitchFamily="49" charset="0"/>
                  <a:cs typeface="Courier New" pitchFamily="49" charset="0"/>
                </a:rPr>
                <a:t>;</a:t>
              </a:r>
              <a:endParaRPr lang="en-US" b="1" dirty="0">
                <a:latin typeface="Courier New" pitchFamily="49" charset="0"/>
                <a:cs typeface="Courier New" pitchFamily="49" charset="0"/>
              </a:endParaRPr>
            </a:p>
            <a:p>
              <a:pPr>
                <a:defRPr/>
              </a:pPr>
              <a:r>
                <a:rPr lang="en-US" b="1" dirty="0">
                  <a:latin typeface="Courier New" pitchFamily="49" charset="0"/>
                  <a:cs typeface="Courier New" pitchFamily="49" charset="0"/>
                </a:rPr>
                <a:t>    </a:t>
              </a:r>
              <a:r>
                <a:rPr lang="en-US" b="1" dirty="0">
                  <a:solidFill>
                    <a:srgbClr val="0000FF"/>
                  </a:solidFill>
                  <a:latin typeface="Courier New" pitchFamily="49" charset="0"/>
                  <a:cs typeface="Courier New" pitchFamily="49" charset="0"/>
                </a:rPr>
                <a:t>return</a:t>
              </a:r>
              <a:r>
                <a:rPr lang="en-US" b="1" dirty="0">
                  <a:latin typeface="Courier New" pitchFamily="49" charset="0"/>
                  <a:cs typeface="Courier New" pitchFamily="49" charset="0"/>
                </a:rPr>
                <a:t> </a:t>
              </a:r>
              <a:r>
                <a:rPr lang="en-US" b="1" dirty="0" err="1" smtClean="0">
                  <a:latin typeface="Courier New" pitchFamily="49" charset="0"/>
                  <a:cs typeface="Courier New" pitchFamily="49" charset="0"/>
                </a:rPr>
                <a:t>z+x</a:t>
              </a:r>
              <a:r>
                <a:rPr lang="en-US" b="1" dirty="0" smtClean="0">
                  <a:latin typeface="Courier New" pitchFamily="49" charset="0"/>
                  <a:cs typeface="Courier New" pitchFamily="49" charset="0"/>
                </a:rPr>
                <a:t>;</a:t>
              </a:r>
              <a:endParaRPr lang="en-US" b="1" dirty="0">
                <a:latin typeface="Courier New" pitchFamily="49" charset="0"/>
                <a:cs typeface="Courier New" pitchFamily="49" charset="0"/>
              </a:endParaRPr>
            </a:p>
            <a:p>
              <a:pPr>
                <a:defRPr/>
              </a:pPr>
              <a:r>
                <a:rPr lang="en-US" b="1" dirty="0">
                  <a:latin typeface="Courier New" pitchFamily="49" charset="0"/>
                  <a:cs typeface="Courier New" pitchFamily="49" charset="0"/>
                </a:rPr>
                <a:t>} </a:t>
              </a:r>
            </a:p>
          </p:txBody>
        </p:sp>
        <p:sp>
          <p:nvSpPr>
            <p:cNvPr id="10" name="TextBox 9"/>
            <p:cNvSpPr txBox="1"/>
            <p:nvPr/>
          </p:nvSpPr>
          <p:spPr>
            <a:xfrm>
              <a:off x="4803748" y="2188781"/>
              <a:ext cx="2946168" cy="369332"/>
            </a:xfrm>
            <a:prstGeom prst="rect">
              <a:avLst/>
            </a:prstGeom>
            <a:solidFill>
              <a:srgbClr val="FFFF99"/>
            </a:solidFill>
            <a:ln>
              <a:solidFill>
                <a:schemeClr val="tx1"/>
              </a:solidFill>
            </a:ln>
          </p:spPr>
          <p:txBody>
            <a:bodyPr wrap="square" rtlCol="0">
              <a:spAutoFit/>
            </a:bodyPr>
            <a:lstStyle/>
            <a:p>
              <a:r>
                <a:rPr lang="en-US" dirty="0" smtClean="0"/>
                <a:t>Week6_MultipleReturns.c</a:t>
              </a:r>
              <a:endParaRPr lang="en-SG" dirty="0"/>
            </a:p>
          </p:txBody>
        </p:sp>
      </p:gr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dissolve">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533400" y="381000"/>
            <a:ext cx="8382000" cy="838200"/>
          </a:xfrm>
        </p:spPr>
        <p:txBody>
          <a:bodyPr/>
          <a:lstStyle/>
          <a:p>
            <a:pPr eaLnBrk="1" hangingPunct="1"/>
            <a:r>
              <a:rPr lang="en-GB" dirty="0" smtClean="0"/>
              <a:t>3. Functions: Revisit (3/3)</a:t>
            </a:r>
            <a:endParaRPr lang="en-GB" sz="4800" dirty="0" smtClean="0"/>
          </a:p>
        </p:txBody>
      </p:sp>
      <p:sp>
        <p:nvSpPr>
          <p:cNvPr id="18437" name="Slide Number Placeholder 7"/>
          <p:cNvSpPr>
            <a:spLocks noGrp="1"/>
          </p:cNvSpPr>
          <p:nvPr>
            <p:ph type="sldNum" sz="quarter" idx="12"/>
          </p:nvPr>
        </p:nvSpPr>
        <p:spPr/>
        <p:txBody>
          <a:bodyPr/>
          <a:lstStyle/>
          <a:p>
            <a:pPr>
              <a:defRPr/>
            </a:pPr>
            <a:r>
              <a:rPr dirty="0" smtClean="0">
                <a:cs typeface="Arial" pitchFamily="34" charset="0"/>
              </a:rPr>
              <a:t>Week6 - </a:t>
            </a:r>
            <a:fld id="{9F899F8B-EE1C-478A-84BF-9CDDFA8ED853}" type="slidenum">
              <a:rPr smtClean="0">
                <a:cs typeface="Arial" pitchFamily="34" charset="0"/>
              </a:rPr>
              <a:pPr>
                <a:defRPr/>
              </a:pPr>
              <a:t>17</a:t>
            </a:fld>
            <a:endParaRPr dirty="0" smtClean="0">
              <a:cs typeface="Arial" pitchFamily="34" charset="0"/>
            </a:endParaRPr>
          </a:p>
        </p:txBody>
      </p:sp>
      <p:sp>
        <p:nvSpPr>
          <p:cNvPr id="31747" name="Rectangle 3"/>
          <p:cNvSpPr>
            <a:spLocks noGrp="1" noChangeArrowheads="1"/>
          </p:cNvSpPr>
          <p:nvPr>
            <p:ph sz="quarter" idx="1"/>
          </p:nvPr>
        </p:nvSpPr>
        <p:spPr>
          <a:xfrm>
            <a:off x="471488" y="1408113"/>
            <a:ext cx="7948612" cy="4960937"/>
          </a:xfrm>
        </p:spPr>
        <p:txBody>
          <a:bodyPr/>
          <a:lstStyle/>
          <a:p>
            <a:pPr marL="457200" indent="-457200" eaLnBrk="1" hangingPunct="1">
              <a:spcBef>
                <a:spcPts val="600"/>
              </a:spcBef>
              <a:buSzPct val="100000"/>
              <a:buFont typeface="Wingdings" pitchFamily="2" charset="2"/>
              <a:buChar char="§"/>
            </a:pPr>
            <a:r>
              <a:rPr lang="en-GB" dirty="0" smtClean="0">
                <a:solidFill>
                  <a:schemeClr val="tx1"/>
                </a:solidFill>
              </a:rPr>
              <a:t>What if we really need to “return” more than one value to the caller?</a:t>
            </a:r>
          </a:p>
          <a:p>
            <a:pPr marL="457200" indent="-457200" eaLnBrk="1" hangingPunct="1">
              <a:spcBef>
                <a:spcPts val="600"/>
              </a:spcBef>
              <a:buSzPct val="100000"/>
              <a:buFont typeface="Wingdings" pitchFamily="2" charset="2"/>
              <a:buChar char="§"/>
            </a:pPr>
            <a:r>
              <a:rPr lang="en-GB" dirty="0" smtClean="0">
                <a:solidFill>
                  <a:schemeClr val="tx1"/>
                </a:solidFill>
              </a:rPr>
              <a:t>2 possible approaches</a:t>
            </a:r>
          </a:p>
          <a:p>
            <a:pPr marL="457200" indent="-457200" eaLnBrk="1" hangingPunct="1">
              <a:spcBef>
                <a:spcPts val="600"/>
              </a:spcBef>
              <a:buSzPct val="100000"/>
              <a:buFont typeface="Wingdings" pitchFamily="2" charset="2"/>
              <a:buChar char="§"/>
            </a:pPr>
            <a:r>
              <a:rPr lang="en-GB" dirty="0" smtClean="0">
                <a:solidFill>
                  <a:schemeClr val="tx1"/>
                </a:solidFill>
              </a:rPr>
              <a:t>Approach 1</a:t>
            </a:r>
          </a:p>
          <a:p>
            <a:pPr marL="857250" lvl="1" indent="-457200" eaLnBrk="1" hangingPunct="1">
              <a:spcBef>
                <a:spcPts val="600"/>
              </a:spcBef>
              <a:buSzPct val="100000"/>
              <a:buFont typeface="Wingdings" pitchFamily="2" charset="2"/>
              <a:buChar char="§"/>
            </a:pPr>
            <a:r>
              <a:rPr lang="en-GB" dirty="0" smtClean="0"/>
              <a:t>Returning </a:t>
            </a:r>
            <a:r>
              <a:rPr lang="en-GB" dirty="0" smtClean="0">
                <a:solidFill>
                  <a:srgbClr val="0000FF"/>
                </a:solidFill>
              </a:rPr>
              <a:t>a collection of data </a:t>
            </a:r>
            <a:r>
              <a:rPr lang="en-GB" dirty="0" smtClean="0"/>
              <a:t>(e.g.: array, structure)  </a:t>
            </a:r>
          </a:p>
          <a:p>
            <a:pPr marL="857250" lvl="1" indent="-457200" eaLnBrk="1" hangingPunct="1">
              <a:spcBef>
                <a:spcPts val="600"/>
              </a:spcBef>
              <a:buSzPct val="100000"/>
              <a:buFont typeface="Wingdings" pitchFamily="2" charset="2"/>
              <a:buChar char="§"/>
            </a:pPr>
            <a:r>
              <a:rPr lang="en-GB" dirty="0" smtClean="0"/>
              <a:t>We will discuss this another time</a:t>
            </a:r>
          </a:p>
          <a:p>
            <a:pPr marL="457200" indent="-457200" eaLnBrk="1" hangingPunct="1">
              <a:spcBef>
                <a:spcPts val="600"/>
              </a:spcBef>
              <a:buSzPct val="100000"/>
              <a:buFont typeface="Wingdings" pitchFamily="2" charset="2"/>
              <a:buChar char="§"/>
            </a:pPr>
            <a:r>
              <a:rPr lang="en-GB" dirty="0" smtClean="0">
                <a:solidFill>
                  <a:schemeClr val="tx1"/>
                </a:solidFill>
              </a:rPr>
              <a:t>Approach 2</a:t>
            </a:r>
          </a:p>
          <a:p>
            <a:pPr marL="857250" lvl="1" indent="-457200" eaLnBrk="1" hangingPunct="1">
              <a:spcBef>
                <a:spcPts val="600"/>
              </a:spcBef>
              <a:buSzPct val="100000"/>
              <a:buFont typeface="Wingdings" pitchFamily="2" charset="2"/>
              <a:buChar char="§"/>
            </a:pPr>
            <a:r>
              <a:rPr lang="en-GB" dirty="0" smtClean="0"/>
              <a:t>Declare variables in the caller to hold these values, and pass the </a:t>
            </a:r>
            <a:r>
              <a:rPr lang="en-GB" dirty="0" smtClean="0">
                <a:solidFill>
                  <a:srgbClr val="0000FF"/>
                </a:solidFill>
              </a:rPr>
              <a:t>addresses</a:t>
            </a:r>
            <a:r>
              <a:rPr lang="en-GB" dirty="0" smtClean="0"/>
              <a:t> of these variables to the function</a:t>
            </a:r>
          </a:p>
          <a:p>
            <a:pPr marL="857250" lvl="1" indent="-457200" eaLnBrk="1" hangingPunct="1">
              <a:spcBef>
                <a:spcPts val="600"/>
              </a:spcBef>
              <a:buSzPct val="100000"/>
              <a:buFont typeface="Wingdings" pitchFamily="2" charset="2"/>
              <a:buChar char="§"/>
            </a:pPr>
            <a:r>
              <a:rPr lang="en-GB" dirty="0" smtClean="0"/>
              <a:t>This involves the use of </a:t>
            </a:r>
            <a:r>
              <a:rPr lang="en-GB" dirty="0" smtClean="0">
                <a:solidFill>
                  <a:srgbClr val="C00000"/>
                </a:solidFill>
              </a:rPr>
              <a:t>&amp;</a:t>
            </a:r>
            <a:r>
              <a:rPr lang="en-GB" dirty="0" smtClean="0"/>
              <a:t> (address operator) and </a:t>
            </a:r>
            <a:r>
              <a:rPr lang="en-GB" dirty="0" smtClean="0">
                <a:solidFill>
                  <a:srgbClr val="C00000"/>
                </a:solidFill>
              </a:rPr>
              <a:t>*</a:t>
            </a:r>
            <a:r>
              <a:rPr lang="en-GB" dirty="0" smtClean="0"/>
              <a:t> (indirection operator; also known as the dreaded pointer)</a:t>
            </a:r>
          </a:p>
          <a:p>
            <a:pPr marL="457200" indent="-457200" eaLnBrk="1" hangingPunct="1">
              <a:buSzPct val="120000"/>
              <a:buFont typeface="Wingdings" pitchFamily="2" charset="2"/>
              <a:buNone/>
            </a:pPr>
            <a:endParaRPr lang="en-GB" b="1" dirty="0" smtClean="0"/>
          </a:p>
          <a:p>
            <a:pPr marL="457200" indent="-457200" eaLnBrk="1" hangingPunct="1">
              <a:buSzPct val="120000"/>
              <a:buFont typeface="Wingdings" pitchFamily="2" charset="2"/>
              <a:buNone/>
            </a:pPr>
            <a:endParaRPr lang="en-GB" b="1" dirty="0" smtClean="0"/>
          </a:p>
          <a:p>
            <a:pPr marL="457200" indent="-457200" eaLnBrk="1" hangingPunct="1">
              <a:buSzPct val="120000"/>
              <a:buFont typeface="Wingdings" pitchFamily="2" charset="2"/>
              <a:buNone/>
            </a:pPr>
            <a:endParaRPr lang="en-GB" b="1" dirty="0" smtClean="0"/>
          </a:p>
          <a:p>
            <a:pPr marL="457200" indent="-457200" eaLnBrk="1" hangingPunct="1">
              <a:buSzPct val="120000"/>
              <a:buFont typeface="Wingdings" pitchFamily="2" charset="2"/>
              <a:buNone/>
            </a:pPr>
            <a:endParaRPr lang="en-GB" b="1" dirty="0" smtClean="0"/>
          </a:p>
          <a:p>
            <a:pPr marL="457200" indent="-457200" eaLnBrk="1" hangingPunct="1">
              <a:buSzPct val="120000"/>
              <a:buFont typeface="Wingdings" pitchFamily="2" charset="2"/>
              <a:buNone/>
            </a:pPr>
            <a:endParaRPr lang="en-GB" sz="2000" dirty="0" smtClean="0"/>
          </a:p>
        </p:txBody>
      </p:sp>
    </p:spTree>
  </p:cSld>
  <p:clrMapOvr>
    <a:masterClrMapping/>
  </p:clrMapOvr>
  <p:transition>
    <p:fade/>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533400" y="381000"/>
            <a:ext cx="8382000" cy="838200"/>
          </a:xfrm>
        </p:spPr>
        <p:txBody>
          <a:bodyPr/>
          <a:lstStyle/>
          <a:p>
            <a:pPr eaLnBrk="1" hangingPunct="1"/>
            <a:r>
              <a:rPr lang="en-GB" dirty="0" smtClean="0"/>
              <a:t>4. Pointer Variables (1/2)</a:t>
            </a:r>
            <a:endParaRPr lang="en-GB" sz="4800" dirty="0" smtClean="0"/>
          </a:p>
        </p:txBody>
      </p:sp>
      <p:sp>
        <p:nvSpPr>
          <p:cNvPr id="20485" name="Slide Number Placeholder 7"/>
          <p:cNvSpPr>
            <a:spLocks noGrp="1"/>
          </p:cNvSpPr>
          <p:nvPr>
            <p:ph type="sldNum" sz="quarter" idx="12"/>
          </p:nvPr>
        </p:nvSpPr>
        <p:spPr/>
        <p:txBody>
          <a:bodyPr/>
          <a:lstStyle/>
          <a:p>
            <a:pPr>
              <a:defRPr/>
            </a:pPr>
            <a:r>
              <a:rPr dirty="0" smtClean="0">
                <a:cs typeface="Arial" pitchFamily="34" charset="0"/>
              </a:rPr>
              <a:t>Week6 - </a:t>
            </a:r>
            <a:fld id="{87ACE2D2-D679-44A8-8111-FA880039201E}" type="slidenum">
              <a:rPr smtClean="0">
                <a:cs typeface="Arial" pitchFamily="34" charset="0"/>
              </a:rPr>
              <a:pPr>
                <a:defRPr/>
              </a:pPr>
              <a:t>18</a:t>
            </a:fld>
            <a:endParaRPr dirty="0" smtClean="0">
              <a:cs typeface="Arial" pitchFamily="34" charset="0"/>
            </a:endParaRPr>
          </a:p>
        </p:txBody>
      </p:sp>
      <p:sp>
        <p:nvSpPr>
          <p:cNvPr id="31747" name="Rectangle 3"/>
          <p:cNvSpPr>
            <a:spLocks noGrp="1" noChangeArrowheads="1"/>
          </p:cNvSpPr>
          <p:nvPr>
            <p:ph sz="quarter" idx="1"/>
          </p:nvPr>
        </p:nvSpPr>
        <p:spPr>
          <a:xfrm>
            <a:off x="471487" y="1196622"/>
            <a:ext cx="8357719" cy="2745791"/>
          </a:xfrm>
        </p:spPr>
        <p:txBody>
          <a:bodyPr>
            <a:normAutofit lnSpcReduction="10000"/>
          </a:bodyPr>
          <a:lstStyle/>
          <a:p>
            <a:pPr marL="457200" indent="-457200" eaLnBrk="1" hangingPunct="1">
              <a:spcBef>
                <a:spcPts val="600"/>
              </a:spcBef>
              <a:buSzPct val="100000"/>
              <a:buFont typeface="Wingdings" pitchFamily="2" charset="2"/>
              <a:buChar char="§"/>
            </a:pPr>
            <a:r>
              <a:rPr lang="en-GB" sz="2200" dirty="0" smtClean="0">
                <a:solidFill>
                  <a:schemeClr val="tx1"/>
                </a:solidFill>
              </a:rPr>
              <a:t>A pointer variable (or simply, pointer) stores the </a:t>
            </a:r>
            <a:r>
              <a:rPr lang="en-GB" sz="2200" dirty="0" smtClean="0"/>
              <a:t>address</a:t>
            </a:r>
            <a:r>
              <a:rPr lang="en-GB" sz="2200" dirty="0" smtClean="0">
                <a:solidFill>
                  <a:schemeClr val="tx1"/>
                </a:solidFill>
              </a:rPr>
              <a:t> of another variable</a:t>
            </a:r>
          </a:p>
          <a:p>
            <a:pPr marL="857250" lvl="1" indent="-457200" eaLnBrk="1" hangingPunct="1">
              <a:spcBef>
                <a:spcPts val="0"/>
              </a:spcBef>
              <a:buSzPct val="100000"/>
              <a:buFont typeface="Wingdings" pitchFamily="2" charset="2"/>
              <a:buChar char="§"/>
            </a:pPr>
            <a:r>
              <a:rPr lang="en-GB" dirty="0" smtClean="0"/>
              <a:t>Hence, we must indicate (1) that it is a pointer, and (2) the type of the other variable it “points” to</a:t>
            </a:r>
            <a:endParaRPr lang="en-GB" dirty="0" smtClean="0">
              <a:solidFill>
                <a:schemeClr val="tx1"/>
              </a:solidFill>
            </a:endParaRPr>
          </a:p>
          <a:p>
            <a:pPr marL="457200" indent="-457200" eaLnBrk="1" hangingPunct="1">
              <a:spcBef>
                <a:spcPts val="600"/>
              </a:spcBef>
              <a:buSzPct val="100000"/>
              <a:buFont typeface="Wingdings" pitchFamily="2" charset="2"/>
              <a:buChar char="§"/>
            </a:pPr>
            <a:r>
              <a:rPr lang="en-GB" sz="2200" dirty="0" smtClean="0">
                <a:solidFill>
                  <a:schemeClr val="tx1"/>
                </a:solidFill>
              </a:rPr>
              <a:t>C provides two unary pointer operators</a:t>
            </a:r>
          </a:p>
          <a:p>
            <a:pPr marL="857250" lvl="1" indent="-457200" eaLnBrk="1" hangingPunct="1">
              <a:spcBef>
                <a:spcPct val="0"/>
              </a:spcBef>
              <a:buSzPct val="100000"/>
              <a:buFont typeface="Wingdings" pitchFamily="2" charset="2"/>
              <a:buChar char="§"/>
            </a:pPr>
            <a:r>
              <a:rPr lang="en-GB" dirty="0" smtClean="0">
                <a:solidFill>
                  <a:srgbClr val="0000FF"/>
                </a:solidFill>
              </a:rPr>
              <a:t>Address operator </a:t>
            </a:r>
            <a:r>
              <a:rPr lang="en-GB" dirty="0" smtClean="0">
                <a:solidFill>
                  <a:srgbClr val="C00000"/>
                </a:solidFill>
              </a:rPr>
              <a:t>&amp;</a:t>
            </a:r>
          </a:p>
          <a:p>
            <a:pPr marL="857250" lvl="1" indent="-457200" eaLnBrk="1" hangingPunct="1">
              <a:spcBef>
                <a:spcPct val="0"/>
              </a:spcBef>
              <a:buSzPct val="100000"/>
              <a:buFont typeface="Wingdings" pitchFamily="2" charset="2"/>
              <a:buChar char="§"/>
            </a:pPr>
            <a:r>
              <a:rPr lang="en-GB" dirty="0" smtClean="0">
                <a:solidFill>
                  <a:srgbClr val="0000FF"/>
                </a:solidFill>
              </a:rPr>
              <a:t>Indirection operator </a:t>
            </a:r>
            <a:r>
              <a:rPr lang="en-GB" dirty="0" smtClean="0">
                <a:solidFill>
                  <a:srgbClr val="C00000"/>
                </a:solidFill>
              </a:rPr>
              <a:t>*</a:t>
            </a:r>
          </a:p>
          <a:p>
            <a:pPr marL="457200" indent="-457200" eaLnBrk="1" hangingPunct="1">
              <a:spcBef>
                <a:spcPts val="600"/>
              </a:spcBef>
              <a:buSzPct val="100000"/>
              <a:buFont typeface="Wingdings" pitchFamily="2" charset="2"/>
              <a:buChar char="§"/>
            </a:pPr>
            <a:r>
              <a:rPr lang="en-GB" sz="2200" dirty="0" smtClean="0">
                <a:solidFill>
                  <a:schemeClr val="tx1"/>
                </a:solidFill>
              </a:rPr>
              <a:t>Example:</a:t>
            </a:r>
          </a:p>
          <a:p>
            <a:pPr marL="457200" indent="-457200" eaLnBrk="1" hangingPunct="1">
              <a:spcBef>
                <a:spcPts val="600"/>
              </a:spcBef>
              <a:buSzPct val="100000"/>
              <a:buFont typeface="Wingdings" pitchFamily="2" charset="2"/>
              <a:buChar char="§"/>
            </a:pPr>
            <a:endParaRPr lang="en-GB" dirty="0" smtClean="0"/>
          </a:p>
          <a:p>
            <a:pPr marL="457200" indent="-457200" eaLnBrk="1" hangingPunct="1">
              <a:buSzPct val="120000"/>
              <a:buFont typeface="Wingdings" pitchFamily="2" charset="2"/>
              <a:buNone/>
            </a:pPr>
            <a:endParaRPr lang="en-GB" b="1" dirty="0" smtClean="0"/>
          </a:p>
          <a:p>
            <a:pPr marL="457200" indent="-457200" eaLnBrk="1" hangingPunct="1">
              <a:buSzPct val="120000"/>
              <a:buFont typeface="Wingdings" pitchFamily="2" charset="2"/>
              <a:buNone/>
            </a:pPr>
            <a:endParaRPr lang="en-GB" b="1" dirty="0" smtClean="0"/>
          </a:p>
          <a:p>
            <a:pPr marL="457200" indent="-457200" eaLnBrk="1" hangingPunct="1">
              <a:buSzPct val="120000"/>
              <a:buFont typeface="Wingdings" pitchFamily="2" charset="2"/>
              <a:buNone/>
            </a:pPr>
            <a:endParaRPr lang="en-GB" b="1" dirty="0" smtClean="0"/>
          </a:p>
          <a:p>
            <a:pPr marL="457200" indent="-457200" eaLnBrk="1" hangingPunct="1">
              <a:buSzPct val="120000"/>
              <a:buFont typeface="Wingdings" pitchFamily="2" charset="2"/>
              <a:buNone/>
            </a:pPr>
            <a:endParaRPr lang="en-GB" b="1" dirty="0" smtClean="0"/>
          </a:p>
          <a:p>
            <a:pPr marL="457200" indent="-457200" eaLnBrk="1" hangingPunct="1">
              <a:buSzPct val="120000"/>
              <a:buFont typeface="Wingdings" pitchFamily="2" charset="2"/>
              <a:buNone/>
            </a:pPr>
            <a:endParaRPr lang="en-GB" sz="2000" dirty="0" smtClean="0"/>
          </a:p>
        </p:txBody>
      </p:sp>
      <p:sp>
        <p:nvSpPr>
          <p:cNvPr id="7" name="TextBox 6"/>
          <p:cNvSpPr txBox="1"/>
          <p:nvPr/>
        </p:nvSpPr>
        <p:spPr>
          <a:xfrm>
            <a:off x="784225" y="4015626"/>
            <a:ext cx="6234113" cy="646112"/>
          </a:xfrm>
          <a:prstGeom prst="rect">
            <a:avLst/>
          </a:prstGeom>
          <a:ln>
            <a:noFill/>
          </a:ln>
        </p:spPr>
        <p:style>
          <a:lnRef idx="2">
            <a:schemeClr val="accent6"/>
          </a:lnRef>
          <a:fillRef idx="1">
            <a:schemeClr val="lt1"/>
          </a:fillRef>
          <a:effectRef idx="0">
            <a:schemeClr val="accent6"/>
          </a:effectRef>
          <a:fontRef idx="minor">
            <a:schemeClr val="dk1"/>
          </a:fontRef>
        </p:style>
        <p:txBody>
          <a:bodyPr>
            <a:spAutoFit/>
          </a:bodyPr>
          <a:lstStyle/>
          <a:p>
            <a:pPr>
              <a:defRPr/>
            </a:pPr>
            <a:r>
              <a:rPr lang="en-US" b="1" dirty="0" err="1">
                <a:solidFill>
                  <a:srgbClr val="0000FF"/>
                </a:solidFill>
                <a:latin typeface="Courier New" pitchFamily="49" charset="0"/>
                <a:cs typeface="Courier New" pitchFamily="49" charset="0"/>
              </a:rPr>
              <a:t>int</a:t>
            </a:r>
            <a:r>
              <a:rPr lang="en-US" b="1" dirty="0">
                <a:solidFill>
                  <a:srgbClr val="000000"/>
                </a:solidFill>
                <a:latin typeface="Courier New" pitchFamily="49" charset="0"/>
                <a:cs typeface="Courier New" pitchFamily="49" charset="0"/>
              </a:rPr>
              <a:t> </a:t>
            </a:r>
            <a:r>
              <a:rPr lang="en-US" b="1" dirty="0" err="1">
                <a:solidFill>
                  <a:srgbClr val="000000"/>
                </a:solidFill>
                <a:latin typeface="Courier New" pitchFamily="49" charset="0"/>
                <a:cs typeface="Courier New" pitchFamily="49" charset="0"/>
              </a:rPr>
              <a:t>i</a:t>
            </a:r>
            <a:r>
              <a:rPr lang="en-US" b="1" dirty="0">
                <a:solidFill>
                  <a:srgbClr val="000000"/>
                </a:solidFill>
                <a:latin typeface="Courier New" pitchFamily="49" charset="0"/>
                <a:cs typeface="Courier New" pitchFamily="49" charset="0"/>
              </a:rPr>
              <a:t> = 10, j = 20;</a:t>
            </a:r>
          </a:p>
          <a:p>
            <a:pPr>
              <a:defRPr/>
            </a:pPr>
            <a:r>
              <a:rPr lang="en-US" b="1" dirty="0" err="1">
                <a:solidFill>
                  <a:srgbClr val="0000FF"/>
                </a:solidFill>
                <a:latin typeface="Courier New" pitchFamily="49" charset="0"/>
                <a:cs typeface="Courier New" pitchFamily="49" charset="0"/>
              </a:rPr>
              <a:t>int</a:t>
            </a:r>
            <a:r>
              <a:rPr lang="en-US" b="1" dirty="0">
                <a:solidFill>
                  <a:srgbClr val="000000"/>
                </a:solidFill>
                <a:latin typeface="Courier New" pitchFamily="49" charset="0"/>
                <a:cs typeface="Courier New" pitchFamily="49" charset="0"/>
              </a:rPr>
              <a:t> </a:t>
            </a:r>
            <a:r>
              <a:rPr lang="en-US" b="1" dirty="0">
                <a:solidFill>
                  <a:schemeClr val="tx1"/>
                </a:solidFill>
                <a:latin typeface="Courier New" pitchFamily="49" charset="0"/>
                <a:cs typeface="Courier New" pitchFamily="49" charset="0"/>
              </a:rPr>
              <a:t>*p</a:t>
            </a:r>
            <a:r>
              <a:rPr lang="en-US" b="1" dirty="0">
                <a:solidFill>
                  <a:srgbClr val="000000"/>
                </a:solidFill>
                <a:latin typeface="Courier New" pitchFamily="49" charset="0"/>
                <a:cs typeface="Courier New" pitchFamily="49" charset="0"/>
              </a:rPr>
              <a:t>; </a:t>
            </a:r>
            <a:r>
              <a:rPr lang="en-US" sz="1400" b="1" dirty="0">
                <a:solidFill>
                  <a:srgbClr val="800000"/>
                </a:solidFill>
                <a:latin typeface="Courier New" pitchFamily="49" charset="0"/>
                <a:cs typeface="Courier New" pitchFamily="49" charset="0"/>
              </a:rPr>
              <a:t>// p is a pointer to </a:t>
            </a:r>
            <a:r>
              <a:rPr lang="en-US" sz="1400" b="1" dirty="0" smtClean="0">
                <a:solidFill>
                  <a:srgbClr val="800000"/>
                </a:solidFill>
                <a:latin typeface="Courier New" pitchFamily="49" charset="0"/>
                <a:cs typeface="Courier New" pitchFamily="49" charset="0"/>
              </a:rPr>
              <a:t>some </a:t>
            </a:r>
            <a:r>
              <a:rPr lang="en-US" sz="1400" b="1" dirty="0" err="1" smtClean="0">
                <a:solidFill>
                  <a:srgbClr val="800000"/>
                </a:solidFill>
                <a:latin typeface="Courier New" pitchFamily="49" charset="0"/>
                <a:cs typeface="Courier New" pitchFamily="49" charset="0"/>
              </a:rPr>
              <a:t>int</a:t>
            </a:r>
            <a:r>
              <a:rPr lang="en-US" sz="1400" b="1" dirty="0" smtClean="0">
                <a:solidFill>
                  <a:srgbClr val="800000"/>
                </a:solidFill>
                <a:latin typeface="Courier New" pitchFamily="49" charset="0"/>
                <a:cs typeface="Courier New" pitchFamily="49" charset="0"/>
              </a:rPr>
              <a:t> </a:t>
            </a:r>
            <a:r>
              <a:rPr lang="en-US" sz="1400" b="1" dirty="0">
                <a:solidFill>
                  <a:srgbClr val="800000"/>
                </a:solidFill>
                <a:latin typeface="Courier New" pitchFamily="49" charset="0"/>
                <a:cs typeface="Courier New" pitchFamily="49" charset="0"/>
              </a:rPr>
              <a:t>variable</a:t>
            </a:r>
          </a:p>
        </p:txBody>
      </p:sp>
      <p:sp>
        <p:nvSpPr>
          <p:cNvPr id="8" name="TextBox 7"/>
          <p:cNvSpPr txBox="1"/>
          <p:nvPr/>
        </p:nvSpPr>
        <p:spPr>
          <a:xfrm>
            <a:off x="784225" y="4925440"/>
            <a:ext cx="5880100" cy="646112"/>
          </a:xfrm>
          <a:prstGeom prst="rect">
            <a:avLst/>
          </a:prstGeom>
          <a:ln>
            <a:noFill/>
          </a:ln>
        </p:spPr>
        <p:style>
          <a:lnRef idx="2">
            <a:schemeClr val="accent6"/>
          </a:lnRef>
          <a:fillRef idx="1">
            <a:schemeClr val="lt1"/>
          </a:fillRef>
          <a:effectRef idx="0">
            <a:schemeClr val="accent6"/>
          </a:effectRef>
          <a:fontRef idx="minor">
            <a:schemeClr val="dk1"/>
          </a:fontRef>
        </p:style>
        <p:txBody>
          <a:bodyPr>
            <a:spAutoFit/>
          </a:bodyPr>
          <a:lstStyle/>
          <a:p>
            <a:pPr>
              <a:defRPr/>
            </a:pPr>
            <a:r>
              <a:rPr lang="en-US" b="1" dirty="0">
                <a:solidFill>
                  <a:srgbClr val="000000"/>
                </a:solidFill>
                <a:latin typeface="Courier New" pitchFamily="49" charset="0"/>
                <a:cs typeface="Courier New" pitchFamily="49" charset="0"/>
              </a:rPr>
              <a:t>p = </a:t>
            </a:r>
            <a:r>
              <a:rPr lang="en-US" b="1" dirty="0">
                <a:solidFill>
                  <a:schemeClr val="tx1"/>
                </a:solidFill>
                <a:latin typeface="Courier New" pitchFamily="49" charset="0"/>
                <a:cs typeface="Courier New" pitchFamily="49" charset="0"/>
              </a:rPr>
              <a:t>&amp;</a:t>
            </a:r>
            <a:r>
              <a:rPr lang="en-US" b="1" dirty="0" err="1">
                <a:solidFill>
                  <a:schemeClr val="tx1"/>
                </a:solidFill>
                <a:latin typeface="Courier New" pitchFamily="49" charset="0"/>
                <a:cs typeface="Courier New" pitchFamily="49" charset="0"/>
              </a:rPr>
              <a:t>i</a:t>
            </a:r>
            <a:r>
              <a:rPr lang="en-US" b="1" dirty="0">
                <a:solidFill>
                  <a:srgbClr val="000000"/>
                </a:solidFill>
                <a:latin typeface="Courier New" pitchFamily="49" charset="0"/>
                <a:cs typeface="Courier New" pitchFamily="49" charset="0"/>
              </a:rPr>
              <a:t>; </a:t>
            </a:r>
            <a:r>
              <a:rPr lang="en-US" sz="1400" b="1" dirty="0">
                <a:solidFill>
                  <a:srgbClr val="800000"/>
                </a:solidFill>
                <a:latin typeface="Courier New" pitchFamily="49" charset="0"/>
                <a:cs typeface="Courier New" pitchFamily="49" charset="0"/>
              </a:rPr>
              <a:t>// p now stores the address of variable </a:t>
            </a:r>
            <a:r>
              <a:rPr lang="en-US" sz="1400" b="1" dirty="0" err="1">
                <a:solidFill>
                  <a:srgbClr val="800000"/>
                </a:solidFill>
                <a:latin typeface="Courier New" pitchFamily="49" charset="0"/>
                <a:cs typeface="Courier New" pitchFamily="49" charset="0"/>
              </a:rPr>
              <a:t>i</a:t>
            </a:r>
            <a:endParaRPr lang="en-US" sz="1400" b="1" dirty="0">
              <a:solidFill>
                <a:srgbClr val="800000"/>
              </a:solidFill>
              <a:latin typeface="Courier New" pitchFamily="49" charset="0"/>
              <a:cs typeface="Courier New" pitchFamily="49" charset="0"/>
            </a:endParaRPr>
          </a:p>
          <a:p>
            <a:pPr>
              <a:defRPr/>
            </a:pPr>
            <a:r>
              <a:rPr lang="en-US" b="1" dirty="0" err="1">
                <a:solidFill>
                  <a:srgbClr val="000000"/>
                </a:solidFill>
                <a:latin typeface="Courier New" pitchFamily="49" charset="0"/>
                <a:cs typeface="Courier New" pitchFamily="49" charset="0"/>
              </a:rPr>
              <a:t>printf</a:t>
            </a:r>
            <a:r>
              <a:rPr lang="en-US" b="1" dirty="0">
                <a:solidFill>
                  <a:srgbClr val="000000"/>
                </a:solidFill>
                <a:latin typeface="Courier New" pitchFamily="49" charset="0"/>
                <a:cs typeface="Courier New" pitchFamily="49" charset="0"/>
              </a:rPr>
              <a:t>(</a:t>
            </a:r>
            <a:r>
              <a:rPr lang="en-US" b="1" dirty="0">
                <a:solidFill>
                  <a:srgbClr val="006600"/>
                </a:solidFill>
                <a:latin typeface="Courier New" pitchFamily="49" charset="0"/>
                <a:cs typeface="Courier New" pitchFamily="49" charset="0"/>
              </a:rPr>
              <a:t>"value of </a:t>
            </a:r>
            <a:r>
              <a:rPr lang="en-US" b="1" dirty="0" err="1">
                <a:solidFill>
                  <a:srgbClr val="006600"/>
                </a:solidFill>
                <a:latin typeface="Courier New" pitchFamily="49" charset="0"/>
                <a:cs typeface="Courier New" pitchFamily="49" charset="0"/>
              </a:rPr>
              <a:t>i</a:t>
            </a:r>
            <a:r>
              <a:rPr lang="en-US" b="1" dirty="0">
                <a:solidFill>
                  <a:srgbClr val="006600"/>
                </a:solidFill>
                <a:latin typeface="Courier New" pitchFamily="49" charset="0"/>
                <a:cs typeface="Courier New" pitchFamily="49" charset="0"/>
              </a:rPr>
              <a:t> is </a:t>
            </a:r>
            <a:r>
              <a:rPr lang="en-US" b="1" dirty="0">
                <a:solidFill>
                  <a:srgbClr val="FF0000"/>
                </a:solidFill>
                <a:latin typeface="Courier New" pitchFamily="49" charset="0"/>
                <a:cs typeface="Courier New" pitchFamily="49" charset="0"/>
              </a:rPr>
              <a:t>%d\n</a:t>
            </a:r>
            <a:r>
              <a:rPr lang="en-US" b="1" dirty="0">
                <a:solidFill>
                  <a:srgbClr val="006600"/>
                </a:solidFill>
                <a:latin typeface="Courier New" pitchFamily="49" charset="0"/>
                <a:cs typeface="Courier New" pitchFamily="49" charset="0"/>
              </a:rPr>
              <a:t>"</a:t>
            </a:r>
            <a:r>
              <a:rPr lang="en-US" b="1" dirty="0">
                <a:solidFill>
                  <a:srgbClr val="000000"/>
                </a:solidFill>
                <a:latin typeface="Courier New" pitchFamily="49" charset="0"/>
                <a:cs typeface="Courier New" pitchFamily="49" charset="0"/>
              </a:rPr>
              <a:t>, *p); </a:t>
            </a:r>
            <a:endParaRPr lang="en-US" b="1" dirty="0">
              <a:solidFill>
                <a:srgbClr val="800000"/>
              </a:solidFill>
              <a:latin typeface="Courier New" pitchFamily="49" charset="0"/>
              <a:cs typeface="Courier New" pitchFamily="49" charset="0"/>
            </a:endParaRPr>
          </a:p>
        </p:txBody>
      </p:sp>
      <p:grpSp>
        <p:nvGrpSpPr>
          <p:cNvPr id="2" name="Group 18"/>
          <p:cNvGrpSpPr>
            <a:grpSpLocks/>
          </p:cNvGrpSpPr>
          <p:nvPr/>
        </p:nvGrpSpPr>
        <p:grpSpPr bwMode="auto">
          <a:xfrm>
            <a:off x="6515100" y="3657783"/>
            <a:ext cx="2047875" cy="1277937"/>
            <a:chOff x="6515735" y="4042728"/>
            <a:chExt cx="2046555" cy="1276985"/>
          </a:xfrm>
        </p:grpSpPr>
        <p:grpSp>
          <p:nvGrpSpPr>
            <p:cNvPr id="20492" name="Group 13"/>
            <p:cNvGrpSpPr>
              <a:grpSpLocks/>
            </p:cNvGrpSpPr>
            <p:nvPr/>
          </p:nvGrpSpPr>
          <p:grpSpPr bwMode="auto">
            <a:xfrm>
              <a:off x="6515735" y="4042728"/>
              <a:ext cx="798754" cy="511175"/>
              <a:chOff x="4834756" y="1996965"/>
              <a:chExt cx="798785" cy="511975"/>
            </a:xfrm>
          </p:grpSpPr>
          <p:sp>
            <p:nvSpPr>
              <p:cNvPr id="20499" name="TextBox 9"/>
              <p:cNvSpPr txBox="1">
                <a:spLocks noChangeArrowheads="1"/>
              </p:cNvSpPr>
              <p:nvPr/>
            </p:nvSpPr>
            <p:spPr bwMode="auto">
              <a:xfrm>
                <a:off x="4834756" y="1996965"/>
                <a:ext cx="336331" cy="338554"/>
              </a:xfrm>
              <a:prstGeom prst="rect">
                <a:avLst/>
              </a:prstGeom>
              <a:noFill/>
              <a:ln w="9525">
                <a:noFill/>
                <a:miter lim="800000"/>
                <a:headEnd/>
                <a:tailEnd/>
              </a:ln>
            </p:spPr>
            <p:txBody>
              <a:bodyPr>
                <a:spAutoFit/>
              </a:bodyPr>
              <a:lstStyle/>
              <a:p>
                <a:r>
                  <a:rPr lang="en-US" sz="1600">
                    <a:latin typeface="Calibri" pitchFamily="34" charset="0"/>
                  </a:rPr>
                  <a:t>i</a:t>
                </a:r>
                <a:endParaRPr lang="en-SG" sz="1600">
                  <a:latin typeface="Calibri" pitchFamily="34" charset="0"/>
                </a:endParaRPr>
              </a:p>
            </p:txBody>
          </p:sp>
          <p:sp>
            <p:nvSpPr>
              <p:cNvPr id="20500" name="TextBox 10"/>
              <p:cNvSpPr txBox="1">
                <a:spLocks noChangeArrowheads="1"/>
              </p:cNvSpPr>
              <p:nvPr/>
            </p:nvSpPr>
            <p:spPr bwMode="auto">
              <a:xfrm>
                <a:off x="5102769" y="2170386"/>
                <a:ext cx="530772" cy="338554"/>
              </a:xfrm>
              <a:prstGeom prst="rect">
                <a:avLst/>
              </a:prstGeom>
              <a:solidFill>
                <a:srgbClr val="FFCC66"/>
              </a:solidFill>
              <a:ln w="9525">
                <a:solidFill>
                  <a:schemeClr val="tx1"/>
                </a:solidFill>
                <a:miter lim="800000"/>
                <a:headEnd/>
                <a:tailEnd/>
              </a:ln>
            </p:spPr>
            <p:txBody>
              <a:bodyPr>
                <a:spAutoFit/>
              </a:bodyPr>
              <a:lstStyle/>
              <a:p>
                <a:pPr algn="ctr"/>
                <a:r>
                  <a:rPr lang="en-US" sz="1600">
                    <a:latin typeface="Calibri" pitchFamily="34" charset="0"/>
                  </a:rPr>
                  <a:t>10</a:t>
                </a:r>
                <a:endParaRPr lang="en-SG" sz="1600">
                  <a:latin typeface="Calibri" pitchFamily="34" charset="0"/>
                </a:endParaRPr>
              </a:p>
            </p:txBody>
          </p:sp>
        </p:grpSp>
        <p:grpSp>
          <p:nvGrpSpPr>
            <p:cNvPr id="20493" name="Group 14"/>
            <p:cNvGrpSpPr>
              <a:grpSpLocks/>
            </p:cNvGrpSpPr>
            <p:nvPr/>
          </p:nvGrpSpPr>
          <p:grpSpPr bwMode="auto">
            <a:xfrm>
              <a:off x="7763534" y="4042728"/>
              <a:ext cx="798756" cy="511175"/>
              <a:chOff x="6027681" y="2023240"/>
              <a:chExt cx="798787" cy="511975"/>
            </a:xfrm>
          </p:grpSpPr>
          <p:sp>
            <p:nvSpPr>
              <p:cNvPr id="20497" name="TextBox 11"/>
              <p:cNvSpPr txBox="1">
                <a:spLocks noChangeArrowheads="1"/>
              </p:cNvSpPr>
              <p:nvPr/>
            </p:nvSpPr>
            <p:spPr bwMode="auto">
              <a:xfrm>
                <a:off x="6027681" y="2023240"/>
                <a:ext cx="336331" cy="338554"/>
              </a:xfrm>
              <a:prstGeom prst="rect">
                <a:avLst/>
              </a:prstGeom>
              <a:noFill/>
              <a:ln w="9525">
                <a:noFill/>
                <a:miter lim="800000"/>
                <a:headEnd/>
                <a:tailEnd/>
              </a:ln>
            </p:spPr>
            <p:txBody>
              <a:bodyPr>
                <a:spAutoFit/>
              </a:bodyPr>
              <a:lstStyle/>
              <a:p>
                <a:r>
                  <a:rPr lang="en-US" sz="1600">
                    <a:latin typeface="Calibri" pitchFamily="34" charset="0"/>
                  </a:rPr>
                  <a:t>j</a:t>
                </a:r>
                <a:endParaRPr lang="en-SG" sz="1600">
                  <a:latin typeface="Calibri" pitchFamily="34" charset="0"/>
                </a:endParaRPr>
              </a:p>
            </p:txBody>
          </p:sp>
          <p:sp>
            <p:nvSpPr>
              <p:cNvPr id="20498" name="TextBox 12"/>
              <p:cNvSpPr txBox="1">
                <a:spLocks noChangeArrowheads="1"/>
              </p:cNvSpPr>
              <p:nvPr/>
            </p:nvSpPr>
            <p:spPr bwMode="auto">
              <a:xfrm>
                <a:off x="6295695" y="2196661"/>
                <a:ext cx="530773" cy="338554"/>
              </a:xfrm>
              <a:prstGeom prst="rect">
                <a:avLst/>
              </a:prstGeom>
              <a:solidFill>
                <a:srgbClr val="FFCC66"/>
              </a:solidFill>
              <a:ln w="9525">
                <a:solidFill>
                  <a:schemeClr val="tx1"/>
                </a:solidFill>
                <a:miter lim="800000"/>
                <a:headEnd/>
                <a:tailEnd/>
              </a:ln>
            </p:spPr>
            <p:txBody>
              <a:bodyPr>
                <a:spAutoFit/>
              </a:bodyPr>
              <a:lstStyle/>
              <a:p>
                <a:pPr algn="ctr"/>
                <a:r>
                  <a:rPr lang="en-US" sz="1600">
                    <a:latin typeface="Calibri" pitchFamily="34" charset="0"/>
                  </a:rPr>
                  <a:t>20</a:t>
                </a:r>
                <a:endParaRPr lang="en-SG" sz="1600">
                  <a:latin typeface="Calibri" pitchFamily="34" charset="0"/>
                </a:endParaRPr>
              </a:p>
            </p:txBody>
          </p:sp>
        </p:grpSp>
        <p:grpSp>
          <p:nvGrpSpPr>
            <p:cNvPr id="20494" name="Group 15"/>
            <p:cNvGrpSpPr>
              <a:grpSpLocks/>
            </p:cNvGrpSpPr>
            <p:nvPr/>
          </p:nvGrpSpPr>
          <p:grpSpPr bwMode="auto">
            <a:xfrm>
              <a:off x="7156524" y="4808538"/>
              <a:ext cx="798756" cy="511175"/>
              <a:chOff x="6027681" y="2023240"/>
              <a:chExt cx="798787" cy="511975"/>
            </a:xfrm>
          </p:grpSpPr>
          <p:sp>
            <p:nvSpPr>
              <p:cNvPr id="20495" name="TextBox 16"/>
              <p:cNvSpPr txBox="1">
                <a:spLocks noChangeArrowheads="1"/>
              </p:cNvSpPr>
              <p:nvPr/>
            </p:nvSpPr>
            <p:spPr bwMode="auto">
              <a:xfrm>
                <a:off x="6027681" y="2023240"/>
                <a:ext cx="336331" cy="338554"/>
              </a:xfrm>
              <a:prstGeom prst="rect">
                <a:avLst/>
              </a:prstGeom>
              <a:noFill/>
              <a:ln w="9525">
                <a:noFill/>
                <a:miter lim="800000"/>
                <a:headEnd/>
                <a:tailEnd/>
              </a:ln>
            </p:spPr>
            <p:txBody>
              <a:bodyPr>
                <a:spAutoFit/>
              </a:bodyPr>
              <a:lstStyle/>
              <a:p>
                <a:r>
                  <a:rPr lang="en-US" sz="1600">
                    <a:latin typeface="Calibri" pitchFamily="34" charset="0"/>
                  </a:rPr>
                  <a:t>p</a:t>
                </a:r>
                <a:endParaRPr lang="en-SG" sz="1600">
                  <a:latin typeface="Calibri" pitchFamily="34" charset="0"/>
                </a:endParaRPr>
              </a:p>
            </p:txBody>
          </p:sp>
          <p:sp>
            <p:nvSpPr>
              <p:cNvPr id="14" name="TextBox 17"/>
              <p:cNvSpPr txBox="1">
                <a:spLocks noChangeArrowheads="1"/>
              </p:cNvSpPr>
              <p:nvPr/>
            </p:nvSpPr>
            <p:spPr bwMode="auto">
              <a:xfrm>
                <a:off x="6295954" y="2196801"/>
                <a:ext cx="529904" cy="338414"/>
              </a:xfrm>
              <a:prstGeom prst="rect">
                <a:avLst/>
              </a:prstGeom>
              <a:solidFill>
                <a:schemeClr val="accent1">
                  <a:lumMod val="90000"/>
                </a:schemeClr>
              </a:solidFill>
              <a:ln w="9525">
                <a:solidFill>
                  <a:schemeClr val="tx1"/>
                </a:solidFill>
                <a:miter lim="800000"/>
                <a:headEnd/>
                <a:tailEnd/>
              </a:ln>
            </p:spPr>
            <p:txBody>
              <a:bodyPr>
                <a:spAutoFit/>
              </a:bodyPr>
              <a:lstStyle/>
              <a:p>
                <a:pPr algn="ctr">
                  <a:defRPr/>
                </a:pPr>
                <a:endParaRPr lang="en-SG" sz="1600" dirty="0">
                  <a:latin typeface="Calibri" pitchFamily="34" charset="0"/>
                  <a:cs typeface="Arial" pitchFamily="34" charset="0"/>
                </a:endParaRPr>
              </a:p>
            </p:txBody>
          </p:sp>
        </p:grpSp>
      </p:grpSp>
      <p:cxnSp>
        <p:nvCxnSpPr>
          <p:cNvPr id="21" name="Straight Arrow Connector 20"/>
          <p:cNvCxnSpPr>
            <a:cxnSpLocks noChangeShapeType="1"/>
          </p:cNvCxnSpPr>
          <p:nvPr/>
        </p:nvCxnSpPr>
        <p:spPr bwMode="auto">
          <a:xfrm rot="16200000" flipV="1">
            <a:off x="7258050" y="4313420"/>
            <a:ext cx="538163" cy="354013"/>
          </a:xfrm>
          <a:prstGeom prst="straightConnector1">
            <a:avLst/>
          </a:prstGeom>
          <a:noFill/>
          <a:ln w="19050" cap="sq" algn="ctr">
            <a:solidFill>
              <a:srgbClr val="0000FF"/>
            </a:solidFill>
            <a:round/>
            <a:headEnd/>
            <a:tailEnd type="triangle" w="med" len="med"/>
          </a:ln>
        </p:spPr>
      </p:cxnSp>
      <p:sp>
        <p:nvSpPr>
          <p:cNvPr id="22" name="TextBox 21"/>
          <p:cNvSpPr txBox="1"/>
          <p:nvPr/>
        </p:nvSpPr>
        <p:spPr>
          <a:xfrm>
            <a:off x="4468813" y="5642990"/>
            <a:ext cx="2881312" cy="400050"/>
          </a:xfrm>
          <a:prstGeom prst="rect">
            <a:avLst/>
          </a:prstGeom>
          <a:solidFill>
            <a:srgbClr val="FFFFCC"/>
          </a:solidFill>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a:spAutoFit/>
          </a:bodyPr>
          <a:lstStyle/>
          <a:p>
            <a:pPr>
              <a:defRPr/>
            </a:pPr>
            <a:r>
              <a:rPr lang="en-US" sz="2000" b="1" dirty="0">
                <a:latin typeface="Courier New" pitchFamily="49" charset="0"/>
                <a:cs typeface="Courier New" pitchFamily="49" charset="0"/>
              </a:rPr>
              <a:t>value of </a:t>
            </a:r>
            <a:r>
              <a:rPr lang="en-US" sz="2000" b="1" dirty="0" err="1">
                <a:latin typeface="Courier New" pitchFamily="49" charset="0"/>
                <a:cs typeface="Courier New" pitchFamily="49" charset="0"/>
              </a:rPr>
              <a:t>i</a:t>
            </a:r>
            <a:r>
              <a:rPr lang="en-US" sz="2000" b="1" dirty="0">
                <a:latin typeface="Courier New" pitchFamily="49" charset="0"/>
                <a:cs typeface="Courier New" pitchFamily="49" charset="0"/>
              </a:rPr>
              <a:t> is 10</a:t>
            </a:r>
          </a:p>
        </p:txBody>
      </p:sp>
      <p:sp>
        <p:nvSpPr>
          <p:cNvPr id="23" name="TextBox 22"/>
          <p:cNvSpPr txBox="1">
            <a:spLocks noChangeArrowheads="1"/>
          </p:cNvSpPr>
          <p:nvPr/>
        </p:nvSpPr>
        <p:spPr bwMode="auto">
          <a:xfrm>
            <a:off x="4457700" y="6089077"/>
            <a:ext cx="2606675" cy="338138"/>
          </a:xfrm>
          <a:prstGeom prst="rect">
            <a:avLst/>
          </a:prstGeom>
          <a:noFill/>
          <a:ln w="9525">
            <a:noFill/>
            <a:miter lim="800000"/>
            <a:headEnd/>
            <a:tailEnd/>
          </a:ln>
        </p:spPr>
        <p:txBody>
          <a:bodyPr>
            <a:spAutoFit/>
          </a:bodyPr>
          <a:lstStyle/>
          <a:p>
            <a:r>
              <a:rPr lang="en-US" sz="1600"/>
              <a:t>Now </a:t>
            </a:r>
            <a:r>
              <a:rPr lang="en-US" sz="1600" b="1">
                <a:latin typeface="Courier New" pitchFamily="49" charset="0"/>
                <a:cs typeface="Courier New" pitchFamily="49" charset="0"/>
              </a:rPr>
              <a:t>*p</a:t>
            </a:r>
            <a:r>
              <a:rPr lang="en-US" sz="1600"/>
              <a:t> is equivalent to </a:t>
            </a:r>
            <a:r>
              <a:rPr lang="en-US" sz="1600" b="1">
                <a:latin typeface="Courier New" pitchFamily="49" charset="0"/>
                <a:cs typeface="Courier New" pitchFamily="49" charset="0"/>
              </a:rPr>
              <a:t>i</a:t>
            </a:r>
          </a:p>
        </p:txBody>
      </p:sp>
      <p:sp>
        <p:nvSpPr>
          <p:cNvPr id="24" name="Oval 44"/>
          <p:cNvSpPr>
            <a:spLocks noChangeArrowheads="1"/>
          </p:cNvSpPr>
          <p:nvPr/>
        </p:nvSpPr>
        <p:spPr bwMode="auto">
          <a:xfrm>
            <a:off x="1426002" y="4328346"/>
            <a:ext cx="306296" cy="313628"/>
          </a:xfrm>
          <a:prstGeom prst="ellipse">
            <a:avLst/>
          </a:prstGeom>
          <a:noFill/>
          <a:ln w="19050" cap="sq" algn="ctr">
            <a:solidFill>
              <a:srgbClr val="FF9900"/>
            </a:solidFill>
            <a:round/>
            <a:headEnd type="none" w="sm" len="sm"/>
            <a:tailEnd type="none" w="sm" len="sm"/>
          </a:ln>
        </p:spPr>
        <p:txBody>
          <a:bodyPr/>
          <a:lstStyle/>
          <a:p>
            <a:endParaRPr lang="en-SG"/>
          </a:p>
        </p:txBody>
      </p:sp>
      <p:sp>
        <p:nvSpPr>
          <p:cNvPr id="25" name="Oval 44"/>
          <p:cNvSpPr>
            <a:spLocks noChangeArrowheads="1"/>
          </p:cNvSpPr>
          <p:nvPr/>
        </p:nvSpPr>
        <p:spPr bwMode="auto">
          <a:xfrm>
            <a:off x="1422285" y="4947859"/>
            <a:ext cx="306296" cy="313628"/>
          </a:xfrm>
          <a:prstGeom prst="ellipse">
            <a:avLst/>
          </a:prstGeom>
          <a:noFill/>
          <a:ln w="19050" cap="sq" algn="ctr">
            <a:solidFill>
              <a:srgbClr val="FF9900"/>
            </a:solidFill>
            <a:round/>
            <a:headEnd type="none" w="sm" len="sm"/>
            <a:tailEnd type="none" w="sm" len="sm"/>
          </a:ln>
        </p:spPr>
        <p:txBody>
          <a:bodyPr/>
          <a:lstStyle/>
          <a:p>
            <a:endParaRPr lang="en-SG"/>
          </a:p>
        </p:txBody>
      </p:sp>
      <p:pic>
        <p:nvPicPr>
          <p:cNvPr id="26" name="Picture 25" descr="focus-md.png"/>
          <p:cNvPicPr>
            <a:picLocks noChangeAspect="1"/>
          </p:cNvPicPr>
          <p:nvPr/>
        </p:nvPicPr>
        <p:blipFill>
          <a:blip r:embed="rId3" cstate="print"/>
          <a:stretch>
            <a:fillRect/>
          </a:stretch>
        </p:blipFill>
        <p:spPr>
          <a:xfrm>
            <a:off x="8229649" y="375969"/>
            <a:ext cx="614548" cy="830472"/>
          </a:xfrm>
          <a:prstGeom prst="rect">
            <a:avLst/>
          </a:prstGeom>
          <a:effectLst>
            <a:outerShdw blurRad="50800" dist="38100" dir="5400000" algn="t" rotWithShape="0">
              <a:prstClr val="black">
                <a:alpha val="40000"/>
              </a:prstClr>
            </a:outerShdw>
            <a:reflection blurRad="6350" stA="50000" endA="300" endPos="55000" dir="5400000" sy="-100000" algn="bl" rotWithShape="0"/>
          </a:effectLst>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dissolve">
                                      <p:cBhvr>
                                        <p:cTn id="11" dur="500"/>
                                        <p:tgtEl>
                                          <p:spTgt spid="2"/>
                                        </p:tgtEl>
                                      </p:cBhvr>
                                    </p:animEffect>
                                  </p:childTnLst>
                                </p:cTn>
                              </p:par>
                              <p:par>
                                <p:cTn id="12" presetID="9" presetClass="entr" presetSubtype="0" fill="hold" grpId="0" nodeType="withEffect">
                                  <p:stCondLst>
                                    <p:cond delay="0"/>
                                  </p:stCondLst>
                                  <p:childTnLst>
                                    <p:set>
                                      <p:cBhvr>
                                        <p:cTn id="13" dur="1" fill="hold">
                                          <p:stCondLst>
                                            <p:cond delay="0"/>
                                          </p:stCondLst>
                                        </p:cTn>
                                        <p:tgtEl>
                                          <p:spTgt spid="24"/>
                                        </p:tgtEl>
                                        <p:attrNameLst>
                                          <p:attrName>style.visibility</p:attrName>
                                        </p:attrNameLst>
                                      </p:cBhvr>
                                      <p:to>
                                        <p:strVal val="visible"/>
                                      </p:to>
                                    </p:set>
                                    <p:animEffect transition="in" filter="dissolve">
                                      <p:cBhvr>
                                        <p:cTn id="14" dur="500"/>
                                        <p:tgtEl>
                                          <p:spTgt spid="24"/>
                                        </p:tgtEl>
                                      </p:cBhvr>
                                    </p:animEffect>
                                  </p:childTnLst>
                                </p:cTn>
                              </p:par>
                            </p:childTnLst>
                          </p:cTn>
                        </p:par>
                      </p:childTnLst>
                    </p:cTn>
                  </p:par>
                  <p:par>
                    <p:cTn id="15" fill="hold">
                      <p:stCondLst>
                        <p:cond delay="indefinite"/>
                      </p:stCondLst>
                      <p:childTnLst>
                        <p:par>
                          <p:cTn id="16" fill="hold">
                            <p:stCondLst>
                              <p:cond delay="0"/>
                            </p:stCondLst>
                            <p:childTnLst>
                              <p:par>
                                <p:cTn id="17" presetID="9"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dissolve">
                                      <p:cBhvr>
                                        <p:cTn id="19" dur="500"/>
                                        <p:tgtEl>
                                          <p:spTgt spid="8"/>
                                        </p:tgtEl>
                                      </p:cBhvr>
                                    </p:animEffect>
                                  </p:childTnLst>
                                </p:cTn>
                              </p:par>
                            </p:childTnLst>
                          </p:cTn>
                        </p:par>
                        <p:par>
                          <p:cTn id="20" fill="hold">
                            <p:stCondLst>
                              <p:cond delay="500"/>
                            </p:stCondLst>
                            <p:childTnLst>
                              <p:par>
                                <p:cTn id="21" presetID="22" presetClass="entr" presetSubtype="4" fill="hold" nodeType="afterEffect">
                                  <p:stCondLst>
                                    <p:cond delay="0"/>
                                  </p:stCondLst>
                                  <p:childTnLst>
                                    <p:set>
                                      <p:cBhvr>
                                        <p:cTn id="22" dur="1" fill="hold">
                                          <p:stCondLst>
                                            <p:cond delay="0"/>
                                          </p:stCondLst>
                                        </p:cTn>
                                        <p:tgtEl>
                                          <p:spTgt spid="21"/>
                                        </p:tgtEl>
                                        <p:attrNameLst>
                                          <p:attrName>style.visibility</p:attrName>
                                        </p:attrNameLst>
                                      </p:cBhvr>
                                      <p:to>
                                        <p:strVal val="visible"/>
                                      </p:to>
                                    </p:set>
                                    <p:animEffect transition="in" filter="wipe(down)">
                                      <p:cBhvr>
                                        <p:cTn id="23" dur="500"/>
                                        <p:tgtEl>
                                          <p:spTgt spid="21"/>
                                        </p:tgtEl>
                                      </p:cBhvr>
                                    </p:animEffect>
                                  </p:childTnLst>
                                </p:cTn>
                              </p:par>
                              <p:par>
                                <p:cTn id="24" presetID="9" presetClass="entr" presetSubtype="0" fill="hold" grpId="0" nodeType="with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dissolve">
                                      <p:cBhvr>
                                        <p:cTn id="26" dur="500"/>
                                        <p:tgtEl>
                                          <p:spTgt spid="25"/>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dissolve">
                                      <p:cBhvr>
                                        <p:cTn id="31" dur="500"/>
                                        <p:tgtEl>
                                          <p:spTgt spid="22"/>
                                        </p:tgtEl>
                                      </p:cBhvr>
                                    </p:animEffect>
                                  </p:childTnLst>
                                </p:cTn>
                              </p:par>
                            </p:childTnLst>
                          </p:cTn>
                        </p:par>
                        <p:par>
                          <p:cTn id="32" fill="hold">
                            <p:stCondLst>
                              <p:cond delay="500"/>
                            </p:stCondLst>
                            <p:childTnLst>
                              <p:par>
                                <p:cTn id="33" presetID="9" presetClass="entr" presetSubtype="0" fill="hold" grpId="0" nodeType="afterEffect">
                                  <p:stCondLst>
                                    <p:cond delay="0"/>
                                  </p:stCondLst>
                                  <p:childTnLst>
                                    <p:set>
                                      <p:cBhvr>
                                        <p:cTn id="34" dur="1" fill="hold">
                                          <p:stCondLst>
                                            <p:cond delay="0"/>
                                          </p:stCondLst>
                                        </p:cTn>
                                        <p:tgtEl>
                                          <p:spTgt spid="23"/>
                                        </p:tgtEl>
                                        <p:attrNameLst>
                                          <p:attrName>style.visibility</p:attrName>
                                        </p:attrNameLst>
                                      </p:cBhvr>
                                      <p:to>
                                        <p:strVal val="visible"/>
                                      </p:to>
                                    </p:set>
                                    <p:animEffect transition="in" filter="dissolve">
                                      <p:cBhvr>
                                        <p:cTn id="35"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22" grpId="0" animBg="1"/>
      <p:bldP spid="23" grpId="0"/>
      <p:bldP spid="24" grpId="0" animBg="1"/>
      <p:bldP spid="25"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533400" y="381000"/>
            <a:ext cx="8382000" cy="838200"/>
          </a:xfrm>
        </p:spPr>
        <p:txBody>
          <a:bodyPr/>
          <a:lstStyle/>
          <a:p>
            <a:pPr eaLnBrk="1" hangingPunct="1"/>
            <a:r>
              <a:rPr lang="en-GB" dirty="0" smtClean="0"/>
              <a:t>4. Pointer Variables (2/2)</a:t>
            </a:r>
            <a:endParaRPr lang="en-GB" sz="4800" dirty="0" smtClean="0"/>
          </a:p>
        </p:txBody>
      </p:sp>
      <p:sp>
        <p:nvSpPr>
          <p:cNvPr id="21509" name="Slide Number Placeholder 7"/>
          <p:cNvSpPr>
            <a:spLocks noGrp="1"/>
          </p:cNvSpPr>
          <p:nvPr>
            <p:ph type="sldNum" sz="quarter" idx="12"/>
          </p:nvPr>
        </p:nvSpPr>
        <p:spPr/>
        <p:txBody>
          <a:bodyPr/>
          <a:lstStyle/>
          <a:p>
            <a:pPr>
              <a:defRPr/>
            </a:pPr>
            <a:r>
              <a:rPr dirty="0" smtClean="0">
                <a:cs typeface="Arial" pitchFamily="34" charset="0"/>
              </a:rPr>
              <a:t>Week6 - </a:t>
            </a:r>
            <a:fld id="{BD5A7EDF-6523-437D-97D4-13E6D4C9C7B2}" type="slidenum">
              <a:rPr smtClean="0">
                <a:cs typeface="Arial" pitchFamily="34" charset="0"/>
              </a:rPr>
              <a:pPr>
                <a:defRPr/>
              </a:pPr>
              <a:t>19</a:t>
            </a:fld>
            <a:endParaRPr dirty="0" smtClean="0">
              <a:cs typeface="Arial" pitchFamily="34" charset="0"/>
            </a:endParaRPr>
          </a:p>
        </p:txBody>
      </p:sp>
      <p:sp>
        <p:nvSpPr>
          <p:cNvPr id="31747" name="Rectangle 3"/>
          <p:cNvSpPr>
            <a:spLocks noGrp="1" noChangeArrowheads="1"/>
          </p:cNvSpPr>
          <p:nvPr>
            <p:ph sz="quarter" idx="1"/>
          </p:nvPr>
        </p:nvSpPr>
        <p:spPr>
          <a:xfrm>
            <a:off x="471488" y="1289050"/>
            <a:ext cx="7948612" cy="629691"/>
          </a:xfrm>
        </p:spPr>
        <p:txBody>
          <a:bodyPr/>
          <a:lstStyle/>
          <a:p>
            <a:pPr marL="457200" indent="-457200" eaLnBrk="1" hangingPunct="1">
              <a:spcBef>
                <a:spcPts val="600"/>
              </a:spcBef>
              <a:buSzPct val="100000"/>
              <a:buFont typeface="Wingdings" pitchFamily="2" charset="2"/>
              <a:buChar char="§"/>
            </a:pPr>
            <a:r>
              <a:rPr lang="en-GB" dirty="0" smtClean="0">
                <a:solidFill>
                  <a:schemeClr val="tx1"/>
                </a:solidFill>
              </a:rPr>
              <a:t>Example (cont.):</a:t>
            </a:r>
          </a:p>
          <a:p>
            <a:pPr marL="457200" indent="-457200" eaLnBrk="1" hangingPunct="1">
              <a:spcBef>
                <a:spcPts val="600"/>
              </a:spcBef>
              <a:buSzPct val="100000"/>
              <a:buFont typeface="Wingdings" pitchFamily="2" charset="2"/>
              <a:buChar char="§"/>
            </a:pPr>
            <a:endParaRPr lang="en-GB" dirty="0" smtClean="0"/>
          </a:p>
          <a:p>
            <a:pPr marL="457200" indent="-457200" eaLnBrk="1" hangingPunct="1">
              <a:buSzPct val="120000"/>
              <a:buFont typeface="Wingdings" pitchFamily="2" charset="2"/>
              <a:buNone/>
            </a:pPr>
            <a:endParaRPr lang="en-GB" b="1" dirty="0" smtClean="0"/>
          </a:p>
          <a:p>
            <a:pPr marL="457200" indent="-457200" eaLnBrk="1" hangingPunct="1">
              <a:buSzPct val="120000"/>
              <a:buFont typeface="Wingdings" pitchFamily="2" charset="2"/>
              <a:buNone/>
            </a:pPr>
            <a:endParaRPr lang="en-GB" b="1" dirty="0" smtClean="0"/>
          </a:p>
          <a:p>
            <a:pPr marL="457200" indent="-457200" eaLnBrk="1" hangingPunct="1">
              <a:buSzPct val="120000"/>
              <a:buFont typeface="Wingdings" pitchFamily="2" charset="2"/>
              <a:buNone/>
            </a:pPr>
            <a:endParaRPr lang="en-GB" b="1" dirty="0" smtClean="0"/>
          </a:p>
          <a:p>
            <a:pPr marL="457200" indent="-457200" eaLnBrk="1" hangingPunct="1">
              <a:buSzPct val="120000"/>
              <a:buFont typeface="Wingdings" pitchFamily="2" charset="2"/>
              <a:buNone/>
            </a:pPr>
            <a:endParaRPr lang="en-GB" b="1" dirty="0" smtClean="0"/>
          </a:p>
          <a:p>
            <a:pPr marL="457200" indent="-457200" eaLnBrk="1" hangingPunct="1">
              <a:buSzPct val="120000"/>
              <a:buFont typeface="Wingdings" pitchFamily="2" charset="2"/>
              <a:buNone/>
            </a:pPr>
            <a:endParaRPr lang="en-GB" sz="2000" dirty="0" smtClean="0"/>
          </a:p>
        </p:txBody>
      </p:sp>
      <p:sp>
        <p:nvSpPr>
          <p:cNvPr id="7" name="TextBox 6"/>
          <p:cNvSpPr txBox="1"/>
          <p:nvPr/>
        </p:nvSpPr>
        <p:spPr>
          <a:xfrm>
            <a:off x="765175" y="1939925"/>
            <a:ext cx="7235825" cy="1416050"/>
          </a:xfrm>
          <a:prstGeom prst="rect">
            <a:avLst/>
          </a:prstGeom>
          <a:ln>
            <a:noFill/>
          </a:ln>
        </p:spPr>
        <p:style>
          <a:lnRef idx="2">
            <a:schemeClr val="accent6"/>
          </a:lnRef>
          <a:fillRef idx="1">
            <a:schemeClr val="lt1"/>
          </a:fillRef>
          <a:effectRef idx="0">
            <a:schemeClr val="accent6"/>
          </a:effectRef>
          <a:fontRef idx="minor">
            <a:schemeClr val="dk1"/>
          </a:fontRef>
        </p:style>
        <p:txBody>
          <a:bodyPr>
            <a:spAutoFit/>
          </a:bodyPr>
          <a:lstStyle/>
          <a:p>
            <a:pPr>
              <a:defRPr/>
            </a:pPr>
            <a:r>
              <a:rPr lang="en-US" b="1" dirty="0" err="1">
                <a:solidFill>
                  <a:srgbClr val="0000FF"/>
                </a:solidFill>
                <a:latin typeface="Courier New" pitchFamily="49" charset="0"/>
                <a:cs typeface="Courier New" pitchFamily="49" charset="0"/>
              </a:rPr>
              <a:t>int</a:t>
            </a:r>
            <a:r>
              <a:rPr lang="en-US" b="1" dirty="0">
                <a:solidFill>
                  <a:srgbClr val="000000"/>
                </a:solidFill>
                <a:latin typeface="Courier New" pitchFamily="49" charset="0"/>
                <a:cs typeface="Courier New" pitchFamily="49" charset="0"/>
              </a:rPr>
              <a:t> </a:t>
            </a:r>
            <a:r>
              <a:rPr lang="en-US" b="1" dirty="0" err="1">
                <a:solidFill>
                  <a:srgbClr val="000000"/>
                </a:solidFill>
                <a:latin typeface="Courier New" pitchFamily="49" charset="0"/>
                <a:cs typeface="Courier New" pitchFamily="49" charset="0"/>
              </a:rPr>
              <a:t>i</a:t>
            </a:r>
            <a:r>
              <a:rPr lang="en-US" b="1" dirty="0">
                <a:solidFill>
                  <a:srgbClr val="000000"/>
                </a:solidFill>
                <a:latin typeface="Courier New" pitchFamily="49" charset="0"/>
                <a:cs typeface="Courier New" pitchFamily="49" charset="0"/>
              </a:rPr>
              <a:t> = </a:t>
            </a:r>
            <a:r>
              <a:rPr lang="en-US" b="1" dirty="0">
                <a:solidFill>
                  <a:srgbClr val="006600"/>
                </a:solidFill>
                <a:latin typeface="Courier New" pitchFamily="49" charset="0"/>
                <a:cs typeface="Courier New" pitchFamily="49" charset="0"/>
              </a:rPr>
              <a:t>10</a:t>
            </a:r>
            <a:r>
              <a:rPr lang="en-US" b="1" dirty="0">
                <a:solidFill>
                  <a:srgbClr val="000000"/>
                </a:solidFill>
                <a:latin typeface="Courier New" pitchFamily="49" charset="0"/>
                <a:cs typeface="Courier New" pitchFamily="49" charset="0"/>
              </a:rPr>
              <a:t>, j = </a:t>
            </a:r>
            <a:r>
              <a:rPr lang="en-US" b="1" dirty="0">
                <a:solidFill>
                  <a:srgbClr val="006600"/>
                </a:solidFill>
                <a:latin typeface="Courier New" pitchFamily="49" charset="0"/>
                <a:cs typeface="Courier New" pitchFamily="49" charset="0"/>
              </a:rPr>
              <a:t>20</a:t>
            </a:r>
            <a:r>
              <a:rPr lang="en-US" b="1" dirty="0">
                <a:solidFill>
                  <a:srgbClr val="000000"/>
                </a:solidFill>
                <a:latin typeface="Courier New" pitchFamily="49" charset="0"/>
                <a:cs typeface="Courier New" pitchFamily="49" charset="0"/>
              </a:rPr>
              <a:t>;</a:t>
            </a:r>
          </a:p>
          <a:p>
            <a:pPr>
              <a:defRPr/>
            </a:pPr>
            <a:r>
              <a:rPr lang="en-US" b="1" dirty="0" err="1">
                <a:solidFill>
                  <a:srgbClr val="0000FF"/>
                </a:solidFill>
                <a:latin typeface="Courier New" pitchFamily="49" charset="0"/>
                <a:cs typeface="Courier New" pitchFamily="49" charset="0"/>
              </a:rPr>
              <a:t>int</a:t>
            </a:r>
            <a:r>
              <a:rPr lang="en-US" b="1" dirty="0">
                <a:solidFill>
                  <a:srgbClr val="000000"/>
                </a:solidFill>
                <a:latin typeface="Courier New" pitchFamily="49" charset="0"/>
                <a:cs typeface="Courier New" pitchFamily="49" charset="0"/>
              </a:rPr>
              <a:t> *p; </a:t>
            </a:r>
            <a:r>
              <a:rPr lang="en-US" sz="1400" b="1" dirty="0">
                <a:solidFill>
                  <a:srgbClr val="800000"/>
                </a:solidFill>
                <a:latin typeface="Courier New" pitchFamily="49" charset="0"/>
                <a:cs typeface="Courier New" pitchFamily="49" charset="0"/>
              </a:rPr>
              <a:t>// p is a pointer to </a:t>
            </a:r>
            <a:r>
              <a:rPr lang="en-US" sz="1400" b="1" dirty="0" smtClean="0">
                <a:solidFill>
                  <a:srgbClr val="800000"/>
                </a:solidFill>
                <a:latin typeface="Courier New" pitchFamily="49" charset="0"/>
                <a:cs typeface="Courier New" pitchFamily="49" charset="0"/>
              </a:rPr>
              <a:t>some </a:t>
            </a:r>
            <a:r>
              <a:rPr lang="en-US" sz="1400" b="1" dirty="0" err="1" smtClean="0">
                <a:solidFill>
                  <a:srgbClr val="800000"/>
                </a:solidFill>
                <a:latin typeface="Courier New" pitchFamily="49" charset="0"/>
                <a:cs typeface="Courier New" pitchFamily="49" charset="0"/>
              </a:rPr>
              <a:t>int</a:t>
            </a:r>
            <a:r>
              <a:rPr lang="en-US" sz="1400" b="1" dirty="0" smtClean="0">
                <a:solidFill>
                  <a:srgbClr val="800000"/>
                </a:solidFill>
                <a:latin typeface="Courier New" pitchFamily="49" charset="0"/>
                <a:cs typeface="Courier New" pitchFamily="49" charset="0"/>
              </a:rPr>
              <a:t> variable</a:t>
            </a:r>
            <a:endParaRPr lang="en-US" sz="1400" b="1" dirty="0">
              <a:solidFill>
                <a:srgbClr val="800000"/>
              </a:solidFill>
              <a:latin typeface="Courier New" pitchFamily="49" charset="0"/>
              <a:cs typeface="Courier New" pitchFamily="49" charset="0"/>
            </a:endParaRPr>
          </a:p>
          <a:p>
            <a:pPr>
              <a:defRPr/>
            </a:pPr>
            <a:endParaRPr lang="en-US" sz="1600" b="1" dirty="0">
              <a:solidFill>
                <a:srgbClr val="000000"/>
              </a:solidFill>
              <a:latin typeface="Courier New" pitchFamily="49" charset="0"/>
              <a:cs typeface="Courier New" pitchFamily="49" charset="0"/>
            </a:endParaRPr>
          </a:p>
          <a:p>
            <a:pPr>
              <a:defRPr/>
            </a:pPr>
            <a:r>
              <a:rPr lang="en-US" b="1" dirty="0">
                <a:solidFill>
                  <a:srgbClr val="000000"/>
                </a:solidFill>
                <a:latin typeface="Courier New" pitchFamily="49" charset="0"/>
                <a:cs typeface="Courier New" pitchFamily="49" charset="0"/>
              </a:rPr>
              <a:t>p = &amp;</a:t>
            </a:r>
            <a:r>
              <a:rPr lang="en-US" b="1" dirty="0" err="1">
                <a:solidFill>
                  <a:srgbClr val="000000"/>
                </a:solidFill>
                <a:latin typeface="Courier New" pitchFamily="49" charset="0"/>
                <a:cs typeface="Courier New" pitchFamily="49" charset="0"/>
              </a:rPr>
              <a:t>i</a:t>
            </a:r>
            <a:r>
              <a:rPr lang="en-US" b="1" dirty="0">
                <a:solidFill>
                  <a:srgbClr val="000000"/>
                </a:solidFill>
                <a:latin typeface="Courier New" pitchFamily="49" charset="0"/>
                <a:cs typeface="Courier New" pitchFamily="49" charset="0"/>
              </a:rPr>
              <a:t>; </a:t>
            </a:r>
            <a:r>
              <a:rPr lang="en-US" sz="1400" b="1" dirty="0">
                <a:solidFill>
                  <a:srgbClr val="800000"/>
                </a:solidFill>
                <a:latin typeface="Courier New" pitchFamily="49" charset="0"/>
                <a:cs typeface="Courier New" pitchFamily="49" charset="0"/>
              </a:rPr>
              <a:t>// p now stores the address of variable </a:t>
            </a:r>
            <a:r>
              <a:rPr lang="en-US" sz="1400" b="1" dirty="0" err="1">
                <a:solidFill>
                  <a:srgbClr val="800000"/>
                </a:solidFill>
                <a:latin typeface="Courier New" pitchFamily="49" charset="0"/>
                <a:cs typeface="Courier New" pitchFamily="49" charset="0"/>
              </a:rPr>
              <a:t>i</a:t>
            </a:r>
            <a:endParaRPr lang="en-US" sz="1400" b="1" dirty="0">
              <a:solidFill>
                <a:srgbClr val="800000"/>
              </a:solidFill>
              <a:latin typeface="Courier New" pitchFamily="49" charset="0"/>
              <a:cs typeface="Courier New" pitchFamily="49" charset="0"/>
            </a:endParaRPr>
          </a:p>
          <a:p>
            <a:pPr>
              <a:defRPr/>
            </a:pPr>
            <a:r>
              <a:rPr lang="en-US" sz="1600" b="1" dirty="0" err="1">
                <a:solidFill>
                  <a:srgbClr val="000000"/>
                </a:solidFill>
                <a:latin typeface="Courier New" pitchFamily="49" charset="0"/>
                <a:cs typeface="Courier New" pitchFamily="49" charset="0"/>
              </a:rPr>
              <a:t>printf</a:t>
            </a:r>
            <a:r>
              <a:rPr lang="en-US" sz="1600" b="1" dirty="0">
                <a:solidFill>
                  <a:srgbClr val="000000"/>
                </a:solidFill>
                <a:latin typeface="Courier New" pitchFamily="49" charset="0"/>
                <a:cs typeface="Courier New" pitchFamily="49" charset="0"/>
              </a:rPr>
              <a:t>(</a:t>
            </a:r>
            <a:r>
              <a:rPr lang="en-US" sz="1600" b="1" dirty="0">
                <a:solidFill>
                  <a:srgbClr val="006600"/>
                </a:solidFill>
                <a:latin typeface="Courier New" pitchFamily="49" charset="0"/>
                <a:cs typeface="Courier New" pitchFamily="49" charset="0"/>
              </a:rPr>
              <a:t>"value of </a:t>
            </a:r>
            <a:r>
              <a:rPr lang="en-US" sz="1600" b="1" dirty="0" err="1">
                <a:solidFill>
                  <a:srgbClr val="006600"/>
                </a:solidFill>
                <a:latin typeface="Courier New" pitchFamily="49" charset="0"/>
                <a:cs typeface="Courier New" pitchFamily="49" charset="0"/>
              </a:rPr>
              <a:t>i</a:t>
            </a:r>
            <a:r>
              <a:rPr lang="en-US" sz="1600" b="1" dirty="0">
                <a:solidFill>
                  <a:srgbClr val="006600"/>
                </a:solidFill>
                <a:latin typeface="Courier New" pitchFamily="49" charset="0"/>
                <a:cs typeface="Courier New" pitchFamily="49" charset="0"/>
              </a:rPr>
              <a:t> is</a:t>
            </a:r>
            <a:r>
              <a:rPr lang="en-US" sz="1600" b="1" dirty="0">
                <a:solidFill>
                  <a:srgbClr val="000000"/>
                </a:solidFill>
                <a:latin typeface="Courier New" pitchFamily="49" charset="0"/>
                <a:cs typeface="Courier New" pitchFamily="49" charset="0"/>
              </a:rPr>
              <a:t> </a:t>
            </a:r>
            <a:r>
              <a:rPr lang="en-US" sz="1600" b="1" dirty="0">
                <a:solidFill>
                  <a:srgbClr val="FF0000"/>
                </a:solidFill>
                <a:latin typeface="Courier New" pitchFamily="49" charset="0"/>
                <a:cs typeface="Courier New" pitchFamily="49" charset="0"/>
              </a:rPr>
              <a:t>%d\n</a:t>
            </a:r>
            <a:r>
              <a:rPr lang="en-US" sz="1600" b="1" dirty="0">
                <a:solidFill>
                  <a:srgbClr val="006600"/>
                </a:solidFill>
                <a:latin typeface="Courier New" pitchFamily="49" charset="0"/>
                <a:cs typeface="Courier New" pitchFamily="49" charset="0"/>
              </a:rPr>
              <a:t>"</a:t>
            </a:r>
            <a:r>
              <a:rPr lang="en-US" sz="1600" b="1" dirty="0">
                <a:solidFill>
                  <a:srgbClr val="000000"/>
                </a:solidFill>
                <a:latin typeface="Courier New" pitchFamily="49" charset="0"/>
                <a:cs typeface="Courier New" pitchFamily="49" charset="0"/>
              </a:rPr>
              <a:t>, *p); </a:t>
            </a:r>
            <a:endParaRPr lang="en-US" sz="1600" b="1" dirty="0">
              <a:solidFill>
                <a:srgbClr val="800000"/>
              </a:solidFill>
              <a:latin typeface="Courier New" pitchFamily="49" charset="0"/>
              <a:cs typeface="Courier New" pitchFamily="49" charset="0"/>
            </a:endParaRPr>
          </a:p>
        </p:txBody>
      </p:sp>
      <p:sp>
        <p:nvSpPr>
          <p:cNvPr id="8" name="TextBox 7"/>
          <p:cNvSpPr txBox="1"/>
          <p:nvPr/>
        </p:nvSpPr>
        <p:spPr>
          <a:xfrm>
            <a:off x="765175" y="3697288"/>
            <a:ext cx="7235825" cy="800219"/>
          </a:xfrm>
          <a:prstGeom prst="rect">
            <a:avLst/>
          </a:prstGeom>
          <a:ln>
            <a:noFill/>
          </a:ln>
        </p:spPr>
        <p:style>
          <a:lnRef idx="2">
            <a:schemeClr val="accent6"/>
          </a:lnRef>
          <a:fillRef idx="1">
            <a:schemeClr val="lt1"/>
          </a:fillRef>
          <a:effectRef idx="0">
            <a:schemeClr val="accent6"/>
          </a:effectRef>
          <a:fontRef idx="minor">
            <a:schemeClr val="dk1"/>
          </a:fontRef>
        </p:style>
        <p:txBody>
          <a:bodyPr>
            <a:spAutoFit/>
          </a:bodyPr>
          <a:lstStyle/>
          <a:p>
            <a:pPr>
              <a:tabLst>
                <a:tab pos="1889125" algn="l"/>
              </a:tabLst>
              <a:defRPr/>
            </a:pPr>
            <a:r>
              <a:rPr lang="en-US" sz="1400" b="1" dirty="0">
                <a:solidFill>
                  <a:srgbClr val="800000"/>
                </a:solidFill>
                <a:latin typeface="Courier New" pitchFamily="49" charset="0"/>
                <a:cs typeface="Courier New" pitchFamily="49" charset="0"/>
              </a:rPr>
              <a:t>// *p accesses the value of pointed/referred variable </a:t>
            </a:r>
          </a:p>
          <a:p>
            <a:pPr>
              <a:tabLst>
                <a:tab pos="1889125" algn="l"/>
              </a:tabLst>
              <a:defRPr/>
            </a:pPr>
            <a:r>
              <a:rPr lang="en-US" b="1" dirty="0">
                <a:solidFill>
                  <a:srgbClr val="000000"/>
                </a:solidFill>
                <a:latin typeface="Courier New" pitchFamily="49" charset="0"/>
                <a:cs typeface="Courier New" pitchFamily="49" charset="0"/>
              </a:rPr>
              <a:t>*p = *p + </a:t>
            </a:r>
            <a:r>
              <a:rPr lang="en-US" b="1" dirty="0">
                <a:solidFill>
                  <a:srgbClr val="006600"/>
                </a:solidFill>
                <a:latin typeface="Courier New" pitchFamily="49" charset="0"/>
                <a:cs typeface="Courier New" pitchFamily="49" charset="0"/>
              </a:rPr>
              <a:t>2</a:t>
            </a:r>
            <a:r>
              <a:rPr lang="en-US" b="1" dirty="0">
                <a:solidFill>
                  <a:srgbClr val="000000"/>
                </a:solidFill>
                <a:latin typeface="Courier New" pitchFamily="49" charset="0"/>
                <a:cs typeface="Courier New" pitchFamily="49" charset="0"/>
              </a:rPr>
              <a:t>; </a:t>
            </a:r>
            <a:r>
              <a:rPr lang="en-US" b="1" dirty="0" smtClean="0">
                <a:solidFill>
                  <a:srgbClr val="000000"/>
                </a:solidFill>
                <a:latin typeface="Courier New" pitchFamily="49" charset="0"/>
                <a:cs typeface="Courier New" pitchFamily="49" charset="0"/>
              </a:rPr>
              <a:t>	</a:t>
            </a:r>
            <a:r>
              <a:rPr lang="en-US" sz="1400" b="1" dirty="0" smtClean="0">
                <a:solidFill>
                  <a:srgbClr val="800000"/>
                </a:solidFill>
                <a:latin typeface="Courier New" pitchFamily="49" charset="0"/>
                <a:cs typeface="Courier New" pitchFamily="49" charset="0"/>
              </a:rPr>
              <a:t>// </a:t>
            </a:r>
            <a:r>
              <a:rPr lang="en-US" sz="1400" b="1" dirty="0">
                <a:solidFill>
                  <a:srgbClr val="800000"/>
                </a:solidFill>
                <a:latin typeface="Courier New" pitchFamily="49" charset="0"/>
                <a:cs typeface="Courier New" pitchFamily="49" charset="0"/>
              </a:rPr>
              <a:t>increment *p (which is </a:t>
            </a:r>
            <a:r>
              <a:rPr lang="en-US" sz="1400" b="1" dirty="0" err="1">
                <a:solidFill>
                  <a:srgbClr val="800000"/>
                </a:solidFill>
                <a:latin typeface="Courier New" pitchFamily="49" charset="0"/>
                <a:cs typeface="Courier New" pitchFamily="49" charset="0"/>
              </a:rPr>
              <a:t>i</a:t>
            </a:r>
            <a:r>
              <a:rPr lang="en-US" sz="1400" b="1" dirty="0">
                <a:solidFill>
                  <a:srgbClr val="800000"/>
                </a:solidFill>
                <a:latin typeface="Courier New" pitchFamily="49" charset="0"/>
                <a:cs typeface="Courier New" pitchFamily="49" charset="0"/>
              </a:rPr>
              <a:t>) by </a:t>
            </a:r>
            <a:r>
              <a:rPr lang="en-US" sz="1400" b="1" dirty="0" smtClean="0">
                <a:solidFill>
                  <a:srgbClr val="800000"/>
                </a:solidFill>
                <a:latin typeface="Courier New" pitchFamily="49" charset="0"/>
                <a:cs typeface="Courier New" pitchFamily="49" charset="0"/>
              </a:rPr>
              <a:t>2</a:t>
            </a:r>
          </a:p>
          <a:p>
            <a:pPr>
              <a:tabLst>
                <a:tab pos="1889125" algn="l"/>
              </a:tabLst>
              <a:defRPr/>
            </a:pPr>
            <a:r>
              <a:rPr lang="en-US" sz="1400" b="1" dirty="0" smtClean="0">
                <a:solidFill>
                  <a:srgbClr val="800000"/>
                </a:solidFill>
                <a:latin typeface="Courier New" pitchFamily="49" charset="0"/>
                <a:cs typeface="Courier New" pitchFamily="49" charset="0"/>
              </a:rPr>
              <a:t>	// same effect as: </a:t>
            </a:r>
            <a:r>
              <a:rPr lang="en-US" sz="1400" b="1" dirty="0" err="1" smtClean="0">
                <a:solidFill>
                  <a:schemeClr val="tx1"/>
                </a:solidFill>
                <a:latin typeface="Courier New" pitchFamily="49" charset="0"/>
                <a:cs typeface="Courier New" pitchFamily="49" charset="0"/>
              </a:rPr>
              <a:t>i</a:t>
            </a:r>
            <a:r>
              <a:rPr lang="en-US" sz="1400" b="1" dirty="0" smtClean="0">
                <a:solidFill>
                  <a:schemeClr val="tx1"/>
                </a:solidFill>
                <a:latin typeface="Courier New" pitchFamily="49" charset="0"/>
                <a:cs typeface="Courier New" pitchFamily="49" charset="0"/>
              </a:rPr>
              <a:t> = </a:t>
            </a:r>
            <a:r>
              <a:rPr lang="en-US" sz="1400" b="1" dirty="0" err="1" smtClean="0">
                <a:solidFill>
                  <a:schemeClr val="tx1"/>
                </a:solidFill>
                <a:latin typeface="Courier New" pitchFamily="49" charset="0"/>
                <a:cs typeface="Courier New" pitchFamily="49" charset="0"/>
              </a:rPr>
              <a:t>i</a:t>
            </a:r>
            <a:r>
              <a:rPr lang="en-US" sz="1400" b="1" dirty="0" smtClean="0">
                <a:solidFill>
                  <a:schemeClr val="tx1"/>
                </a:solidFill>
                <a:latin typeface="Courier New" pitchFamily="49" charset="0"/>
                <a:cs typeface="Courier New" pitchFamily="49" charset="0"/>
              </a:rPr>
              <a:t> + </a:t>
            </a:r>
            <a:r>
              <a:rPr lang="en-US" sz="1400" b="1" dirty="0" smtClean="0">
                <a:solidFill>
                  <a:srgbClr val="006600"/>
                </a:solidFill>
                <a:latin typeface="Courier New" pitchFamily="49" charset="0"/>
                <a:cs typeface="Courier New" pitchFamily="49" charset="0"/>
              </a:rPr>
              <a:t>2</a:t>
            </a:r>
            <a:r>
              <a:rPr lang="en-US" sz="1400" b="1" dirty="0" smtClean="0">
                <a:solidFill>
                  <a:schemeClr val="tx1"/>
                </a:solidFill>
                <a:latin typeface="Courier New" pitchFamily="49" charset="0"/>
                <a:cs typeface="Courier New" pitchFamily="49" charset="0"/>
              </a:rPr>
              <a:t>;</a:t>
            </a:r>
            <a:endParaRPr lang="en-US" sz="1400" b="1" dirty="0">
              <a:solidFill>
                <a:schemeClr val="tx1"/>
              </a:solidFill>
              <a:latin typeface="Courier New" pitchFamily="49" charset="0"/>
              <a:cs typeface="Courier New" pitchFamily="49" charset="0"/>
            </a:endParaRPr>
          </a:p>
        </p:txBody>
      </p:sp>
      <p:grpSp>
        <p:nvGrpSpPr>
          <p:cNvPr id="2" name="Group 8"/>
          <p:cNvGrpSpPr>
            <a:grpSpLocks/>
          </p:cNvGrpSpPr>
          <p:nvPr/>
        </p:nvGrpSpPr>
        <p:grpSpPr bwMode="auto">
          <a:xfrm>
            <a:off x="6515100" y="1871663"/>
            <a:ext cx="2047875" cy="1276350"/>
            <a:chOff x="6515735" y="4042728"/>
            <a:chExt cx="2046555" cy="1276985"/>
          </a:xfrm>
        </p:grpSpPr>
        <p:grpSp>
          <p:nvGrpSpPr>
            <p:cNvPr id="21524" name="Group 13"/>
            <p:cNvGrpSpPr>
              <a:grpSpLocks/>
            </p:cNvGrpSpPr>
            <p:nvPr/>
          </p:nvGrpSpPr>
          <p:grpSpPr bwMode="auto">
            <a:xfrm>
              <a:off x="6515735" y="4042728"/>
              <a:ext cx="798754" cy="511175"/>
              <a:chOff x="4834756" y="1996965"/>
              <a:chExt cx="798785" cy="511975"/>
            </a:xfrm>
          </p:grpSpPr>
          <p:sp>
            <p:nvSpPr>
              <p:cNvPr id="21531" name="TextBox 9"/>
              <p:cNvSpPr txBox="1">
                <a:spLocks noChangeArrowheads="1"/>
              </p:cNvSpPr>
              <p:nvPr/>
            </p:nvSpPr>
            <p:spPr bwMode="auto">
              <a:xfrm>
                <a:off x="4834756" y="1996965"/>
                <a:ext cx="336331" cy="338554"/>
              </a:xfrm>
              <a:prstGeom prst="rect">
                <a:avLst/>
              </a:prstGeom>
              <a:noFill/>
              <a:ln w="9525">
                <a:noFill/>
                <a:miter lim="800000"/>
                <a:headEnd/>
                <a:tailEnd/>
              </a:ln>
            </p:spPr>
            <p:txBody>
              <a:bodyPr>
                <a:spAutoFit/>
              </a:bodyPr>
              <a:lstStyle/>
              <a:p>
                <a:r>
                  <a:rPr lang="en-US" sz="1600">
                    <a:latin typeface="Calibri" pitchFamily="34" charset="0"/>
                  </a:rPr>
                  <a:t>i</a:t>
                </a:r>
                <a:endParaRPr lang="en-SG" sz="1600">
                  <a:latin typeface="Calibri" pitchFamily="34" charset="0"/>
                </a:endParaRPr>
              </a:p>
            </p:txBody>
          </p:sp>
          <p:sp>
            <p:nvSpPr>
              <p:cNvPr id="21532" name="TextBox 10"/>
              <p:cNvSpPr txBox="1">
                <a:spLocks noChangeArrowheads="1"/>
              </p:cNvSpPr>
              <p:nvPr/>
            </p:nvSpPr>
            <p:spPr bwMode="auto">
              <a:xfrm>
                <a:off x="5102769" y="2170386"/>
                <a:ext cx="530772" cy="338554"/>
              </a:xfrm>
              <a:prstGeom prst="rect">
                <a:avLst/>
              </a:prstGeom>
              <a:solidFill>
                <a:srgbClr val="FFCC66"/>
              </a:solidFill>
              <a:ln w="9525">
                <a:solidFill>
                  <a:schemeClr val="tx1"/>
                </a:solidFill>
                <a:miter lim="800000"/>
                <a:headEnd/>
                <a:tailEnd/>
              </a:ln>
            </p:spPr>
            <p:txBody>
              <a:bodyPr>
                <a:spAutoFit/>
              </a:bodyPr>
              <a:lstStyle/>
              <a:p>
                <a:pPr algn="ctr"/>
                <a:r>
                  <a:rPr lang="en-US" sz="1600">
                    <a:latin typeface="Calibri" pitchFamily="34" charset="0"/>
                  </a:rPr>
                  <a:t>10</a:t>
                </a:r>
                <a:endParaRPr lang="en-SG" sz="1600">
                  <a:latin typeface="Calibri" pitchFamily="34" charset="0"/>
                </a:endParaRPr>
              </a:p>
            </p:txBody>
          </p:sp>
        </p:grpSp>
        <p:grpSp>
          <p:nvGrpSpPr>
            <p:cNvPr id="21525" name="Group 14"/>
            <p:cNvGrpSpPr>
              <a:grpSpLocks/>
            </p:cNvGrpSpPr>
            <p:nvPr/>
          </p:nvGrpSpPr>
          <p:grpSpPr bwMode="auto">
            <a:xfrm>
              <a:off x="7763534" y="4042728"/>
              <a:ext cx="798756" cy="511175"/>
              <a:chOff x="6027681" y="2023240"/>
              <a:chExt cx="798787" cy="511975"/>
            </a:xfrm>
          </p:grpSpPr>
          <p:sp>
            <p:nvSpPr>
              <p:cNvPr id="21529" name="TextBox 11"/>
              <p:cNvSpPr txBox="1">
                <a:spLocks noChangeArrowheads="1"/>
              </p:cNvSpPr>
              <p:nvPr/>
            </p:nvSpPr>
            <p:spPr bwMode="auto">
              <a:xfrm>
                <a:off x="6027681" y="2023240"/>
                <a:ext cx="336331" cy="338554"/>
              </a:xfrm>
              <a:prstGeom prst="rect">
                <a:avLst/>
              </a:prstGeom>
              <a:noFill/>
              <a:ln w="9525">
                <a:noFill/>
                <a:miter lim="800000"/>
                <a:headEnd/>
                <a:tailEnd/>
              </a:ln>
            </p:spPr>
            <p:txBody>
              <a:bodyPr>
                <a:spAutoFit/>
              </a:bodyPr>
              <a:lstStyle/>
              <a:p>
                <a:r>
                  <a:rPr lang="en-US" sz="1600">
                    <a:latin typeface="Calibri" pitchFamily="34" charset="0"/>
                  </a:rPr>
                  <a:t>j</a:t>
                </a:r>
                <a:endParaRPr lang="en-SG" sz="1600">
                  <a:latin typeface="Calibri" pitchFamily="34" charset="0"/>
                </a:endParaRPr>
              </a:p>
            </p:txBody>
          </p:sp>
          <p:sp>
            <p:nvSpPr>
              <p:cNvPr id="21530" name="TextBox 12"/>
              <p:cNvSpPr txBox="1">
                <a:spLocks noChangeArrowheads="1"/>
              </p:cNvSpPr>
              <p:nvPr/>
            </p:nvSpPr>
            <p:spPr bwMode="auto">
              <a:xfrm>
                <a:off x="6295695" y="2196661"/>
                <a:ext cx="530773" cy="338554"/>
              </a:xfrm>
              <a:prstGeom prst="rect">
                <a:avLst/>
              </a:prstGeom>
              <a:solidFill>
                <a:srgbClr val="FFCC66"/>
              </a:solidFill>
              <a:ln w="9525">
                <a:solidFill>
                  <a:schemeClr val="tx1"/>
                </a:solidFill>
                <a:miter lim="800000"/>
                <a:headEnd/>
                <a:tailEnd/>
              </a:ln>
            </p:spPr>
            <p:txBody>
              <a:bodyPr>
                <a:spAutoFit/>
              </a:bodyPr>
              <a:lstStyle/>
              <a:p>
                <a:pPr algn="ctr"/>
                <a:r>
                  <a:rPr lang="en-US" sz="1600">
                    <a:latin typeface="Calibri" pitchFamily="34" charset="0"/>
                  </a:rPr>
                  <a:t>20</a:t>
                </a:r>
                <a:endParaRPr lang="en-SG" sz="1600">
                  <a:latin typeface="Calibri" pitchFamily="34" charset="0"/>
                </a:endParaRPr>
              </a:p>
            </p:txBody>
          </p:sp>
        </p:grpSp>
        <p:grpSp>
          <p:nvGrpSpPr>
            <p:cNvPr id="21526" name="Group 15"/>
            <p:cNvGrpSpPr>
              <a:grpSpLocks/>
            </p:cNvGrpSpPr>
            <p:nvPr/>
          </p:nvGrpSpPr>
          <p:grpSpPr bwMode="auto">
            <a:xfrm>
              <a:off x="7156524" y="4808538"/>
              <a:ext cx="798756" cy="511175"/>
              <a:chOff x="6027681" y="2023240"/>
              <a:chExt cx="798787" cy="511975"/>
            </a:xfrm>
          </p:grpSpPr>
          <p:sp>
            <p:nvSpPr>
              <p:cNvPr id="21527" name="TextBox 16"/>
              <p:cNvSpPr txBox="1">
                <a:spLocks noChangeArrowheads="1"/>
              </p:cNvSpPr>
              <p:nvPr/>
            </p:nvSpPr>
            <p:spPr bwMode="auto">
              <a:xfrm>
                <a:off x="6027681" y="2023240"/>
                <a:ext cx="336331" cy="338554"/>
              </a:xfrm>
              <a:prstGeom prst="rect">
                <a:avLst/>
              </a:prstGeom>
              <a:noFill/>
              <a:ln w="9525">
                <a:noFill/>
                <a:miter lim="800000"/>
                <a:headEnd/>
                <a:tailEnd/>
              </a:ln>
            </p:spPr>
            <p:txBody>
              <a:bodyPr>
                <a:spAutoFit/>
              </a:bodyPr>
              <a:lstStyle/>
              <a:p>
                <a:r>
                  <a:rPr lang="en-US" sz="1600">
                    <a:latin typeface="Calibri" pitchFamily="34" charset="0"/>
                  </a:rPr>
                  <a:t>p</a:t>
                </a:r>
                <a:endParaRPr lang="en-SG" sz="1600">
                  <a:latin typeface="Calibri" pitchFamily="34" charset="0"/>
                </a:endParaRPr>
              </a:p>
            </p:txBody>
          </p:sp>
          <p:sp>
            <p:nvSpPr>
              <p:cNvPr id="14" name="TextBox 17"/>
              <p:cNvSpPr txBox="1">
                <a:spLocks noChangeArrowheads="1"/>
              </p:cNvSpPr>
              <p:nvPr/>
            </p:nvSpPr>
            <p:spPr bwMode="auto">
              <a:xfrm>
                <a:off x="6295954" y="2196379"/>
                <a:ext cx="529904" cy="338836"/>
              </a:xfrm>
              <a:prstGeom prst="rect">
                <a:avLst/>
              </a:prstGeom>
              <a:solidFill>
                <a:schemeClr val="accent1">
                  <a:lumMod val="90000"/>
                </a:schemeClr>
              </a:solidFill>
              <a:ln w="9525">
                <a:solidFill>
                  <a:schemeClr val="tx1"/>
                </a:solidFill>
                <a:miter lim="800000"/>
                <a:headEnd/>
                <a:tailEnd/>
              </a:ln>
            </p:spPr>
            <p:txBody>
              <a:bodyPr>
                <a:spAutoFit/>
              </a:bodyPr>
              <a:lstStyle/>
              <a:p>
                <a:pPr algn="ctr">
                  <a:defRPr/>
                </a:pPr>
                <a:endParaRPr lang="en-SG" sz="1600" dirty="0">
                  <a:latin typeface="Calibri" pitchFamily="34" charset="0"/>
                  <a:cs typeface="Arial" pitchFamily="34" charset="0"/>
                </a:endParaRPr>
              </a:p>
            </p:txBody>
          </p:sp>
        </p:grpSp>
      </p:grpSp>
      <p:cxnSp>
        <p:nvCxnSpPr>
          <p:cNvPr id="19" name="Straight Arrow Connector 18"/>
          <p:cNvCxnSpPr>
            <a:cxnSpLocks noChangeShapeType="1"/>
          </p:cNvCxnSpPr>
          <p:nvPr/>
        </p:nvCxnSpPr>
        <p:spPr bwMode="auto">
          <a:xfrm rot="16200000" flipV="1">
            <a:off x="7287419" y="2497931"/>
            <a:ext cx="407988" cy="282575"/>
          </a:xfrm>
          <a:prstGeom prst="straightConnector1">
            <a:avLst/>
          </a:prstGeom>
          <a:noFill/>
          <a:ln w="19050" cap="sq" algn="ctr">
            <a:solidFill>
              <a:srgbClr val="0000FF"/>
            </a:solidFill>
            <a:round/>
            <a:headEnd/>
            <a:tailEnd type="triangle" w="med" len="med"/>
          </a:ln>
        </p:spPr>
      </p:cxnSp>
      <p:sp>
        <p:nvSpPr>
          <p:cNvPr id="20" name="TextBox 19"/>
          <p:cNvSpPr txBox="1"/>
          <p:nvPr/>
        </p:nvSpPr>
        <p:spPr>
          <a:xfrm>
            <a:off x="765175" y="4535488"/>
            <a:ext cx="5886450" cy="368300"/>
          </a:xfrm>
          <a:prstGeom prst="rect">
            <a:avLst/>
          </a:prstGeom>
          <a:ln>
            <a:noFill/>
          </a:ln>
        </p:spPr>
        <p:style>
          <a:lnRef idx="2">
            <a:schemeClr val="accent6"/>
          </a:lnRef>
          <a:fillRef idx="1">
            <a:schemeClr val="lt1"/>
          </a:fillRef>
          <a:effectRef idx="0">
            <a:schemeClr val="accent6"/>
          </a:effectRef>
          <a:fontRef idx="minor">
            <a:schemeClr val="dk1"/>
          </a:fontRef>
        </p:style>
        <p:txBody>
          <a:bodyPr>
            <a:spAutoFit/>
          </a:bodyPr>
          <a:lstStyle/>
          <a:p>
            <a:pPr>
              <a:defRPr/>
            </a:pPr>
            <a:r>
              <a:rPr lang="en-US" b="1" dirty="0">
                <a:solidFill>
                  <a:srgbClr val="000000"/>
                </a:solidFill>
                <a:latin typeface="Courier New" pitchFamily="49" charset="0"/>
                <a:cs typeface="Courier New" pitchFamily="49" charset="0"/>
              </a:rPr>
              <a:t>p = &amp;j; </a:t>
            </a:r>
            <a:r>
              <a:rPr lang="en-US" sz="1400" b="1" dirty="0">
                <a:solidFill>
                  <a:srgbClr val="800000"/>
                </a:solidFill>
                <a:latin typeface="Courier New" pitchFamily="49" charset="0"/>
                <a:cs typeface="Courier New" pitchFamily="49" charset="0"/>
              </a:rPr>
              <a:t>// p now stores the address of variable j</a:t>
            </a:r>
          </a:p>
        </p:txBody>
      </p:sp>
      <p:grpSp>
        <p:nvGrpSpPr>
          <p:cNvPr id="6" name="Group 23"/>
          <p:cNvGrpSpPr>
            <a:grpSpLocks/>
          </p:cNvGrpSpPr>
          <p:nvPr/>
        </p:nvGrpSpPr>
        <p:grpSpPr bwMode="auto">
          <a:xfrm>
            <a:off x="6904038" y="1784350"/>
            <a:ext cx="633412" cy="547688"/>
            <a:chOff x="6903720" y="1785098"/>
            <a:chExt cx="633680" cy="546622"/>
          </a:xfrm>
        </p:grpSpPr>
        <p:cxnSp>
          <p:nvCxnSpPr>
            <p:cNvPr id="21522" name="Straight Connector 21"/>
            <p:cNvCxnSpPr>
              <a:cxnSpLocks noChangeShapeType="1"/>
            </p:cNvCxnSpPr>
            <p:nvPr/>
          </p:nvCxnSpPr>
          <p:spPr bwMode="auto">
            <a:xfrm rot="10800000" flipV="1">
              <a:off x="6903720" y="2137410"/>
              <a:ext cx="297180" cy="194310"/>
            </a:xfrm>
            <a:prstGeom prst="line">
              <a:avLst/>
            </a:prstGeom>
            <a:noFill/>
            <a:ln w="19050" cap="sq" algn="ctr">
              <a:solidFill>
                <a:srgbClr val="FF0000"/>
              </a:solidFill>
              <a:round/>
              <a:headEnd type="none" w="sm" len="sm"/>
              <a:tailEnd type="none" w="sm" len="sm"/>
            </a:ln>
          </p:spPr>
        </p:cxnSp>
        <p:sp>
          <p:nvSpPr>
            <p:cNvPr id="21523" name="TextBox 12"/>
            <p:cNvSpPr txBox="1">
              <a:spLocks noChangeArrowheads="1"/>
            </p:cNvSpPr>
            <p:nvPr/>
          </p:nvSpPr>
          <p:spPr bwMode="auto">
            <a:xfrm>
              <a:off x="7006648" y="1785098"/>
              <a:ext cx="530752" cy="338025"/>
            </a:xfrm>
            <a:prstGeom prst="rect">
              <a:avLst/>
            </a:prstGeom>
            <a:noFill/>
            <a:ln w="9525">
              <a:noFill/>
              <a:miter lim="800000"/>
              <a:headEnd/>
              <a:tailEnd/>
            </a:ln>
          </p:spPr>
          <p:txBody>
            <a:bodyPr>
              <a:spAutoFit/>
            </a:bodyPr>
            <a:lstStyle/>
            <a:p>
              <a:pPr algn="ctr"/>
              <a:r>
                <a:rPr lang="en-US" sz="1600">
                  <a:latin typeface="Calibri" pitchFamily="34" charset="0"/>
                </a:rPr>
                <a:t>12</a:t>
              </a:r>
              <a:endParaRPr lang="en-SG" sz="1600">
                <a:latin typeface="Calibri" pitchFamily="34" charset="0"/>
              </a:endParaRPr>
            </a:p>
          </p:txBody>
        </p:sp>
      </p:grpSp>
      <p:sp>
        <p:nvSpPr>
          <p:cNvPr id="25" name="TextBox 24"/>
          <p:cNvSpPr txBox="1"/>
          <p:nvPr/>
        </p:nvSpPr>
        <p:spPr>
          <a:xfrm>
            <a:off x="765175" y="5099050"/>
            <a:ext cx="6710363" cy="584775"/>
          </a:xfrm>
          <a:prstGeom prst="rect">
            <a:avLst/>
          </a:prstGeom>
          <a:ln>
            <a:noFill/>
          </a:ln>
        </p:spPr>
        <p:style>
          <a:lnRef idx="2">
            <a:schemeClr val="accent6"/>
          </a:lnRef>
          <a:fillRef idx="1">
            <a:schemeClr val="lt1"/>
          </a:fillRef>
          <a:effectRef idx="0">
            <a:schemeClr val="accent6"/>
          </a:effectRef>
          <a:fontRef idx="minor">
            <a:schemeClr val="dk1"/>
          </a:fontRef>
        </p:style>
        <p:txBody>
          <a:bodyPr>
            <a:spAutoFit/>
          </a:bodyPr>
          <a:lstStyle/>
          <a:p>
            <a:pPr>
              <a:tabLst>
                <a:tab pos="1079500" algn="l"/>
              </a:tabLst>
              <a:defRPr/>
            </a:pPr>
            <a:r>
              <a:rPr lang="en-US" b="1" dirty="0">
                <a:solidFill>
                  <a:srgbClr val="000000"/>
                </a:solidFill>
                <a:latin typeface="Courier New" pitchFamily="49" charset="0"/>
                <a:cs typeface="Courier New" pitchFamily="49" charset="0"/>
              </a:rPr>
              <a:t>*p = </a:t>
            </a:r>
            <a:r>
              <a:rPr lang="en-US" b="1" dirty="0" err="1">
                <a:solidFill>
                  <a:srgbClr val="000000"/>
                </a:solidFill>
                <a:latin typeface="Courier New" pitchFamily="49" charset="0"/>
                <a:cs typeface="Courier New" pitchFamily="49" charset="0"/>
              </a:rPr>
              <a:t>i</a:t>
            </a:r>
            <a:r>
              <a:rPr lang="en-US" b="1" dirty="0" smtClean="0">
                <a:solidFill>
                  <a:srgbClr val="000000"/>
                </a:solidFill>
                <a:latin typeface="Courier New" pitchFamily="49" charset="0"/>
                <a:cs typeface="Courier New" pitchFamily="49" charset="0"/>
              </a:rPr>
              <a:t>;	</a:t>
            </a:r>
            <a:r>
              <a:rPr lang="en-US" sz="1400" b="1" dirty="0" smtClean="0">
                <a:solidFill>
                  <a:srgbClr val="800000"/>
                </a:solidFill>
                <a:latin typeface="Courier New" pitchFamily="49" charset="0"/>
                <a:cs typeface="Courier New" pitchFamily="49" charset="0"/>
              </a:rPr>
              <a:t>// </a:t>
            </a:r>
            <a:r>
              <a:rPr lang="en-US" sz="1400" b="1" dirty="0">
                <a:solidFill>
                  <a:srgbClr val="800000"/>
                </a:solidFill>
                <a:latin typeface="Courier New" pitchFamily="49" charset="0"/>
                <a:cs typeface="Courier New" pitchFamily="49" charset="0"/>
              </a:rPr>
              <a:t>value of *p (which is j now) becomes </a:t>
            </a:r>
            <a:r>
              <a:rPr lang="en-US" sz="1400" b="1" dirty="0" smtClean="0">
                <a:solidFill>
                  <a:srgbClr val="800000"/>
                </a:solidFill>
                <a:latin typeface="Courier New" pitchFamily="49" charset="0"/>
                <a:cs typeface="Courier New" pitchFamily="49" charset="0"/>
              </a:rPr>
              <a:t>12</a:t>
            </a:r>
          </a:p>
          <a:p>
            <a:pPr>
              <a:tabLst>
                <a:tab pos="1079500" algn="l"/>
              </a:tabLst>
              <a:defRPr/>
            </a:pPr>
            <a:r>
              <a:rPr lang="en-US" sz="1400" b="1" dirty="0" smtClean="0">
                <a:solidFill>
                  <a:srgbClr val="800000"/>
                </a:solidFill>
                <a:latin typeface="Courier New" pitchFamily="49" charset="0"/>
                <a:cs typeface="Courier New" pitchFamily="49" charset="0"/>
              </a:rPr>
              <a:t>	// same effect as: </a:t>
            </a:r>
            <a:r>
              <a:rPr lang="en-US" sz="1400" b="1" dirty="0" smtClean="0">
                <a:solidFill>
                  <a:schemeClr val="tx1"/>
                </a:solidFill>
                <a:latin typeface="Courier New" pitchFamily="49" charset="0"/>
                <a:cs typeface="Courier New" pitchFamily="49" charset="0"/>
              </a:rPr>
              <a:t>j = </a:t>
            </a:r>
            <a:r>
              <a:rPr lang="en-US" sz="1400" b="1" dirty="0" err="1" smtClean="0">
                <a:solidFill>
                  <a:schemeClr val="tx1"/>
                </a:solidFill>
                <a:latin typeface="Courier New" pitchFamily="49" charset="0"/>
                <a:cs typeface="Courier New" pitchFamily="49" charset="0"/>
              </a:rPr>
              <a:t>i</a:t>
            </a:r>
            <a:r>
              <a:rPr lang="en-US" sz="1400" b="1" dirty="0" smtClean="0">
                <a:solidFill>
                  <a:schemeClr val="tx1"/>
                </a:solidFill>
                <a:latin typeface="Courier New" pitchFamily="49" charset="0"/>
                <a:cs typeface="Courier New" pitchFamily="49" charset="0"/>
              </a:rPr>
              <a:t>;</a:t>
            </a:r>
            <a:endParaRPr lang="en-US" sz="1400" b="1" dirty="0">
              <a:solidFill>
                <a:schemeClr val="tx1"/>
              </a:solidFill>
              <a:latin typeface="Courier New" pitchFamily="49" charset="0"/>
              <a:cs typeface="Courier New" pitchFamily="49" charset="0"/>
            </a:endParaRPr>
          </a:p>
        </p:txBody>
      </p:sp>
      <p:cxnSp>
        <p:nvCxnSpPr>
          <p:cNvPr id="27" name="Straight Arrow Connector 26"/>
          <p:cNvCxnSpPr>
            <a:cxnSpLocks noChangeShapeType="1"/>
          </p:cNvCxnSpPr>
          <p:nvPr/>
        </p:nvCxnSpPr>
        <p:spPr bwMode="auto">
          <a:xfrm rot="5400000" flipH="1" flipV="1">
            <a:off x="7759701" y="2474912"/>
            <a:ext cx="406400" cy="288925"/>
          </a:xfrm>
          <a:prstGeom prst="straightConnector1">
            <a:avLst/>
          </a:prstGeom>
          <a:noFill/>
          <a:ln w="19050" cap="sq" algn="ctr">
            <a:solidFill>
              <a:srgbClr val="0000FF"/>
            </a:solidFill>
            <a:round/>
            <a:headEnd/>
            <a:tailEnd type="triangle" w="med" len="med"/>
          </a:ln>
        </p:spPr>
      </p:cxnSp>
      <p:grpSp>
        <p:nvGrpSpPr>
          <p:cNvPr id="9" name="Group 33"/>
          <p:cNvGrpSpPr>
            <a:grpSpLocks/>
          </p:cNvGrpSpPr>
          <p:nvPr/>
        </p:nvGrpSpPr>
        <p:grpSpPr bwMode="auto">
          <a:xfrm>
            <a:off x="8142288" y="1789113"/>
            <a:ext cx="633412" cy="546100"/>
            <a:chOff x="6903720" y="1785098"/>
            <a:chExt cx="633680" cy="546622"/>
          </a:xfrm>
        </p:grpSpPr>
        <p:cxnSp>
          <p:nvCxnSpPr>
            <p:cNvPr id="21520" name="Straight Connector 34"/>
            <p:cNvCxnSpPr>
              <a:cxnSpLocks noChangeShapeType="1"/>
            </p:cNvCxnSpPr>
            <p:nvPr/>
          </p:nvCxnSpPr>
          <p:spPr bwMode="auto">
            <a:xfrm rot="10800000" flipV="1">
              <a:off x="6903720" y="2137410"/>
              <a:ext cx="297180" cy="194310"/>
            </a:xfrm>
            <a:prstGeom prst="line">
              <a:avLst/>
            </a:prstGeom>
            <a:noFill/>
            <a:ln w="19050" cap="sq" algn="ctr">
              <a:solidFill>
                <a:srgbClr val="FF0000"/>
              </a:solidFill>
              <a:round/>
              <a:headEnd type="none" w="sm" len="sm"/>
              <a:tailEnd type="none" w="sm" len="sm"/>
            </a:ln>
          </p:spPr>
        </p:cxnSp>
        <p:sp>
          <p:nvSpPr>
            <p:cNvPr id="21521" name="TextBox 12"/>
            <p:cNvSpPr txBox="1">
              <a:spLocks noChangeArrowheads="1"/>
            </p:cNvSpPr>
            <p:nvPr/>
          </p:nvSpPr>
          <p:spPr bwMode="auto">
            <a:xfrm>
              <a:off x="7006648" y="1785098"/>
              <a:ext cx="530752" cy="338025"/>
            </a:xfrm>
            <a:prstGeom prst="rect">
              <a:avLst/>
            </a:prstGeom>
            <a:noFill/>
            <a:ln w="9525">
              <a:noFill/>
              <a:miter lim="800000"/>
              <a:headEnd/>
              <a:tailEnd/>
            </a:ln>
          </p:spPr>
          <p:txBody>
            <a:bodyPr>
              <a:spAutoFit/>
            </a:bodyPr>
            <a:lstStyle/>
            <a:p>
              <a:pPr algn="ctr"/>
              <a:r>
                <a:rPr lang="en-US" sz="1600">
                  <a:latin typeface="Calibri" pitchFamily="34" charset="0"/>
                </a:rPr>
                <a:t>12</a:t>
              </a:r>
              <a:endParaRPr lang="en-SG" sz="1600">
                <a:latin typeface="Calibri" pitchFamily="34" charset="0"/>
              </a:endParaRPr>
            </a:p>
          </p:txBody>
        </p:sp>
      </p:grpSp>
      <p:pic>
        <p:nvPicPr>
          <p:cNvPr id="30" name="Picture 29" descr="focus-md.png"/>
          <p:cNvPicPr>
            <a:picLocks noChangeAspect="1"/>
          </p:cNvPicPr>
          <p:nvPr/>
        </p:nvPicPr>
        <p:blipFill>
          <a:blip r:embed="rId3" cstate="print"/>
          <a:stretch>
            <a:fillRect/>
          </a:stretch>
        </p:blipFill>
        <p:spPr>
          <a:xfrm>
            <a:off x="8229649" y="375969"/>
            <a:ext cx="614548" cy="830472"/>
          </a:xfrm>
          <a:prstGeom prst="rect">
            <a:avLst/>
          </a:prstGeom>
          <a:effectLst>
            <a:outerShdw blurRad="50800" dist="38100" dir="5400000" algn="t" rotWithShape="0">
              <a:prstClr val="black">
                <a:alpha val="40000"/>
              </a:prstClr>
            </a:outerShdw>
            <a:reflection blurRad="6350" stA="50000" endA="300" endPos="55000" dir="5400000" sy="-100000" algn="bl" rotWithShape="0"/>
          </a:effectLst>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dissolve">
                                      <p:cBhvr>
                                        <p:cTn id="11" dur="500"/>
                                        <p:tgtEl>
                                          <p:spTgt spid="2"/>
                                        </p:tgtEl>
                                      </p:cBhvr>
                                    </p:animEffect>
                                  </p:childTnLst>
                                </p:cTn>
                              </p:par>
                            </p:childTnLst>
                          </p:cTn>
                        </p:par>
                        <p:par>
                          <p:cTn id="12" fill="hold">
                            <p:stCondLst>
                              <p:cond delay="1000"/>
                            </p:stCondLst>
                            <p:childTnLst>
                              <p:par>
                                <p:cTn id="13" presetID="9" presetClass="entr" presetSubtype="0" fill="hold" nodeType="after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dissolve">
                                      <p:cBhvr>
                                        <p:cTn id="15" dur="500"/>
                                        <p:tgtEl>
                                          <p:spTgt spid="19"/>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dissolve">
                                      <p:cBhvr>
                                        <p:cTn id="20" dur="500"/>
                                        <p:tgtEl>
                                          <p:spTgt spid="8"/>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nodeType="click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dissolve">
                                      <p:cBhvr>
                                        <p:cTn id="25" dur="500"/>
                                        <p:tgtEl>
                                          <p:spTgt spid="6"/>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grpId="0" nodeType="clickEffect">
                                  <p:stCondLst>
                                    <p:cond delay="0"/>
                                  </p:stCondLst>
                                  <p:childTnLst>
                                    <p:set>
                                      <p:cBhvr>
                                        <p:cTn id="29" dur="1" fill="hold">
                                          <p:stCondLst>
                                            <p:cond delay="0"/>
                                          </p:stCondLst>
                                        </p:cTn>
                                        <p:tgtEl>
                                          <p:spTgt spid="20"/>
                                        </p:tgtEl>
                                        <p:attrNameLst>
                                          <p:attrName>style.visibility</p:attrName>
                                        </p:attrNameLst>
                                      </p:cBhvr>
                                      <p:to>
                                        <p:strVal val="visible"/>
                                      </p:to>
                                    </p:set>
                                    <p:animEffect transition="in" filter="dissolve">
                                      <p:cBhvr>
                                        <p:cTn id="30" dur="500"/>
                                        <p:tgtEl>
                                          <p:spTgt spid="20"/>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xit" presetSubtype="0" fill="hold" nodeType="clickEffect">
                                  <p:stCondLst>
                                    <p:cond delay="0"/>
                                  </p:stCondLst>
                                  <p:childTnLst>
                                    <p:animEffect transition="out" filter="dissolve">
                                      <p:cBhvr>
                                        <p:cTn id="34" dur="500"/>
                                        <p:tgtEl>
                                          <p:spTgt spid="19"/>
                                        </p:tgtEl>
                                      </p:cBhvr>
                                    </p:animEffect>
                                    <p:set>
                                      <p:cBhvr>
                                        <p:cTn id="35" dur="1" fill="hold">
                                          <p:stCondLst>
                                            <p:cond delay="499"/>
                                          </p:stCondLst>
                                        </p:cTn>
                                        <p:tgtEl>
                                          <p:spTgt spid="19"/>
                                        </p:tgtEl>
                                        <p:attrNameLst>
                                          <p:attrName>style.visibility</p:attrName>
                                        </p:attrNameLst>
                                      </p:cBhvr>
                                      <p:to>
                                        <p:strVal val="hidden"/>
                                      </p:to>
                                    </p:set>
                                  </p:childTnLst>
                                </p:cTn>
                              </p:par>
                            </p:childTnLst>
                          </p:cTn>
                        </p:par>
                        <p:par>
                          <p:cTn id="36" fill="hold">
                            <p:stCondLst>
                              <p:cond delay="500"/>
                            </p:stCondLst>
                            <p:childTnLst>
                              <p:par>
                                <p:cTn id="37" presetID="9" presetClass="entr" presetSubtype="0" fill="hold" nodeType="afterEffect">
                                  <p:stCondLst>
                                    <p:cond delay="0"/>
                                  </p:stCondLst>
                                  <p:childTnLst>
                                    <p:set>
                                      <p:cBhvr>
                                        <p:cTn id="38" dur="1" fill="hold">
                                          <p:stCondLst>
                                            <p:cond delay="0"/>
                                          </p:stCondLst>
                                        </p:cTn>
                                        <p:tgtEl>
                                          <p:spTgt spid="27"/>
                                        </p:tgtEl>
                                        <p:attrNameLst>
                                          <p:attrName>style.visibility</p:attrName>
                                        </p:attrNameLst>
                                      </p:cBhvr>
                                      <p:to>
                                        <p:strVal val="visible"/>
                                      </p:to>
                                    </p:set>
                                    <p:animEffect transition="in" filter="dissolve">
                                      <p:cBhvr>
                                        <p:cTn id="39" dur="500"/>
                                        <p:tgtEl>
                                          <p:spTgt spid="27"/>
                                        </p:tgtEl>
                                      </p:cBhvr>
                                    </p:animEffect>
                                  </p:childTnLst>
                                </p:cTn>
                              </p:par>
                            </p:childTnLst>
                          </p:cTn>
                        </p:par>
                      </p:childTnLst>
                    </p:cTn>
                  </p:par>
                  <p:par>
                    <p:cTn id="40" fill="hold">
                      <p:stCondLst>
                        <p:cond delay="indefinite"/>
                      </p:stCondLst>
                      <p:childTnLst>
                        <p:par>
                          <p:cTn id="41" fill="hold">
                            <p:stCondLst>
                              <p:cond delay="0"/>
                            </p:stCondLst>
                            <p:childTnLst>
                              <p:par>
                                <p:cTn id="42" presetID="9" presetClass="entr" presetSubtype="0" fill="hold" grpId="0" nodeType="clickEffect">
                                  <p:stCondLst>
                                    <p:cond delay="0"/>
                                  </p:stCondLst>
                                  <p:childTnLst>
                                    <p:set>
                                      <p:cBhvr>
                                        <p:cTn id="43" dur="1" fill="hold">
                                          <p:stCondLst>
                                            <p:cond delay="0"/>
                                          </p:stCondLst>
                                        </p:cTn>
                                        <p:tgtEl>
                                          <p:spTgt spid="25"/>
                                        </p:tgtEl>
                                        <p:attrNameLst>
                                          <p:attrName>style.visibility</p:attrName>
                                        </p:attrNameLst>
                                      </p:cBhvr>
                                      <p:to>
                                        <p:strVal val="visible"/>
                                      </p:to>
                                    </p:set>
                                    <p:animEffect transition="in" filter="dissolve">
                                      <p:cBhvr>
                                        <p:cTn id="44" dur="500"/>
                                        <p:tgtEl>
                                          <p:spTgt spid="25"/>
                                        </p:tgtEl>
                                      </p:cBhvr>
                                    </p:animEffect>
                                  </p:childTnLst>
                                </p:cTn>
                              </p:par>
                            </p:childTnLst>
                          </p:cTn>
                        </p:par>
                      </p:childTnLst>
                    </p:cTn>
                  </p:par>
                  <p:par>
                    <p:cTn id="45" fill="hold">
                      <p:stCondLst>
                        <p:cond delay="indefinite"/>
                      </p:stCondLst>
                      <p:childTnLst>
                        <p:par>
                          <p:cTn id="46" fill="hold">
                            <p:stCondLst>
                              <p:cond delay="0"/>
                            </p:stCondLst>
                            <p:childTnLst>
                              <p:par>
                                <p:cTn id="47" presetID="9" presetClass="entr" presetSubtype="0" fill="hold" nodeType="clickEffect">
                                  <p:stCondLst>
                                    <p:cond delay="0"/>
                                  </p:stCondLst>
                                  <p:childTnLst>
                                    <p:set>
                                      <p:cBhvr>
                                        <p:cTn id="48" dur="1" fill="hold">
                                          <p:stCondLst>
                                            <p:cond delay="0"/>
                                          </p:stCondLst>
                                        </p:cTn>
                                        <p:tgtEl>
                                          <p:spTgt spid="9"/>
                                        </p:tgtEl>
                                        <p:attrNameLst>
                                          <p:attrName>style.visibility</p:attrName>
                                        </p:attrNameLst>
                                      </p:cBhvr>
                                      <p:to>
                                        <p:strVal val="visible"/>
                                      </p:to>
                                    </p:set>
                                    <p:animEffect transition="in" filter="dissolve">
                                      <p:cBhvr>
                                        <p:cTn id="4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20" grpId="0" animBg="1"/>
      <p:bldP spid="25"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Group 31"/>
          <p:cNvGrpSpPr/>
          <p:nvPr/>
        </p:nvGrpSpPr>
        <p:grpSpPr>
          <a:xfrm>
            <a:off x="654145" y="1277219"/>
            <a:ext cx="4125283" cy="3790413"/>
            <a:chOff x="654145" y="1277219"/>
            <a:chExt cx="4125283" cy="3790413"/>
          </a:xfrm>
        </p:grpSpPr>
        <p:sp>
          <p:nvSpPr>
            <p:cNvPr id="6" name="TextBox 5"/>
            <p:cNvSpPr txBox="1"/>
            <p:nvPr/>
          </p:nvSpPr>
          <p:spPr>
            <a:xfrm>
              <a:off x="654145" y="1589757"/>
              <a:ext cx="4025432" cy="3477875"/>
            </a:xfrm>
            <a:prstGeom prst="rect">
              <a:avLst/>
            </a:prstGeom>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wrap="square">
              <a:spAutoFit/>
            </a:bodyPr>
            <a:lstStyle/>
            <a:p>
              <a:pPr>
                <a:defRPr/>
              </a:pPr>
              <a:r>
                <a:rPr lang="en-US" sz="2000" b="1" dirty="0">
                  <a:solidFill>
                    <a:srgbClr val="7030A0"/>
                  </a:solidFill>
                  <a:latin typeface="Courier New" pitchFamily="49" charset="0"/>
                  <a:cs typeface="Courier New" pitchFamily="49" charset="0"/>
                </a:rPr>
                <a:t>#include </a:t>
              </a:r>
              <a:r>
                <a:rPr lang="en-US" sz="2000" b="1" dirty="0">
                  <a:solidFill>
                    <a:srgbClr val="006600"/>
                  </a:solidFill>
                  <a:latin typeface="Courier New" pitchFamily="49" charset="0"/>
                  <a:cs typeface="Courier New" pitchFamily="49" charset="0"/>
                </a:rPr>
                <a:t>&lt;</a:t>
              </a:r>
              <a:r>
                <a:rPr lang="en-US" sz="2000" b="1" dirty="0" err="1">
                  <a:solidFill>
                    <a:srgbClr val="006600"/>
                  </a:solidFill>
                  <a:latin typeface="Courier New" pitchFamily="49" charset="0"/>
                  <a:cs typeface="Courier New" pitchFamily="49" charset="0"/>
                </a:rPr>
                <a:t>stdio.h</a:t>
              </a:r>
              <a:r>
                <a:rPr lang="en-US" sz="2000" b="1" dirty="0">
                  <a:solidFill>
                    <a:srgbClr val="006600"/>
                  </a:solidFill>
                  <a:latin typeface="Courier New" pitchFamily="49" charset="0"/>
                  <a:cs typeface="Courier New" pitchFamily="49" charset="0"/>
                </a:rPr>
                <a:t>&gt;</a:t>
              </a:r>
            </a:p>
            <a:p>
              <a:pPr>
                <a:defRPr/>
              </a:pPr>
              <a:endParaRPr lang="en-US" sz="2000" b="1" dirty="0">
                <a:latin typeface="Courier New" pitchFamily="49" charset="0"/>
                <a:cs typeface="Courier New" pitchFamily="49" charset="0"/>
              </a:endParaRPr>
            </a:p>
            <a:p>
              <a:pPr>
                <a:defRPr/>
              </a:pPr>
              <a:r>
                <a:rPr lang="en-US" sz="2000" b="1" dirty="0" err="1">
                  <a:solidFill>
                    <a:srgbClr val="0000FF"/>
                  </a:solidFill>
                  <a:latin typeface="Courier New" pitchFamily="49" charset="0"/>
                  <a:cs typeface="Courier New" pitchFamily="49" charset="0"/>
                </a:rPr>
                <a:t>int</a:t>
              </a:r>
              <a:r>
                <a:rPr lang="en-US" sz="2000" b="1" dirty="0">
                  <a:latin typeface="Courier New" pitchFamily="49" charset="0"/>
                  <a:cs typeface="Courier New" pitchFamily="49" charset="0"/>
                </a:rPr>
                <a:t> main(</a:t>
              </a:r>
              <a:r>
                <a:rPr lang="en-US" sz="2000" b="1" dirty="0">
                  <a:solidFill>
                    <a:srgbClr val="0000FF"/>
                  </a:solidFill>
                  <a:latin typeface="Courier New" pitchFamily="49" charset="0"/>
                  <a:cs typeface="Courier New" pitchFamily="49" charset="0"/>
                </a:rPr>
                <a:t>void</a:t>
              </a:r>
              <a:r>
                <a:rPr lang="en-US" sz="2000" b="1" dirty="0">
                  <a:latin typeface="Courier New" pitchFamily="49" charset="0"/>
                  <a:cs typeface="Courier New" pitchFamily="49" charset="0"/>
                </a:rPr>
                <a:t>) </a:t>
              </a:r>
              <a:r>
                <a:rPr lang="en-US" sz="2000" b="1" dirty="0" smtClean="0">
                  <a:latin typeface="Courier New" pitchFamily="49" charset="0"/>
                  <a:cs typeface="Courier New" pitchFamily="49" charset="0"/>
                </a:rPr>
                <a:t>{</a:t>
              </a:r>
              <a:endParaRPr lang="en-US" sz="2000" b="1" dirty="0">
                <a:latin typeface="Courier New" pitchFamily="49" charset="0"/>
                <a:cs typeface="Courier New" pitchFamily="49" charset="0"/>
              </a:endParaRPr>
            </a:p>
            <a:p>
              <a:pPr>
                <a:defRPr/>
              </a:pPr>
              <a:r>
                <a:rPr lang="en-US" sz="2000" b="1" dirty="0">
                  <a:latin typeface="Courier New" pitchFamily="49" charset="0"/>
                  <a:cs typeface="Courier New" pitchFamily="49" charset="0"/>
                </a:rPr>
                <a:t> </a:t>
              </a:r>
              <a:r>
                <a:rPr lang="en-US" sz="2000" b="1" dirty="0" smtClean="0">
                  <a:latin typeface="Courier New" pitchFamily="49" charset="0"/>
                  <a:cs typeface="Courier New" pitchFamily="49" charset="0"/>
                </a:rPr>
                <a:t>   </a:t>
              </a:r>
              <a:r>
                <a:rPr lang="en-US" sz="2000" b="1" dirty="0" smtClean="0">
                  <a:solidFill>
                    <a:srgbClr val="0000FF"/>
                  </a:solidFill>
                  <a:latin typeface="Courier New" pitchFamily="49" charset="0"/>
                  <a:cs typeface="Courier New" pitchFamily="49" charset="0"/>
                </a:rPr>
                <a:t>double</a:t>
              </a:r>
              <a:r>
                <a:rPr lang="en-US" sz="2000" b="1" dirty="0" smtClean="0">
                  <a:latin typeface="Courier New" pitchFamily="49" charset="0"/>
                  <a:cs typeface="Courier New" pitchFamily="49" charset="0"/>
                </a:rPr>
                <a:t> a, *b;</a:t>
              </a:r>
            </a:p>
            <a:p>
              <a:pPr>
                <a:defRPr/>
              </a:pPr>
              <a:endParaRPr lang="en-US" sz="2000" b="1" dirty="0" smtClean="0">
                <a:latin typeface="Courier New" pitchFamily="49" charset="0"/>
                <a:cs typeface="Courier New" pitchFamily="49" charset="0"/>
              </a:endParaRPr>
            </a:p>
            <a:p>
              <a:pPr>
                <a:defRPr/>
              </a:pPr>
              <a:r>
                <a:rPr lang="en-US" sz="2000" b="1" dirty="0" smtClean="0">
                  <a:latin typeface="Courier New" pitchFamily="49" charset="0"/>
                  <a:cs typeface="Courier New" pitchFamily="49" charset="0"/>
                </a:rPr>
                <a:t>    b = &amp;a;</a:t>
              </a:r>
            </a:p>
            <a:p>
              <a:pPr>
                <a:defRPr/>
              </a:pPr>
              <a:r>
                <a:rPr lang="en-US" sz="2000" b="1" dirty="0" smtClean="0">
                  <a:latin typeface="Courier New" pitchFamily="49" charset="0"/>
                  <a:cs typeface="Courier New" pitchFamily="49" charset="0"/>
                </a:rPr>
                <a:t>    *b = </a:t>
              </a:r>
              <a:r>
                <a:rPr lang="en-US" sz="2000" b="1" dirty="0" smtClean="0">
                  <a:solidFill>
                    <a:srgbClr val="006600"/>
                  </a:solidFill>
                  <a:latin typeface="Courier New" pitchFamily="49" charset="0"/>
                  <a:cs typeface="Courier New" pitchFamily="49" charset="0"/>
                </a:rPr>
                <a:t>12.34</a:t>
              </a:r>
              <a:r>
                <a:rPr lang="en-US" sz="2000" b="1" dirty="0" smtClean="0">
                  <a:latin typeface="Courier New" pitchFamily="49" charset="0"/>
                  <a:cs typeface="Courier New" pitchFamily="49" charset="0"/>
                </a:rPr>
                <a:t>;</a:t>
              </a:r>
            </a:p>
            <a:p>
              <a:pPr>
                <a:defRPr/>
              </a:pPr>
              <a:r>
                <a:rPr lang="en-US" sz="2000" b="1" dirty="0" smtClean="0">
                  <a:latin typeface="Courier New" pitchFamily="49" charset="0"/>
                  <a:cs typeface="Courier New" pitchFamily="49" charset="0"/>
                </a:rPr>
                <a:t>    </a:t>
              </a:r>
              <a:r>
                <a:rPr lang="en-US" sz="2000" b="1" dirty="0" err="1" smtClean="0">
                  <a:latin typeface="Courier New" pitchFamily="49" charset="0"/>
                  <a:cs typeface="Courier New" pitchFamily="49" charset="0"/>
                </a:rPr>
                <a:t>printf</a:t>
              </a:r>
              <a:r>
                <a:rPr lang="en-US" sz="2000" b="1" dirty="0" smtClean="0">
                  <a:latin typeface="Courier New" pitchFamily="49" charset="0"/>
                  <a:cs typeface="Courier New" pitchFamily="49" charset="0"/>
                </a:rPr>
                <a:t>(</a:t>
              </a:r>
              <a:r>
                <a:rPr lang="en-US" sz="2000" b="1" dirty="0" smtClean="0">
                  <a:solidFill>
                    <a:srgbClr val="006600"/>
                  </a:solidFill>
                  <a:latin typeface="Courier New" pitchFamily="49" charset="0"/>
                  <a:cs typeface="Courier New" pitchFamily="49" charset="0"/>
                </a:rPr>
                <a:t>"</a:t>
              </a:r>
              <a:r>
                <a:rPr lang="en-US" sz="2000" b="1" dirty="0" smtClean="0">
                  <a:solidFill>
                    <a:srgbClr val="FF0000"/>
                  </a:solidFill>
                  <a:latin typeface="Courier New" pitchFamily="49" charset="0"/>
                  <a:cs typeface="Courier New" pitchFamily="49" charset="0"/>
                </a:rPr>
                <a:t>%f\n</a:t>
              </a:r>
              <a:r>
                <a:rPr lang="en-US" sz="2000" b="1" dirty="0" smtClean="0">
                  <a:solidFill>
                    <a:srgbClr val="006600"/>
                  </a:solidFill>
                  <a:latin typeface="Courier New" pitchFamily="49" charset="0"/>
                  <a:cs typeface="Courier New" pitchFamily="49" charset="0"/>
                </a:rPr>
                <a:t>"</a:t>
              </a:r>
              <a:r>
                <a:rPr lang="en-US" sz="2000" b="1" dirty="0" smtClean="0">
                  <a:latin typeface="Courier New" pitchFamily="49" charset="0"/>
                  <a:cs typeface="Courier New" pitchFamily="49" charset="0"/>
                </a:rPr>
                <a:t>, a);</a:t>
              </a:r>
            </a:p>
            <a:p>
              <a:pPr>
                <a:defRPr/>
              </a:pPr>
              <a:endParaRPr lang="en-US" sz="2000" b="1" dirty="0" smtClean="0">
                <a:latin typeface="Courier New" pitchFamily="49" charset="0"/>
                <a:cs typeface="Courier New" pitchFamily="49" charset="0"/>
              </a:endParaRPr>
            </a:p>
            <a:p>
              <a:pPr>
                <a:defRPr/>
              </a:pPr>
              <a:r>
                <a:rPr lang="en-US" sz="2000" b="1" dirty="0" smtClean="0">
                  <a:latin typeface="Courier New" pitchFamily="49" charset="0"/>
                  <a:cs typeface="Courier New" pitchFamily="49" charset="0"/>
                </a:rPr>
                <a:t>    </a:t>
              </a:r>
              <a:r>
                <a:rPr lang="en-US" sz="2000" b="1" dirty="0" smtClean="0">
                  <a:solidFill>
                    <a:srgbClr val="0000FF"/>
                  </a:solidFill>
                  <a:latin typeface="Courier New" pitchFamily="49" charset="0"/>
                  <a:cs typeface="Courier New" pitchFamily="49" charset="0"/>
                </a:rPr>
                <a:t>return</a:t>
              </a:r>
              <a:r>
                <a:rPr lang="en-US" sz="2000" b="1" dirty="0" smtClean="0">
                  <a:latin typeface="Courier New" pitchFamily="49" charset="0"/>
                  <a:cs typeface="Courier New" pitchFamily="49" charset="0"/>
                </a:rPr>
                <a:t> </a:t>
              </a:r>
              <a:r>
                <a:rPr lang="en-US" sz="2000" b="1" dirty="0" smtClean="0">
                  <a:solidFill>
                    <a:srgbClr val="006600"/>
                  </a:solidFill>
                  <a:latin typeface="Courier New" pitchFamily="49" charset="0"/>
                  <a:cs typeface="Courier New" pitchFamily="49" charset="0"/>
                </a:rPr>
                <a:t>0</a:t>
              </a:r>
              <a:r>
                <a:rPr lang="en-US" sz="2000" b="1" dirty="0" smtClean="0">
                  <a:latin typeface="Courier New" pitchFamily="49" charset="0"/>
                  <a:cs typeface="Courier New" pitchFamily="49" charset="0"/>
                </a:rPr>
                <a:t>;</a:t>
              </a:r>
              <a:endParaRPr lang="en-US" sz="2000" b="1" dirty="0">
                <a:latin typeface="Courier New" pitchFamily="49" charset="0"/>
                <a:cs typeface="Courier New" pitchFamily="49" charset="0"/>
              </a:endParaRPr>
            </a:p>
            <a:p>
              <a:pPr>
                <a:defRPr/>
              </a:pPr>
              <a:r>
                <a:rPr lang="en-US" sz="2000" b="1" dirty="0" smtClean="0">
                  <a:latin typeface="Courier New" pitchFamily="49" charset="0"/>
                  <a:cs typeface="Courier New" pitchFamily="49" charset="0"/>
                </a:rPr>
                <a:t>}</a:t>
              </a:r>
              <a:endParaRPr lang="en-US" sz="2000" b="1" dirty="0">
                <a:latin typeface="Courier New" pitchFamily="49" charset="0"/>
                <a:cs typeface="Courier New" pitchFamily="49" charset="0"/>
              </a:endParaRPr>
            </a:p>
          </p:txBody>
        </p:sp>
        <p:sp>
          <p:nvSpPr>
            <p:cNvPr id="25" name="TextBox 24"/>
            <p:cNvSpPr txBox="1">
              <a:spLocks noChangeArrowheads="1"/>
            </p:cNvSpPr>
            <p:nvPr/>
          </p:nvSpPr>
          <p:spPr bwMode="auto">
            <a:xfrm>
              <a:off x="2726622" y="1277219"/>
              <a:ext cx="2052806" cy="369332"/>
            </a:xfrm>
            <a:prstGeom prst="rect">
              <a:avLst/>
            </a:prstGeom>
            <a:solidFill>
              <a:srgbClr val="FFFF99"/>
            </a:solidFill>
            <a:ln w="9525">
              <a:solidFill>
                <a:schemeClr val="tx1"/>
              </a:solidFill>
              <a:miter lim="800000"/>
              <a:headEnd/>
              <a:tailEnd/>
            </a:ln>
          </p:spPr>
          <p:txBody>
            <a:bodyPr wrap="none">
              <a:spAutoFit/>
            </a:bodyPr>
            <a:lstStyle/>
            <a:p>
              <a:r>
                <a:rPr lang="en-US" dirty="0" smtClean="0"/>
                <a:t>Week6_Pointers.c</a:t>
              </a:r>
              <a:endParaRPr lang="en-US" dirty="0"/>
            </a:p>
          </p:txBody>
        </p:sp>
      </p:grpSp>
      <p:sp>
        <p:nvSpPr>
          <p:cNvPr id="21506" name="Rectangle 2"/>
          <p:cNvSpPr>
            <a:spLocks noGrp="1" noChangeArrowheads="1"/>
          </p:cNvSpPr>
          <p:nvPr>
            <p:ph type="title"/>
          </p:nvPr>
        </p:nvSpPr>
        <p:spPr>
          <a:xfrm>
            <a:off x="533400" y="381000"/>
            <a:ext cx="8382000" cy="838200"/>
          </a:xfrm>
        </p:spPr>
        <p:txBody>
          <a:bodyPr>
            <a:normAutofit/>
          </a:bodyPr>
          <a:lstStyle/>
          <a:p>
            <a:pPr eaLnBrk="1" hangingPunct="1"/>
            <a:r>
              <a:rPr lang="en-GB" dirty="0" smtClean="0"/>
              <a:t>4.1 Pointer Variables: Demo #1 (1/2)</a:t>
            </a:r>
            <a:endParaRPr lang="en-GB" sz="4800" dirty="0" smtClean="0"/>
          </a:p>
        </p:txBody>
      </p:sp>
      <p:sp>
        <p:nvSpPr>
          <p:cNvPr id="21509" name="Slide Number Placeholder 7"/>
          <p:cNvSpPr>
            <a:spLocks noGrp="1"/>
          </p:cNvSpPr>
          <p:nvPr>
            <p:ph type="sldNum" sz="quarter" idx="12"/>
          </p:nvPr>
        </p:nvSpPr>
        <p:spPr/>
        <p:txBody>
          <a:bodyPr/>
          <a:lstStyle/>
          <a:p>
            <a:pPr>
              <a:defRPr/>
            </a:pPr>
            <a:r>
              <a:rPr dirty="0" smtClean="0">
                <a:cs typeface="Arial" pitchFamily="34" charset="0"/>
              </a:rPr>
              <a:t>Week6 - </a:t>
            </a:r>
            <a:fld id="{BD5A7EDF-6523-437D-97D4-13E6D4C9C7B2}" type="slidenum">
              <a:rPr smtClean="0">
                <a:cs typeface="Arial" pitchFamily="34" charset="0"/>
              </a:rPr>
              <a:pPr>
                <a:defRPr/>
              </a:pPr>
              <a:t>20</a:t>
            </a:fld>
            <a:endParaRPr dirty="0" smtClean="0">
              <a:cs typeface="Arial" pitchFamily="34" charset="0"/>
            </a:endParaRPr>
          </a:p>
        </p:txBody>
      </p:sp>
      <p:sp>
        <p:nvSpPr>
          <p:cNvPr id="7" name="Text Box 4"/>
          <p:cNvSpPr txBox="1">
            <a:spLocks noChangeArrowheads="1"/>
          </p:cNvSpPr>
          <p:nvPr/>
        </p:nvSpPr>
        <p:spPr bwMode="auto">
          <a:xfrm>
            <a:off x="152400" y="6400800"/>
            <a:ext cx="304800" cy="201613"/>
          </a:xfrm>
          <a:prstGeom prst="rect">
            <a:avLst/>
          </a:prstGeom>
          <a:noFill/>
          <a:ln w="9525">
            <a:noFill/>
            <a:miter lim="800000"/>
            <a:headEnd/>
            <a:tailEnd/>
          </a:ln>
        </p:spPr>
        <p:txBody>
          <a:bodyPr lIns="9144" tIns="9144" rIns="9144" bIns="9144">
            <a:spAutoFit/>
          </a:bodyPr>
          <a:lstStyle/>
          <a:p>
            <a:pPr algn="ctr">
              <a:spcBef>
                <a:spcPct val="50000"/>
              </a:spcBef>
            </a:pPr>
            <a:r>
              <a:rPr lang="en-US" sz="1200" dirty="0">
                <a:sym typeface="Wingdings 2" pitchFamily="18" charset="2"/>
              </a:rPr>
              <a:t></a:t>
            </a:r>
          </a:p>
        </p:txBody>
      </p:sp>
      <p:sp>
        <p:nvSpPr>
          <p:cNvPr id="8" name="TextBox 7"/>
          <p:cNvSpPr txBox="1"/>
          <p:nvPr/>
        </p:nvSpPr>
        <p:spPr>
          <a:xfrm>
            <a:off x="3667373" y="1812474"/>
            <a:ext cx="2943289" cy="646331"/>
          </a:xfrm>
          <a:prstGeom prst="rect">
            <a:avLst/>
          </a:prstGeom>
          <a:solidFill>
            <a:srgbClr val="CCFFCC"/>
          </a:solidFill>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dirty="0" smtClean="0"/>
              <a:t>Can you draw the picture? </a:t>
            </a:r>
          </a:p>
          <a:p>
            <a:r>
              <a:rPr lang="en-US" dirty="0" smtClean="0"/>
              <a:t>What is the output?</a:t>
            </a:r>
            <a:endParaRPr lang="en-SG" dirty="0"/>
          </a:p>
        </p:txBody>
      </p:sp>
      <p:sp>
        <p:nvSpPr>
          <p:cNvPr id="9" name="TextBox 8"/>
          <p:cNvSpPr txBox="1"/>
          <p:nvPr/>
        </p:nvSpPr>
        <p:spPr>
          <a:xfrm>
            <a:off x="4240306" y="2786944"/>
            <a:ext cx="4386231" cy="646331"/>
          </a:xfrm>
          <a:prstGeom prst="rect">
            <a:avLst/>
          </a:prstGeom>
          <a:solidFill>
            <a:srgbClr val="CCFFCC"/>
          </a:solidFill>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dirty="0" smtClean="0"/>
              <a:t>What is the output if the </a:t>
            </a:r>
            <a:r>
              <a:rPr lang="en-US" b="1" dirty="0" err="1" smtClean="0">
                <a:latin typeface="Courier New" pitchFamily="49" charset="0"/>
                <a:cs typeface="Courier New" pitchFamily="49" charset="0"/>
              </a:rPr>
              <a:t>printf</a:t>
            </a:r>
            <a:r>
              <a:rPr lang="en-US" b="1" dirty="0" smtClean="0">
                <a:latin typeface="Courier New" pitchFamily="49" charset="0"/>
                <a:cs typeface="Courier New" pitchFamily="49" charset="0"/>
              </a:rPr>
              <a:t>() </a:t>
            </a:r>
            <a:r>
              <a:rPr lang="en-US" dirty="0" smtClean="0"/>
              <a:t>statement is changed to the following?</a:t>
            </a:r>
            <a:endParaRPr lang="en-SG" dirty="0"/>
          </a:p>
        </p:txBody>
      </p:sp>
      <p:sp>
        <p:nvSpPr>
          <p:cNvPr id="10" name="TextBox 9"/>
          <p:cNvSpPr txBox="1"/>
          <p:nvPr/>
        </p:nvSpPr>
        <p:spPr>
          <a:xfrm>
            <a:off x="4240306" y="3526034"/>
            <a:ext cx="3115235" cy="369332"/>
          </a:xfrm>
          <a:prstGeom prst="rect">
            <a:avLst/>
          </a:prstGeom>
          <a:solidFill>
            <a:srgbClr val="FFFFCC"/>
          </a:solidFill>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b="1" dirty="0" err="1" smtClean="0">
                <a:latin typeface="Courier New" pitchFamily="49" charset="0"/>
                <a:cs typeface="Courier New" pitchFamily="49" charset="0"/>
              </a:rPr>
              <a:t>printf</a:t>
            </a:r>
            <a:r>
              <a:rPr lang="en-US" b="1" dirty="0" smtClean="0">
                <a:latin typeface="Courier New" pitchFamily="49" charset="0"/>
                <a:cs typeface="Courier New" pitchFamily="49" charset="0"/>
              </a:rPr>
              <a:t>(</a:t>
            </a:r>
            <a:r>
              <a:rPr lang="en-US" b="1" dirty="0" smtClean="0">
                <a:solidFill>
                  <a:srgbClr val="006600"/>
                </a:solidFill>
                <a:latin typeface="Courier New" pitchFamily="49" charset="0"/>
                <a:cs typeface="Courier New" pitchFamily="49" charset="0"/>
              </a:rPr>
              <a:t>"</a:t>
            </a:r>
            <a:r>
              <a:rPr lang="en-US" b="1" dirty="0" smtClean="0">
                <a:solidFill>
                  <a:srgbClr val="FF0000"/>
                </a:solidFill>
                <a:latin typeface="Courier New" pitchFamily="49" charset="0"/>
                <a:cs typeface="Courier New" pitchFamily="49" charset="0"/>
              </a:rPr>
              <a:t>%f\n</a:t>
            </a:r>
            <a:r>
              <a:rPr lang="en-US" b="1" dirty="0" smtClean="0">
                <a:solidFill>
                  <a:srgbClr val="006600"/>
                </a:solidFill>
                <a:latin typeface="Courier New" pitchFamily="49" charset="0"/>
                <a:cs typeface="Courier New" pitchFamily="49" charset="0"/>
              </a:rPr>
              <a:t>"</a:t>
            </a:r>
            <a:r>
              <a:rPr lang="en-US" b="1" dirty="0" smtClean="0">
                <a:latin typeface="Courier New" pitchFamily="49" charset="0"/>
                <a:cs typeface="Courier New" pitchFamily="49" charset="0"/>
              </a:rPr>
              <a:t>, *b);</a:t>
            </a:r>
            <a:endParaRPr lang="en-SG" b="1" dirty="0">
              <a:latin typeface="Courier New" pitchFamily="49" charset="0"/>
              <a:cs typeface="Courier New" pitchFamily="49" charset="0"/>
            </a:endParaRPr>
          </a:p>
        </p:txBody>
      </p:sp>
      <p:sp>
        <p:nvSpPr>
          <p:cNvPr id="11" name="TextBox 10"/>
          <p:cNvSpPr txBox="1"/>
          <p:nvPr/>
        </p:nvSpPr>
        <p:spPr>
          <a:xfrm>
            <a:off x="4240306" y="4178797"/>
            <a:ext cx="3115235" cy="369332"/>
          </a:xfrm>
          <a:prstGeom prst="rect">
            <a:avLst/>
          </a:prstGeom>
          <a:solidFill>
            <a:srgbClr val="FFFFCC"/>
          </a:solidFill>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b="1" dirty="0" err="1" smtClean="0">
                <a:latin typeface="Courier New" pitchFamily="49" charset="0"/>
                <a:cs typeface="Courier New" pitchFamily="49" charset="0"/>
              </a:rPr>
              <a:t>printf</a:t>
            </a:r>
            <a:r>
              <a:rPr lang="en-US" b="1" dirty="0" smtClean="0">
                <a:latin typeface="Courier New" pitchFamily="49" charset="0"/>
                <a:cs typeface="Courier New" pitchFamily="49" charset="0"/>
              </a:rPr>
              <a:t>(</a:t>
            </a:r>
            <a:r>
              <a:rPr lang="en-US" b="1" dirty="0" smtClean="0">
                <a:solidFill>
                  <a:srgbClr val="006600"/>
                </a:solidFill>
                <a:latin typeface="Courier New" pitchFamily="49" charset="0"/>
                <a:cs typeface="Courier New" pitchFamily="49" charset="0"/>
              </a:rPr>
              <a:t>"</a:t>
            </a:r>
            <a:r>
              <a:rPr lang="en-US" b="1" dirty="0" smtClean="0">
                <a:solidFill>
                  <a:srgbClr val="FF0000"/>
                </a:solidFill>
                <a:latin typeface="Courier New" pitchFamily="49" charset="0"/>
                <a:cs typeface="Courier New" pitchFamily="49" charset="0"/>
              </a:rPr>
              <a:t>%f\n</a:t>
            </a:r>
            <a:r>
              <a:rPr lang="en-US" b="1" dirty="0" smtClean="0">
                <a:solidFill>
                  <a:srgbClr val="006600"/>
                </a:solidFill>
                <a:latin typeface="Courier New" pitchFamily="49" charset="0"/>
                <a:cs typeface="Courier New" pitchFamily="49" charset="0"/>
              </a:rPr>
              <a:t>"</a:t>
            </a:r>
            <a:r>
              <a:rPr lang="en-US" b="1" dirty="0" smtClean="0">
                <a:latin typeface="Courier New" pitchFamily="49" charset="0"/>
                <a:cs typeface="Courier New" pitchFamily="49" charset="0"/>
              </a:rPr>
              <a:t>, b);</a:t>
            </a:r>
            <a:endParaRPr lang="en-SG" b="1" dirty="0">
              <a:latin typeface="Courier New" pitchFamily="49" charset="0"/>
              <a:cs typeface="Courier New" pitchFamily="49" charset="0"/>
            </a:endParaRPr>
          </a:p>
        </p:txBody>
      </p:sp>
      <p:sp>
        <p:nvSpPr>
          <p:cNvPr id="12" name="TextBox 11"/>
          <p:cNvSpPr txBox="1"/>
          <p:nvPr/>
        </p:nvSpPr>
        <p:spPr>
          <a:xfrm>
            <a:off x="4240306" y="4771298"/>
            <a:ext cx="3115235" cy="369332"/>
          </a:xfrm>
          <a:prstGeom prst="rect">
            <a:avLst/>
          </a:prstGeom>
          <a:solidFill>
            <a:srgbClr val="FFFFCC"/>
          </a:solidFill>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b="1" dirty="0" err="1" smtClean="0">
                <a:latin typeface="Courier New" pitchFamily="49" charset="0"/>
                <a:cs typeface="Courier New" pitchFamily="49" charset="0"/>
              </a:rPr>
              <a:t>printf</a:t>
            </a:r>
            <a:r>
              <a:rPr lang="en-US" b="1" dirty="0" smtClean="0">
                <a:latin typeface="Courier New" pitchFamily="49" charset="0"/>
                <a:cs typeface="Courier New" pitchFamily="49" charset="0"/>
              </a:rPr>
              <a:t>(</a:t>
            </a:r>
            <a:r>
              <a:rPr lang="en-US" b="1" dirty="0" smtClean="0">
                <a:solidFill>
                  <a:srgbClr val="006600"/>
                </a:solidFill>
                <a:latin typeface="Courier New" pitchFamily="49" charset="0"/>
                <a:cs typeface="Courier New" pitchFamily="49" charset="0"/>
              </a:rPr>
              <a:t>"</a:t>
            </a:r>
            <a:r>
              <a:rPr lang="en-US" b="1" dirty="0" smtClean="0">
                <a:solidFill>
                  <a:srgbClr val="FF0000"/>
                </a:solidFill>
                <a:latin typeface="Courier New" pitchFamily="49" charset="0"/>
                <a:cs typeface="Courier New" pitchFamily="49" charset="0"/>
              </a:rPr>
              <a:t>%f\n</a:t>
            </a:r>
            <a:r>
              <a:rPr lang="en-US" b="1" dirty="0" smtClean="0">
                <a:solidFill>
                  <a:srgbClr val="006600"/>
                </a:solidFill>
                <a:latin typeface="Courier New" pitchFamily="49" charset="0"/>
                <a:cs typeface="Courier New" pitchFamily="49" charset="0"/>
              </a:rPr>
              <a:t>"</a:t>
            </a:r>
            <a:r>
              <a:rPr lang="en-US" b="1" dirty="0" smtClean="0">
                <a:latin typeface="Courier New" pitchFamily="49" charset="0"/>
                <a:cs typeface="Courier New" pitchFamily="49" charset="0"/>
              </a:rPr>
              <a:t>, *a);</a:t>
            </a:r>
            <a:endParaRPr lang="en-SG" b="1" dirty="0">
              <a:latin typeface="Courier New" pitchFamily="49" charset="0"/>
              <a:cs typeface="Courier New" pitchFamily="49" charset="0"/>
            </a:endParaRPr>
          </a:p>
        </p:txBody>
      </p:sp>
      <p:pic>
        <p:nvPicPr>
          <p:cNvPr id="28" name="Picture 27" descr="focus-md.png"/>
          <p:cNvPicPr>
            <a:picLocks noChangeAspect="1"/>
          </p:cNvPicPr>
          <p:nvPr/>
        </p:nvPicPr>
        <p:blipFill>
          <a:blip r:embed="rId3" cstate="print"/>
          <a:stretch>
            <a:fillRect/>
          </a:stretch>
        </p:blipFill>
        <p:spPr>
          <a:xfrm>
            <a:off x="8229649" y="375969"/>
            <a:ext cx="614548" cy="830472"/>
          </a:xfrm>
          <a:prstGeom prst="rect">
            <a:avLst/>
          </a:prstGeom>
          <a:effectLst>
            <a:outerShdw blurRad="50800" dist="38100" dir="5400000" algn="t" rotWithShape="0">
              <a:prstClr val="black">
                <a:alpha val="40000"/>
              </a:prstClr>
            </a:outerShdw>
            <a:reflection blurRad="6350" stA="50000" endA="300" endPos="55000" dir="5400000" sy="-100000" algn="bl" rotWithShape="0"/>
          </a:effectLst>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dissolve">
                                      <p:cBhvr>
                                        <p:cTn id="12" dur="500"/>
                                        <p:tgtEl>
                                          <p:spTgt spid="9"/>
                                        </p:tgtEl>
                                      </p:cBhvr>
                                    </p:animEffect>
                                  </p:childTnLst>
                                </p:cTn>
                              </p:par>
                            </p:childTnLst>
                          </p:cTn>
                        </p:par>
                        <p:par>
                          <p:cTn id="13" fill="hold">
                            <p:stCondLst>
                              <p:cond delay="500"/>
                            </p:stCondLst>
                            <p:childTnLst>
                              <p:par>
                                <p:cTn id="14" presetID="9" presetClass="entr" presetSubtype="0" fill="hold" grpId="0" nodeType="after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dissolve">
                                      <p:cBhvr>
                                        <p:cTn id="16" dur="500"/>
                                        <p:tgtEl>
                                          <p:spTgt spid="10"/>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dissolve">
                                      <p:cBhvr>
                                        <p:cTn id="21" dur="500"/>
                                        <p:tgtEl>
                                          <p:spTgt spid="11"/>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grpId="0" nodeType="click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dissolve">
                                      <p:cBhvr>
                                        <p:cTn id="26"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533400" y="381000"/>
            <a:ext cx="8382000" cy="838200"/>
          </a:xfrm>
        </p:spPr>
        <p:txBody>
          <a:bodyPr>
            <a:normAutofit/>
          </a:bodyPr>
          <a:lstStyle/>
          <a:p>
            <a:pPr eaLnBrk="1" hangingPunct="1"/>
            <a:r>
              <a:rPr lang="en-GB" dirty="0" smtClean="0"/>
              <a:t>4.1 Pointer Variables: Demo #1 (2/2)</a:t>
            </a:r>
            <a:endParaRPr lang="en-GB" sz="4800" dirty="0" smtClean="0"/>
          </a:p>
        </p:txBody>
      </p:sp>
      <p:sp>
        <p:nvSpPr>
          <p:cNvPr id="21509" name="Slide Number Placeholder 7"/>
          <p:cNvSpPr>
            <a:spLocks noGrp="1"/>
          </p:cNvSpPr>
          <p:nvPr>
            <p:ph type="sldNum" sz="quarter" idx="12"/>
          </p:nvPr>
        </p:nvSpPr>
        <p:spPr/>
        <p:txBody>
          <a:bodyPr/>
          <a:lstStyle/>
          <a:p>
            <a:pPr>
              <a:defRPr/>
            </a:pPr>
            <a:r>
              <a:rPr dirty="0" smtClean="0">
                <a:cs typeface="Arial" pitchFamily="34" charset="0"/>
              </a:rPr>
              <a:t>Week6 - </a:t>
            </a:r>
            <a:fld id="{BD5A7EDF-6523-437D-97D4-13E6D4C9C7B2}" type="slidenum">
              <a:rPr smtClean="0">
                <a:cs typeface="Arial" pitchFamily="34" charset="0"/>
              </a:rPr>
              <a:pPr>
                <a:defRPr/>
              </a:pPr>
              <a:t>21</a:t>
            </a:fld>
            <a:endParaRPr dirty="0" smtClean="0">
              <a:cs typeface="Arial" pitchFamily="34" charset="0"/>
            </a:endParaRPr>
          </a:p>
        </p:txBody>
      </p:sp>
      <p:pic>
        <p:nvPicPr>
          <p:cNvPr id="28" name="Picture 27" descr="focus-md.png"/>
          <p:cNvPicPr>
            <a:picLocks noChangeAspect="1"/>
          </p:cNvPicPr>
          <p:nvPr/>
        </p:nvPicPr>
        <p:blipFill>
          <a:blip r:embed="rId3" cstate="print"/>
          <a:stretch>
            <a:fillRect/>
          </a:stretch>
        </p:blipFill>
        <p:spPr>
          <a:xfrm>
            <a:off x="8229649" y="375969"/>
            <a:ext cx="614548" cy="830472"/>
          </a:xfrm>
          <a:prstGeom prst="rect">
            <a:avLst/>
          </a:prstGeom>
          <a:effectLst>
            <a:outerShdw blurRad="50800" dist="38100" dir="5400000" algn="t" rotWithShape="0">
              <a:prstClr val="black">
                <a:alpha val="40000"/>
              </a:prstClr>
            </a:outerShdw>
            <a:reflection blurRad="6350" stA="50000" endA="300" endPos="55000" dir="5400000" sy="-100000" algn="bl" rotWithShape="0"/>
          </a:effectLst>
        </p:spPr>
      </p:pic>
      <p:sp>
        <p:nvSpPr>
          <p:cNvPr id="30" name="Rectangle 3"/>
          <p:cNvSpPr txBox="1">
            <a:spLocks noChangeArrowheads="1"/>
          </p:cNvSpPr>
          <p:nvPr/>
        </p:nvSpPr>
        <p:spPr bwMode="auto">
          <a:xfrm>
            <a:off x="471487" y="1162756"/>
            <a:ext cx="8357719" cy="496822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457200" marR="0" lvl="0" indent="-457200" algn="l" defTabSz="914400" rtl="0" eaLnBrk="1" fontAlgn="base" latinLnBrk="0" hangingPunct="1">
              <a:lnSpc>
                <a:spcPct val="100000"/>
              </a:lnSpc>
              <a:spcBef>
                <a:spcPts val="600"/>
              </a:spcBef>
              <a:spcAft>
                <a:spcPct val="0"/>
              </a:spcAft>
              <a:buClr>
                <a:schemeClr val="bg2"/>
              </a:buClr>
              <a:buSzPct val="100000"/>
              <a:buFont typeface="Wingdings" pitchFamily="2" charset="2"/>
              <a:buChar char="§"/>
              <a:tabLst/>
              <a:defRPr/>
            </a:pPr>
            <a:r>
              <a:rPr kumimoji="0" lang="en-GB" sz="2400" b="0" i="0" u="none" strike="noStrike" kern="0" cap="none" spc="0" normalizeH="0" baseline="0" noProof="0" dirty="0" smtClean="0">
                <a:ln>
                  <a:noFill/>
                </a:ln>
                <a:solidFill>
                  <a:schemeClr val="tx1"/>
                </a:solidFill>
                <a:effectLst/>
                <a:uLnTx/>
                <a:uFillTx/>
                <a:latin typeface="+mn-lt"/>
                <a:ea typeface="+mn-ea"/>
                <a:cs typeface="+mn-cs"/>
              </a:rPr>
              <a:t>How do we interpret the declaration?</a:t>
            </a:r>
          </a:p>
          <a:p>
            <a:pPr marL="857250" marR="0" lvl="1" indent="-457200" algn="l" defTabSz="914400" rtl="0" eaLnBrk="1" fontAlgn="base" latinLnBrk="0" hangingPunct="1">
              <a:lnSpc>
                <a:spcPct val="100000"/>
              </a:lnSpc>
              <a:spcBef>
                <a:spcPts val="300"/>
              </a:spcBef>
              <a:spcAft>
                <a:spcPct val="0"/>
              </a:spcAft>
              <a:buClr>
                <a:schemeClr val="accent2"/>
              </a:buClr>
              <a:buSzPct val="100000"/>
              <a:tabLst/>
              <a:defRPr/>
            </a:pPr>
            <a:r>
              <a:rPr kumimoji="0" lang="en-GB" sz="2000" b="0" i="0" u="none" strike="noStrike" kern="0" cap="none" spc="0" normalizeH="0" baseline="0" noProof="0" dirty="0" smtClean="0">
                <a:ln>
                  <a:noFill/>
                </a:ln>
                <a:solidFill>
                  <a:schemeClr val="tx1"/>
                </a:solidFill>
                <a:effectLst/>
                <a:uLnTx/>
                <a:uFillTx/>
                <a:latin typeface="+mn-lt"/>
                <a:cs typeface="+mn-cs"/>
              </a:rPr>
              <a:t>	</a:t>
            </a:r>
            <a:r>
              <a:rPr kumimoji="0" lang="en-GB" sz="2000" b="0" i="0" u="none" strike="noStrike" kern="0" cap="none" spc="0" normalizeH="0" baseline="0" noProof="0" dirty="0" smtClean="0">
                <a:ln>
                  <a:noFill/>
                </a:ln>
                <a:solidFill>
                  <a:srgbClr val="0000FF"/>
                </a:solidFill>
                <a:effectLst/>
                <a:uLnTx/>
                <a:uFillTx/>
                <a:latin typeface="Lucida Sans Unicode" pitchFamily="34" charset="0"/>
                <a:cs typeface="Lucida Sans Unicode" pitchFamily="34" charset="0"/>
              </a:rPr>
              <a:t>double</a:t>
            </a:r>
            <a:r>
              <a:rPr kumimoji="0" lang="en-GB" sz="2000" b="0" i="0" u="none" strike="noStrike" kern="0" cap="none" spc="0" normalizeH="0" baseline="0" noProof="0" dirty="0" smtClean="0">
                <a:ln>
                  <a:noFill/>
                </a:ln>
                <a:solidFill>
                  <a:schemeClr val="tx1"/>
                </a:solidFill>
                <a:effectLst/>
                <a:uLnTx/>
                <a:uFillTx/>
                <a:latin typeface="Lucida Sans Unicode" pitchFamily="34" charset="0"/>
                <a:cs typeface="Lucida Sans Unicode" pitchFamily="34" charset="0"/>
              </a:rPr>
              <a:t> a, *b;</a:t>
            </a:r>
          </a:p>
          <a:p>
            <a:pPr marL="457200" marR="0" lvl="0" indent="-457200" algn="l" defTabSz="914400" rtl="0" eaLnBrk="1" fontAlgn="base" latinLnBrk="0" hangingPunct="1">
              <a:lnSpc>
                <a:spcPct val="100000"/>
              </a:lnSpc>
              <a:spcBef>
                <a:spcPts val="600"/>
              </a:spcBef>
              <a:spcAft>
                <a:spcPct val="0"/>
              </a:spcAft>
              <a:buClr>
                <a:schemeClr val="bg2"/>
              </a:buClr>
              <a:buSzPct val="100000"/>
              <a:buFont typeface="Wingdings" pitchFamily="2" charset="2"/>
              <a:buChar char="§"/>
              <a:tabLst/>
              <a:defRPr/>
            </a:pPr>
            <a:r>
              <a:rPr kumimoji="0" lang="en-GB" sz="2400" b="0" i="0" u="none" strike="noStrike" kern="0" cap="none" spc="0" normalizeH="0" baseline="0" noProof="0" dirty="0" smtClean="0">
                <a:ln>
                  <a:noFill/>
                </a:ln>
                <a:solidFill>
                  <a:schemeClr val="tx1"/>
                </a:solidFill>
                <a:effectLst/>
                <a:uLnTx/>
                <a:uFillTx/>
                <a:latin typeface="+mn-lt"/>
                <a:ea typeface="+mn-ea"/>
                <a:cs typeface="+mn-cs"/>
              </a:rPr>
              <a:t>The above is equivalent to</a:t>
            </a:r>
          </a:p>
          <a:p>
            <a:pPr marL="857250" lvl="1" indent="-457200">
              <a:spcBef>
                <a:spcPts val="300"/>
              </a:spcBef>
              <a:buClr>
                <a:schemeClr val="accent2"/>
              </a:buClr>
              <a:buSzPct val="100000"/>
              <a:defRPr/>
            </a:pPr>
            <a:r>
              <a:rPr lang="en-GB" sz="2000" kern="0" dirty="0" smtClean="0">
                <a:latin typeface="Lucida Sans Unicode" pitchFamily="34" charset="0"/>
                <a:cs typeface="Lucida Sans Unicode" pitchFamily="34" charset="0"/>
              </a:rPr>
              <a:t>	</a:t>
            </a:r>
            <a:r>
              <a:rPr lang="en-GB" sz="2000" kern="0" dirty="0" smtClean="0">
                <a:solidFill>
                  <a:srgbClr val="0000FF"/>
                </a:solidFill>
                <a:latin typeface="Lucida Sans Unicode" pitchFamily="34" charset="0"/>
                <a:cs typeface="Lucida Sans Unicode" pitchFamily="34" charset="0"/>
              </a:rPr>
              <a:t>double</a:t>
            </a:r>
            <a:r>
              <a:rPr lang="en-GB" sz="2000" kern="0" dirty="0" smtClean="0">
                <a:latin typeface="Lucida Sans Unicode" pitchFamily="34" charset="0"/>
                <a:cs typeface="Lucida Sans Unicode" pitchFamily="34" charset="0"/>
              </a:rPr>
              <a:t> a; </a:t>
            </a:r>
            <a:r>
              <a:rPr lang="en-GB" sz="2000" kern="0" dirty="0" smtClean="0">
                <a:solidFill>
                  <a:srgbClr val="C00000"/>
                </a:solidFill>
                <a:latin typeface="Lucida Sans Unicode" pitchFamily="34" charset="0"/>
                <a:cs typeface="Lucida Sans Unicode" pitchFamily="34" charset="0"/>
              </a:rPr>
              <a:t>// this is straight-forward: </a:t>
            </a:r>
            <a:r>
              <a:rPr lang="en-GB" sz="2000" kern="0" dirty="0" smtClean="0">
                <a:solidFill>
                  <a:srgbClr val="7030A0"/>
                </a:solidFill>
                <a:latin typeface="Lucida Sans Unicode" pitchFamily="34" charset="0"/>
                <a:cs typeface="Lucida Sans Unicode" pitchFamily="34" charset="0"/>
              </a:rPr>
              <a:t>a</a:t>
            </a:r>
            <a:r>
              <a:rPr lang="en-GB" sz="2000" kern="0" dirty="0" smtClean="0">
                <a:solidFill>
                  <a:srgbClr val="C00000"/>
                </a:solidFill>
                <a:latin typeface="Lucida Sans Unicode" pitchFamily="34" charset="0"/>
                <a:cs typeface="Lucida Sans Unicode" pitchFamily="34" charset="0"/>
              </a:rPr>
              <a:t> is a double variable</a:t>
            </a:r>
          </a:p>
          <a:p>
            <a:pPr marL="857250" lvl="1" indent="-457200">
              <a:spcBef>
                <a:spcPts val="300"/>
              </a:spcBef>
              <a:buClr>
                <a:schemeClr val="accent2"/>
              </a:buClr>
              <a:buSzPct val="100000"/>
              <a:defRPr/>
            </a:pPr>
            <a:r>
              <a:rPr lang="en-GB" sz="2000" kern="0" dirty="0" smtClean="0">
                <a:latin typeface="Lucida Sans Unicode" pitchFamily="34" charset="0"/>
                <a:cs typeface="Lucida Sans Unicode" pitchFamily="34" charset="0"/>
              </a:rPr>
              <a:t>	</a:t>
            </a:r>
            <a:r>
              <a:rPr lang="en-GB" sz="2000" kern="0" dirty="0" smtClean="0">
                <a:solidFill>
                  <a:srgbClr val="0000FF"/>
                </a:solidFill>
                <a:latin typeface="Lucida Sans Unicode" pitchFamily="34" charset="0"/>
                <a:cs typeface="Lucida Sans Unicode" pitchFamily="34" charset="0"/>
              </a:rPr>
              <a:t>double </a:t>
            </a:r>
            <a:r>
              <a:rPr lang="en-GB" sz="2000" kern="0" dirty="0" smtClean="0">
                <a:latin typeface="Lucida Sans Unicode" pitchFamily="34" charset="0"/>
                <a:cs typeface="Lucida Sans Unicode" pitchFamily="34" charset="0"/>
              </a:rPr>
              <a:t>*b;</a:t>
            </a:r>
          </a:p>
          <a:p>
            <a:pPr marL="457200" lvl="0" indent="-457200">
              <a:spcBef>
                <a:spcPts val="600"/>
              </a:spcBef>
              <a:buClr>
                <a:schemeClr val="bg2"/>
              </a:buClr>
              <a:buSzPct val="100000"/>
              <a:buFont typeface="Wingdings" pitchFamily="2" charset="2"/>
              <a:buChar char="§"/>
              <a:defRPr/>
            </a:pPr>
            <a:r>
              <a:rPr lang="en-GB" sz="2400" kern="0" dirty="0" smtClean="0"/>
              <a:t>We can read the second declaration as</a:t>
            </a:r>
            <a:endParaRPr kumimoji="0" lang="en-GB" sz="2400" b="0" i="0" u="none" strike="noStrike" kern="0" cap="none" spc="0" normalizeH="0" baseline="0" noProof="0" dirty="0" smtClean="0">
              <a:ln>
                <a:noFill/>
              </a:ln>
              <a:solidFill>
                <a:schemeClr val="tx1"/>
              </a:solidFill>
              <a:effectLst/>
              <a:uLnTx/>
              <a:uFillTx/>
              <a:latin typeface="+mn-lt"/>
              <a:ea typeface="+mn-ea"/>
              <a:cs typeface="+mn-cs"/>
            </a:endParaRPr>
          </a:p>
          <a:p>
            <a:pPr marL="857250" marR="0" lvl="1" indent="-457200" algn="l" defTabSz="914400" rtl="0" eaLnBrk="1" fontAlgn="base" latinLnBrk="0" hangingPunct="1">
              <a:lnSpc>
                <a:spcPct val="100000"/>
              </a:lnSpc>
              <a:spcBef>
                <a:spcPts val="300"/>
              </a:spcBef>
              <a:spcAft>
                <a:spcPct val="0"/>
              </a:spcAft>
              <a:buClr>
                <a:schemeClr val="accent2"/>
              </a:buClr>
              <a:buSzPct val="100000"/>
              <a:buFont typeface="Wingdings" pitchFamily="2" charset="2"/>
              <a:buChar char="§"/>
              <a:tabLst/>
              <a:defRPr/>
            </a:pPr>
            <a:r>
              <a:rPr kumimoji="0" lang="en-GB" sz="2000" b="0" i="0" u="none" strike="noStrike" kern="0" cap="none" spc="0" normalizeH="0" baseline="0" noProof="0" dirty="0" smtClean="0">
                <a:ln>
                  <a:noFill/>
                </a:ln>
                <a:solidFill>
                  <a:srgbClr val="C00000"/>
                </a:solidFill>
                <a:effectLst/>
                <a:uLnTx/>
                <a:uFillTx/>
                <a:latin typeface="+mn-lt"/>
                <a:cs typeface="+mn-cs"/>
              </a:rPr>
              <a:t>*b </a:t>
            </a:r>
            <a:r>
              <a:rPr kumimoji="0" lang="en-GB" sz="2000" b="0" i="0" u="none" strike="noStrike" kern="0" cap="none" spc="0" normalizeH="0" baseline="0" noProof="0" dirty="0" smtClean="0">
                <a:ln>
                  <a:noFill/>
                </a:ln>
                <a:effectLst/>
                <a:uLnTx/>
                <a:uFillTx/>
                <a:latin typeface="+mn-lt"/>
                <a:cs typeface="+mn-cs"/>
              </a:rPr>
              <a:t>is a double variable, so this implies that ...</a:t>
            </a:r>
          </a:p>
          <a:p>
            <a:pPr marL="857250" marR="0" lvl="1" indent="-457200" algn="l" defTabSz="914400" rtl="0" eaLnBrk="1" fontAlgn="base" latinLnBrk="0" hangingPunct="1">
              <a:lnSpc>
                <a:spcPct val="100000"/>
              </a:lnSpc>
              <a:spcBef>
                <a:spcPts val="300"/>
              </a:spcBef>
              <a:spcAft>
                <a:spcPct val="0"/>
              </a:spcAft>
              <a:buClr>
                <a:schemeClr val="accent2"/>
              </a:buClr>
              <a:buSzPct val="100000"/>
              <a:buFont typeface="Wingdings" pitchFamily="2" charset="2"/>
              <a:buChar char="§"/>
              <a:tabLst/>
              <a:defRPr/>
            </a:pPr>
            <a:r>
              <a:rPr kumimoji="0" lang="en-GB" sz="2000" b="0" i="0" u="none" strike="noStrike" kern="0" cap="none" spc="0" normalizeH="0" baseline="0" noProof="0" dirty="0" smtClean="0">
                <a:ln>
                  <a:noFill/>
                </a:ln>
                <a:solidFill>
                  <a:srgbClr val="C00000"/>
                </a:solidFill>
                <a:effectLst/>
                <a:uLnTx/>
                <a:uFillTx/>
                <a:latin typeface="+mn-lt"/>
                <a:cs typeface="+mn-cs"/>
              </a:rPr>
              <a:t>b </a:t>
            </a:r>
            <a:r>
              <a:rPr kumimoji="0" lang="en-GB" sz="2000" b="0" i="0" u="none" strike="noStrike" kern="0" cap="none" spc="0" normalizeH="0" baseline="0" noProof="0" dirty="0" smtClean="0">
                <a:ln>
                  <a:noFill/>
                </a:ln>
                <a:solidFill>
                  <a:srgbClr val="006600"/>
                </a:solidFill>
                <a:effectLst/>
                <a:uLnTx/>
                <a:uFillTx/>
                <a:latin typeface="+mn-lt"/>
                <a:cs typeface="+mn-cs"/>
              </a:rPr>
              <a:t>is a pointer to some double variable</a:t>
            </a:r>
          </a:p>
          <a:p>
            <a:pPr marL="457200" lvl="0" indent="-457200">
              <a:spcBef>
                <a:spcPts val="600"/>
              </a:spcBef>
              <a:buClr>
                <a:schemeClr val="bg2"/>
              </a:buClr>
              <a:buSzPct val="100000"/>
              <a:buFont typeface="Wingdings" pitchFamily="2" charset="2"/>
              <a:buChar char="§"/>
              <a:defRPr/>
            </a:pPr>
            <a:r>
              <a:rPr lang="en-GB" sz="2400" kern="0" dirty="0" smtClean="0"/>
              <a:t>The following are equivalent:</a:t>
            </a:r>
            <a:endParaRPr kumimoji="0" lang="en-GB" sz="2400" b="0" i="0" u="none" strike="noStrike" kern="0" cap="none" spc="0" normalizeH="0" baseline="0" noProof="0" dirty="0" smtClean="0">
              <a:ln>
                <a:noFill/>
              </a:ln>
              <a:solidFill>
                <a:srgbClr val="006600"/>
              </a:solidFill>
              <a:effectLst/>
              <a:uLnTx/>
              <a:uFillTx/>
              <a:latin typeface="+mn-lt"/>
              <a:ea typeface="+mn-ea"/>
              <a:cs typeface="+mn-cs"/>
            </a:endParaRPr>
          </a:p>
          <a:p>
            <a:pPr marL="457200" marR="0" lvl="0" indent="-457200" algn="l" defTabSz="914400" rtl="0" eaLnBrk="1" fontAlgn="base" latinLnBrk="0" hangingPunct="1">
              <a:lnSpc>
                <a:spcPct val="100000"/>
              </a:lnSpc>
              <a:spcBef>
                <a:spcPct val="20000"/>
              </a:spcBef>
              <a:spcAft>
                <a:spcPct val="0"/>
              </a:spcAft>
              <a:buClr>
                <a:schemeClr val="bg2"/>
              </a:buClr>
              <a:buSzPct val="120000"/>
              <a:buFont typeface="Wingdings" pitchFamily="2" charset="2"/>
              <a:buNone/>
              <a:tabLst/>
              <a:defRPr/>
            </a:pPr>
            <a:endParaRPr kumimoji="0" lang="en-GB" sz="2400" b="1" i="0" u="none" strike="noStrike" kern="0" cap="none" spc="0" normalizeH="0" baseline="0" noProof="0" dirty="0" smtClean="0">
              <a:ln>
                <a:noFill/>
              </a:ln>
              <a:solidFill>
                <a:srgbClr val="0000FF"/>
              </a:solidFill>
              <a:effectLst/>
              <a:uLnTx/>
              <a:uFillTx/>
              <a:latin typeface="+mn-lt"/>
              <a:ea typeface="+mn-ea"/>
              <a:cs typeface="+mn-cs"/>
            </a:endParaRPr>
          </a:p>
          <a:p>
            <a:pPr marL="457200" marR="0" lvl="0" indent="-457200" algn="l" defTabSz="914400" rtl="0" eaLnBrk="1" fontAlgn="base" latinLnBrk="0" hangingPunct="1">
              <a:lnSpc>
                <a:spcPct val="100000"/>
              </a:lnSpc>
              <a:spcBef>
                <a:spcPct val="20000"/>
              </a:spcBef>
              <a:spcAft>
                <a:spcPct val="0"/>
              </a:spcAft>
              <a:buClr>
                <a:schemeClr val="bg2"/>
              </a:buClr>
              <a:buSzPct val="120000"/>
              <a:buFont typeface="Wingdings" pitchFamily="2" charset="2"/>
              <a:buNone/>
              <a:tabLst/>
              <a:defRPr/>
            </a:pPr>
            <a:endParaRPr kumimoji="0" lang="en-GB" sz="2400" b="1" i="0" u="none" strike="noStrike" kern="0" cap="none" spc="0" normalizeH="0" baseline="0" noProof="0" dirty="0" smtClean="0">
              <a:ln>
                <a:noFill/>
              </a:ln>
              <a:solidFill>
                <a:srgbClr val="0000FF"/>
              </a:solidFill>
              <a:effectLst/>
              <a:uLnTx/>
              <a:uFillTx/>
              <a:latin typeface="+mn-lt"/>
              <a:ea typeface="+mn-ea"/>
              <a:cs typeface="+mn-cs"/>
            </a:endParaRPr>
          </a:p>
          <a:p>
            <a:pPr marL="457200" marR="0" lvl="0" indent="-457200" algn="l" defTabSz="914400" rtl="0" eaLnBrk="1" fontAlgn="base" latinLnBrk="0" hangingPunct="1">
              <a:lnSpc>
                <a:spcPct val="100000"/>
              </a:lnSpc>
              <a:spcBef>
                <a:spcPct val="20000"/>
              </a:spcBef>
              <a:spcAft>
                <a:spcPct val="0"/>
              </a:spcAft>
              <a:buClr>
                <a:schemeClr val="bg2"/>
              </a:buClr>
              <a:buSzPct val="120000"/>
              <a:buFont typeface="Wingdings" pitchFamily="2" charset="2"/>
              <a:buNone/>
              <a:tabLst/>
              <a:defRPr/>
            </a:pPr>
            <a:endParaRPr kumimoji="0" lang="en-GB" sz="2400" b="1" i="0" u="none" strike="noStrike" kern="0" cap="none" spc="0" normalizeH="0" baseline="0" noProof="0" dirty="0" smtClean="0">
              <a:ln>
                <a:noFill/>
              </a:ln>
              <a:solidFill>
                <a:srgbClr val="0000FF"/>
              </a:solidFill>
              <a:effectLst/>
              <a:uLnTx/>
              <a:uFillTx/>
              <a:latin typeface="+mn-lt"/>
              <a:ea typeface="+mn-ea"/>
              <a:cs typeface="+mn-cs"/>
            </a:endParaRPr>
          </a:p>
          <a:p>
            <a:pPr marL="457200" marR="0" lvl="0" indent="-457200" algn="l" defTabSz="914400" rtl="0" eaLnBrk="1" fontAlgn="base" latinLnBrk="0" hangingPunct="1">
              <a:lnSpc>
                <a:spcPct val="100000"/>
              </a:lnSpc>
              <a:spcBef>
                <a:spcPct val="20000"/>
              </a:spcBef>
              <a:spcAft>
                <a:spcPct val="0"/>
              </a:spcAft>
              <a:buClr>
                <a:schemeClr val="bg2"/>
              </a:buClr>
              <a:buSzPct val="120000"/>
              <a:buFont typeface="Wingdings" pitchFamily="2" charset="2"/>
              <a:buNone/>
              <a:tabLst/>
              <a:defRPr/>
            </a:pPr>
            <a:endParaRPr kumimoji="0" lang="en-GB" sz="2400" b="1" i="0" u="none" strike="noStrike" kern="0" cap="none" spc="0" normalizeH="0" baseline="0" noProof="0" dirty="0" smtClean="0">
              <a:ln>
                <a:noFill/>
              </a:ln>
              <a:solidFill>
                <a:srgbClr val="0000FF"/>
              </a:solidFill>
              <a:effectLst/>
              <a:uLnTx/>
              <a:uFillTx/>
              <a:latin typeface="+mn-lt"/>
              <a:ea typeface="+mn-ea"/>
              <a:cs typeface="+mn-cs"/>
            </a:endParaRPr>
          </a:p>
          <a:p>
            <a:pPr marL="457200" marR="0" lvl="0" indent="-457200" algn="l" defTabSz="914400" rtl="0" eaLnBrk="1" fontAlgn="base" latinLnBrk="0" hangingPunct="1">
              <a:lnSpc>
                <a:spcPct val="100000"/>
              </a:lnSpc>
              <a:spcBef>
                <a:spcPct val="20000"/>
              </a:spcBef>
              <a:spcAft>
                <a:spcPct val="0"/>
              </a:spcAft>
              <a:buClr>
                <a:schemeClr val="bg2"/>
              </a:buClr>
              <a:buSzPct val="120000"/>
              <a:buFont typeface="Wingdings" pitchFamily="2" charset="2"/>
              <a:buNone/>
              <a:tabLst/>
              <a:defRPr/>
            </a:pPr>
            <a:endParaRPr kumimoji="0" lang="en-GB" sz="2000" b="0" i="0" u="none" strike="noStrike" kern="0" cap="none" spc="0" normalizeH="0" baseline="0" noProof="0" dirty="0" smtClean="0">
              <a:ln>
                <a:noFill/>
              </a:ln>
              <a:solidFill>
                <a:srgbClr val="0000FF"/>
              </a:solidFill>
              <a:effectLst/>
              <a:uLnTx/>
              <a:uFillTx/>
              <a:latin typeface="+mn-lt"/>
              <a:ea typeface="+mn-ea"/>
              <a:cs typeface="+mn-cs"/>
            </a:endParaRPr>
          </a:p>
        </p:txBody>
      </p:sp>
      <p:grpSp>
        <p:nvGrpSpPr>
          <p:cNvPr id="15" name="Group 14"/>
          <p:cNvGrpSpPr/>
          <p:nvPr/>
        </p:nvGrpSpPr>
        <p:grpSpPr>
          <a:xfrm>
            <a:off x="1493419" y="4765769"/>
            <a:ext cx="4659025" cy="923330"/>
            <a:chOff x="1493419" y="4867369"/>
            <a:chExt cx="4659025" cy="923330"/>
          </a:xfrm>
        </p:grpSpPr>
        <p:sp>
          <p:nvSpPr>
            <p:cNvPr id="10" name="TextBox 9"/>
            <p:cNvSpPr txBox="1"/>
            <p:nvPr/>
          </p:nvSpPr>
          <p:spPr>
            <a:xfrm>
              <a:off x="1493419" y="4867369"/>
              <a:ext cx="1791648" cy="923330"/>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b="1" dirty="0" smtClean="0">
                  <a:solidFill>
                    <a:srgbClr val="0000FF"/>
                  </a:solidFill>
                  <a:latin typeface="Courier New" pitchFamily="49" charset="0"/>
                  <a:cs typeface="Courier New" pitchFamily="49" charset="0"/>
                </a:rPr>
                <a:t>double</a:t>
              </a:r>
              <a:r>
                <a:rPr lang="en-US" b="1" dirty="0" smtClean="0">
                  <a:latin typeface="Courier New" pitchFamily="49" charset="0"/>
                  <a:cs typeface="Courier New" pitchFamily="49" charset="0"/>
                </a:rPr>
                <a:t> a;</a:t>
              </a:r>
            </a:p>
            <a:p>
              <a:r>
                <a:rPr lang="en-US" b="1" dirty="0" smtClean="0">
                  <a:solidFill>
                    <a:srgbClr val="0000FF"/>
                  </a:solidFill>
                  <a:latin typeface="Courier New" pitchFamily="49" charset="0"/>
                  <a:cs typeface="Courier New" pitchFamily="49" charset="0"/>
                </a:rPr>
                <a:t>double</a:t>
              </a:r>
              <a:r>
                <a:rPr lang="en-US" b="1" dirty="0" smtClean="0">
                  <a:latin typeface="Courier New" pitchFamily="49" charset="0"/>
                  <a:cs typeface="Courier New" pitchFamily="49" charset="0"/>
                </a:rPr>
                <a:t> *b;</a:t>
              </a:r>
            </a:p>
            <a:p>
              <a:r>
                <a:rPr lang="en-US" b="1" dirty="0" smtClean="0">
                  <a:latin typeface="Courier New" pitchFamily="49" charset="0"/>
                  <a:cs typeface="Courier New" pitchFamily="49" charset="0"/>
                </a:rPr>
                <a:t>b = &amp;a;</a:t>
              </a:r>
              <a:endParaRPr lang="en-SG" b="1" dirty="0">
                <a:latin typeface="Courier New" pitchFamily="49" charset="0"/>
                <a:cs typeface="Courier New" pitchFamily="49" charset="0"/>
              </a:endParaRPr>
            </a:p>
          </p:txBody>
        </p:sp>
        <p:sp>
          <p:nvSpPr>
            <p:cNvPr id="11" name="TextBox 10"/>
            <p:cNvSpPr txBox="1"/>
            <p:nvPr/>
          </p:nvSpPr>
          <p:spPr>
            <a:xfrm>
              <a:off x="3570075" y="4867369"/>
              <a:ext cx="2582369" cy="646331"/>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b="1" dirty="0" smtClean="0">
                  <a:solidFill>
                    <a:srgbClr val="0000FF"/>
                  </a:solidFill>
                  <a:latin typeface="Courier New" pitchFamily="49" charset="0"/>
                  <a:cs typeface="Courier New" pitchFamily="49" charset="0"/>
                </a:rPr>
                <a:t>double </a:t>
              </a:r>
              <a:r>
                <a:rPr lang="en-US" b="1" dirty="0" smtClean="0">
                  <a:latin typeface="Courier New" pitchFamily="49" charset="0"/>
                  <a:cs typeface="Courier New" pitchFamily="49" charset="0"/>
                </a:rPr>
                <a:t>a;</a:t>
              </a:r>
            </a:p>
            <a:p>
              <a:r>
                <a:rPr lang="en-US" b="1" dirty="0" smtClean="0">
                  <a:solidFill>
                    <a:srgbClr val="0000FF"/>
                  </a:solidFill>
                  <a:latin typeface="Courier New" pitchFamily="49" charset="0"/>
                  <a:cs typeface="Courier New" pitchFamily="49" charset="0"/>
                </a:rPr>
                <a:t>double</a:t>
              </a:r>
              <a:r>
                <a:rPr lang="en-US" b="1" dirty="0" smtClean="0">
                  <a:latin typeface="Courier New" pitchFamily="49" charset="0"/>
                  <a:cs typeface="Courier New" pitchFamily="49" charset="0"/>
                </a:rPr>
                <a:t> *b = &amp;a;</a:t>
              </a:r>
              <a:endParaRPr lang="en-SG" b="1" dirty="0">
                <a:latin typeface="Courier New" pitchFamily="49" charset="0"/>
                <a:cs typeface="Courier New" pitchFamily="49" charset="0"/>
              </a:endParaRPr>
            </a:p>
          </p:txBody>
        </p:sp>
      </p:grpSp>
      <p:grpSp>
        <p:nvGrpSpPr>
          <p:cNvPr id="17" name="Group 16"/>
          <p:cNvGrpSpPr/>
          <p:nvPr/>
        </p:nvGrpSpPr>
        <p:grpSpPr>
          <a:xfrm>
            <a:off x="1682047" y="5776125"/>
            <a:ext cx="5895619" cy="782720"/>
            <a:chOff x="1682047" y="5776125"/>
            <a:chExt cx="5895619" cy="782720"/>
          </a:xfrm>
        </p:grpSpPr>
        <p:sp>
          <p:nvSpPr>
            <p:cNvPr id="13" name="TextBox 12"/>
            <p:cNvSpPr txBox="1"/>
            <p:nvPr/>
          </p:nvSpPr>
          <p:spPr>
            <a:xfrm>
              <a:off x="4738475" y="5776125"/>
              <a:ext cx="2582369" cy="646331"/>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b="1" dirty="0" smtClean="0">
                  <a:solidFill>
                    <a:srgbClr val="0000FF"/>
                  </a:solidFill>
                  <a:latin typeface="Courier New" pitchFamily="49" charset="0"/>
                  <a:cs typeface="Courier New" pitchFamily="49" charset="0"/>
                </a:rPr>
                <a:t>double </a:t>
              </a:r>
              <a:r>
                <a:rPr lang="en-US" b="1" dirty="0" smtClean="0">
                  <a:latin typeface="Courier New" pitchFamily="49" charset="0"/>
                  <a:cs typeface="Courier New" pitchFamily="49" charset="0"/>
                </a:rPr>
                <a:t>a;</a:t>
              </a:r>
            </a:p>
            <a:p>
              <a:r>
                <a:rPr lang="en-US" b="1" dirty="0" smtClean="0">
                  <a:solidFill>
                    <a:srgbClr val="0000FF"/>
                  </a:solidFill>
                  <a:latin typeface="Courier New" pitchFamily="49" charset="0"/>
                  <a:cs typeface="Courier New" pitchFamily="49" charset="0"/>
                </a:rPr>
                <a:t>double</a:t>
              </a:r>
              <a:r>
                <a:rPr lang="en-US" b="1" dirty="0" smtClean="0">
                  <a:latin typeface="Courier New" pitchFamily="49" charset="0"/>
                  <a:cs typeface="Courier New" pitchFamily="49" charset="0"/>
                </a:rPr>
                <a:t> b = &amp;a;</a:t>
              </a:r>
              <a:endParaRPr lang="en-SG" b="1" dirty="0">
                <a:latin typeface="Courier New" pitchFamily="49" charset="0"/>
                <a:cs typeface="Courier New" pitchFamily="49" charset="0"/>
              </a:endParaRPr>
            </a:p>
          </p:txBody>
        </p:sp>
        <p:sp>
          <p:nvSpPr>
            <p:cNvPr id="14" name="TextBox 13"/>
            <p:cNvSpPr txBox="1"/>
            <p:nvPr/>
          </p:nvSpPr>
          <p:spPr>
            <a:xfrm>
              <a:off x="1682047" y="5779910"/>
              <a:ext cx="3138310" cy="646331"/>
            </a:xfrm>
            <a:prstGeom prst="rect">
              <a:avLst/>
            </a:prstGeom>
            <a:noFill/>
          </p:spPr>
          <p:txBody>
            <a:bodyPr wrap="square" rtlCol="0">
              <a:spAutoFit/>
            </a:bodyPr>
            <a:lstStyle/>
            <a:p>
              <a:r>
                <a:rPr lang="en-US" dirty="0" smtClean="0"/>
                <a:t>But this is not the same as above (and it is not legal):</a:t>
              </a:r>
              <a:endParaRPr lang="en-SG" dirty="0"/>
            </a:p>
          </p:txBody>
        </p:sp>
        <p:pic>
          <p:nvPicPr>
            <p:cNvPr id="16" name="Picture 15" descr="cross_wrong_small.jpg"/>
            <p:cNvPicPr>
              <a:picLocks noChangeAspect="1"/>
            </p:cNvPicPr>
            <p:nvPr/>
          </p:nvPicPr>
          <p:blipFill>
            <a:blip r:embed="rId4" cstate="print"/>
            <a:stretch>
              <a:fillRect/>
            </a:stretch>
          </p:blipFill>
          <p:spPr>
            <a:xfrm>
              <a:off x="7035800" y="6016979"/>
              <a:ext cx="541866" cy="541866"/>
            </a:xfrm>
            <a:prstGeom prst="rect">
              <a:avLst/>
            </a:prstGeom>
          </p:spPr>
        </p:pic>
      </p:gr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30">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0">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9" presetClass="entr" presetSubtype="0" fill="hold" grpId="0" nodeType="clickEffect">
                                  <p:stCondLst>
                                    <p:cond delay="0"/>
                                  </p:stCondLst>
                                  <p:childTnLst>
                                    <p:set>
                                      <p:cBhvr>
                                        <p:cTn id="12" dur="1" fill="hold">
                                          <p:stCondLst>
                                            <p:cond delay="0"/>
                                          </p:stCondLst>
                                        </p:cTn>
                                        <p:tgtEl>
                                          <p:spTgt spid="30">
                                            <p:txEl>
                                              <p:pRg st="2" end="2"/>
                                            </p:txEl>
                                          </p:spTgt>
                                        </p:tgtEl>
                                        <p:attrNameLst>
                                          <p:attrName>style.visibility</p:attrName>
                                        </p:attrNameLst>
                                      </p:cBhvr>
                                      <p:to>
                                        <p:strVal val="visible"/>
                                      </p:to>
                                    </p:set>
                                    <p:animEffect transition="in" filter="dissolve">
                                      <p:cBhvr>
                                        <p:cTn id="13" dur="500"/>
                                        <p:tgtEl>
                                          <p:spTgt spid="30">
                                            <p:txEl>
                                              <p:pRg st="2" end="2"/>
                                            </p:txEl>
                                          </p:spTgt>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30">
                                            <p:txEl>
                                              <p:pRg st="3" end="3"/>
                                            </p:txEl>
                                          </p:spTgt>
                                        </p:tgtEl>
                                        <p:attrNameLst>
                                          <p:attrName>style.visibility</p:attrName>
                                        </p:attrNameLst>
                                      </p:cBhvr>
                                      <p:to>
                                        <p:strVal val="visible"/>
                                      </p:to>
                                    </p:set>
                                    <p:animEffect transition="in" filter="dissolve">
                                      <p:cBhvr>
                                        <p:cTn id="16" dur="500"/>
                                        <p:tgtEl>
                                          <p:spTgt spid="30">
                                            <p:txEl>
                                              <p:pRg st="3" end="3"/>
                                            </p:txEl>
                                          </p:spTgt>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30">
                                            <p:txEl>
                                              <p:pRg st="4" end="4"/>
                                            </p:txEl>
                                          </p:spTgt>
                                        </p:tgtEl>
                                        <p:attrNameLst>
                                          <p:attrName>style.visibility</p:attrName>
                                        </p:attrNameLst>
                                      </p:cBhvr>
                                      <p:to>
                                        <p:strVal val="visible"/>
                                      </p:to>
                                    </p:set>
                                    <p:animEffect transition="in" filter="dissolve">
                                      <p:cBhvr>
                                        <p:cTn id="19" dur="500"/>
                                        <p:tgtEl>
                                          <p:spTgt spid="30">
                                            <p:txEl>
                                              <p:pRg st="4" end="4"/>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9" presetClass="entr" presetSubtype="0" fill="hold" grpId="0" nodeType="clickEffect">
                                  <p:stCondLst>
                                    <p:cond delay="0"/>
                                  </p:stCondLst>
                                  <p:childTnLst>
                                    <p:set>
                                      <p:cBhvr>
                                        <p:cTn id="23" dur="1" fill="hold">
                                          <p:stCondLst>
                                            <p:cond delay="0"/>
                                          </p:stCondLst>
                                        </p:cTn>
                                        <p:tgtEl>
                                          <p:spTgt spid="30">
                                            <p:txEl>
                                              <p:pRg st="5" end="5"/>
                                            </p:txEl>
                                          </p:spTgt>
                                        </p:tgtEl>
                                        <p:attrNameLst>
                                          <p:attrName>style.visibility</p:attrName>
                                        </p:attrNameLst>
                                      </p:cBhvr>
                                      <p:to>
                                        <p:strVal val="visible"/>
                                      </p:to>
                                    </p:set>
                                    <p:animEffect transition="in" filter="dissolve">
                                      <p:cBhvr>
                                        <p:cTn id="24" dur="500"/>
                                        <p:tgtEl>
                                          <p:spTgt spid="30">
                                            <p:txEl>
                                              <p:pRg st="5" end="5"/>
                                            </p:txEl>
                                          </p:spTgt>
                                        </p:tgtEl>
                                      </p:cBhvr>
                                    </p:animEffect>
                                  </p:childTnLst>
                                </p:cTn>
                              </p:par>
                              <p:par>
                                <p:cTn id="25" presetID="9" presetClass="entr" presetSubtype="0" fill="hold" grpId="0" nodeType="withEffect">
                                  <p:stCondLst>
                                    <p:cond delay="0"/>
                                  </p:stCondLst>
                                  <p:childTnLst>
                                    <p:set>
                                      <p:cBhvr>
                                        <p:cTn id="26" dur="1" fill="hold">
                                          <p:stCondLst>
                                            <p:cond delay="0"/>
                                          </p:stCondLst>
                                        </p:cTn>
                                        <p:tgtEl>
                                          <p:spTgt spid="30">
                                            <p:txEl>
                                              <p:pRg st="6" end="6"/>
                                            </p:txEl>
                                          </p:spTgt>
                                        </p:tgtEl>
                                        <p:attrNameLst>
                                          <p:attrName>style.visibility</p:attrName>
                                        </p:attrNameLst>
                                      </p:cBhvr>
                                      <p:to>
                                        <p:strVal val="visible"/>
                                      </p:to>
                                    </p:set>
                                    <p:animEffect transition="in" filter="dissolve">
                                      <p:cBhvr>
                                        <p:cTn id="27" dur="500"/>
                                        <p:tgtEl>
                                          <p:spTgt spid="30">
                                            <p:txEl>
                                              <p:pRg st="6" end="6"/>
                                            </p:txEl>
                                          </p:spTgt>
                                        </p:tgtEl>
                                      </p:cBhvr>
                                    </p:animEffect>
                                  </p:childTnLst>
                                </p:cTn>
                              </p:par>
                              <p:par>
                                <p:cTn id="28" presetID="9" presetClass="entr" presetSubtype="0" fill="hold" grpId="0" nodeType="withEffect">
                                  <p:stCondLst>
                                    <p:cond delay="0"/>
                                  </p:stCondLst>
                                  <p:childTnLst>
                                    <p:set>
                                      <p:cBhvr>
                                        <p:cTn id="29" dur="1" fill="hold">
                                          <p:stCondLst>
                                            <p:cond delay="0"/>
                                          </p:stCondLst>
                                        </p:cTn>
                                        <p:tgtEl>
                                          <p:spTgt spid="30">
                                            <p:txEl>
                                              <p:pRg st="7" end="7"/>
                                            </p:txEl>
                                          </p:spTgt>
                                        </p:tgtEl>
                                        <p:attrNameLst>
                                          <p:attrName>style.visibility</p:attrName>
                                        </p:attrNameLst>
                                      </p:cBhvr>
                                      <p:to>
                                        <p:strVal val="visible"/>
                                      </p:to>
                                    </p:set>
                                    <p:animEffect transition="in" filter="dissolve">
                                      <p:cBhvr>
                                        <p:cTn id="30" dur="500"/>
                                        <p:tgtEl>
                                          <p:spTgt spid="30">
                                            <p:txEl>
                                              <p:pRg st="7" end="7"/>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grpId="0" nodeType="clickEffect">
                                  <p:stCondLst>
                                    <p:cond delay="0"/>
                                  </p:stCondLst>
                                  <p:childTnLst>
                                    <p:set>
                                      <p:cBhvr>
                                        <p:cTn id="34" dur="1" fill="hold">
                                          <p:stCondLst>
                                            <p:cond delay="0"/>
                                          </p:stCondLst>
                                        </p:cTn>
                                        <p:tgtEl>
                                          <p:spTgt spid="30">
                                            <p:txEl>
                                              <p:pRg st="8" end="8"/>
                                            </p:txEl>
                                          </p:spTgt>
                                        </p:tgtEl>
                                        <p:attrNameLst>
                                          <p:attrName>style.visibility</p:attrName>
                                        </p:attrNameLst>
                                      </p:cBhvr>
                                      <p:to>
                                        <p:strVal val="visible"/>
                                      </p:to>
                                    </p:set>
                                    <p:animEffect transition="in" filter="dissolve">
                                      <p:cBhvr>
                                        <p:cTn id="35" dur="500"/>
                                        <p:tgtEl>
                                          <p:spTgt spid="30">
                                            <p:txEl>
                                              <p:pRg st="8" end="8"/>
                                            </p:txEl>
                                          </p:spTgt>
                                        </p:tgtEl>
                                      </p:cBhvr>
                                    </p:animEffect>
                                  </p:childTnLst>
                                </p:cTn>
                              </p:par>
                            </p:childTnLst>
                          </p:cTn>
                        </p:par>
                        <p:par>
                          <p:cTn id="36" fill="hold">
                            <p:stCondLst>
                              <p:cond delay="500"/>
                            </p:stCondLst>
                            <p:childTnLst>
                              <p:par>
                                <p:cTn id="37" presetID="9" presetClass="entr" presetSubtype="0" fill="hold" nodeType="after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dissolve">
                                      <p:cBhvr>
                                        <p:cTn id="39" dur="500"/>
                                        <p:tgtEl>
                                          <p:spTgt spid="15"/>
                                        </p:tgtEl>
                                      </p:cBhvr>
                                    </p:animEffect>
                                  </p:childTnLst>
                                </p:cTn>
                              </p:par>
                            </p:childTnLst>
                          </p:cTn>
                        </p:par>
                      </p:childTnLst>
                    </p:cTn>
                  </p:par>
                  <p:par>
                    <p:cTn id="40" fill="hold">
                      <p:stCondLst>
                        <p:cond delay="indefinite"/>
                      </p:stCondLst>
                      <p:childTnLst>
                        <p:par>
                          <p:cTn id="41" fill="hold">
                            <p:stCondLst>
                              <p:cond delay="0"/>
                            </p:stCondLst>
                            <p:childTnLst>
                              <p:par>
                                <p:cTn id="42" presetID="9" presetClass="entr" presetSubtype="0" fill="hold" nodeType="click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dissolve">
                                      <p:cBhvr>
                                        <p:cTn id="44"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uiExpand="1"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Group 16"/>
          <p:cNvGrpSpPr/>
          <p:nvPr/>
        </p:nvGrpSpPr>
        <p:grpSpPr>
          <a:xfrm>
            <a:off x="654145" y="1406184"/>
            <a:ext cx="6954567" cy="3407497"/>
            <a:chOff x="654145" y="1406184"/>
            <a:chExt cx="6954567" cy="3407497"/>
          </a:xfrm>
        </p:grpSpPr>
        <p:sp>
          <p:nvSpPr>
            <p:cNvPr id="6" name="TextBox 5"/>
            <p:cNvSpPr txBox="1"/>
            <p:nvPr/>
          </p:nvSpPr>
          <p:spPr>
            <a:xfrm>
              <a:off x="654145" y="1643582"/>
              <a:ext cx="4025432" cy="3170099"/>
            </a:xfrm>
            <a:prstGeom prst="rect">
              <a:avLst/>
            </a:prstGeom>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wrap="square">
              <a:spAutoFit/>
            </a:bodyPr>
            <a:lstStyle/>
            <a:p>
              <a:pPr>
                <a:defRPr/>
              </a:pPr>
              <a:r>
                <a:rPr lang="en-US" sz="2000" b="1" dirty="0">
                  <a:solidFill>
                    <a:srgbClr val="7030A0"/>
                  </a:solidFill>
                  <a:latin typeface="Courier New" pitchFamily="49" charset="0"/>
                  <a:cs typeface="Courier New" pitchFamily="49" charset="0"/>
                </a:rPr>
                <a:t>#include </a:t>
              </a:r>
              <a:r>
                <a:rPr lang="en-US" sz="2000" b="1" dirty="0">
                  <a:solidFill>
                    <a:srgbClr val="006600"/>
                  </a:solidFill>
                  <a:latin typeface="Courier New" pitchFamily="49" charset="0"/>
                  <a:cs typeface="Courier New" pitchFamily="49" charset="0"/>
                </a:rPr>
                <a:t>&lt;</a:t>
              </a:r>
              <a:r>
                <a:rPr lang="en-US" sz="2000" b="1" dirty="0" err="1">
                  <a:solidFill>
                    <a:srgbClr val="006600"/>
                  </a:solidFill>
                  <a:latin typeface="Courier New" pitchFamily="49" charset="0"/>
                  <a:cs typeface="Courier New" pitchFamily="49" charset="0"/>
                </a:rPr>
                <a:t>stdio.h</a:t>
              </a:r>
              <a:r>
                <a:rPr lang="en-US" sz="2000" b="1" dirty="0">
                  <a:solidFill>
                    <a:srgbClr val="006600"/>
                  </a:solidFill>
                  <a:latin typeface="Courier New" pitchFamily="49" charset="0"/>
                  <a:cs typeface="Courier New" pitchFamily="49" charset="0"/>
                </a:rPr>
                <a:t>&gt;</a:t>
              </a:r>
            </a:p>
            <a:p>
              <a:pPr>
                <a:defRPr/>
              </a:pPr>
              <a:endParaRPr lang="en-US" sz="2000" b="1" dirty="0">
                <a:latin typeface="Courier New" pitchFamily="49" charset="0"/>
                <a:cs typeface="Courier New" pitchFamily="49" charset="0"/>
              </a:endParaRPr>
            </a:p>
            <a:p>
              <a:pPr>
                <a:defRPr/>
              </a:pPr>
              <a:r>
                <a:rPr lang="en-US" sz="2000" b="1" dirty="0" err="1">
                  <a:solidFill>
                    <a:srgbClr val="0000FF"/>
                  </a:solidFill>
                  <a:latin typeface="Courier New" pitchFamily="49" charset="0"/>
                  <a:cs typeface="Courier New" pitchFamily="49" charset="0"/>
                </a:rPr>
                <a:t>int</a:t>
              </a:r>
              <a:r>
                <a:rPr lang="en-US" sz="2000" b="1" dirty="0">
                  <a:latin typeface="Courier New" pitchFamily="49" charset="0"/>
                  <a:cs typeface="Courier New" pitchFamily="49" charset="0"/>
                </a:rPr>
                <a:t> main(</a:t>
              </a:r>
              <a:r>
                <a:rPr lang="en-US" sz="2000" b="1" dirty="0">
                  <a:solidFill>
                    <a:srgbClr val="0000FF"/>
                  </a:solidFill>
                  <a:latin typeface="Courier New" pitchFamily="49" charset="0"/>
                  <a:cs typeface="Courier New" pitchFamily="49" charset="0"/>
                </a:rPr>
                <a:t>void</a:t>
              </a:r>
              <a:r>
                <a:rPr lang="en-US" sz="2000" b="1" dirty="0">
                  <a:latin typeface="Courier New" pitchFamily="49" charset="0"/>
                  <a:cs typeface="Courier New" pitchFamily="49" charset="0"/>
                </a:rPr>
                <a:t>) </a:t>
              </a:r>
              <a:r>
                <a:rPr lang="en-US" sz="2000" b="1" dirty="0" smtClean="0">
                  <a:latin typeface="Courier New" pitchFamily="49" charset="0"/>
                  <a:cs typeface="Courier New" pitchFamily="49" charset="0"/>
                </a:rPr>
                <a:t>{</a:t>
              </a:r>
              <a:endParaRPr lang="en-US" sz="2000" b="1" dirty="0">
                <a:latin typeface="Courier New" pitchFamily="49" charset="0"/>
                <a:cs typeface="Courier New" pitchFamily="49" charset="0"/>
              </a:endParaRPr>
            </a:p>
            <a:p>
              <a:pPr>
                <a:defRPr/>
              </a:pPr>
              <a:r>
                <a:rPr lang="en-US" sz="2000" b="1" dirty="0">
                  <a:latin typeface="Courier New" pitchFamily="49" charset="0"/>
                  <a:cs typeface="Courier New" pitchFamily="49" charset="0"/>
                </a:rPr>
                <a:t> </a:t>
              </a:r>
              <a:r>
                <a:rPr lang="en-US" sz="2000" b="1" dirty="0" smtClean="0">
                  <a:latin typeface="Courier New" pitchFamily="49" charset="0"/>
                  <a:cs typeface="Courier New" pitchFamily="49" charset="0"/>
                </a:rPr>
                <a:t>   </a:t>
              </a:r>
              <a:r>
                <a:rPr lang="en-US" sz="2000" b="1" dirty="0" err="1" smtClean="0">
                  <a:solidFill>
                    <a:srgbClr val="0000FF"/>
                  </a:solidFill>
                  <a:latin typeface="Courier New" pitchFamily="49" charset="0"/>
                  <a:cs typeface="Courier New" pitchFamily="49" charset="0"/>
                </a:rPr>
                <a:t>int</a:t>
              </a:r>
              <a:r>
                <a:rPr lang="en-US" sz="2000" b="1" dirty="0" smtClean="0">
                  <a:latin typeface="Courier New" pitchFamily="49" charset="0"/>
                  <a:cs typeface="Courier New" pitchFamily="49" charset="0"/>
                </a:rPr>
                <a:t> *n;</a:t>
              </a:r>
            </a:p>
            <a:p>
              <a:pPr>
                <a:defRPr/>
              </a:pPr>
              <a:endParaRPr lang="en-US" sz="2000" b="1" dirty="0" smtClean="0">
                <a:latin typeface="Courier New" pitchFamily="49" charset="0"/>
                <a:cs typeface="Courier New" pitchFamily="49" charset="0"/>
              </a:endParaRPr>
            </a:p>
            <a:p>
              <a:pPr>
                <a:defRPr/>
              </a:pPr>
              <a:r>
                <a:rPr lang="en-US" sz="2000" b="1" dirty="0" smtClean="0">
                  <a:latin typeface="Courier New" pitchFamily="49" charset="0"/>
                  <a:cs typeface="Courier New" pitchFamily="49" charset="0"/>
                </a:rPr>
                <a:t>    *n = </a:t>
              </a:r>
              <a:r>
                <a:rPr lang="en-US" sz="2000" b="1" dirty="0" smtClean="0">
                  <a:solidFill>
                    <a:srgbClr val="006600"/>
                  </a:solidFill>
                  <a:latin typeface="Courier New" pitchFamily="49" charset="0"/>
                  <a:cs typeface="Courier New" pitchFamily="49" charset="0"/>
                </a:rPr>
                <a:t>123</a:t>
              </a:r>
              <a:r>
                <a:rPr lang="en-US" sz="2000" b="1" dirty="0" smtClean="0">
                  <a:latin typeface="Courier New" pitchFamily="49" charset="0"/>
                  <a:cs typeface="Courier New" pitchFamily="49" charset="0"/>
                </a:rPr>
                <a:t>;</a:t>
              </a:r>
            </a:p>
            <a:p>
              <a:pPr>
                <a:defRPr/>
              </a:pPr>
              <a:r>
                <a:rPr lang="en-US" sz="2000" b="1" dirty="0" smtClean="0">
                  <a:latin typeface="Courier New" pitchFamily="49" charset="0"/>
                  <a:cs typeface="Courier New" pitchFamily="49" charset="0"/>
                </a:rPr>
                <a:t>    </a:t>
              </a:r>
              <a:r>
                <a:rPr lang="en-US" sz="2000" b="1" dirty="0" err="1" smtClean="0">
                  <a:latin typeface="Courier New" pitchFamily="49" charset="0"/>
                  <a:cs typeface="Courier New" pitchFamily="49" charset="0"/>
                </a:rPr>
                <a:t>printf</a:t>
              </a:r>
              <a:r>
                <a:rPr lang="en-US" sz="2000" b="1" dirty="0" smtClean="0">
                  <a:latin typeface="Courier New" pitchFamily="49" charset="0"/>
                  <a:cs typeface="Courier New" pitchFamily="49" charset="0"/>
                </a:rPr>
                <a:t>(</a:t>
              </a:r>
              <a:r>
                <a:rPr lang="en-US" sz="2000" b="1" dirty="0" smtClean="0">
                  <a:solidFill>
                    <a:srgbClr val="006600"/>
                  </a:solidFill>
                  <a:latin typeface="Courier New" pitchFamily="49" charset="0"/>
                  <a:cs typeface="Courier New" pitchFamily="49" charset="0"/>
                </a:rPr>
                <a:t>"</a:t>
              </a:r>
              <a:r>
                <a:rPr lang="en-US" sz="2000" b="1" dirty="0" smtClean="0">
                  <a:solidFill>
                    <a:srgbClr val="FF0000"/>
                  </a:solidFill>
                  <a:latin typeface="Courier New" pitchFamily="49" charset="0"/>
                  <a:cs typeface="Courier New" pitchFamily="49" charset="0"/>
                </a:rPr>
                <a:t>%d\n</a:t>
              </a:r>
              <a:r>
                <a:rPr lang="en-US" sz="2000" b="1" dirty="0" smtClean="0">
                  <a:solidFill>
                    <a:srgbClr val="006600"/>
                  </a:solidFill>
                  <a:latin typeface="Courier New" pitchFamily="49" charset="0"/>
                  <a:cs typeface="Courier New" pitchFamily="49" charset="0"/>
                </a:rPr>
                <a:t>"</a:t>
              </a:r>
              <a:r>
                <a:rPr lang="en-US" sz="2000" b="1" dirty="0" smtClean="0">
                  <a:latin typeface="Courier New" pitchFamily="49" charset="0"/>
                  <a:cs typeface="Courier New" pitchFamily="49" charset="0"/>
                </a:rPr>
                <a:t>, *n);</a:t>
              </a:r>
            </a:p>
            <a:p>
              <a:pPr>
                <a:defRPr/>
              </a:pPr>
              <a:endParaRPr lang="en-US" sz="2000" b="1" dirty="0" smtClean="0">
                <a:latin typeface="Courier New" pitchFamily="49" charset="0"/>
                <a:cs typeface="Courier New" pitchFamily="49" charset="0"/>
              </a:endParaRPr>
            </a:p>
            <a:p>
              <a:pPr>
                <a:defRPr/>
              </a:pPr>
              <a:r>
                <a:rPr lang="en-US" sz="2000" b="1" dirty="0" smtClean="0">
                  <a:latin typeface="Courier New" pitchFamily="49" charset="0"/>
                  <a:cs typeface="Courier New" pitchFamily="49" charset="0"/>
                </a:rPr>
                <a:t>    </a:t>
              </a:r>
              <a:r>
                <a:rPr lang="en-US" sz="2000" b="1" dirty="0" smtClean="0">
                  <a:solidFill>
                    <a:srgbClr val="0000FF"/>
                  </a:solidFill>
                  <a:latin typeface="Courier New" pitchFamily="49" charset="0"/>
                  <a:cs typeface="Courier New" pitchFamily="49" charset="0"/>
                </a:rPr>
                <a:t>return</a:t>
              </a:r>
              <a:r>
                <a:rPr lang="en-US" sz="2000" b="1" dirty="0" smtClean="0">
                  <a:latin typeface="Courier New" pitchFamily="49" charset="0"/>
                  <a:cs typeface="Courier New" pitchFamily="49" charset="0"/>
                </a:rPr>
                <a:t> </a:t>
              </a:r>
              <a:r>
                <a:rPr lang="en-US" sz="2000" b="1" dirty="0" smtClean="0">
                  <a:solidFill>
                    <a:srgbClr val="006600"/>
                  </a:solidFill>
                  <a:latin typeface="Courier New" pitchFamily="49" charset="0"/>
                  <a:cs typeface="Courier New" pitchFamily="49" charset="0"/>
                </a:rPr>
                <a:t>0</a:t>
              </a:r>
              <a:r>
                <a:rPr lang="en-US" sz="2000" b="1" dirty="0" smtClean="0">
                  <a:latin typeface="Courier New" pitchFamily="49" charset="0"/>
                  <a:cs typeface="Courier New" pitchFamily="49" charset="0"/>
                </a:rPr>
                <a:t>;</a:t>
              </a:r>
              <a:endParaRPr lang="en-US" sz="2000" b="1" dirty="0">
                <a:latin typeface="Courier New" pitchFamily="49" charset="0"/>
                <a:cs typeface="Courier New" pitchFamily="49" charset="0"/>
              </a:endParaRPr>
            </a:p>
            <a:p>
              <a:pPr>
                <a:defRPr/>
              </a:pPr>
              <a:r>
                <a:rPr lang="en-US" sz="2000" b="1" dirty="0" smtClean="0">
                  <a:latin typeface="Courier New" pitchFamily="49" charset="0"/>
                  <a:cs typeface="Courier New" pitchFamily="49" charset="0"/>
                </a:rPr>
                <a:t>}</a:t>
              </a:r>
              <a:endParaRPr lang="en-US" sz="2000" b="1" dirty="0">
                <a:latin typeface="Courier New" pitchFamily="49" charset="0"/>
                <a:cs typeface="Courier New" pitchFamily="49" charset="0"/>
              </a:endParaRPr>
            </a:p>
          </p:txBody>
        </p:sp>
        <p:sp>
          <p:nvSpPr>
            <p:cNvPr id="15" name="TextBox 14"/>
            <p:cNvSpPr txBox="1">
              <a:spLocks noChangeArrowheads="1"/>
            </p:cNvSpPr>
            <p:nvPr/>
          </p:nvSpPr>
          <p:spPr bwMode="auto">
            <a:xfrm>
              <a:off x="3568937" y="1406184"/>
              <a:ext cx="4039775" cy="369332"/>
            </a:xfrm>
            <a:prstGeom prst="rect">
              <a:avLst/>
            </a:prstGeom>
            <a:solidFill>
              <a:srgbClr val="FFFF99"/>
            </a:solidFill>
            <a:ln w="9525">
              <a:solidFill>
                <a:schemeClr val="tx1"/>
              </a:solidFill>
              <a:miter lim="800000"/>
              <a:headEnd/>
              <a:tailEnd/>
            </a:ln>
          </p:spPr>
          <p:txBody>
            <a:bodyPr wrap="square">
              <a:spAutoFit/>
            </a:bodyPr>
            <a:lstStyle/>
            <a:p>
              <a:r>
                <a:rPr lang="en-US" dirty="0" smtClean="0"/>
                <a:t>Week6_Pointers_Common_Mistake.c</a:t>
              </a:r>
              <a:endParaRPr lang="en-US" dirty="0"/>
            </a:p>
          </p:txBody>
        </p:sp>
      </p:grpSp>
      <p:sp>
        <p:nvSpPr>
          <p:cNvPr id="21506" name="Rectangle 2"/>
          <p:cNvSpPr>
            <a:spLocks noGrp="1" noChangeArrowheads="1"/>
          </p:cNvSpPr>
          <p:nvPr>
            <p:ph type="title"/>
          </p:nvPr>
        </p:nvSpPr>
        <p:spPr>
          <a:xfrm>
            <a:off x="533400" y="381000"/>
            <a:ext cx="8382000" cy="838200"/>
          </a:xfrm>
        </p:spPr>
        <p:txBody>
          <a:bodyPr>
            <a:normAutofit fontScale="90000"/>
          </a:bodyPr>
          <a:lstStyle/>
          <a:p>
            <a:pPr eaLnBrk="1" hangingPunct="1"/>
            <a:r>
              <a:rPr lang="en-GB" sz="3600" dirty="0" smtClean="0"/>
              <a:t>4.2 Pointer Variables: Common Mistake</a:t>
            </a:r>
          </a:p>
        </p:txBody>
      </p:sp>
      <p:sp>
        <p:nvSpPr>
          <p:cNvPr id="21509" name="Slide Number Placeholder 7"/>
          <p:cNvSpPr>
            <a:spLocks noGrp="1"/>
          </p:cNvSpPr>
          <p:nvPr>
            <p:ph type="sldNum" sz="quarter" idx="12"/>
          </p:nvPr>
        </p:nvSpPr>
        <p:spPr/>
        <p:txBody>
          <a:bodyPr/>
          <a:lstStyle/>
          <a:p>
            <a:pPr>
              <a:defRPr/>
            </a:pPr>
            <a:r>
              <a:rPr dirty="0" smtClean="0">
                <a:cs typeface="Arial" pitchFamily="34" charset="0"/>
              </a:rPr>
              <a:t>Week6 - </a:t>
            </a:r>
            <a:fld id="{BD5A7EDF-6523-437D-97D4-13E6D4C9C7B2}" type="slidenum">
              <a:rPr smtClean="0">
                <a:cs typeface="Arial" pitchFamily="34" charset="0"/>
              </a:rPr>
              <a:pPr>
                <a:defRPr/>
              </a:pPr>
              <a:t>22</a:t>
            </a:fld>
            <a:endParaRPr dirty="0" smtClean="0">
              <a:cs typeface="Arial" pitchFamily="34" charset="0"/>
            </a:endParaRPr>
          </a:p>
        </p:txBody>
      </p:sp>
      <p:sp>
        <p:nvSpPr>
          <p:cNvPr id="31747" name="Rectangle 3"/>
          <p:cNvSpPr>
            <a:spLocks noGrp="1" noChangeArrowheads="1"/>
          </p:cNvSpPr>
          <p:nvPr>
            <p:ph sz="quarter" idx="1"/>
          </p:nvPr>
        </p:nvSpPr>
        <p:spPr>
          <a:xfrm>
            <a:off x="471488" y="1289050"/>
            <a:ext cx="7948612" cy="4921250"/>
          </a:xfrm>
        </p:spPr>
        <p:txBody>
          <a:bodyPr/>
          <a:lstStyle/>
          <a:p>
            <a:pPr marL="457200" indent="-457200" eaLnBrk="1" hangingPunct="1">
              <a:spcBef>
                <a:spcPts val="600"/>
              </a:spcBef>
              <a:buSzPct val="100000"/>
              <a:buFont typeface="Wingdings" pitchFamily="2" charset="2"/>
              <a:buChar char="§"/>
            </a:pPr>
            <a:endParaRPr lang="en-GB" dirty="0" smtClean="0"/>
          </a:p>
          <a:p>
            <a:pPr marL="457200" indent="-457200" eaLnBrk="1" hangingPunct="1">
              <a:buSzPct val="120000"/>
              <a:buFont typeface="Wingdings" pitchFamily="2" charset="2"/>
              <a:buNone/>
            </a:pPr>
            <a:endParaRPr lang="en-GB" b="1" dirty="0" smtClean="0"/>
          </a:p>
          <a:p>
            <a:pPr marL="457200" indent="-457200" eaLnBrk="1" hangingPunct="1">
              <a:buSzPct val="120000"/>
              <a:buFont typeface="Wingdings" pitchFamily="2" charset="2"/>
              <a:buNone/>
            </a:pPr>
            <a:endParaRPr lang="en-GB" b="1" dirty="0" smtClean="0"/>
          </a:p>
          <a:p>
            <a:pPr marL="457200" indent="-457200" eaLnBrk="1" hangingPunct="1">
              <a:buSzPct val="120000"/>
              <a:buFont typeface="Wingdings" pitchFamily="2" charset="2"/>
              <a:buNone/>
            </a:pPr>
            <a:endParaRPr lang="en-GB" b="1" dirty="0" smtClean="0"/>
          </a:p>
          <a:p>
            <a:pPr marL="457200" indent="-457200" eaLnBrk="1" hangingPunct="1">
              <a:buSzPct val="120000"/>
              <a:buFont typeface="Wingdings" pitchFamily="2" charset="2"/>
              <a:buNone/>
            </a:pPr>
            <a:endParaRPr lang="en-GB" b="1" dirty="0" smtClean="0"/>
          </a:p>
          <a:p>
            <a:pPr marL="457200" indent="-457200" eaLnBrk="1" hangingPunct="1">
              <a:buSzPct val="120000"/>
              <a:buFont typeface="Wingdings" pitchFamily="2" charset="2"/>
              <a:buNone/>
            </a:pPr>
            <a:endParaRPr lang="en-GB" sz="2000" dirty="0" smtClean="0"/>
          </a:p>
        </p:txBody>
      </p:sp>
      <p:sp>
        <p:nvSpPr>
          <p:cNvPr id="9" name="TextBox 8"/>
          <p:cNvSpPr txBox="1"/>
          <p:nvPr/>
        </p:nvSpPr>
        <p:spPr>
          <a:xfrm>
            <a:off x="3756945" y="2037849"/>
            <a:ext cx="4359766" cy="830997"/>
          </a:xfrm>
          <a:prstGeom prst="rect">
            <a:avLst/>
          </a:prstGeom>
          <a:solidFill>
            <a:srgbClr val="CCFFCC"/>
          </a:solidFill>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2400" dirty="0" smtClean="0"/>
              <a:t>What’s wrong with this?</a:t>
            </a:r>
          </a:p>
          <a:p>
            <a:r>
              <a:rPr lang="en-US" sz="2400" dirty="0" smtClean="0"/>
              <a:t>Can you draw the  picture?</a:t>
            </a:r>
            <a:endParaRPr lang="en-SG" sz="2400" dirty="0"/>
          </a:p>
        </p:txBody>
      </p:sp>
      <p:sp>
        <p:nvSpPr>
          <p:cNvPr id="26" name="Text Box 4"/>
          <p:cNvSpPr txBox="1">
            <a:spLocks noChangeArrowheads="1"/>
          </p:cNvSpPr>
          <p:nvPr/>
        </p:nvSpPr>
        <p:spPr bwMode="auto">
          <a:xfrm>
            <a:off x="152400" y="6400800"/>
            <a:ext cx="304800" cy="201613"/>
          </a:xfrm>
          <a:prstGeom prst="rect">
            <a:avLst/>
          </a:prstGeom>
          <a:noFill/>
          <a:ln w="9525">
            <a:noFill/>
            <a:miter lim="800000"/>
            <a:headEnd/>
            <a:tailEnd/>
          </a:ln>
        </p:spPr>
        <p:txBody>
          <a:bodyPr lIns="9144" tIns="9144" rIns="9144" bIns="9144">
            <a:spAutoFit/>
          </a:bodyPr>
          <a:lstStyle/>
          <a:p>
            <a:pPr algn="ctr">
              <a:spcBef>
                <a:spcPct val="50000"/>
              </a:spcBef>
            </a:pPr>
            <a:r>
              <a:rPr lang="en-US" sz="1200" dirty="0">
                <a:sym typeface="Wingdings 2" pitchFamily="18" charset="2"/>
              </a:rPr>
              <a:t></a:t>
            </a:r>
          </a:p>
        </p:txBody>
      </p:sp>
      <p:sp>
        <p:nvSpPr>
          <p:cNvPr id="27" name="TextBox 26"/>
          <p:cNvSpPr txBox="1"/>
          <p:nvPr/>
        </p:nvSpPr>
        <p:spPr>
          <a:xfrm>
            <a:off x="1004711" y="4624097"/>
            <a:ext cx="7913511" cy="144655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marL="360363" indent="-360363">
              <a:spcAft>
                <a:spcPts val="600"/>
              </a:spcAft>
              <a:buFont typeface="Wingdings" pitchFamily="2" charset="2"/>
              <a:buChar char="§"/>
              <a:tabLst>
                <a:tab pos="360363" algn="l"/>
              </a:tabLst>
            </a:pPr>
            <a:r>
              <a:rPr lang="en-US" sz="2000" dirty="0" smtClean="0"/>
              <a:t>Where is the pointer </a:t>
            </a:r>
            <a:r>
              <a:rPr lang="en-US" sz="2000" dirty="0" smtClean="0">
                <a:solidFill>
                  <a:srgbClr val="FF0000"/>
                </a:solidFill>
              </a:rPr>
              <a:t>n</a:t>
            </a:r>
            <a:r>
              <a:rPr lang="en-US" sz="2000" dirty="0" smtClean="0"/>
              <a:t> pointing to?</a:t>
            </a:r>
          </a:p>
          <a:p>
            <a:pPr marL="360363" indent="-360363">
              <a:spcAft>
                <a:spcPts val="600"/>
              </a:spcAft>
              <a:buFont typeface="Wingdings" pitchFamily="2" charset="2"/>
              <a:buChar char="§"/>
              <a:tabLst>
                <a:tab pos="360363" algn="l"/>
              </a:tabLst>
            </a:pPr>
            <a:r>
              <a:rPr lang="en-US" sz="2000" dirty="0" smtClean="0"/>
              <a:t>Where is the value 123 assigned to?</a:t>
            </a:r>
          </a:p>
          <a:p>
            <a:pPr marL="360363" indent="-360363">
              <a:buFont typeface="Wingdings" pitchFamily="2" charset="2"/>
              <a:buChar char="§"/>
              <a:tabLst>
                <a:tab pos="360363" algn="l"/>
              </a:tabLst>
            </a:pPr>
            <a:r>
              <a:rPr lang="en-US" sz="2000" dirty="0" smtClean="0"/>
              <a:t>Result:</a:t>
            </a:r>
          </a:p>
          <a:p>
            <a:pPr marL="360363" indent="-360363">
              <a:tabLst>
                <a:tab pos="360363" algn="l"/>
              </a:tabLst>
            </a:pPr>
            <a:endParaRPr lang="en-SG" dirty="0"/>
          </a:p>
        </p:txBody>
      </p:sp>
      <p:pic>
        <p:nvPicPr>
          <p:cNvPr id="16" name="Picture 15" descr="focus-md.png"/>
          <p:cNvPicPr>
            <a:picLocks noChangeAspect="1"/>
          </p:cNvPicPr>
          <p:nvPr/>
        </p:nvPicPr>
        <p:blipFill>
          <a:blip r:embed="rId3" cstate="print"/>
          <a:stretch>
            <a:fillRect/>
          </a:stretch>
        </p:blipFill>
        <p:spPr>
          <a:xfrm>
            <a:off x="8229649" y="375969"/>
            <a:ext cx="614548" cy="830472"/>
          </a:xfrm>
          <a:prstGeom prst="rect">
            <a:avLst/>
          </a:prstGeom>
          <a:effectLst>
            <a:outerShdw blurRad="50800" dist="38100" dir="5400000" algn="t" rotWithShape="0">
              <a:prstClr val="black">
                <a:alpha val="40000"/>
              </a:prstClr>
            </a:outerShdw>
            <a:reflection blurRad="6350" stA="50000" endA="300" endPos="55000" dir="5400000" sy="-100000" algn="bl" rotWithShape="0"/>
          </a:effectLst>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ssolv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dissolve">
                                      <p:cBhvr>
                                        <p:cTn id="12"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27"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Group 39"/>
          <p:cNvGrpSpPr/>
          <p:nvPr/>
        </p:nvGrpSpPr>
        <p:grpSpPr>
          <a:xfrm>
            <a:off x="846138" y="1129884"/>
            <a:ext cx="7490196" cy="4194214"/>
            <a:chOff x="846138" y="1129884"/>
            <a:chExt cx="7490196" cy="4194214"/>
          </a:xfrm>
        </p:grpSpPr>
        <p:sp>
          <p:nvSpPr>
            <p:cNvPr id="7" name="TextBox 6"/>
            <p:cNvSpPr txBox="1"/>
            <p:nvPr/>
          </p:nvSpPr>
          <p:spPr>
            <a:xfrm>
              <a:off x="846138" y="1292225"/>
              <a:ext cx="7005637" cy="4031873"/>
            </a:xfrm>
            <a:prstGeom prst="rect">
              <a:avLst/>
            </a:prstGeom>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a:spAutoFit/>
            </a:bodyPr>
            <a:lstStyle/>
            <a:p>
              <a:pPr>
                <a:defRPr/>
              </a:pPr>
              <a:r>
                <a:rPr lang="en-US" sz="1600" b="1" dirty="0" smtClean="0">
                  <a:solidFill>
                    <a:srgbClr val="7030A0"/>
                  </a:solidFill>
                  <a:latin typeface="Courier New" pitchFamily="49" charset="0"/>
                  <a:cs typeface="Courier New" pitchFamily="49" charset="0"/>
                </a:rPr>
                <a:t>#</a:t>
              </a:r>
              <a:r>
                <a:rPr lang="en-US" sz="1600" b="1" dirty="0">
                  <a:solidFill>
                    <a:srgbClr val="7030A0"/>
                  </a:solidFill>
                  <a:latin typeface="Courier New" pitchFamily="49" charset="0"/>
                  <a:cs typeface="Courier New" pitchFamily="49" charset="0"/>
                </a:rPr>
                <a:t>include </a:t>
              </a:r>
              <a:r>
                <a:rPr lang="en-US" sz="1600" b="1" dirty="0">
                  <a:solidFill>
                    <a:srgbClr val="006600"/>
                  </a:solidFill>
                  <a:latin typeface="Courier New" pitchFamily="49" charset="0"/>
                  <a:cs typeface="Courier New" pitchFamily="49" charset="0"/>
                </a:rPr>
                <a:t>&lt;</a:t>
              </a:r>
              <a:r>
                <a:rPr lang="en-US" sz="1600" b="1" dirty="0" err="1">
                  <a:solidFill>
                    <a:srgbClr val="006600"/>
                  </a:solidFill>
                  <a:latin typeface="Courier New" pitchFamily="49" charset="0"/>
                  <a:cs typeface="Courier New" pitchFamily="49" charset="0"/>
                </a:rPr>
                <a:t>stdio.h</a:t>
              </a:r>
              <a:r>
                <a:rPr lang="en-US" sz="1600" b="1" dirty="0">
                  <a:solidFill>
                    <a:srgbClr val="006600"/>
                  </a:solidFill>
                  <a:latin typeface="Courier New" pitchFamily="49" charset="0"/>
                  <a:cs typeface="Courier New" pitchFamily="49" charset="0"/>
                </a:rPr>
                <a:t>&gt;</a:t>
              </a:r>
            </a:p>
            <a:p>
              <a:pPr>
                <a:defRPr/>
              </a:pPr>
              <a:r>
                <a:rPr lang="en-US" sz="1600" b="1" dirty="0">
                  <a:solidFill>
                    <a:srgbClr val="0000FF"/>
                  </a:solidFill>
                  <a:latin typeface="Courier New" pitchFamily="49" charset="0"/>
                  <a:cs typeface="Courier New" pitchFamily="49" charset="0"/>
                </a:rPr>
                <a:t>void</a:t>
              </a:r>
              <a:r>
                <a:rPr lang="en-US" sz="1600" b="1" dirty="0">
                  <a:latin typeface="Courier New" pitchFamily="49" charset="0"/>
                  <a:cs typeface="Courier New" pitchFamily="49" charset="0"/>
                </a:rPr>
                <a:t> f(</a:t>
              </a:r>
              <a:r>
                <a:rPr lang="en-US" sz="1600" b="1" dirty="0" err="1">
                  <a:solidFill>
                    <a:srgbClr val="0000FF"/>
                  </a:solidFill>
                  <a:latin typeface="Courier New" pitchFamily="49" charset="0"/>
                  <a:cs typeface="Courier New" pitchFamily="49" charset="0"/>
                </a:rPr>
                <a:t>int</a:t>
              </a:r>
              <a:r>
                <a:rPr lang="en-US" sz="1600" b="1" dirty="0">
                  <a:latin typeface="Courier New" pitchFamily="49" charset="0"/>
                  <a:cs typeface="Courier New" pitchFamily="49" charset="0"/>
                </a:rPr>
                <a:t>, </a:t>
              </a:r>
              <a:r>
                <a:rPr lang="en-US" sz="1600" b="1" dirty="0" err="1">
                  <a:solidFill>
                    <a:srgbClr val="0000FF"/>
                  </a:solidFill>
                  <a:latin typeface="Courier New" pitchFamily="49" charset="0"/>
                  <a:cs typeface="Courier New" pitchFamily="49" charset="0"/>
                </a:rPr>
                <a:t>int</a:t>
              </a:r>
              <a:r>
                <a:rPr lang="en-US" sz="1600" b="1" dirty="0">
                  <a:solidFill>
                    <a:schemeClr val="tx1"/>
                  </a:solidFill>
                  <a:latin typeface="Courier New" pitchFamily="49" charset="0"/>
                  <a:cs typeface="Courier New" pitchFamily="49" charset="0"/>
                </a:rPr>
                <a:t>,</a:t>
              </a:r>
              <a:r>
                <a:rPr lang="en-US" sz="1600" b="1" dirty="0">
                  <a:latin typeface="Courier New" pitchFamily="49" charset="0"/>
                  <a:cs typeface="Courier New" pitchFamily="49" charset="0"/>
                </a:rPr>
                <a:t> </a:t>
              </a:r>
              <a:r>
                <a:rPr lang="en-US" sz="1600" b="1" dirty="0" err="1">
                  <a:solidFill>
                    <a:srgbClr val="0000FF"/>
                  </a:solidFill>
                  <a:latin typeface="Courier New" pitchFamily="49" charset="0"/>
                  <a:cs typeface="Courier New" pitchFamily="49" charset="0"/>
                </a:rPr>
                <a:t>int</a:t>
              </a:r>
              <a:r>
                <a:rPr lang="en-US" sz="1600" b="1" dirty="0">
                  <a:latin typeface="Courier New" pitchFamily="49" charset="0"/>
                  <a:cs typeface="Courier New" pitchFamily="49" charset="0"/>
                </a:rPr>
                <a:t>);</a:t>
              </a:r>
            </a:p>
            <a:p>
              <a:pPr>
                <a:defRPr/>
              </a:pPr>
              <a:endParaRPr lang="en-US" sz="1600" b="1" dirty="0">
                <a:latin typeface="Courier New" pitchFamily="49" charset="0"/>
                <a:cs typeface="Courier New" pitchFamily="49" charset="0"/>
              </a:endParaRPr>
            </a:p>
            <a:p>
              <a:pPr>
                <a:defRPr/>
              </a:pPr>
              <a:r>
                <a:rPr lang="en-US" sz="1600" b="1" dirty="0" err="1">
                  <a:solidFill>
                    <a:srgbClr val="0000FF"/>
                  </a:solidFill>
                  <a:latin typeface="Courier New" pitchFamily="49" charset="0"/>
                  <a:cs typeface="Courier New" pitchFamily="49" charset="0"/>
                </a:rPr>
                <a:t>int</a:t>
              </a:r>
              <a:r>
                <a:rPr lang="en-US" sz="1600" b="1" dirty="0">
                  <a:latin typeface="Courier New" pitchFamily="49" charset="0"/>
                  <a:cs typeface="Courier New" pitchFamily="49" charset="0"/>
                </a:rPr>
                <a:t> main(</a:t>
              </a:r>
              <a:r>
                <a:rPr lang="en-US" sz="1600" b="1" dirty="0">
                  <a:solidFill>
                    <a:srgbClr val="0000FF"/>
                  </a:solidFill>
                  <a:latin typeface="Courier New" pitchFamily="49" charset="0"/>
                  <a:cs typeface="Courier New" pitchFamily="49" charset="0"/>
                </a:rPr>
                <a:t>void</a:t>
              </a:r>
              <a:r>
                <a:rPr lang="en-US" sz="1600" b="1" dirty="0">
                  <a:latin typeface="Courier New" pitchFamily="49" charset="0"/>
                  <a:cs typeface="Courier New" pitchFamily="49" charset="0"/>
                </a:rPr>
                <a:t>) {</a:t>
              </a:r>
            </a:p>
            <a:p>
              <a:pPr>
                <a:defRPr/>
              </a:pPr>
              <a:r>
                <a:rPr lang="en-US" sz="1600" b="1" dirty="0">
                  <a:latin typeface="Courier New" pitchFamily="49" charset="0"/>
                  <a:cs typeface="Courier New" pitchFamily="49" charset="0"/>
                </a:rPr>
                <a:t>    </a:t>
              </a:r>
              <a:r>
                <a:rPr lang="en-US" sz="1600" b="1" dirty="0" err="1">
                  <a:solidFill>
                    <a:srgbClr val="0000FF"/>
                  </a:solidFill>
                  <a:latin typeface="Courier New" pitchFamily="49" charset="0"/>
                  <a:cs typeface="Courier New" pitchFamily="49" charset="0"/>
                </a:rPr>
                <a:t>int</a:t>
              </a:r>
              <a:r>
                <a:rPr lang="en-US" sz="1600" b="1" dirty="0">
                  <a:latin typeface="Courier New" pitchFamily="49" charset="0"/>
                  <a:cs typeface="Courier New" pitchFamily="49" charset="0"/>
                </a:rPr>
                <a:t> a = </a:t>
              </a:r>
              <a:r>
                <a:rPr lang="en-US" sz="1600" b="1" dirty="0">
                  <a:solidFill>
                    <a:srgbClr val="006600"/>
                  </a:solidFill>
                  <a:latin typeface="Courier New" pitchFamily="49" charset="0"/>
                  <a:cs typeface="Courier New" pitchFamily="49" charset="0"/>
                </a:rPr>
                <a:t>9</a:t>
              </a:r>
              <a:r>
                <a:rPr lang="en-US" sz="1600" b="1" dirty="0">
                  <a:latin typeface="Courier New" pitchFamily="49" charset="0"/>
                  <a:cs typeface="Courier New" pitchFamily="49" charset="0"/>
                </a:rPr>
                <a:t>, b = </a:t>
              </a:r>
              <a:r>
                <a:rPr lang="en-US" sz="1600" b="1" dirty="0">
                  <a:solidFill>
                    <a:srgbClr val="006600"/>
                  </a:solidFill>
                  <a:latin typeface="Courier New" pitchFamily="49" charset="0"/>
                  <a:cs typeface="Courier New" pitchFamily="49" charset="0"/>
                </a:rPr>
                <a:t>-2</a:t>
              </a:r>
              <a:r>
                <a:rPr lang="en-US" sz="1600" b="1" dirty="0">
                  <a:latin typeface="Courier New" pitchFamily="49" charset="0"/>
                  <a:cs typeface="Courier New" pitchFamily="49" charset="0"/>
                </a:rPr>
                <a:t>, c = </a:t>
              </a:r>
              <a:r>
                <a:rPr lang="en-US" sz="1600" b="1" dirty="0">
                  <a:solidFill>
                    <a:srgbClr val="006600"/>
                  </a:solidFill>
                  <a:latin typeface="Courier New" pitchFamily="49" charset="0"/>
                  <a:cs typeface="Courier New" pitchFamily="49" charset="0"/>
                </a:rPr>
                <a:t>5</a:t>
              </a:r>
              <a:r>
                <a:rPr lang="en-US" sz="1600" b="1" dirty="0">
                  <a:latin typeface="Courier New" pitchFamily="49" charset="0"/>
                  <a:cs typeface="Courier New" pitchFamily="49" charset="0"/>
                </a:rPr>
                <a:t>;</a:t>
              </a:r>
            </a:p>
            <a:p>
              <a:pPr>
                <a:defRPr/>
              </a:pPr>
              <a:r>
                <a:rPr lang="en-US" sz="1600" b="1" dirty="0">
                  <a:latin typeface="Courier New" pitchFamily="49" charset="0"/>
                  <a:cs typeface="Courier New" pitchFamily="49" charset="0"/>
                </a:rPr>
                <a:t>    f(a, b, c);</a:t>
              </a:r>
            </a:p>
            <a:p>
              <a:pPr>
                <a:defRPr/>
              </a:pPr>
              <a:r>
                <a:rPr lang="en-US" sz="1600" b="1" dirty="0">
                  <a:latin typeface="Courier New" pitchFamily="49" charset="0"/>
                  <a:cs typeface="Courier New" pitchFamily="49" charset="0"/>
                </a:rPr>
                <a:t>    </a:t>
              </a:r>
              <a:r>
                <a:rPr lang="en-US" sz="1600" b="1" dirty="0" err="1">
                  <a:latin typeface="Courier New" pitchFamily="49" charset="0"/>
                  <a:cs typeface="Courier New" pitchFamily="49" charset="0"/>
                </a:rPr>
                <a:t>printf</a:t>
              </a:r>
              <a:r>
                <a:rPr lang="en-US" sz="1600" b="1" dirty="0">
                  <a:latin typeface="Courier New" pitchFamily="49" charset="0"/>
                  <a:cs typeface="Courier New" pitchFamily="49" charset="0"/>
                </a:rPr>
                <a:t>(</a:t>
              </a:r>
              <a:r>
                <a:rPr lang="en-US" sz="1600" b="1" dirty="0">
                  <a:solidFill>
                    <a:srgbClr val="006600"/>
                  </a:solidFill>
                  <a:latin typeface="Courier New" pitchFamily="49" charset="0"/>
                  <a:cs typeface="Courier New" pitchFamily="49" charset="0"/>
                </a:rPr>
                <a:t>"a = </a:t>
              </a:r>
              <a:r>
                <a:rPr lang="en-US" sz="1600" b="1" dirty="0">
                  <a:solidFill>
                    <a:srgbClr val="FF0000"/>
                  </a:solidFill>
                  <a:latin typeface="Courier New" pitchFamily="49" charset="0"/>
                  <a:cs typeface="Courier New" pitchFamily="49" charset="0"/>
                </a:rPr>
                <a:t>%d</a:t>
              </a:r>
              <a:r>
                <a:rPr lang="en-US" sz="1600" b="1" dirty="0">
                  <a:solidFill>
                    <a:srgbClr val="006600"/>
                  </a:solidFill>
                  <a:latin typeface="Courier New" pitchFamily="49" charset="0"/>
                  <a:cs typeface="Courier New" pitchFamily="49" charset="0"/>
                </a:rPr>
                <a:t>, b = </a:t>
              </a:r>
              <a:r>
                <a:rPr lang="en-US" sz="1600" b="1" dirty="0">
                  <a:solidFill>
                    <a:srgbClr val="FF0000"/>
                  </a:solidFill>
                  <a:latin typeface="Courier New" pitchFamily="49" charset="0"/>
                  <a:cs typeface="Courier New" pitchFamily="49" charset="0"/>
                </a:rPr>
                <a:t>%d</a:t>
              </a:r>
              <a:r>
                <a:rPr lang="en-US" sz="1600" b="1" dirty="0">
                  <a:solidFill>
                    <a:srgbClr val="006600"/>
                  </a:solidFill>
                  <a:latin typeface="Courier New" pitchFamily="49" charset="0"/>
                  <a:cs typeface="Courier New" pitchFamily="49" charset="0"/>
                </a:rPr>
                <a:t>, c = </a:t>
              </a:r>
              <a:r>
                <a:rPr lang="en-US" sz="1600" b="1" dirty="0">
                  <a:solidFill>
                    <a:srgbClr val="FF0000"/>
                  </a:solidFill>
                  <a:latin typeface="Courier New" pitchFamily="49" charset="0"/>
                  <a:cs typeface="Courier New" pitchFamily="49" charset="0"/>
                </a:rPr>
                <a:t>%d\n</a:t>
              </a:r>
              <a:r>
                <a:rPr lang="en-US" sz="1600" b="1" dirty="0">
                  <a:solidFill>
                    <a:srgbClr val="006600"/>
                  </a:solidFill>
                  <a:latin typeface="Courier New" pitchFamily="49" charset="0"/>
                  <a:cs typeface="Courier New" pitchFamily="49" charset="0"/>
                </a:rPr>
                <a:t>"</a:t>
              </a:r>
              <a:r>
                <a:rPr lang="en-US" sz="1600" b="1" dirty="0">
                  <a:latin typeface="Courier New" pitchFamily="49" charset="0"/>
                  <a:cs typeface="Courier New" pitchFamily="49" charset="0"/>
                </a:rPr>
                <a:t>, a, b, c);</a:t>
              </a:r>
            </a:p>
            <a:p>
              <a:pPr>
                <a:defRPr/>
              </a:pPr>
              <a:r>
                <a:rPr lang="en-US" sz="1600" b="1" dirty="0">
                  <a:latin typeface="Courier New" pitchFamily="49" charset="0"/>
                  <a:cs typeface="Courier New" pitchFamily="49" charset="0"/>
                </a:rPr>
                <a:t>    </a:t>
              </a:r>
              <a:r>
                <a:rPr lang="en-US" sz="1600" b="1" dirty="0">
                  <a:solidFill>
                    <a:srgbClr val="0000FF"/>
                  </a:solidFill>
                  <a:latin typeface="Courier New" pitchFamily="49" charset="0"/>
                  <a:cs typeface="Courier New" pitchFamily="49" charset="0"/>
                </a:rPr>
                <a:t>return</a:t>
              </a:r>
              <a:r>
                <a:rPr lang="en-US" sz="1600" b="1" dirty="0">
                  <a:latin typeface="Courier New" pitchFamily="49" charset="0"/>
                  <a:cs typeface="Courier New" pitchFamily="49" charset="0"/>
                </a:rPr>
                <a:t> 0;</a:t>
              </a:r>
            </a:p>
            <a:p>
              <a:pPr>
                <a:defRPr/>
              </a:pPr>
              <a:r>
                <a:rPr lang="en-US" sz="1600" b="1" dirty="0">
                  <a:latin typeface="Courier New" pitchFamily="49" charset="0"/>
                  <a:cs typeface="Courier New" pitchFamily="49" charset="0"/>
                </a:rPr>
                <a:t>}</a:t>
              </a:r>
            </a:p>
            <a:p>
              <a:pPr>
                <a:defRPr/>
              </a:pPr>
              <a:endParaRPr lang="en-US" sz="1600" b="1" dirty="0">
                <a:latin typeface="Courier New" pitchFamily="49" charset="0"/>
                <a:cs typeface="Courier New" pitchFamily="49" charset="0"/>
              </a:endParaRPr>
            </a:p>
            <a:p>
              <a:pPr>
                <a:defRPr/>
              </a:pPr>
              <a:r>
                <a:rPr lang="en-US" sz="1600" b="1" dirty="0">
                  <a:solidFill>
                    <a:srgbClr val="0000FF"/>
                  </a:solidFill>
                  <a:latin typeface="Courier New" pitchFamily="49" charset="0"/>
                  <a:cs typeface="Courier New" pitchFamily="49" charset="0"/>
                </a:rPr>
                <a:t>void</a:t>
              </a:r>
              <a:r>
                <a:rPr lang="en-US" sz="1600" b="1" dirty="0">
                  <a:latin typeface="Courier New" pitchFamily="49" charset="0"/>
                  <a:cs typeface="Courier New" pitchFamily="49" charset="0"/>
                </a:rPr>
                <a:t> f(</a:t>
              </a:r>
              <a:r>
                <a:rPr lang="en-US" sz="1600" b="1" dirty="0" err="1">
                  <a:solidFill>
                    <a:srgbClr val="0000FF"/>
                  </a:solidFill>
                  <a:latin typeface="Courier New" pitchFamily="49" charset="0"/>
                  <a:cs typeface="Courier New" pitchFamily="49" charset="0"/>
                </a:rPr>
                <a:t>int</a:t>
              </a:r>
              <a:r>
                <a:rPr lang="en-US" sz="1600" b="1" dirty="0">
                  <a:latin typeface="Courier New" pitchFamily="49" charset="0"/>
                  <a:cs typeface="Courier New" pitchFamily="49" charset="0"/>
                </a:rPr>
                <a:t> x, </a:t>
              </a:r>
              <a:r>
                <a:rPr lang="en-US" sz="1600" b="1" dirty="0" err="1">
                  <a:solidFill>
                    <a:srgbClr val="0000FF"/>
                  </a:solidFill>
                  <a:latin typeface="Courier New" pitchFamily="49" charset="0"/>
                  <a:cs typeface="Courier New" pitchFamily="49" charset="0"/>
                </a:rPr>
                <a:t>int</a:t>
              </a:r>
              <a:r>
                <a:rPr lang="en-US" sz="1600" b="1" dirty="0">
                  <a:latin typeface="Courier New" pitchFamily="49" charset="0"/>
                  <a:cs typeface="Courier New" pitchFamily="49" charset="0"/>
                </a:rPr>
                <a:t> y, </a:t>
              </a:r>
              <a:r>
                <a:rPr lang="en-US" sz="1600" b="1" dirty="0" err="1">
                  <a:solidFill>
                    <a:srgbClr val="0000FF"/>
                  </a:solidFill>
                  <a:latin typeface="Courier New" pitchFamily="49" charset="0"/>
                  <a:cs typeface="Courier New" pitchFamily="49" charset="0"/>
                </a:rPr>
                <a:t>int</a:t>
              </a:r>
              <a:r>
                <a:rPr lang="en-US" sz="1600" b="1" dirty="0">
                  <a:latin typeface="Courier New" pitchFamily="49" charset="0"/>
                  <a:cs typeface="Courier New" pitchFamily="49" charset="0"/>
                </a:rPr>
                <a:t> z</a:t>
              </a:r>
              <a:r>
                <a:rPr lang="en-US" sz="1600" b="1" dirty="0" smtClean="0">
                  <a:latin typeface="Courier New" pitchFamily="49" charset="0"/>
                  <a:cs typeface="Courier New" pitchFamily="49" charset="0"/>
                </a:rPr>
                <a:t>) {</a:t>
              </a:r>
              <a:endParaRPr lang="en-US" sz="1600" b="1" dirty="0">
                <a:latin typeface="Courier New" pitchFamily="49" charset="0"/>
                <a:cs typeface="Courier New" pitchFamily="49" charset="0"/>
              </a:endParaRPr>
            </a:p>
            <a:p>
              <a:pPr>
                <a:defRPr/>
              </a:pPr>
              <a:r>
                <a:rPr lang="en-US" sz="1600" b="1" dirty="0">
                  <a:latin typeface="Courier New" pitchFamily="49" charset="0"/>
                  <a:cs typeface="Courier New" pitchFamily="49" charset="0"/>
                </a:rPr>
                <a:t>    x = </a:t>
              </a:r>
              <a:r>
                <a:rPr lang="en-US" sz="1600" b="1" dirty="0">
                  <a:solidFill>
                    <a:srgbClr val="006600"/>
                  </a:solidFill>
                  <a:latin typeface="Courier New" pitchFamily="49" charset="0"/>
                  <a:cs typeface="Courier New" pitchFamily="49" charset="0"/>
                </a:rPr>
                <a:t>3</a:t>
              </a:r>
              <a:r>
                <a:rPr lang="en-US" sz="1600" b="1" dirty="0">
                  <a:latin typeface="Courier New" pitchFamily="49" charset="0"/>
                  <a:cs typeface="Courier New" pitchFamily="49" charset="0"/>
                </a:rPr>
                <a:t> + y;</a:t>
              </a:r>
            </a:p>
            <a:p>
              <a:pPr>
                <a:defRPr/>
              </a:pPr>
              <a:r>
                <a:rPr lang="en-US" sz="1600" b="1" dirty="0">
                  <a:latin typeface="Courier New" pitchFamily="49" charset="0"/>
                  <a:cs typeface="Courier New" pitchFamily="49" charset="0"/>
                </a:rPr>
                <a:t>    y = </a:t>
              </a:r>
              <a:r>
                <a:rPr lang="en-US" sz="1600" b="1" dirty="0">
                  <a:solidFill>
                    <a:srgbClr val="006600"/>
                  </a:solidFill>
                  <a:latin typeface="Courier New" pitchFamily="49" charset="0"/>
                  <a:cs typeface="Courier New" pitchFamily="49" charset="0"/>
                </a:rPr>
                <a:t>10</a:t>
              </a:r>
              <a:r>
                <a:rPr lang="en-US" sz="1600" b="1" dirty="0">
                  <a:latin typeface="Courier New" pitchFamily="49" charset="0"/>
                  <a:cs typeface="Courier New" pitchFamily="49" charset="0"/>
                </a:rPr>
                <a:t> * x;</a:t>
              </a:r>
            </a:p>
            <a:p>
              <a:pPr>
                <a:defRPr/>
              </a:pPr>
              <a:r>
                <a:rPr lang="en-US" sz="1600" b="1" dirty="0">
                  <a:latin typeface="Courier New" pitchFamily="49" charset="0"/>
                  <a:cs typeface="Courier New" pitchFamily="49" charset="0"/>
                </a:rPr>
                <a:t>    z = x + y + z;</a:t>
              </a:r>
            </a:p>
            <a:p>
              <a:pPr>
                <a:defRPr/>
              </a:pPr>
              <a:r>
                <a:rPr lang="en-US" sz="1600" b="1" dirty="0">
                  <a:latin typeface="Courier New" pitchFamily="49" charset="0"/>
                  <a:cs typeface="Courier New" pitchFamily="49" charset="0"/>
                </a:rPr>
                <a:t>    </a:t>
              </a:r>
              <a:r>
                <a:rPr lang="en-US" sz="1600" b="1" dirty="0" err="1">
                  <a:latin typeface="Courier New" pitchFamily="49" charset="0"/>
                  <a:cs typeface="Courier New" pitchFamily="49" charset="0"/>
                </a:rPr>
                <a:t>printf</a:t>
              </a:r>
              <a:r>
                <a:rPr lang="en-US" sz="1600" b="1" dirty="0">
                  <a:latin typeface="Courier New" pitchFamily="49" charset="0"/>
                  <a:cs typeface="Courier New" pitchFamily="49" charset="0"/>
                </a:rPr>
                <a:t>(</a:t>
              </a:r>
              <a:r>
                <a:rPr lang="en-US" sz="1600" b="1" dirty="0">
                  <a:solidFill>
                    <a:srgbClr val="006600"/>
                  </a:solidFill>
                  <a:latin typeface="Courier New" pitchFamily="49" charset="0"/>
                  <a:cs typeface="Courier New" pitchFamily="49" charset="0"/>
                </a:rPr>
                <a:t>"x = </a:t>
              </a:r>
              <a:r>
                <a:rPr lang="en-US" sz="1600" b="1" dirty="0">
                  <a:solidFill>
                    <a:srgbClr val="FF0000"/>
                  </a:solidFill>
                  <a:latin typeface="Courier New" pitchFamily="49" charset="0"/>
                  <a:cs typeface="Courier New" pitchFamily="49" charset="0"/>
                </a:rPr>
                <a:t>%d</a:t>
              </a:r>
              <a:r>
                <a:rPr lang="en-US" sz="1600" b="1" dirty="0">
                  <a:solidFill>
                    <a:srgbClr val="006600"/>
                  </a:solidFill>
                  <a:latin typeface="Courier New" pitchFamily="49" charset="0"/>
                  <a:cs typeface="Courier New" pitchFamily="49" charset="0"/>
                </a:rPr>
                <a:t>, y = </a:t>
              </a:r>
              <a:r>
                <a:rPr lang="en-US" sz="1600" b="1" dirty="0">
                  <a:solidFill>
                    <a:srgbClr val="FF0000"/>
                  </a:solidFill>
                  <a:latin typeface="Courier New" pitchFamily="49" charset="0"/>
                  <a:cs typeface="Courier New" pitchFamily="49" charset="0"/>
                </a:rPr>
                <a:t>%d</a:t>
              </a:r>
              <a:r>
                <a:rPr lang="en-US" sz="1600" b="1" dirty="0">
                  <a:solidFill>
                    <a:srgbClr val="006600"/>
                  </a:solidFill>
                  <a:latin typeface="Courier New" pitchFamily="49" charset="0"/>
                  <a:cs typeface="Courier New" pitchFamily="49" charset="0"/>
                </a:rPr>
                <a:t>, z = </a:t>
              </a:r>
              <a:r>
                <a:rPr lang="en-US" sz="1600" b="1" dirty="0">
                  <a:solidFill>
                    <a:srgbClr val="FF0000"/>
                  </a:solidFill>
                  <a:latin typeface="Courier New" pitchFamily="49" charset="0"/>
                  <a:cs typeface="Courier New" pitchFamily="49" charset="0"/>
                </a:rPr>
                <a:t>%d\n</a:t>
              </a:r>
              <a:r>
                <a:rPr lang="en-US" sz="1600" b="1" dirty="0">
                  <a:solidFill>
                    <a:srgbClr val="006600"/>
                  </a:solidFill>
                  <a:latin typeface="Courier New" pitchFamily="49" charset="0"/>
                  <a:cs typeface="Courier New" pitchFamily="49" charset="0"/>
                </a:rPr>
                <a:t>"</a:t>
              </a:r>
              <a:r>
                <a:rPr lang="en-US" sz="1600" b="1" dirty="0">
                  <a:latin typeface="Courier New" pitchFamily="49" charset="0"/>
                  <a:cs typeface="Courier New" pitchFamily="49" charset="0"/>
                </a:rPr>
                <a:t>, x, y, z);</a:t>
              </a:r>
            </a:p>
            <a:p>
              <a:pPr>
                <a:defRPr/>
              </a:pPr>
              <a:r>
                <a:rPr lang="en-US" sz="1600" b="1" dirty="0">
                  <a:latin typeface="Courier New" pitchFamily="49" charset="0"/>
                  <a:cs typeface="Courier New" pitchFamily="49" charset="0"/>
                </a:rPr>
                <a:t>} </a:t>
              </a:r>
            </a:p>
          </p:txBody>
        </p:sp>
        <p:sp>
          <p:nvSpPr>
            <p:cNvPr id="38" name="TextBox 37"/>
            <p:cNvSpPr txBox="1">
              <a:spLocks noChangeArrowheads="1"/>
            </p:cNvSpPr>
            <p:nvPr/>
          </p:nvSpPr>
          <p:spPr bwMode="auto">
            <a:xfrm>
              <a:off x="5501263" y="1129884"/>
              <a:ext cx="2835071" cy="369332"/>
            </a:xfrm>
            <a:prstGeom prst="rect">
              <a:avLst/>
            </a:prstGeom>
            <a:solidFill>
              <a:srgbClr val="FFFF99"/>
            </a:solidFill>
            <a:ln w="9525">
              <a:solidFill>
                <a:schemeClr val="tx1"/>
              </a:solidFill>
              <a:miter lim="800000"/>
              <a:headEnd/>
              <a:tailEnd/>
            </a:ln>
          </p:spPr>
          <p:txBody>
            <a:bodyPr wrap="none">
              <a:spAutoFit/>
            </a:bodyPr>
            <a:lstStyle/>
            <a:p>
              <a:r>
                <a:rPr lang="en-US" dirty="0" smtClean="0"/>
                <a:t>Week6_FunctionDemo1.c</a:t>
              </a:r>
              <a:endParaRPr lang="en-US" dirty="0"/>
            </a:p>
          </p:txBody>
        </p:sp>
      </p:grpSp>
      <p:sp>
        <p:nvSpPr>
          <p:cNvPr id="22530" name="Rectangle 2"/>
          <p:cNvSpPr>
            <a:spLocks noGrp="1" noChangeArrowheads="1"/>
          </p:cNvSpPr>
          <p:nvPr>
            <p:ph type="title"/>
          </p:nvPr>
        </p:nvSpPr>
        <p:spPr>
          <a:xfrm>
            <a:off x="533400" y="381000"/>
            <a:ext cx="8382000" cy="838200"/>
          </a:xfrm>
        </p:spPr>
        <p:txBody>
          <a:bodyPr/>
          <a:lstStyle/>
          <a:p>
            <a:pPr eaLnBrk="1" hangingPunct="1"/>
            <a:r>
              <a:rPr lang="en-GB" dirty="0" smtClean="0"/>
              <a:t>5. Functions with &amp;parameters (1/6)</a:t>
            </a:r>
            <a:endParaRPr lang="en-GB" sz="4800" dirty="0" smtClean="0"/>
          </a:p>
        </p:txBody>
      </p:sp>
      <p:sp>
        <p:nvSpPr>
          <p:cNvPr id="19460" name="Slide Number Placeholder 7"/>
          <p:cNvSpPr>
            <a:spLocks noGrp="1"/>
          </p:cNvSpPr>
          <p:nvPr>
            <p:ph type="sldNum" sz="quarter" idx="12"/>
          </p:nvPr>
        </p:nvSpPr>
        <p:spPr/>
        <p:txBody>
          <a:bodyPr/>
          <a:lstStyle/>
          <a:p>
            <a:pPr>
              <a:defRPr/>
            </a:pPr>
            <a:r>
              <a:rPr dirty="0" smtClean="0">
                <a:cs typeface="Arial" pitchFamily="34" charset="0"/>
              </a:rPr>
              <a:t>Week6 - </a:t>
            </a:r>
            <a:fld id="{50E490A6-DDB8-4F88-8D58-A77B12509AF8}" type="slidenum">
              <a:rPr smtClean="0">
                <a:cs typeface="Arial" pitchFamily="34" charset="0"/>
              </a:rPr>
              <a:pPr>
                <a:defRPr/>
              </a:pPr>
              <a:t>23</a:t>
            </a:fld>
            <a:endParaRPr dirty="0" smtClean="0">
              <a:cs typeface="Arial" pitchFamily="34" charset="0"/>
            </a:endParaRPr>
          </a:p>
        </p:txBody>
      </p:sp>
      <p:sp>
        <p:nvSpPr>
          <p:cNvPr id="22535" name="Text Box 4"/>
          <p:cNvSpPr txBox="1">
            <a:spLocks noChangeArrowheads="1"/>
          </p:cNvSpPr>
          <p:nvPr/>
        </p:nvSpPr>
        <p:spPr bwMode="auto">
          <a:xfrm>
            <a:off x="152400" y="6400800"/>
            <a:ext cx="304800" cy="201613"/>
          </a:xfrm>
          <a:prstGeom prst="rect">
            <a:avLst/>
          </a:prstGeom>
          <a:noFill/>
          <a:ln w="9525">
            <a:noFill/>
            <a:miter lim="800000"/>
            <a:headEnd/>
            <a:tailEnd/>
          </a:ln>
        </p:spPr>
        <p:txBody>
          <a:bodyPr lIns="9144" tIns="9144" rIns="9144" bIns="9144">
            <a:spAutoFit/>
          </a:bodyPr>
          <a:lstStyle/>
          <a:p>
            <a:pPr algn="ctr">
              <a:spcBef>
                <a:spcPct val="50000"/>
              </a:spcBef>
            </a:pPr>
            <a:r>
              <a:rPr lang="en-US" sz="1200" dirty="0">
                <a:sym typeface="Wingdings 2" pitchFamily="18" charset="2"/>
              </a:rPr>
              <a:t></a:t>
            </a:r>
          </a:p>
        </p:txBody>
      </p:sp>
      <p:grpSp>
        <p:nvGrpSpPr>
          <p:cNvPr id="2" name="Group 27"/>
          <p:cNvGrpSpPr>
            <a:grpSpLocks/>
          </p:cNvGrpSpPr>
          <p:nvPr/>
        </p:nvGrpSpPr>
        <p:grpSpPr bwMode="auto">
          <a:xfrm>
            <a:off x="4708525" y="2008188"/>
            <a:ext cx="2879725" cy="511175"/>
            <a:chOff x="4708632" y="2007475"/>
            <a:chExt cx="2879836" cy="511975"/>
          </a:xfrm>
        </p:grpSpPr>
        <p:grpSp>
          <p:nvGrpSpPr>
            <p:cNvPr id="22556" name="Group 13"/>
            <p:cNvGrpSpPr>
              <a:grpSpLocks/>
            </p:cNvGrpSpPr>
            <p:nvPr/>
          </p:nvGrpSpPr>
          <p:grpSpPr bwMode="auto">
            <a:xfrm>
              <a:off x="4708632" y="2007475"/>
              <a:ext cx="798787" cy="511975"/>
              <a:chOff x="4834756" y="1996965"/>
              <a:chExt cx="798787" cy="511975"/>
            </a:xfrm>
          </p:grpSpPr>
          <p:sp>
            <p:nvSpPr>
              <p:cNvPr id="22563" name="TextBox 9"/>
              <p:cNvSpPr txBox="1">
                <a:spLocks noChangeArrowheads="1"/>
              </p:cNvSpPr>
              <p:nvPr/>
            </p:nvSpPr>
            <p:spPr bwMode="auto">
              <a:xfrm>
                <a:off x="4834756" y="1996965"/>
                <a:ext cx="336331" cy="338554"/>
              </a:xfrm>
              <a:prstGeom prst="rect">
                <a:avLst/>
              </a:prstGeom>
              <a:noFill/>
              <a:ln w="9525">
                <a:noFill/>
                <a:miter lim="800000"/>
                <a:headEnd/>
                <a:tailEnd/>
              </a:ln>
            </p:spPr>
            <p:txBody>
              <a:bodyPr>
                <a:spAutoFit/>
              </a:bodyPr>
              <a:lstStyle/>
              <a:p>
                <a:r>
                  <a:rPr lang="en-US" sz="1600">
                    <a:latin typeface="Calibri" pitchFamily="34" charset="0"/>
                  </a:rPr>
                  <a:t>a</a:t>
                </a:r>
                <a:endParaRPr lang="en-SG" sz="1600">
                  <a:latin typeface="Calibri" pitchFamily="34" charset="0"/>
                </a:endParaRPr>
              </a:p>
            </p:txBody>
          </p:sp>
          <p:sp>
            <p:nvSpPr>
              <p:cNvPr id="22564" name="TextBox 10"/>
              <p:cNvSpPr txBox="1">
                <a:spLocks noChangeArrowheads="1"/>
              </p:cNvSpPr>
              <p:nvPr/>
            </p:nvSpPr>
            <p:spPr bwMode="auto">
              <a:xfrm>
                <a:off x="5102770" y="2170386"/>
                <a:ext cx="530773" cy="338554"/>
              </a:xfrm>
              <a:prstGeom prst="rect">
                <a:avLst/>
              </a:prstGeom>
              <a:solidFill>
                <a:srgbClr val="FFCC66"/>
              </a:solidFill>
              <a:ln w="9525">
                <a:solidFill>
                  <a:schemeClr val="tx1"/>
                </a:solidFill>
                <a:miter lim="800000"/>
                <a:headEnd/>
                <a:tailEnd/>
              </a:ln>
            </p:spPr>
            <p:txBody>
              <a:bodyPr>
                <a:spAutoFit/>
              </a:bodyPr>
              <a:lstStyle/>
              <a:p>
                <a:pPr algn="ctr"/>
                <a:r>
                  <a:rPr lang="en-US" sz="1600">
                    <a:latin typeface="Calibri" pitchFamily="34" charset="0"/>
                  </a:rPr>
                  <a:t>9</a:t>
                </a:r>
                <a:endParaRPr lang="en-SG" sz="1600">
                  <a:latin typeface="Calibri" pitchFamily="34" charset="0"/>
                </a:endParaRPr>
              </a:p>
            </p:txBody>
          </p:sp>
        </p:grpSp>
        <p:grpSp>
          <p:nvGrpSpPr>
            <p:cNvPr id="22557" name="Group 14"/>
            <p:cNvGrpSpPr>
              <a:grpSpLocks/>
            </p:cNvGrpSpPr>
            <p:nvPr/>
          </p:nvGrpSpPr>
          <p:grpSpPr bwMode="auto">
            <a:xfrm>
              <a:off x="5796453" y="2007475"/>
              <a:ext cx="798787" cy="511975"/>
              <a:chOff x="6027681" y="2023240"/>
              <a:chExt cx="798787" cy="511975"/>
            </a:xfrm>
          </p:grpSpPr>
          <p:sp>
            <p:nvSpPr>
              <p:cNvPr id="22561" name="TextBox 11"/>
              <p:cNvSpPr txBox="1">
                <a:spLocks noChangeArrowheads="1"/>
              </p:cNvSpPr>
              <p:nvPr/>
            </p:nvSpPr>
            <p:spPr bwMode="auto">
              <a:xfrm>
                <a:off x="6027681" y="2023240"/>
                <a:ext cx="336331" cy="338554"/>
              </a:xfrm>
              <a:prstGeom prst="rect">
                <a:avLst/>
              </a:prstGeom>
              <a:noFill/>
              <a:ln w="9525">
                <a:noFill/>
                <a:miter lim="800000"/>
                <a:headEnd/>
                <a:tailEnd/>
              </a:ln>
            </p:spPr>
            <p:txBody>
              <a:bodyPr>
                <a:spAutoFit/>
              </a:bodyPr>
              <a:lstStyle/>
              <a:p>
                <a:r>
                  <a:rPr lang="en-US" sz="1600">
                    <a:latin typeface="Calibri" pitchFamily="34" charset="0"/>
                  </a:rPr>
                  <a:t>b</a:t>
                </a:r>
                <a:endParaRPr lang="en-SG" sz="1600">
                  <a:latin typeface="Calibri" pitchFamily="34" charset="0"/>
                </a:endParaRPr>
              </a:p>
            </p:txBody>
          </p:sp>
          <p:sp>
            <p:nvSpPr>
              <p:cNvPr id="22562" name="TextBox 12"/>
              <p:cNvSpPr txBox="1">
                <a:spLocks noChangeArrowheads="1"/>
              </p:cNvSpPr>
              <p:nvPr/>
            </p:nvSpPr>
            <p:spPr bwMode="auto">
              <a:xfrm>
                <a:off x="6295695" y="2196661"/>
                <a:ext cx="530773" cy="338554"/>
              </a:xfrm>
              <a:prstGeom prst="rect">
                <a:avLst/>
              </a:prstGeom>
              <a:solidFill>
                <a:srgbClr val="FFCC66"/>
              </a:solidFill>
              <a:ln w="9525">
                <a:solidFill>
                  <a:schemeClr val="tx1"/>
                </a:solidFill>
                <a:miter lim="800000"/>
                <a:headEnd/>
                <a:tailEnd/>
              </a:ln>
            </p:spPr>
            <p:txBody>
              <a:bodyPr>
                <a:spAutoFit/>
              </a:bodyPr>
              <a:lstStyle/>
              <a:p>
                <a:pPr algn="ctr"/>
                <a:r>
                  <a:rPr lang="en-US" sz="1600">
                    <a:latin typeface="Calibri" pitchFamily="34" charset="0"/>
                  </a:rPr>
                  <a:t>-2</a:t>
                </a:r>
                <a:endParaRPr lang="en-SG" sz="1600">
                  <a:latin typeface="Calibri" pitchFamily="34" charset="0"/>
                </a:endParaRPr>
              </a:p>
            </p:txBody>
          </p:sp>
        </p:grpSp>
        <p:grpSp>
          <p:nvGrpSpPr>
            <p:cNvPr id="22558" name="Group 15"/>
            <p:cNvGrpSpPr>
              <a:grpSpLocks/>
            </p:cNvGrpSpPr>
            <p:nvPr/>
          </p:nvGrpSpPr>
          <p:grpSpPr bwMode="auto">
            <a:xfrm>
              <a:off x="6789681" y="2007475"/>
              <a:ext cx="798787" cy="511975"/>
              <a:chOff x="6027681" y="2023240"/>
              <a:chExt cx="798787" cy="511975"/>
            </a:xfrm>
          </p:grpSpPr>
          <p:sp>
            <p:nvSpPr>
              <p:cNvPr id="22559" name="TextBox 16"/>
              <p:cNvSpPr txBox="1">
                <a:spLocks noChangeArrowheads="1"/>
              </p:cNvSpPr>
              <p:nvPr/>
            </p:nvSpPr>
            <p:spPr bwMode="auto">
              <a:xfrm>
                <a:off x="6027681" y="2023240"/>
                <a:ext cx="336331" cy="338554"/>
              </a:xfrm>
              <a:prstGeom prst="rect">
                <a:avLst/>
              </a:prstGeom>
              <a:noFill/>
              <a:ln w="9525">
                <a:noFill/>
                <a:miter lim="800000"/>
                <a:headEnd/>
                <a:tailEnd/>
              </a:ln>
            </p:spPr>
            <p:txBody>
              <a:bodyPr>
                <a:spAutoFit/>
              </a:bodyPr>
              <a:lstStyle/>
              <a:p>
                <a:r>
                  <a:rPr lang="en-US" sz="1600">
                    <a:latin typeface="Calibri" pitchFamily="34" charset="0"/>
                  </a:rPr>
                  <a:t>c</a:t>
                </a:r>
                <a:endParaRPr lang="en-SG" sz="1600">
                  <a:latin typeface="Calibri" pitchFamily="34" charset="0"/>
                </a:endParaRPr>
              </a:p>
            </p:txBody>
          </p:sp>
          <p:sp>
            <p:nvSpPr>
              <p:cNvPr id="22560" name="TextBox 17"/>
              <p:cNvSpPr txBox="1">
                <a:spLocks noChangeArrowheads="1"/>
              </p:cNvSpPr>
              <p:nvPr/>
            </p:nvSpPr>
            <p:spPr bwMode="auto">
              <a:xfrm>
                <a:off x="6295695" y="2196661"/>
                <a:ext cx="530773" cy="338554"/>
              </a:xfrm>
              <a:prstGeom prst="rect">
                <a:avLst/>
              </a:prstGeom>
              <a:solidFill>
                <a:srgbClr val="FFCC66"/>
              </a:solidFill>
              <a:ln w="9525">
                <a:solidFill>
                  <a:schemeClr val="tx1"/>
                </a:solidFill>
                <a:miter lim="800000"/>
                <a:headEnd/>
                <a:tailEnd/>
              </a:ln>
            </p:spPr>
            <p:txBody>
              <a:bodyPr>
                <a:spAutoFit/>
              </a:bodyPr>
              <a:lstStyle/>
              <a:p>
                <a:pPr algn="ctr"/>
                <a:r>
                  <a:rPr lang="en-US" sz="1600">
                    <a:latin typeface="Calibri" pitchFamily="34" charset="0"/>
                  </a:rPr>
                  <a:t>5</a:t>
                </a:r>
                <a:endParaRPr lang="en-SG" sz="1600">
                  <a:latin typeface="Calibri" pitchFamily="34" charset="0"/>
                </a:endParaRPr>
              </a:p>
            </p:txBody>
          </p:sp>
        </p:grpSp>
      </p:grpSp>
      <p:pic>
        <p:nvPicPr>
          <p:cNvPr id="39" name="Picture 38" descr="focus-md.png"/>
          <p:cNvPicPr>
            <a:picLocks noChangeAspect="1"/>
          </p:cNvPicPr>
          <p:nvPr/>
        </p:nvPicPr>
        <p:blipFill>
          <a:blip r:embed="rId3" cstate="print"/>
          <a:stretch>
            <a:fillRect/>
          </a:stretch>
        </p:blipFill>
        <p:spPr>
          <a:xfrm>
            <a:off x="8229649" y="375969"/>
            <a:ext cx="614548" cy="830472"/>
          </a:xfrm>
          <a:prstGeom prst="rect">
            <a:avLst/>
          </a:prstGeom>
          <a:effectLst>
            <a:outerShdw blurRad="50800" dist="38100" dir="5400000" algn="t" rotWithShape="0">
              <a:prstClr val="black">
                <a:alpha val="40000"/>
              </a:prstClr>
            </a:outerShdw>
            <a:reflection blurRad="6350" stA="50000" endA="300" endPos="55000" dir="5400000" sy="-100000" algn="bl" rotWithShape="0"/>
          </a:effectLst>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6" name="Group 55"/>
          <p:cNvGrpSpPr/>
          <p:nvPr/>
        </p:nvGrpSpPr>
        <p:grpSpPr>
          <a:xfrm>
            <a:off x="846138" y="1240285"/>
            <a:ext cx="7601706" cy="4486366"/>
            <a:chOff x="846138" y="1240285"/>
            <a:chExt cx="7601706" cy="4486366"/>
          </a:xfrm>
        </p:grpSpPr>
        <p:sp>
          <p:nvSpPr>
            <p:cNvPr id="7" name="TextBox 6"/>
            <p:cNvSpPr txBox="1"/>
            <p:nvPr/>
          </p:nvSpPr>
          <p:spPr>
            <a:xfrm>
              <a:off x="846138" y="1448557"/>
              <a:ext cx="7005637" cy="4278094"/>
            </a:xfrm>
            <a:prstGeom prst="rect">
              <a:avLst/>
            </a:prstGeom>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wrap="square">
              <a:spAutoFit/>
            </a:bodyPr>
            <a:lstStyle/>
            <a:p>
              <a:pPr>
                <a:defRPr/>
              </a:pPr>
              <a:r>
                <a:rPr lang="en-US" sz="1600" b="1" dirty="0" smtClean="0">
                  <a:solidFill>
                    <a:srgbClr val="7030A0"/>
                  </a:solidFill>
                  <a:latin typeface="Courier New" pitchFamily="49" charset="0"/>
                  <a:cs typeface="Courier New" pitchFamily="49" charset="0"/>
                </a:rPr>
                <a:t>#</a:t>
              </a:r>
              <a:r>
                <a:rPr lang="en-US" sz="1600" b="1" dirty="0">
                  <a:solidFill>
                    <a:srgbClr val="7030A0"/>
                  </a:solidFill>
                  <a:latin typeface="Courier New" pitchFamily="49" charset="0"/>
                  <a:cs typeface="Courier New" pitchFamily="49" charset="0"/>
                </a:rPr>
                <a:t>include </a:t>
              </a:r>
              <a:r>
                <a:rPr lang="en-US" sz="1600" b="1" dirty="0">
                  <a:solidFill>
                    <a:srgbClr val="006600"/>
                  </a:solidFill>
                  <a:latin typeface="Courier New" pitchFamily="49" charset="0"/>
                  <a:cs typeface="Courier New" pitchFamily="49" charset="0"/>
                </a:rPr>
                <a:t>&lt;</a:t>
              </a:r>
              <a:r>
                <a:rPr lang="en-US" sz="1600" b="1" dirty="0" err="1">
                  <a:solidFill>
                    <a:srgbClr val="006600"/>
                  </a:solidFill>
                  <a:latin typeface="Courier New" pitchFamily="49" charset="0"/>
                  <a:cs typeface="Courier New" pitchFamily="49" charset="0"/>
                </a:rPr>
                <a:t>stdio.h</a:t>
              </a:r>
              <a:r>
                <a:rPr lang="en-US" sz="1600" b="1" dirty="0">
                  <a:solidFill>
                    <a:srgbClr val="006600"/>
                  </a:solidFill>
                  <a:latin typeface="Courier New" pitchFamily="49" charset="0"/>
                  <a:cs typeface="Courier New" pitchFamily="49" charset="0"/>
                </a:rPr>
                <a:t>&gt;</a:t>
              </a:r>
            </a:p>
            <a:p>
              <a:pPr>
                <a:defRPr/>
              </a:pPr>
              <a:r>
                <a:rPr lang="en-US" sz="1600" b="1" dirty="0" smtClean="0">
                  <a:solidFill>
                    <a:srgbClr val="0000FF"/>
                  </a:solidFill>
                  <a:latin typeface="Courier New" pitchFamily="49" charset="0"/>
                  <a:cs typeface="Courier New" pitchFamily="49" charset="0"/>
                </a:rPr>
                <a:t>void</a:t>
              </a:r>
              <a:r>
                <a:rPr lang="en-US" sz="1600" b="1" dirty="0" smtClean="0">
                  <a:latin typeface="Courier New" pitchFamily="49" charset="0"/>
                  <a:cs typeface="Courier New" pitchFamily="49" charset="0"/>
                </a:rPr>
                <a:t> </a:t>
              </a:r>
              <a:r>
                <a:rPr lang="en-US" sz="1600" b="1" dirty="0">
                  <a:latin typeface="Courier New" pitchFamily="49" charset="0"/>
                  <a:cs typeface="Courier New" pitchFamily="49" charset="0"/>
                </a:rPr>
                <a:t>f(</a:t>
              </a:r>
              <a:r>
                <a:rPr lang="en-US" sz="1600" b="1" dirty="0" err="1">
                  <a:solidFill>
                    <a:srgbClr val="0000FF"/>
                  </a:solidFill>
                  <a:latin typeface="Courier New" pitchFamily="49" charset="0"/>
                  <a:cs typeface="Courier New" pitchFamily="49" charset="0"/>
                </a:rPr>
                <a:t>int</a:t>
              </a:r>
              <a:r>
                <a:rPr lang="en-US" sz="1600" b="1" dirty="0">
                  <a:latin typeface="Courier New" pitchFamily="49" charset="0"/>
                  <a:cs typeface="Courier New" pitchFamily="49" charset="0"/>
                </a:rPr>
                <a:t> *, </a:t>
              </a:r>
              <a:r>
                <a:rPr lang="en-US" sz="1600" b="1" dirty="0" err="1">
                  <a:solidFill>
                    <a:srgbClr val="0000FF"/>
                  </a:solidFill>
                  <a:latin typeface="Courier New" pitchFamily="49" charset="0"/>
                  <a:cs typeface="Courier New" pitchFamily="49" charset="0"/>
                </a:rPr>
                <a:t>int</a:t>
              </a:r>
              <a:r>
                <a:rPr lang="en-US" sz="1600" b="1" dirty="0">
                  <a:latin typeface="Courier New" pitchFamily="49" charset="0"/>
                  <a:cs typeface="Courier New" pitchFamily="49" charset="0"/>
                </a:rPr>
                <a:t> *, </a:t>
              </a:r>
              <a:r>
                <a:rPr lang="en-US" sz="1600" b="1" dirty="0" err="1">
                  <a:solidFill>
                    <a:srgbClr val="0000FF"/>
                  </a:solidFill>
                  <a:latin typeface="Courier New" pitchFamily="49" charset="0"/>
                  <a:cs typeface="Courier New" pitchFamily="49" charset="0"/>
                </a:rPr>
                <a:t>int</a:t>
              </a:r>
              <a:r>
                <a:rPr lang="en-US" sz="1600" b="1" dirty="0">
                  <a:latin typeface="Courier New" pitchFamily="49" charset="0"/>
                  <a:cs typeface="Courier New" pitchFamily="49" charset="0"/>
                </a:rPr>
                <a:t> *);</a:t>
              </a:r>
            </a:p>
            <a:p>
              <a:pPr>
                <a:defRPr/>
              </a:pPr>
              <a:endParaRPr lang="en-US" sz="1600" b="1" dirty="0">
                <a:latin typeface="Courier New" pitchFamily="49" charset="0"/>
                <a:cs typeface="Courier New" pitchFamily="49" charset="0"/>
              </a:endParaRPr>
            </a:p>
            <a:p>
              <a:pPr>
                <a:defRPr/>
              </a:pPr>
              <a:r>
                <a:rPr lang="en-US" sz="1600" b="1" dirty="0" err="1">
                  <a:solidFill>
                    <a:srgbClr val="0000FF"/>
                  </a:solidFill>
                  <a:latin typeface="Courier New" pitchFamily="49" charset="0"/>
                  <a:cs typeface="Courier New" pitchFamily="49" charset="0"/>
                </a:rPr>
                <a:t>int</a:t>
              </a:r>
              <a:r>
                <a:rPr lang="en-US" sz="1600" b="1" dirty="0">
                  <a:latin typeface="Courier New" pitchFamily="49" charset="0"/>
                  <a:cs typeface="Courier New" pitchFamily="49" charset="0"/>
                </a:rPr>
                <a:t> main(</a:t>
              </a:r>
              <a:r>
                <a:rPr lang="en-US" sz="1600" b="1" dirty="0">
                  <a:solidFill>
                    <a:srgbClr val="0000FF"/>
                  </a:solidFill>
                  <a:latin typeface="Courier New" pitchFamily="49" charset="0"/>
                  <a:cs typeface="Courier New" pitchFamily="49" charset="0"/>
                </a:rPr>
                <a:t>void</a:t>
              </a:r>
              <a:r>
                <a:rPr lang="en-US" sz="1600" b="1" dirty="0">
                  <a:latin typeface="Courier New" pitchFamily="49" charset="0"/>
                  <a:cs typeface="Courier New" pitchFamily="49" charset="0"/>
                </a:rPr>
                <a:t>) {</a:t>
              </a:r>
            </a:p>
            <a:p>
              <a:pPr>
                <a:defRPr/>
              </a:pPr>
              <a:r>
                <a:rPr lang="en-US" sz="1600" b="1" dirty="0">
                  <a:latin typeface="Courier New" pitchFamily="49" charset="0"/>
                  <a:cs typeface="Courier New" pitchFamily="49" charset="0"/>
                </a:rPr>
                <a:t>    </a:t>
              </a:r>
              <a:r>
                <a:rPr lang="en-US" sz="1600" b="1" dirty="0" err="1">
                  <a:solidFill>
                    <a:srgbClr val="0000FF"/>
                  </a:solidFill>
                  <a:latin typeface="Courier New" pitchFamily="49" charset="0"/>
                  <a:cs typeface="Courier New" pitchFamily="49" charset="0"/>
                </a:rPr>
                <a:t>int</a:t>
              </a:r>
              <a:r>
                <a:rPr lang="en-US" sz="1600" b="1" dirty="0">
                  <a:latin typeface="Courier New" pitchFamily="49" charset="0"/>
                  <a:cs typeface="Courier New" pitchFamily="49" charset="0"/>
                </a:rPr>
                <a:t> a = </a:t>
              </a:r>
              <a:r>
                <a:rPr lang="en-US" sz="1600" b="1" dirty="0">
                  <a:solidFill>
                    <a:srgbClr val="006600"/>
                  </a:solidFill>
                  <a:latin typeface="Courier New" pitchFamily="49" charset="0"/>
                  <a:cs typeface="Courier New" pitchFamily="49" charset="0"/>
                </a:rPr>
                <a:t>9</a:t>
              </a:r>
              <a:r>
                <a:rPr lang="en-US" sz="1600" b="1" dirty="0">
                  <a:latin typeface="Courier New" pitchFamily="49" charset="0"/>
                  <a:cs typeface="Courier New" pitchFamily="49" charset="0"/>
                </a:rPr>
                <a:t>, b = </a:t>
              </a:r>
              <a:r>
                <a:rPr lang="en-US" sz="1600" b="1" dirty="0">
                  <a:solidFill>
                    <a:srgbClr val="006600"/>
                  </a:solidFill>
                  <a:latin typeface="Courier New" pitchFamily="49" charset="0"/>
                  <a:cs typeface="Courier New" pitchFamily="49" charset="0"/>
                </a:rPr>
                <a:t>-2</a:t>
              </a:r>
              <a:r>
                <a:rPr lang="en-US" sz="1600" b="1" dirty="0">
                  <a:latin typeface="Courier New" pitchFamily="49" charset="0"/>
                  <a:cs typeface="Courier New" pitchFamily="49" charset="0"/>
                </a:rPr>
                <a:t>, c = </a:t>
              </a:r>
              <a:r>
                <a:rPr lang="en-US" sz="1600" b="1" dirty="0">
                  <a:solidFill>
                    <a:srgbClr val="006600"/>
                  </a:solidFill>
                  <a:latin typeface="Courier New" pitchFamily="49" charset="0"/>
                  <a:cs typeface="Courier New" pitchFamily="49" charset="0"/>
                </a:rPr>
                <a:t>5</a:t>
              </a:r>
              <a:r>
                <a:rPr lang="en-US" sz="1600" b="1" dirty="0">
                  <a:latin typeface="Courier New" pitchFamily="49" charset="0"/>
                  <a:cs typeface="Courier New" pitchFamily="49" charset="0"/>
                </a:rPr>
                <a:t>;</a:t>
              </a:r>
            </a:p>
            <a:p>
              <a:pPr>
                <a:defRPr/>
              </a:pPr>
              <a:r>
                <a:rPr lang="en-US" sz="1600" b="1" dirty="0">
                  <a:latin typeface="Courier New" pitchFamily="49" charset="0"/>
                  <a:cs typeface="Courier New" pitchFamily="49" charset="0"/>
                </a:rPr>
                <a:t>    f(&amp;a, &amp;b, &amp;c);</a:t>
              </a:r>
            </a:p>
            <a:p>
              <a:pPr>
                <a:defRPr/>
              </a:pPr>
              <a:r>
                <a:rPr lang="en-US" sz="1600" b="1" dirty="0">
                  <a:latin typeface="Courier New" pitchFamily="49" charset="0"/>
                  <a:cs typeface="Courier New" pitchFamily="49" charset="0"/>
                </a:rPr>
                <a:t>    </a:t>
              </a:r>
              <a:r>
                <a:rPr lang="en-US" sz="1600" b="1" dirty="0" err="1">
                  <a:latin typeface="Courier New" pitchFamily="49" charset="0"/>
                  <a:cs typeface="Courier New" pitchFamily="49" charset="0"/>
                </a:rPr>
                <a:t>printf</a:t>
              </a:r>
              <a:r>
                <a:rPr lang="en-US" sz="1600" b="1" dirty="0">
                  <a:latin typeface="Courier New" pitchFamily="49" charset="0"/>
                  <a:cs typeface="Courier New" pitchFamily="49" charset="0"/>
                </a:rPr>
                <a:t>(</a:t>
              </a:r>
              <a:r>
                <a:rPr lang="en-US" sz="1600" b="1" dirty="0">
                  <a:solidFill>
                    <a:srgbClr val="006600"/>
                  </a:solidFill>
                  <a:latin typeface="Courier New" pitchFamily="49" charset="0"/>
                  <a:cs typeface="Courier New" pitchFamily="49" charset="0"/>
                </a:rPr>
                <a:t>"a = </a:t>
              </a:r>
              <a:r>
                <a:rPr lang="en-US" sz="1600" b="1" dirty="0">
                  <a:solidFill>
                    <a:srgbClr val="FF0000"/>
                  </a:solidFill>
                  <a:latin typeface="Courier New" pitchFamily="49" charset="0"/>
                  <a:cs typeface="Courier New" pitchFamily="49" charset="0"/>
                </a:rPr>
                <a:t>%d</a:t>
              </a:r>
              <a:r>
                <a:rPr lang="en-US" sz="1600" b="1" dirty="0">
                  <a:solidFill>
                    <a:srgbClr val="006600"/>
                  </a:solidFill>
                  <a:latin typeface="Courier New" pitchFamily="49" charset="0"/>
                  <a:cs typeface="Courier New" pitchFamily="49" charset="0"/>
                </a:rPr>
                <a:t>, b = </a:t>
              </a:r>
              <a:r>
                <a:rPr lang="en-US" sz="1600" b="1" dirty="0">
                  <a:solidFill>
                    <a:srgbClr val="FF0000"/>
                  </a:solidFill>
                  <a:latin typeface="Courier New" pitchFamily="49" charset="0"/>
                  <a:cs typeface="Courier New" pitchFamily="49" charset="0"/>
                </a:rPr>
                <a:t>%d</a:t>
              </a:r>
              <a:r>
                <a:rPr lang="en-US" sz="1600" b="1" dirty="0">
                  <a:solidFill>
                    <a:srgbClr val="006600"/>
                  </a:solidFill>
                  <a:latin typeface="Courier New" pitchFamily="49" charset="0"/>
                  <a:cs typeface="Courier New" pitchFamily="49" charset="0"/>
                </a:rPr>
                <a:t>, c = </a:t>
              </a:r>
              <a:r>
                <a:rPr lang="en-US" sz="1600" b="1" dirty="0">
                  <a:solidFill>
                    <a:srgbClr val="FF0000"/>
                  </a:solidFill>
                  <a:latin typeface="Courier New" pitchFamily="49" charset="0"/>
                  <a:cs typeface="Courier New" pitchFamily="49" charset="0"/>
                </a:rPr>
                <a:t>%d\n</a:t>
              </a:r>
              <a:r>
                <a:rPr lang="en-US" sz="1600" b="1" dirty="0">
                  <a:solidFill>
                    <a:srgbClr val="006600"/>
                  </a:solidFill>
                  <a:latin typeface="Courier New" pitchFamily="49" charset="0"/>
                  <a:cs typeface="Courier New" pitchFamily="49" charset="0"/>
                </a:rPr>
                <a:t>"</a:t>
              </a:r>
              <a:r>
                <a:rPr lang="en-US" sz="1600" b="1" dirty="0">
                  <a:latin typeface="Courier New" pitchFamily="49" charset="0"/>
                  <a:cs typeface="Courier New" pitchFamily="49" charset="0"/>
                </a:rPr>
                <a:t>, a, b, c);</a:t>
              </a:r>
            </a:p>
            <a:p>
              <a:pPr>
                <a:defRPr/>
              </a:pPr>
              <a:r>
                <a:rPr lang="en-US" sz="1600" b="1" dirty="0">
                  <a:solidFill>
                    <a:srgbClr val="0000FF"/>
                  </a:solidFill>
                  <a:latin typeface="Courier New" pitchFamily="49" charset="0"/>
                  <a:cs typeface="Courier New" pitchFamily="49" charset="0"/>
                </a:rPr>
                <a:t>    return </a:t>
              </a:r>
              <a:r>
                <a:rPr lang="en-US" sz="1600" b="1" dirty="0">
                  <a:solidFill>
                    <a:srgbClr val="006600"/>
                  </a:solidFill>
                  <a:latin typeface="Courier New" pitchFamily="49" charset="0"/>
                  <a:cs typeface="Courier New" pitchFamily="49" charset="0"/>
                </a:rPr>
                <a:t>0</a:t>
              </a:r>
              <a:r>
                <a:rPr lang="en-US" sz="1600" b="1" dirty="0">
                  <a:latin typeface="Courier New" pitchFamily="49" charset="0"/>
                  <a:cs typeface="Courier New" pitchFamily="49" charset="0"/>
                </a:rPr>
                <a:t>;</a:t>
              </a:r>
            </a:p>
            <a:p>
              <a:pPr>
                <a:defRPr/>
              </a:pPr>
              <a:r>
                <a:rPr lang="en-US" sz="1600" b="1" dirty="0">
                  <a:latin typeface="Courier New" pitchFamily="49" charset="0"/>
                  <a:cs typeface="Courier New" pitchFamily="49" charset="0"/>
                </a:rPr>
                <a:t>}</a:t>
              </a:r>
            </a:p>
            <a:p>
              <a:pPr>
                <a:defRPr/>
              </a:pPr>
              <a:endParaRPr lang="en-US" sz="1600" b="1" dirty="0">
                <a:latin typeface="Courier New" pitchFamily="49" charset="0"/>
                <a:cs typeface="Courier New" pitchFamily="49" charset="0"/>
              </a:endParaRPr>
            </a:p>
            <a:p>
              <a:pPr>
                <a:defRPr/>
              </a:pPr>
              <a:r>
                <a:rPr lang="en-US" sz="1600" b="1" dirty="0">
                  <a:latin typeface="Courier New" pitchFamily="49" charset="0"/>
                  <a:cs typeface="Courier New" pitchFamily="49" charset="0"/>
                </a:rPr>
                <a:t>void f(</a:t>
              </a:r>
              <a:r>
                <a:rPr lang="en-US" sz="1600" b="1" dirty="0" err="1">
                  <a:solidFill>
                    <a:srgbClr val="0000FF"/>
                  </a:solidFill>
                  <a:latin typeface="Courier New" pitchFamily="49" charset="0"/>
                  <a:cs typeface="Courier New" pitchFamily="49" charset="0"/>
                </a:rPr>
                <a:t>int</a:t>
              </a:r>
              <a:r>
                <a:rPr lang="en-US" sz="1600" b="1" dirty="0">
                  <a:latin typeface="Courier New" pitchFamily="49" charset="0"/>
                  <a:cs typeface="Courier New" pitchFamily="49" charset="0"/>
                </a:rPr>
                <a:t> *x, </a:t>
              </a:r>
              <a:r>
                <a:rPr lang="en-US" sz="1600" b="1" dirty="0" err="1">
                  <a:solidFill>
                    <a:srgbClr val="0000FF"/>
                  </a:solidFill>
                  <a:latin typeface="Courier New" pitchFamily="49" charset="0"/>
                  <a:cs typeface="Courier New" pitchFamily="49" charset="0"/>
                </a:rPr>
                <a:t>int</a:t>
              </a:r>
              <a:r>
                <a:rPr lang="en-US" sz="1600" b="1" dirty="0">
                  <a:latin typeface="Courier New" pitchFamily="49" charset="0"/>
                  <a:cs typeface="Courier New" pitchFamily="49" charset="0"/>
                </a:rPr>
                <a:t> *y, </a:t>
              </a:r>
              <a:r>
                <a:rPr lang="en-US" sz="1600" b="1" dirty="0" err="1">
                  <a:solidFill>
                    <a:srgbClr val="0000FF"/>
                  </a:solidFill>
                  <a:latin typeface="Courier New" pitchFamily="49" charset="0"/>
                  <a:cs typeface="Courier New" pitchFamily="49" charset="0"/>
                </a:rPr>
                <a:t>int</a:t>
              </a:r>
              <a:r>
                <a:rPr lang="en-US" sz="1600" b="1" dirty="0">
                  <a:latin typeface="Courier New" pitchFamily="49" charset="0"/>
                  <a:cs typeface="Courier New" pitchFamily="49" charset="0"/>
                </a:rPr>
                <a:t> *z)</a:t>
              </a:r>
            </a:p>
            <a:p>
              <a:pPr>
                <a:defRPr/>
              </a:pPr>
              <a:r>
                <a:rPr lang="en-US" sz="1600" b="1" dirty="0">
                  <a:latin typeface="Courier New" pitchFamily="49" charset="0"/>
                  <a:cs typeface="Courier New" pitchFamily="49" charset="0"/>
                </a:rPr>
                <a:t>{</a:t>
              </a:r>
            </a:p>
            <a:p>
              <a:pPr>
                <a:defRPr/>
              </a:pPr>
              <a:r>
                <a:rPr lang="en-US" sz="1600" b="1" dirty="0">
                  <a:latin typeface="Courier New" pitchFamily="49" charset="0"/>
                  <a:cs typeface="Courier New" pitchFamily="49" charset="0"/>
                </a:rPr>
                <a:t>    *x = </a:t>
              </a:r>
              <a:r>
                <a:rPr lang="en-US" sz="1600" b="1" dirty="0">
                  <a:solidFill>
                    <a:srgbClr val="006600"/>
                  </a:solidFill>
                  <a:latin typeface="Courier New" pitchFamily="49" charset="0"/>
                  <a:cs typeface="Courier New" pitchFamily="49" charset="0"/>
                </a:rPr>
                <a:t>3</a:t>
              </a:r>
              <a:r>
                <a:rPr lang="en-US" sz="1600" b="1" dirty="0">
                  <a:latin typeface="Courier New" pitchFamily="49" charset="0"/>
                  <a:cs typeface="Courier New" pitchFamily="49" charset="0"/>
                </a:rPr>
                <a:t> + *y;</a:t>
              </a:r>
            </a:p>
            <a:p>
              <a:pPr>
                <a:defRPr/>
              </a:pPr>
              <a:r>
                <a:rPr lang="en-US" sz="1600" b="1" dirty="0">
                  <a:latin typeface="Courier New" pitchFamily="49" charset="0"/>
                  <a:cs typeface="Courier New" pitchFamily="49" charset="0"/>
                </a:rPr>
                <a:t>    *y = </a:t>
              </a:r>
              <a:r>
                <a:rPr lang="en-US" sz="1600" b="1" dirty="0">
                  <a:solidFill>
                    <a:srgbClr val="006600"/>
                  </a:solidFill>
                  <a:latin typeface="Courier New" pitchFamily="49" charset="0"/>
                  <a:cs typeface="Courier New" pitchFamily="49" charset="0"/>
                </a:rPr>
                <a:t>10</a:t>
              </a:r>
              <a:r>
                <a:rPr lang="en-US" sz="1600" b="1" dirty="0">
                  <a:latin typeface="Courier New" pitchFamily="49" charset="0"/>
                  <a:cs typeface="Courier New" pitchFamily="49" charset="0"/>
                </a:rPr>
                <a:t> * *x;</a:t>
              </a:r>
            </a:p>
            <a:p>
              <a:pPr>
                <a:defRPr/>
              </a:pPr>
              <a:r>
                <a:rPr lang="en-US" sz="1600" b="1" dirty="0">
                  <a:latin typeface="Courier New" pitchFamily="49" charset="0"/>
                  <a:cs typeface="Courier New" pitchFamily="49" charset="0"/>
                </a:rPr>
                <a:t>    *z = *x + *y + *z;</a:t>
              </a:r>
            </a:p>
            <a:p>
              <a:pPr>
                <a:defRPr/>
              </a:pPr>
              <a:r>
                <a:rPr lang="en-US" sz="1600" b="1" dirty="0">
                  <a:latin typeface="Courier New" pitchFamily="49" charset="0"/>
                  <a:cs typeface="Courier New" pitchFamily="49" charset="0"/>
                </a:rPr>
                <a:t>    </a:t>
              </a:r>
              <a:r>
                <a:rPr lang="en-US" sz="1600" b="1" dirty="0" err="1">
                  <a:latin typeface="Courier New" pitchFamily="49" charset="0"/>
                  <a:cs typeface="Courier New" pitchFamily="49" charset="0"/>
                </a:rPr>
                <a:t>printf</a:t>
              </a:r>
              <a:r>
                <a:rPr lang="en-US" sz="1600" b="1" dirty="0">
                  <a:latin typeface="Courier New" pitchFamily="49" charset="0"/>
                  <a:cs typeface="Courier New" pitchFamily="49" charset="0"/>
                </a:rPr>
                <a:t>(</a:t>
              </a:r>
              <a:r>
                <a:rPr lang="en-US" sz="1600" b="1" dirty="0">
                  <a:solidFill>
                    <a:srgbClr val="006600"/>
                  </a:solidFill>
                  <a:latin typeface="Courier New" pitchFamily="49" charset="0"/>
                  <a:cs typeface="Courier New" pitchFamily="49" charset="0"/>
                </a:rPr>
                <a:t>"*x = </a:t>
              </a:r>
              <a:r>
                <a:rPr lang="en-US" sz="1600" b="1" dirty="0">
                  <a:solidFill>
                    <a:srgbClr val="FF0000"/>
                  </a:solidFill>
                  <a:latin typeface="Courier New" pitchFamily="49" charset="0"/>
                  <a:cs typeface="Courier New" pitchFamily="49" charset="0"/>
                </a:rPr>
                <a:t>%d</a:t>
              </a:r>
              <a:r>
                <a:rPr lang="en-US" sz="1600" b="1" dirty="0">
                  <a:solidFill>
                    <a:srgbClr val="006600"/>
                  </a:solidFill>
                  <a:latin typeface="Courier New" pitchFamily="49" charset="0"/>
                  <a:cs typeface="Courier New" pitchFamily="49" charset="0"/>
                </a:rPr>
                <a:t>, *y = </a:t>
              </a:r>
              <a:r>
                <a:rPr lang="en-US" sz="1600" b="1" dirty="0">
                  <a:solidFill>
                    <a:srgbClr val="FF0000"/>
                  </a:solidFill>
                  <a:latin typeface="Courier New" pitchFamily="49" charset="0"/>
                  <a:cs typeface="Courier New" pitchFamily="49" charset="0"/>
                </a:rPr>
                <a:t>%d</a:t>
              </a:r>
              <a:r>
                <a:rPr lang="en-US" sz="1600" b="1" dirty="0">
                  <a:solidFill>
                    <a:srgbClr val="006600"/>
                  </a:solidFill>
                  <a:latin typeface="Courier New" pitchFamily="49" charset="0"/>
                  <a:cs typeface="Courier New" pitchFamily="49" charset="0"/>
                </a:rPr>
                <a:t>, *z = </a:t>
              </a:r>
              <a:r>
                <a:rPr lang="en-US" sz="1600" b="1" dirty="0">
                  <a:solidFill>
                    <a:srgbClr val="FF0000"/>
                  </a:solidFill>
                  <a:latin typeface="Courier New" pitchFamily="49" charset="0"/>
                  <a:cs typeface="Courier New" pitchFamily="49" charset="0"/>
                </a:rPr>
                <a:t>%d\n</a:t>
              </a:r>
              <a:r>
                <a:rPr lang="en-US" sz="1600" b="1" dirty="0">
                  <a:solidFill>
                    <a:srgbClr val="006600"/>
                  </a:solidFill>
                  <a:latin typeface="Courier New" pitchFamily="49" charset="0"/>
                  <a:cs typeface="Courier New" pitchFamily="49" charset="0"/>
                </a:rPr>
                <a:t>"</a:t>
              </a:r>
              <a:r>
                <a:rPr lang="en-US" sz="1600" b="1" dirty="0">
                  <a:latin typeface="Courier New" pitchFamily="49" charset="0"/>
                  <a:cs typeface="Courier New" pitchFamily="49" charset="0"/>
                </a:rPr>
                <a:t>, *x, *y, *z);</a:t>
              </a:r>
            </a:p>
            <a:p>
              <a:pPr>
                <a:defRPr/>
              </a:pPr>
              <a:r>
                <a:rPr lang="en-US" sz="1600" b="1" dirty="0">
                  <a:latin typeface="Courier New" pitchFamily="49" charset="0"/>
                  <a:cs typeface="Courier New" pitchFamily="49" charset="0"/>
                </a:rPr>
                <a:t>} </a:t>
              </a:r>
            </a:p>
          </p:txBody>
        </p:sp>
        <p:sp>
          <p:nvSpPr>
            <p:cNvPr id="54" name="TextBox 53"/>
            <p:cNvSpPr txBox="1">
              <a:spLocks noChangeArrowheads="1"/>
            </p:cNvSpPr>
            <p:nvPr/>
          </p:nvSpPr>
          <p:spPr bwMode="auto">
            <a:xfrm>
              <a:off x="5612773" y="1240285"/>
              <a:ext cx="2835071" cy="369332"/>
            </a:xfrm>
            <a:prstGeom prst="rect">
              <a:avLst/>
            </a:prstGeom>
            <a:solidFill>
              <a:srgbClr val="FFFF99"/>
            </a:solidFill>
            <a:ln w="9525">
              <a:solidFill>
                <a:schemeClr val="tx1"/>
              </a:solidFill>
              <a:miter lim="800000"/>
              <a:headEnd/>
              <a:tailEnd/>
            </a:ln>
          </p:spPr>
          <p:txBody>
            <a:bodyPr wrap="none">
              <a:spAutoFit/>
            </a:bodyPr>
            <a:lstStyle/>
            <a:p>
              <a:r>
                <a:rPr lang="en-US" dirty="0" smtClean="0"/>
                <a:t>Week6_FunctionDemo2.c</a:t>
              </a:r>
              <a:endParaRPr lang="en-US" dirty="0"/>
            </a:p>
          </p:txBody>
        </p:sp>
      </p:grpSp>
      <p:sp>
        <p:nvSpPr>
          <p:cNvPr id="23554" name="Rectangle 2"/>
          <p:cNvSpPr>
            <a:spLocks noGrp="1" noChangeArrowheads="1"/>
          </p:cNvSpPr>
          <p:nvPr>
            <p:ph type="title"/>
          </p:nvPr>
        </p:nvSpPr>
        <p:spPr>
          <a:xfrm>
            <a:off x="533400" y="381000"/>
            <a:ext cx="8382000" cy="838200"/>
          </a:xfrm>
        </p:spPr>
        <p:txBody>
          <a:bodyPr/>
          <a:lstStyle/>
          <a:p>
            <a:pPr eaLnBrk="1" hangingPunct="1"/>
            <a:r>
              <a:rPr lang="en-GB" dirty="0" smtClean="0"/>
              <a:t>5. Functions with &amp;parameters (2/6)</a:t>
            </a:r>
            <a:endParaRPr lang="en-GB" sz="4800" dirty="0" smtClean="0"/>
          </a:p>
        </p:txBody>
      </p:sp>
      <p:sp>
        <p:nvSpPr>
          <p:cNvPr id="20484" name="Slide Number Placeholder 7"/>
          <p:cNvSpPr>
            <a:spLocks noGrp="1"/>
          </p:cNvSpPr>
          <p:nvPr>
            <p:ph type="sldNum" sz="quarter" idx="12"/>
          </p:nvPr>
        </p:nvSpPr>
        <p:spPr/>
        <p:txBody>
          <a:bodyPr/>
          <a:lstStyle/>
          <a:p>
            <a:pPr>
              <a:defRPr/>
            </a:pPr>
            <a:r>
              <a:rPr dirty="0" smtClean="0">
                <a:cs typeface="Arial" pitchFamily="34" charset="0"/>
              </a:rPr>
              <a:t>Week6 - </a:t>
            </a:r>
            <a:fld id="{E6446199-D3CC-4394-8B7D-E46438579C39}" type="slidenum">
              <a:rPr smtClean="0">
                <a:cs typeface="Arial" pitchFamily="34" charset="0"/>
              </a:rPr>
              <a:pPr>
                <a:defRPr/>
              </a:pPr>
              <a:t>24</a:t>
            </a:fld>
            <a:endParaRPr dirty="0" smtClean="0">
              <a:cs typeface="Arial" pitchFamily="34" charset="0"/>
            </a:endParaRPr>
          </a:p>
        </p:txBody>
      </p:sp>
      <p:sp>
        <p:nvSpPr>
          <p:cNvPr id="23559" name="Text Box 4"/>
          <p:cNvSpPr txBox="1">
            <a:spLocks noChangeArrowheads="1"/>
          </p:cNvSpPr>
          <p:nvPr/>
        </p:nvSpPr>
        <p:spPr bwMode="auto">
          <a:xfrm>
            <a:off x="152400" y="6400800"/>
            <a:ext cx="304800" cy="201613"/>
          </a:xfrm>
          <a:prstGeom prst="rect">
            <a:avLst/>
          </a:prstGeom>
          <a:noFill/>
          <a:ln w="9525">
            <a:noFill/>
            <a:miter lim="800000"/>
            <a:headEnd/>
            <a:tailEnd/>
          </a:ln>
        </p:spPr>
        <p:txBody>
          <a:bodyPr lIns="9144" tIns="9144" rIns="9144" bIns="9144">
            <a:spAutoFit/>
          </a:bodyPr>
          <a:lstStyle/>
          <a:p>
            <a:pPr algn="ctr">
              <a:spcBef>
                <a:spcPct val="50000"/>
              </a:spcBef>
            </a:pPr>
            <a:r>
              <a:rPr lang="en-US" sz="1200">
                <a:sym typeface="Wingdings 2" pitchFamily="18" charset="2"/>
              </a:rPr>
              <a:t></a:t>
            </a:r>
          </a:p>
        </p:txBody>
      </p:sp>
      <p:grpSp>
        <p:nvGrpSpPr>
          <p:cNvPr id="2" name="Group 9"/>
          <p:cNvGrpSpPr>
            <a:grpSpLocks/>
          </p:cNvGrpSpPr>
          <p:nvPr/>
        </p:nvGrpSpPr>
        <p:grpSpPr bwMode="auto">
          <a:xfrm>
            <a:off x="4708525" y="2185501"/>
            <a:ext cx="2879725" cy="511175"/>
            <a:chOff x="4708632" y="2007475"/>
            <a:chExt cx="2879836" cy="511975"/>
          </a:xfrm>
        </p:grpSpPr>
        <p:grpSp>
          <p:nvGrpSpPr>
            <p:cNvPr id="23597" name="Group 13"/>
            <p:cNvGrpSpPr>
              <a:grpSpLocks/>
            </p:cNvGrpSpPr>
            <p:nvPr/>
          </p:nvGrpSpPr>
          <p:grpSpPr bwMode="auto">
            <a:xfrm>
              <a:off x="4708632" y="2007475"/>
              <a:ext cx="798787" cy="511975"/>
              <a:chOff x="4834756" y="1996965"/>
              <a:chExt cx="798787" cy="511975"/>
            </a:xfrm>
          </p:grpSpPr>
          <p:sp>
            <p:nvSpPr>
              <p:cNvPr id="23604" name="TextBox 17"/>
              <p:cNvSpPr txBox="1">
                <a:spLocks noChangeArrowheads="1"/>
              </p:cNvSpPr>
              <p:nvPr/>
            </p:nvSpPr>
            <p:spPr bwMode="auto">
              <a:xfrm>
                <a:off x="4834756" y="1996965"/>
                <a:ext cx="336331" cy="338554"/>
              </a:xfrm>
              <a:prstGeom prst="rect">
                <a:avLst/>
              </a:prstGeom>
              <a:noFill/>
              <a:ln w="9525">
                <a:noFill/>
                <a:miter lim="800000"/>
                <a:headEnd/>
                <a:tailEnd/>
              </a:ln>
            </p:spPr>
            <p:txBody>
              <a:bodyPr>
                <a:spAutoFit/>
              </a:bodyPr>
              <a:lstStyle/>
              <a:p>
                <a:r>
                  <a:rPr lang="en-US" sz="1600">
                    <a:latin typeface="Calibri" pitchFamily="34" charset="0"/>
                  </a:rPr>
                  <a:t>a</a:t>
                </a:r>
                <a:endParaRPr lang="en-SG" sz="1600">
                  <a:latin typeface="Calibri" pitchFamily="34" charset="0"/>
                </a:endParaRPr>
              </a:p>
            </p:txBody>
          </p:sp>
          <p:sp>
            <p:nvSpPr>
              <p:cNvPr id="23605" name="TextBox 18"/>
              <p:cNvSpPr txBox="1">
                <a:spLocks noChangeArrowheads="1"/>
              </p:cNvSpPr>
              <p:nvPr/>
            </p:nvSpPr>
            <p:spPr bwMode="auto">
              <a:xfrm>
                <a:off x="5102770" y="2170386"/>
                <a:ext cx="530773" cy="338554"/>
              </a:xfrm>
              <a:prstGeom prst="rect">
                <a:avLst/>
              </a:prstGeom>
              <a:solidFill>
                <a:srgbClr val="FFCC66"/>
              </a:solidFill>
              <a:ln w="9525">
                <a:solidFill>
                  <a:schemeClr val="tx1"/>
                </a:solidFill>
                <a:miter lim="800000"/>
                <a:headEnd/>
                <a:tailEnd/>
              </a:ln>
            </p:spPr>
            <p:txBody>
              <a:bodyPr>
                <a:spAutoFit/>
              </a:bodyPr>
              <a:lstStyle/>
              <a:p>
                <a:pPr algn="ctr"/>
                <a:r>
                  <a:rPr lang="en-US" sz="1600">
                    <a:latin typeface="Calibri" pitchFamily="34" charset="0"/>
                  </a:rPr>
                  <a:t>9</a:t>
                </a:r>
                <a:endParaRPr lang="en-SG" sz="1600">
                  <a:latin typeface="Calibri" pitchFamily="34" charset="0"/>
                </a:endParaRPr>
              </a:p>
            </p:txBody>
          </p:sp>
        </p:grpSp>
        <p:grpSp>
          <p:nvGrpSpPr>
            <p:cNvPr id="23598" name="Group 14"/>
            <p:cNvGrpSpPr>
              <a:grpSpLocks/>
            </p:cNvGrpSpPr>
            <p:nvPr/>
          </p:nvGrpSpPr>
          <p:grpSpPr bwMode="auto">
            <a:xfrm>
              <a:off x="5796453" y="2007475"/>
              <a:ext cx="798787" cy="511975"/>
              <a:chOff x="6027681" y="2023240"/>
              <a:chExt cx="798787" cy="511975"/>
            </a:xfrm>
          </p:grpSpPr>
          <p:sp>
            <p:nvSpPr>
              <p:cNvPr id="23602" name="TextBox 15"/>
              <p:cNvSpPr txBox="1">
                <a:spLocks noChangeArrowheads="1"/>
              </p:cNvSpPr>
              <p:nvPr/>
            </p:nvSpPr>
            <p:spPr bwMode="auto">
              <a:xfrm>
                <a:off x="6027681" y="2023240"/>
                <a:ext cx="336331" cy="338554"/>
              </a:xfrm>
              <a:prstGeom prst="rect">
                <a:avLst/>
              </a:prstGeom>
              <a:noFill/>
              <a:ln w="9525">
                <a:noFill/>
                <a:miter lim="800000"/>
                <a:headEnd/>
                <a:tailEnd/>
              </a:ln>
            </p:spPr>
            <p:txBody>
              <a:bodyPr>
                <a:spAutoFit/>
              </a:bodyPr>
              <a:lstStyle/>
              <a:p>
                <a:r>
                  <a:rPr lang="en-US" sz="1600">
                    <a:latin typeface="Calibri" pitchFamily="34" charset="0"/>
                  </a:rPr>
                  <a:t>b</a:t>
                </a:r>
                <a:endParaRPr lang="en-SG" sz="1600">
                  <a:latin typeface="Calibri" pitchFamily="34" charset="0"/>
                </a:endParaRPr>
              </a:p>
            </p:txBody>
          </p:sp>
          <p:sp>
            <p:nvSpPr>
              <p:cNvPr id="23603" name="TextBox 16"/>
              <p:cNvSpPr txBox="1">
                <a:spLocks noChangeArrowheads="1"/>
              </p:cNvSpPr>
              <p:nvPr/>
            </p:nvSpPr>
            <p:spPr bwMode="auto">
              <a:xfrm>
                <a:off x="6295695" y="2196661"/>
                <a:ext cx="530773" cy="338554"/>
              </a:xfrm>
              <a:prstGeom prst="rect">
                <a:avLst/>
              </a:prstGeom>
              <a:solidFill>
                <a:srgbClr val="FFCC66"/>
              </a:solidFill>
              <a:ln w="9525">
                <a:solidFill>
                  <a:schemeClr val="tx1"/>
                </a:solidFill>
                <a:miter lim="800000"/>
                <a:headEnd/>
                <a:tailEnd/>
              </a:ln>
            </p:spPr>
            <p:txBody>
              <a:bodyPr>
                <a:spAutoFit/>
              </a:bodyPr>
              <a:lstStyle/>
              <a:p>
                <a:pPr algn="ctr"/>
                <a:r>
                  <a:rPr lang="en-US" sz="1600">
                    <a:latin typeface="Calibri" pitchFamily="34" charset="0"/>
                  </a:rPr>
                  <a:t>-2</a:t>
                </a:r>
                <a:endParaRPr lang="en-SG" sz="1600">
                  <a:latin typeface="Calibri" pitchFamily="34" charset="0"/>
                </a:endParaRPr>
              </a:p>
            </p:txBody>
          </p:sp>
        </p:grpSp>
        <p:grpSp>
          <p:nvGrpSpPr>
            <p:cNvPr id="23599" name="Group 15"/>
            <p:cNvGrpSpPr>
              <a:grpSpLocks/>
            </p:cNvGrpSpPr>
            <p:nvPr/>
          </p:nvGrpSpPr>
          <p:grpSpPr bwMode="auto">
            <a:xfrm>
              <a:off x="6789681" y="2007475"/>
              <a:ext cx="798787" cy="511975"/>
              <a:chOff x="6027681" y="2023240"/>
              <a:chExt cx="798787" cy="511975"/>
            </a:xfrm>
          </p:grpSpPr>
          <p:sp>
            <p:nvSpPr>
              <p:cNvPr id="23600" name="TextBox 13"/>
              <p:cNvSpPr txBox="1">
                <a:spLocks noChangeArrowheads="1"/>
              </p:cNvSpPr>
              <p:nvPr/>
            </p:nvSpPr>
            <p:spPr bwMode="auto">
              <a:xfrm>
                <a:off x="6027681" y="2023240"/>
                <a:ext cx="336331" cy="338554"/>
              </a:xfrm>
              <a:prstGeom prst="rect">
                <a:avLst/>
              </a:prstGeom>
              <a:noFill/>
              <a:ln w="9525">
                <a:noFill/>
                <a:miter lim="800000"/>
                <a:headEnd/>
                <a:tailEnd/>
              </a:ln>
            </p:spPr>
            <p:txBody>
              <a:bodyPr>
                <a:spAutoFit/>
              </a:bodyPr>
              <a:lstStyle/>
              <a:p>
                <a:r>
                  <a:rPr lang="en-US" sz="1600">
                    <a:latin typeface="Calibri" pitchFamily="34" charset="0"/>
                  </a:rPr>
                  <a:t>c</a:t>
                </a:r>
                <a:endParaRPr lang="en-SG" sz="1600">
                  <a:latin typeface="Calibri" pitchFamily="34" charset="0"/>
                </a:endParaRPr>
              </a:p>
            </p:txBody>
          </p:sp>
          <p:sp>
            <p:nvSpPr>
              <p:cNvPr id="23601" name="TextBox 14"/>
              <p:cNvSpPr txBox="1">
                <a:spLocks noChangeArrowheads="1"/>
              </p:cNvSpPr>
              <p:nvPr/>
            </p:nvSpPr>
            <p:spPr bwMode="auto">
              <a:xfrm>
                <a:off x="6295695" y="2196661"/>
                <a:ext cx="530773" cy="338554"/>
              </a:xfrm>
              <a:prstGeom prst="rect">
                <a:avLst/>
              </a:prstGeom>
              <a:solidFill>
                <a:srgbClr val="FFCC66"/>
              </a:solidFill>
              <a:ln w="9525">
                <a:solidFill>
                  <a:schemeClr val="tx1"/>
                </a:solidFill>
                <a:miter lim="800000"/>
                <a:headEnd/>
                <a:tailEnd/>
              </a:ln>
            </p:spPr>
            <p:txBody>
              <a:bodyPr>
                <a:spAutoFit/>
              </a:bodyPr>
              <a:lstStyle/>
              <a:p>
                <a:pPr algn="ctr"/>
                <a:r>
                  <a:rPr lang="en-US" sz="1600" dirty="0">
                    <a:latin typeface="Calibri" pitchFamily="34" charset="0"/>
                  </a:rPr>
                  <a:t>5</a:t>
                </a:r>
                <a:endParaRPr lang="en-SG" sz="1600" dirty="0">
                  <a:latin typeface="Calibri" pitchFamily="34" charset="0"/>
                </a:endParaRPr>
              </a:p>
            </p:txBody>
          </p:sp>
        </p:grpSp>
      </p:grpSp>
      <p:grpSp>
        <p:nvGrpSpPr>
          <p:cNvPr id="16" name="Group 55"/>
          <p:cNvGrpSpPr>
            <a:grpSpLocks/>
          </p:cNvGrpSpPr>
          <p:nvPr/>
        </p:nvGrpSpPr>
        <p:grpSpPr bwMode="auto">
          <a:xfrm>
            <a:off x="2217738" y="1681339"/>
            <a:ext cx="1908175" cy="304800"/>
            <a:chOff x="2217684" y="1770994"/>
            <a:chExt cx="1907628" cy="304800"/>
          </a:xfrm>
        </p:grpSpPr>
        <p:sp>
          <p:nvSpPr>
            <p:cNvPr id="23575" name="Oval 44"/>
            <p:cNvSpPr>
              <a:spLocks noChangeArrowheads="1"/>
            </p:cNvSpPr>
            <p:nvPr/>
          </p:nvSpPr>
          <p:spPr bwMode="auto">
            <a:xfrm>
              <a:off x="2217684" y="1770994"/>
              <a:ext cx="199696" cy="304800"/>
            </a:xfrm>
            <a:prstGeom prst="ellipse">
              <a:avLst/>
            </a:prstGeom>
            <a:noFill/>
            <a:ln w="19050" cap="sq" algn="ctr">
              <a:solidFill>
                <a:srgbClr val="FF9900"/>
              </a:solidFill>
              <a:round/>
              <a:headEnd type="none" w="sm" len="sm"/>
              <a:tailEnd type="none" w="sm" len="sm"/>
            </a:ln>
          </p:spPr>
          <p:txBody>
            <a:bodyPr/>
            <a:lstStyle/>
            <a:p>
              <a:endParaRPr lang="en-SG"/>
            </a:p>
          </p:txBody>
        </p:sp>
        <p:sp>
          <p:nvSpPr>
            <p:cNvPr id="23576" name="Oval 45"/>
            <p:cNvSpPr>
              <a:spLocks noChangeArrowheads="1"/>
            </p:cNvSpPr>
            <p:nvPr/>
          </p:nvSpPr>
          <p:spPr bwMode="auto">
            <a:xfrm>
              <a:off x="3063767" y="1770994"/>
              <a:ext cx="199696" cy="304800"/>
            </a:xfrm>
            <a:prstGeom prst="ellipse">
              <a:avLst/>
            </a:prstGeom>
            <a:noFill/>
            <a:ln w="19050" cap="sq" algn="ctr">
              <a:solidFill>
                <a:srgbClr val="FF9900"/>
              </a:solidFill>
              <a:round/>
              <a:headEnd type="none" w="sm" len="sm"/>
              <a:tailEnd type="none" w="sm" len="sm"/>
            </a:ln>
          </p:spPr>
          <p:txBody>
            <a:bodyPr/>
            <a:lstStyle/>
            <a:p>
              <a:endParaRPr lang="en-SG"/>
            </a:p>
          </p:txBody>
        </p:sp>
        <p:sp>
          <p:nvSpPr>
            <p:cNvPr id="23577" name="Oval 46"/>
            <p:cNvSpPr>
              <a:spLocks noChangeArrowheads="1"/>
            </p:cNvSpPr>
            <p:nvPr/>
          </p:nvSpPr>
          <p:spPr bwMode="auto">
            <a:xfrm>
              <a:off x="3925616" y="1770994"/>
              <a:ext cx="199696" cy="304800"/>
            </a:xfrm>
            <a:prstGeom prst="ellipse">
              <a:avLst/>
            </a:prstGeom>
            <a:noFill/>
            <a:ln w="19050" cap="sq" algn="ctr">
              <a:solidFill>
                <a:srgbClr val="FF9900"/>
              </a:solidFill>
              <a:round/>
              <a:headEnd type="none" w="sm" len="sm"/>
              <a:tailEnd type="none" w="sm" len="sm"/>
            </a:ln>
          </p:spPr>
          <p:txBody>
            <a:bodyPr/>
            <a:lstStyle/>
            <a:p>
              <a:endParaRPr lang="en-SG"/>
            </a:p>
          </p:txBody>
        </p:sp>
      </p:grpSp>
      <p:grpSp>
        <p:nvGrpSpPr>
          <p:cNvPr id="17" name="Group 53"/>
          <p:cNvGrpSpPr>
            <a:grpSpLocks/>
          </p:cNvGrpSpPr>
          <p:nvPr/>
        </p:nvGrpSpPr>
        <p:grpSpPr bwMode="auto">
          <a:xfrm>
            <a:off x="1655763" y="2664002"/>
            <a:ext cx="1250950" cy="304800"/>
            <a:chOff x="1655379" y="2753711"/>
            <a:chExt cx="1250730" cy="304800"/>
          </a:xfrm>
        </p:grpSpPr>
        <p:sp>
          <p:nvSpPr>
            <p:cNvPr id="23572" name="Oval 47"/>
            <p:cNvSpPr>
              <a:spLocks noChangeArrowheads="1"/>
            </p:cNvSpPr>
            <p:nvPr/>
          </p:nvSpPr>
          <p:spPr bwMode="auto">
            <a:xfrm>
              <a:off x="1655379" y="2753711"/>
              <a:ext cx="268013" cy="304800"/>
            </a:xfrm>
            <a:prstGeom prst="ellipse">
              <a:avLst/>
            </a:prstGeom>
            <a:noFill/>
            <a:ln w="19050" cap="sq" algn="ctr">
              <a:solidFill>
                <a:srgbClr val="FF9900"/>
              </a:solidFill>
              <a:round/>
              <a:headEnd type="none" w="sm" len="sm"/>
              <a:tailEnd type="none" w="sm" len="sm"/>
            </a:ln>
          </p:spPr>
          <p:txBody>
            <a:bodyPr/>
            <a:lstStyle/>
            <a:p>
              <a:endParaRPr lang="en-SG"/>
            </a:p>
          </p:txBody>
        </p:sp>
        <p:sp>
          <p:nvSpPr>
            <p:cNvPr id="23573" name="Oval 48"/>
            <p:cNvSpPr>
              <a:spLocks noChangeArrowheads="1"/>
            </p:cNvSpPr>
            <p:nvPr/>
          </p:nvSpPr>
          <p:spPr bwMode="auto">
            <a:xfrm>
              <a:off x="2144110" y="2753711"/>
              <a:ext cx="268013" cy="304800"/>
            </a:xfrm>
            <a:prstGeom prst="ellipse">
              <a:avLst/>
            </a:prstGeom>
            <a:noFill/>
            <a:ln w="19050" cap="sq" algn="ctr">
              <a:solidFill>
                <a:srgbClr val="FF9900"/>
              </a:solidFill>
              <a:round/>
              <a:headEnd type="none" w="sm" len="sm"/>
              <a:tailEnd type="none" w="sm" len="sm"/>
            </a:ln>
          </p:spPr>
          <p:txBody>
            <a:bodyPr/>
            <a:lstStyle/>
            <a:p>
              <a:endParaRPr lang="en-SG"/>
            </a:p>
          </p:txBody>
        </p:sp>
        <p:sp>
          <p:nvSpPr>
            <p:cNvPr id="23574" name="Oval 49"/>
            <p:cNvSpPr>
              <a:spLocks noChangeArrowheads="1"/>
            </p:cNvSpPr>
            <p:nvPr/>
          </p:nvSpPr>
          <p:spPr bwMode="auto">
            <a:xfrm>
              <a:off x="2638096" y="2753711"/>
              <a:ext cx="268013" cy="304800"/>
            </a:xfrm>
            <a:prstGeom prst="ellipse">
              <a:avLst/>
            </a:prstGeom>
            <a:noFill/>
            <a:ln w="19050" cap="sq" algn="ctr">
              <a:solidFill>
                <a:srgbClr val="FF9900"/>
              </a:solidFill>
              <a:round/>
              <a:headEnd type="none" w="sm" len="sm"/>
              <a:tailEnd type="none" w="sm" len="sm"/>
            </a:ln>
          </p:spPr>
          <p:txBody>
            <a:bodyPr/>
            <a:lstStyle/>
            <a:p>
              <a:endParaRPr lang="en-SG"/>
            </a:p>
          </p:txBody>
        </p:sp>
      </p:grpSp>
      <p:grpSp>
        <p:nvGrpSpPr>
          <p:cNvPr id="18" name="Group 54"/>
          <p:cNvGrpSpPr>
            <a:grpSpLocks/>
          </p:cNvGrpSpPr>
          <p:nvPr/>
        </p:nvGrpSpPr>
        <p:grpSpPr bwMode="auto">
          <a:xfrm>
            <a:off x="2249488" y="3887964"/>
            <a:ext cx="2254250" cy="304800"/>
            <a:chOff x="2249213" y="3978166"/>
            <a:chExt cx="2254468" cy="304800"/>
          </a:xfrm>
        </p:grpSpPr>
        <p:sp>
          <p:nvSpPr>
            <p:cNvPr id="23569" name="Oval 50"/>
            <p:cNvSpPr>
              <a:spLocks noChangeArrowheads="1"/>
            </p:cNvSpPr>
            <p:nvPr/>
          </p:nvSpPr>
          <p:spPr bwMode="auto">
            <a:xfrm>
              <a:off x="2249213" y="3978166"/>
              <a:ext cx="268013" cy="304800"/>
            </a:xfrm>
            <a:prstGeom prst="ellipse">
              <a:avLst/>
            </a:prstGeom>
            <a:noFill/>
            <a:ln w="19050" cap="sq" algn="ctr">
              <a:solidFill>
                <a:srgbClr val="FF9900"/>
              </a:solidFill>
              <a:round/>
              <a:headEnd type="none" w="sm" len="sm"/>
              <a:tailEnd type="none" w="sm" len="sm"/>
            </a:ln>
          </p:spPr>
          <p:txBody>
            <a:bodyPr/>
            <a:lstStyle/>
            <a:p>
              <a:endParaRPr lang="en-SG"/>
            </a:p>
          </p:txBody>
        </p:sp>
        <p:sp>
          <p:nvSpPr>
            <p:cNvPr id="23570" name="Oval 51"/>
            <p:cNvSpPr>
              <a:spLocks noChangeArrowheads="1"/>
            </p:cNvSpPr>
            <p:nvPr/>
          </p:nvSpPr>
          <p:spPr bwMode="auto">
            <a:xfrm>
              <a:off x="3247696" y="3978166"/>
              <a:ext cx="268013" cy="304800"/>
            </a:xfrm>
            <a:prstGeom prst="ellipse">
              <a:avLst/>
            </a:prstGeom>
            <a:noFill/>
            <a:ln w="19050" cap="sq" algn="ctr">
              <a:solidFill>
                <a:srgbClr val="FF9900"/>
              </a:solidFill>
              <a:round/>
              <a:headEnd type="none" w="sm" len="sm"/>
              <a:tailEnd type="none" w="sm" len="sm"/>
            </a:ln>
          </p:spPr>
          <p:txBody>
            <a:bodyPr/>
            <a:lstStyle/>
            <a:p>
              <a:endParaRPr lang="en-SG"/>
            </a:p>
          </p:txBody>
        </p:sp>
        <p:sp>
          <p:nvSpPr>
            <p:cNvPr id="23571" name="Oval 52"/>
            <p:cNvSpPr>
              <a:spLocks noChangeArrowheads="1"/>
            </p:cNvSpPr>
            <p:nvPr/>
          </p:nvSpPr>
          <p:spPr bwMode="auto">
            <a:xfrm>
              <a:off x="4235668" y="3978166"/>
              <a:ext cx="268013" cy="304800"/>
            </a:xfrm>
            <a:prstGeom prst="ellipse">
              <a:avLst/>
            </a:prstGeom>
            <a:noFill/>
            <a:ln w="19050" cap="sq" algn="ctr">
              <a:solidFill>
                <a:srgbClr val="FF9900"/>
              </a:solidFill>
              <a:round/>
              <a:headEnd type="none" w="sm" len="sm"/>
              <a:tailEnd type="none" w="sm" len="sm"/>
            </a:ln>
          </p:spPr>
          <p:txBody>
            <a:bodyPr/>
            <a:lstStyle/>
            <a:p>
              <a:endParaRPr lang="en-SG"/>
            </a:p>
          </p:txBody>
        </p:sp>
      </p:grpSp>
      <p:pic>
        <p:nvPicPr>
          <p:cNvPr id="55" name="Picture 54" descr="focus-md.png"/>
          <p:cNvPicPr>
            <a:picLocks noChangeAspect="1"/>
          </p:cNvPicPr>
          <p:nvPr/>
        </p:nvPicPr>
        <p:blipFill>
          <a:blip r:embed="rId3" cstate="print"/>
          <a:stretch>
            <a:fillRect/>
          </a:stretch>
        </p:blipFill>
        <p:spPr>
          <a:xfrm>
            <a:off x="8229649" y="375969"/>
            <a:ext cx="614548" cy="830472"/>
          </a:xfrm>
          <a:prstGeom prst="rect">
            <a:avLst/>
          </a:prstGeom>
          <a:effectLst>
            <a:outerShdw blurRad="50800" dist="38100" dir="5400000" algn="t" rotWithShape="0">
              <a:prstClr val="black">
                <a:alpha val="40000"/>
              </a:prstClr>
            </a:outerShdw>
            <a:reflection blurRad="6350" stA="50000" endA="300" endPos="55000" dir="5400000" sy="-100000" algn="bl" rotWithShape="0"/>
          </a:effectLst>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dissolve">
                                      <p:cBhvr>
                                        <p:cTn id="7" dur="500"/>
                                        <p:tgtEl>
                                          <p:spTgt spid="17"/>
                                        </p:tgtEl>
                                      </p:cBhvr>
                                    </p:animEffect>
                                  </p:childTnLst>
                                </p:cTn>
                              </p:par>
                              <p:par>
                                <p:cTn id="8" presetID="9" presetClass="entr" presetSubtype="0" fill="hold"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dissolve">
                                      <p:cBhvr>
                                        <p:cTn id="10" dur="500"/>
                                        <p:tgtEl>
                                          <p:spTgt spid="16"/>
                                        </p:tgtEl>
                                      </p:cBhvr>
                                    </p:animEffect>
                                  </p:childTnLst>
                                </p:cTn>
                              </p:par>
                              <p:par>
                                <p:cTn id="11" presetID="9" presetClass="entr" presetSubtype="0" fill="hold"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dissolve">
                                      <p:cBhvr>
                                        <p:cTn id="13" dur="500"/>
                                        <p:tgtEl>
                                          <p:spTgt spid="18"/>
                                        </p:tgtEl>
                                      </p:cBhvr>
                                    </p:animEffect>
                                  </p:childTnLst>
                                </p:cTn>
                              </p:par>
                            </p:childTnLst>
                          </p:cTn>
                        </p:par>
                        <p:par>
                          <p:cTn id="14" fill="hold">
                            <p:stCondLst>
                              <p:cond delay="500"/>
                            </p:stCondLst>
                            <p:childTnLst>
                              <p:par>
                                <p:cTn id="15" presetID="9" presetClass="entr" presetSubtype="0" fill="hold" nodeType="after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dissolve">
                                      <p:cBhvr>
                                        <p:cTn id="1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13"/>
          <p:cNvGrpSpPr/>
          <p:nvPr/>
        </p:nvGrpSpPr>
        <p:grpSpPr>
          <a:xfrm>
            <a:off x="834987" y="1318620"/>
            <a:ext cx="7601706" cy="4475214"/>
            <a:chOff x="834987" y="1386353"/>
            <a:chExt cx="7601706" cy="4475214"/>
          </a:xfrm>
        </p:grpSpPr>
        <p:sp>
          <p:nvSpPr>
            <p:cNvPr id="7" name="TextBox 6"/>
            <p:cNvSpPr txBox="1"/>
            <p:nvPr/>
          </p:nvSpPr>
          <p:spPr>
            <a:xfrm>
              <a:off x="834987" y="1561171"/>
              <a:ext cx="7005637" cy="4300396"/>
            </a:xfrm>
            <a:prstGeom prst="rect">
              <a:avLst/>
            </a:prstGeom>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wrap="square">
              <a:spAutoFit/>
            </a:bodyPr>
            <a:lstStyle/>
            <a:p>
              <a:pPr>
                <a:defRPr/>
              </a:pPr>
              <a:r>
                <a:rPr lang="en-US" sz="1600" b="1" dirty="0" smtClean="0">
                  <a:solidFill>
                    <a:srgbClr val="7030A0"/>
                  </a:solidFill>
                  <a:latin typeface="Courier New" pitchFamily="49" charset="0"/>
                  <a:cs typeface="Courier New" pitchFamily="49" charset="0"/>
                </a:rPr>
                <a:t>#</a:t>
              </a:r>
              <a:r>
                <a:rPr lang="en-US" sz="1600" b="1" dirty="0">
                  <a:solidFill>
                    <a:srgbClr val="7030A0"/>
                  </a:solidFill>
                  <a:latin typeface="Courier New" pitchFamily="49" charset="0"/>
                  <a:cs typeface="Courier New" pitchFamily="49" charset="0"/>
                </a:rPr>
                <a:t>include</a:t>
              </a:r>
              <a:r>
                <a:rPr lang="en-US" sz="1600" b="1" dirty="0">
                  <a:latin typeface="Courier New" pitchFamily="49" charset="0"/>
                  <a:cs typeface="Courier New" pitchFamily="49" charset="0"/>
                </a:rPr>
                <a:t> </a:t>
              </a:r>
              <a:r>
                <a:rPr lang="en-US" sz="1600" b="1" dirty="0">
                  <a:solidFill>
                    <a:srgbClr val="006600"/>
                  </a:solidFill>
                  <a:latin typeface="Courier New" pitchFamily="49" charset="0"/>
                  <a:cs typeface="Courier New" pitchFamily="49" charset="0"/>
                </a:rPr>
                <a:t>&lt;</a:t>
              </a:r>
              <a:r>
                <a:rPr lang="en-US" sz="1600" b="1" dirty="0" err="1">
                  <a:solidFill>
                    <a:srgbClr val="006600"/>
                  </a:solidFill>
                  <a:latin typeface="Courier New" pitchFamily="49" charset="0"/>
                  <a:cs typeface="Courier New" pitchFamily="49" charset="0"/>
                </a:rPr>
                <a:t>stdio.h</a:t>
              </a:r>
              <a:r>
                <a:rPr lang="en-US" sz="1600" b="1" dirty="0">
                  <a:solidFill>
                    <a:srgbClr val="006600"/>
                  </a:solidFill>
                  <a:latin typeface="Courier New" pitchFamily="49" charset="0"/>
                  <a:cs typeface="Courier New" pitchFamily="49" charset="0"/>
                </a:rPr>
                <a:t>&gt;</a:t>
              </a:r>
            </a:p>
            <a:p>
              <a:pPr>
                <a:defRPr/>
              </a:pPr>
              <a:r>
                <a:rPr lang="en-US" sz="1600" b="1" dirty="0">
                  <a:solidFill>
                    <a:srgbClr val="0000FF"/>
                  </a:solidFill>
                  <a:latin typeface="Courier New" pitchFamily="49" charset="0"/>
                  <a:cs typeface="Courier New" pitchFamily="49" charset="0"/>
                </a:rPr>
                <a:t>void</a:t>
              </a:r>
              <a:r>
                <a:rPr lang="en-US" sz="1600" b="1" dirty="0">
                  <a:latin typeface="Courier New" pitchFamily="49" charset="0"/>
                  <a:cs typeface="Courier New" pitchFamily="49" charset="0"/>
                </a:rPr>
                <a:t> f(</a:t>
              </a:r>
              <a:r>
                <a:rPr lang="en-US" sz="1600" b="1" dirty="0" err="1">
                  <a:solidFill>
                    <a:srgbClr val="0000FF"/>
                  </a:solidFill>
                  <a:latin typeface="Courier New" pitchFamily="49" charset="0"/>
                  <a:cs typeface="Courier New" pitchFamily="49" charset="0"/>
                </a:rPr>
                <a:t>int</a:t>
              </a:r>
              <a:r>
                <a:rPr lang="en-US" sz="1600" b="1" dirty="0">
                  <a:latin typeface="Courier New" pitchFamily="49" charset="0"/>
                  <a:cs typeface="Courier New" pitchFamily="49" charset="0"/>
                </a:rPr>
                <a:t> *, </a:t>
              </a:r>
              <a:r>
                <a:rPr lang="en-US" sz="1600" b="1" dirty="0" err="1">
                  <a:solidFill>
                    <a:srgbClr val="0000FF"/>
                  </a:solidFill>
                  <a:latin typeface="Courier New" pitchFamily="49" charset="0"/>
                  <a:cs typeface="Courier New" pitchFamily="49" charset="0"/>
                </a:rPr>
                <a:t>int</a:t>
              </a:r>
              <a:r>
                <a:rPr lang="en-US" sz="1600" b="1" dirty="0">
                  <a:latin typeface="Courier New" pitchFamily="49" charset="0"/>
                  <a:cs typeface="Courier New" pitchFamily="49" charset="0"/>
                </a:rPr>
                <a:t> *, </a:t>
              </a:r>
              <a:r>
                <a:rPr lang="en-US" sz="1600" b="1" dirty="0" err="1">
                  <a:solidFill>
                    <a:srgbClr val="0000FF"/>
                  </a:solidFill>
                  <a:latin typeface="Courier New" pitchFamily="49" charset="0"/>
                  <a:cs typeface="Courier New" pitchFamily="49" charset="0"/>
                </a:rPr>
                <a:t>int</a:t>
              </a:r>
              <a:r>
                <a:rPr lang="en-US" sz="1600" b="1" dirty="0">
                  <a:latin typeface="Courier New" pitchFamily="49" charset="0"/>
                  <a:cs typeface="Courier New" pitchFamily="49" charset="0"/>
                </a:rPr>
                <a:t> *);</a:t>
              </a:r>
            </a:p>
            <a:p>
              <a:pPr>
                <a:defRPr/>
              </a:pPr>
              <a:endParaRPr lang="en-US" sz="1600" b="1" dirty="0">
                <a:latin typeface="Courier New" pitchFamily="49" charset="0"/>
                <a:cs typeface="Courier New" pitchFamily="49" charset="0"/>
              </a:endParaRPr>
            </a:p>
            <a:p>
              <a:pPr>
                <a:defRPr/>
              </a:pPr>
              <a:r>
                <a:rPr lang="en-US" sz="1600" b="1" dirty="0" err="1">
                  <a:solidFill>
                    <a:srgbClr val="0000FF"/>
                  </a:solidFill>
                  <a:latin typeface="Courier New" pitchFamily="49" charset="0"/>
                  <a:cs typeface="Courier New" pitchFamily="49" charset="0"/>
                </a:rPr>
                <a:t>int</a:t>
              </a:r>
              <a:r>
                <a:rPr lang="en-US" sz="1600" b="1" dirty="0">
                  <a:latin typeface="Courier New" pitchFamily="49" charset="0"/>
                  <a:cs typeface="Courier New" pitchFamily="49" charset="0"/>
                </a:rPr>
                <a:t> main(</a:t>
              </a:r>
              <a:r>
                <a:rPr lang="en-US" sz="1600" b="1" dirty="0">
                  <a:solidFill>
                    <a:srgbClr val="0000FF"/>
                  </a:solidFill>
                  <a:latin typeface="Courier New" pitchFamily="49" charset="0"/>
                  <a:cs typeface="Courier New" pitchFamily="49" charset="0"/>
                </a:rPr>
                <a:t>void</a:t>
              </a:r>
              <a:r>
                <a:rPr lang="en-US" sz="1600" b="1" dirty="0">
                  <a:latin typeface="Courier New" pitchFamily="49" charset="0"/>
                  <a:cs typeface="Courier New" pitchFamily="49" charset="0"/>
                </a:rPr>
                <a:t>) {</a:t>
              </a:r>
            </a:p>
            <a:p>
              <a:pPr>
                <a:defRPr/>
              </a:pPr>
              <a:r>
                <a:rPr lang="en-US" sz="1600" b="1" dirty="0">
                  <a:latin typeface="Courier New" pitchFamily="49" charset="0"/>
                  <a:cs typeface="Courier New" pitchFamily="49" charset="0"/>
                </a:rPr>
                <a:t>    </a:t>
              </a:r>
              <a:r>
                <a:rPr lang="en-US" sz="1600" b="1" dirty="0" err="1">
                  <a:solidFill>
                    <a:srgbClr val="0000FF"/>
                  </a:solidFill>
                  <a:latin typeface="Courier New" pitchFamily="49" charset="0"/>
                  <a:cs typeface="Courier New" pitchFamily="49" charset="0"/>
                </a:rPr>
                <a:t>int</a:t>
              </a:r>
              <a:r>
                <a:rPr lang="en-US" sz="1600" b="1" dirty="0">
                  <a:latin typeface="Courier New" pitchFamily="49" charset="0"/>
                  <a:cs typeface="Courier New" pitchFamily="49" charset="0"/>
                </a:rPr>
                <a:t> a = </a:t>
              </a:r>
              <a:r>
                <a:rPr lang="en-US" sz="1600" b="1" dirty="0">
                  <a:solidFill>
                    <a:srgbClr val="006600"/>
                  </a:solidFill>
                  <a:latin typeface="Courier New" pitchFamily="49" charset="0"/>
                  <a:cs typeface="Courier New" pitchFamily="49" charset="0"/>
                </a:rPr>
                <a:t>9</a:t>
              </a:r>
              <a:r>
                <a:rPr lang="en-US" sz="1600" b="1" dirty="0">
                  <a:latin typeface="Courier New" pitchFamily="49" charset="0"/>
                  <a:cs typeface="Courier New" pitchFamily="49" charset="0"/>
                </a:rPr>
                <a:t>, b = </a:t>
              </a:r>
              <a:r>
                <a:rPr lang="en-US" sz="1600" b="1" dirty="0">
                  <a:solidFill>
                    <a:srgbClr val="006600"/>
                  </a:solidFill>
                  <a:latin typeface="Courier New" pitchFamily="49" charset="0"/>
                  <a:cs typeface="Courier New" pitchFamily="49" charset="0"/>
                </a:rPr>
                <a:t>-2</a:t>
              </a:r>
              <a:r>
                <a:rPr lang="en-US" sz="1600" b="1" dirty="0">
                  <a:latin typeface="Courier New" pitchFamily="49" charset="0"/>
                  <a:cs typeface="Courier New" pitchFamily="49" charset="0"/>
                </a:rPr>
                <a:t>, c = </a:t>
              </a:r>
              <a:r>
                <a:rPr lang="en-US" sz="1600" b="1" dirty="0">
                  <a:solidFill>
                    <a:srgbClr val="006600"/>
                  </a:solidFill>
                  <a:latin typeface="Courier New" pitchFamily="49" charset="0"/>
                  <a:cs typeface="Courier New" pitchFamily="49" charset="0"/>
                </a:rPr>
                <a:t>5</a:t>
              </a:r>
              <a:r>
                <a:rPr lang="en-US" sz="1600" b="1" dirty="0">
                  <a:latin typeface="Courier New" pitchFamily="49" charset="0"/>
                  <a:cs typeface="Courier New" pitchFamily="49" charset="0"/>
                </a:rPr>
                <a:t>;</a:t>
              </a:r>
            </a:p>
            <a:p>
              <a:pPr>
                <a:defRPr/>
              </a:pPr>
              <a:r>
                <a:rPr lang="en-US" sz="1600" b="1" dirty="0">
                  <a:latin typeface="Courier New" pitchFamily="49" charset="0"/>
                  <a:cs typeface="Courier New" pitchFamily="49" charset="0"/>
                </a:rPr>
                <a:t>    f(&amp;a, &amp;b, &amp;c);</a:t>
              </a:r>
            </a:p>
            <a:p>
              <a:pPr>
                <a:defRPr/>
              </a:pPr>
              <a:r>
                <a:rPr lang="en-US" sz="1600" b="1" dirty="0">
                  <a:latin typeface="Courier New" pitchFamily="49" charset="0"/>
                  <a:cs typeface="Courier New" pitchFamily="49" charset="0"/>
                </a:rPr>
                <a:t>    </a:t>
              </a:r>
              <a:r>
                <a:rPr lang="en-US" sz="1600" b="1" dirty="0" err="1">
                  <a:latin typeface="Courier New" pitchFamily="49" charset="0"/>
                  <a:cs typeface="Courier New" pitchFamily="49" charset="0"/>
                </a:rPr>
                <a:t>printf</a:t>
              </a:r>
              <a:r>
                <a:rPr lang="en-US" sz="1600" b="1" dirty="0">
                  <a:latin typeface="Courier New" pitchFamily="49" charset="0"/>
                  <a:cs typeface="Courier New" pitchFamily="49" charset="0"/>
                </a:rPr>
                <a:t>(</a:t>
              </a:r>
              <a:r>
                <a:rPr lang="en-US" sz="1600" b="1" dirty="0">
                  <a:solidFill>
                    <a:srgbClr val="006600"/>
                  </a:solidFill>
                  <a:latin typeface="Courier New" pitchFamily="49" charset="0"/>
                  <a:cs typeface="Courier New" pitchFamily="49" charset="0"/>
                </a:rPr>
                <a:t>"a = </a:t>
              </a:r>
              <a:r>
                <a:rPr lang="en-US" sz="1600" b="1" dirty="0">
                  <a:solidFill>
                    <a:srgbClr val="FF0000"/>
                  </a:solidFill>
                  <a:latin typeface="Courier New" pitchFamily="49" charset="0"/>
                  <a:cs typeface="Courier New" pitchFamily="49" charset="0"/>
                </a:rPr>
                <a:t>%d</a:t>
              </a:r>
              <a:r>
                <a:rPr lang="en-US" sz="1600" b="1" dirty="0">
                  <a:solidFill>
                    <a:srgbClr val="006600"/>
                  </a:solidFill>
                  <a:latin typeface="Courier New" pitchFamily="49" charset="0"/>
                  <a:cs typeface="Courier New" pitchFamily="49" charset="0"/>
                </a:rPr>
                <a:t>, b = </a:t>
              </a:r>
              <a:r>
                <a:rPr lang="en-US" sz="1600" b="1" dirty="0">
                  <a:solidFill>
                    <a:srgbClr val="FF0000"/>
                  </a:solidFill>
                  <a:latin typeface="Courier New" pitchFamily="49" charset="0"/>
                  <a:cs typeface="Courier New" pitchFamily="49" charset="0"/>
                </a:rPr>
                <a:t>%d</a:t>
              </a:r>
              <a:r>
                <a:rPr lang="en-US" sz="1600" b="1" dirty="0">
                  <a:solidFill>
                    <a:srgbClr val="006600"/>
                  </a:solidFill>
                  <a:latin typeface="Courier New" pitchFamily="49" charset="0"/>
                  <a:cs typeface="Courier New" pitchFamily="49" charset="0"/>
                </a:rPr>
                <a:t>, c = </a:t>
              </a:r>
              <a:r>
                <a:rPr lang="en-US" sz="1600" b="1" dirty="0">
                  <a:solidFill>
                    <a:srgbClr val="FF0000"/>
                  </a:solidFill>
                  <a:latin typeface="Courier New" pitchFamily="49" charset="0"/>
                  <a:cs typeface="Courier New" pitchFamily="49" charset="0"/>
                </a:rPr>
                <a:t>%d\n</a:t>
              </a:r>
              <a:r>
                <a:rPr lang="en-US" sz="1600" b="1" dirty="0">
                  <a:solidFill>
                    <a:srgbClr val="006600"/>
                  </a:solidFill>
                  <a:latin typeface="Courier New" pitchFamily="49" charset="0"/>
                  <a:cs typeface="Courier New" pitchFamily="49" charset="0"/>
                </a:rPr>
                <a:t>"</a:t>
              </a:r>
              <a:r>
                <a:rPr lang="en-US" sz="1600" b="1" dirty="0">
                  <a:latin typeface="Courier New" pitchFamily="49" charset="0"/>
                  <a:cs typeface="Courier New" pitchFamily="49" charset="0"/>
                </a:rPr>
                <a:t>, a, b, c);</a:t>
              </a:r>
            </a:p>
            <a:p>
              <a:pPr>
                <a:defRPr/>
              </a:pPr>
              <a:r>
                <a:rPr lang="en-US" sz="1600" b="1" dirty="0">
                  <a:latin typeface="Courier New" pitchFamily="49" charset="0"/>
                  <a:cs typeface="Courier New" pitchFamily="49" charset="0"/>
                </a:rPr>
                <a:t>    </a:t>
              </a:r>
              <a:r>
                <a:rPr lang="en-US" sz="1600" b="1" dirty="0">
                  <a:solidFill>
                    <a:srgbClr val="0000FF"/>
                  </a:solidFill>
                  <a:latin typeface="Courier New" pitchFamily="49" charset="0"/>
                  <a:cs typeface="Courier New" pitchFamily="49" charset="0"/>
                </a:rPr>
                <a:t>return</a:t>
              </a:r>
              <a:r>
                <a:rPr lang="en-US" sz="1600" b="1" dirty="0">
                  <a:latin typeface="Courier New" pitchFamily="49" charset="0"/>
                  <a:cs typeface="Courier New" pitchFamily="49" charset="0"/>
                </a:rPr>
                <a:t> </a:t>
              </a:r>
              <a:r>
                <a:rPr lang="en-US" sz="1600" b="1" dirty="0">
                  <a:solidFill>
                    <a:srgbClr val="006600"/>
                  </a:solidFill>
                  <a:latin typeface="Courier New" pitchFamily="49" charset="0"/>
                  <a:cs typeface="Courier New" pitchFamily="49" charset="0"/>
                </a:rPr>
                <a:t>0</a:t>
              </a:r>
              <a:r>
                <a:rPr lang="en-US" sz="1600" b="1" dirty="0">
                  <a:latin typeface="Courier New" pitchFamily="49" charset="0"/>
                  <a:cs typeface="Courier New" pitchFamily="49" charset="0"/>
                </a:rPr>
                <a:t>;</a:t>
              </a:r>
            </a:p>
            <a:p>
              <a:pPr>
                <a:defRPr/>
              </a:pPr>
              <a:r>
                <a:rPr lang="en-US" sz="1600" b="1" dirty="0">
                  <a:latin typeface="Courier New" pitchFamily="49" charset="0"/>
                  <a:cs typeface="Courier New" pitchFamily="49" charset="0"/>
                </a:rPr>
                <a:t>}</a:t>
              </a:r>
            </a:p>
            <a:p>
              <a:pPr>
                <a:defRPr/>
              </a:pPr>
              <a:endParaRPr lang="en-US" sz="1600" b="1" dirty="0">
                <a:latin typeface="Courier New" pitchFamily="49" charset="0"/>
                <a:cs typeface="Courier New" pitchFamily="49" charset="0"/>
              </a:endParaRPr>
            </a:p>
            <a:p>
              <a:pPr>
                <a:defRPr/>
              </a:pPr>
              <a:r>
                <a:rPr lang="en-US" sz="1600" b="1" dirty="0">
                  <a:solidFill>
                    <a:srgbClr val="0000FF"/>
                  </a:solidFill>
                  <a:latin typeface="Courier New" pitchFamily="49" charset="0"/>
                  <a:cs typeface="Courier New" pitchFamily="49" charset="0"/>
                </a:rPr>
                <a:t>void</a:t>
              </a:r>
              <a:r>
                <a:rPr lang="en-US" sz="1600" b="1" dirty="0">
                  <a:latin typeface="Courier New" pitchFamily="49" charset="0"/>
                  <a:cs typeface="Courier New" pitchFamily="49" charset="0"/>
                </a:rPr>
                <a:t> f(</a:t>
              </a:r>
              <a:r>
                <a:rPr lang="en-US" sz="1600" b="1" dirty="0" err="1">
                  <a:solidFill>
                    <a:srgbClr val="0000FF"/>
                  </a:solidFill>
                  <a:latin typeface="Courier New" pitchFamily="49" charset="0"/>
                  <a:cs typeface="Courier New" pitchFamily="49" charset="0"/>
                </a:rPr>
                <a:t>int</a:t>
              </a:r>
              <a:r>
                <a:rPr lang="en-US" sz="1600" b="1" dirty="0">
                  <a:latin typeface="Courier New" pitchFamily="49" charset="0"/>
                  <a:cs typeface="Courier New" pitchFamily="49" charset="0"/>
                </a:rPr>
                <a:t> *x, </a:t>
              </a:r>
              <a:r>
                <a:rPr lang="en-US" sz="1600" b="1" dirty="0" err="1">
                  <a:solidFill>
                    <a:srgbClr val="0000FF"/>
                  </a:solidFill>
                  <a:latin typeface="Courier New" pitchFamily="49" charset="0"/>
                  <a:cs typeface="Courier New" pitchFamily="49" charset="0"/>
                </a:rPr>
                <a:t>int</a:t>
              </a:r>
              <a:r>
                <a:rPr lang="en-US" sz="1600" b="1" dirty="0">
                  <a:latin typeface="Courier New" pitchFamily="49" charset="0"/>
                  <a:cs typeface="Courier New" pitchFamily="49" charset="0"/>
                </a:rPr>
                <a:t> *y, </a:t>
              </a:r>
              <a:r>
                <a:rPr lang="en-US" sz="1600" b="1" dirty="0" err="1">
                  <a:solidFill>
                    <a:srgbClr val="0000FF"/>
                  </a:solidFill>
                  <a:latin typeface="Courier New" pitchFamily="49" charset="0"/>
                  <a:cs typeface="Courier New" pitchFamily="49" charset="0"/>
                </a:rPr>
                <a:t>int</a:t>
              </a:r>
              <a:r>
                <a:rPr lang="en-US" sz="1600" b="1" dirty="0">
                  <a:latin typeface="Courier New" pitchFamily="49" charset="0"/>
                  <a:cs typeface="Courier New" pitchFamily="49" charset="0"/>
                </a:rPr>
                <a:t> *z)</a:t>
              </a:r>
            </a:p>
            <a:p>
              <a:pPr>
                <a:defRPr/>
              </a:pPr>
              <a:r>
                <a:rPr lang="en-US" sz="1600" b="1" dirty="0">
                  <a:latin typeface="Courier New" pitchFamily="49" charset="0"/>
                  <a:cs typeface="Courier New" pitchFamily="49" charset="0"/>
                </a:rPr>
                <a:t>{</a:t>
              </a:r>
            </a:p>
            <a:p>
              <a:pPr>
                <a:defRPr/>
              </a:pPr>
              <a:r>
                <a:rPr lang="en-US" sz="1600" b="1" dirty="0">
                  <a:latin typeface="Courier New" pitchFamily="49" charset="0"/>
                  <a:cs typeface="Courier New" pitchFamily="49" charset="0"/>
                </a:rPr>
                <a:t>    *x = </a:t>
              </a:r>
              <a:r>
                <a:rPr lang="en-US" sz="1600" b="1" dirty="0">
                  <a:solidFill>
                    <a:srgbClr val="006600"/>
                  </a:solidFill>
                  <a:latin typeface="Courier New" pitchFamily="49" charset="0"/>
                  <a:cs typeface="Courier New" pitchFamily="49" charset="0"/>
                </a:rPr>
                <a:t>3</a:t>
              </a:r>
              <a:r>
                <a:rPr lang="en-US" sz="1600" b="1" dirty="0">
                  <a:latin typeface="Courier New" pitchFamily="49" charset="0"/>
                  <a:cs typeface="Courier New" pitchFamily="49" charset="0"/>
                </a:rPr>
                <a:t> + *y;</a:t>
              </a:r>
            </a:p>
            <a:p>
              <a:pPr>
                <a:defRPr/>
              </a:pPr>
              <a:r>
                <a:rPr lang="en-US" sz="1600" b="1" dirty="0">
                  <a:latin typeface="Courier New" pitchFamily="49" charset="0"/>
                  <a:cs typeface="Courier New" pitchFamily="49" charset="0"/>
                </a:rPr>
                <a:t>    *y = </a:t>
              </a:r>
              <a:r>
                <a:rPr lang="en-US" sz="1600" b="1" dirty="0">
                  <a:solidFill>
                    <a:srgbClr val="006600"/>
                  </a:solidFill>
                  <a:latin typeface="Courier New" pitchFamily="49" charset="0"/>
                  <a:cs typeface="Courier New" pitchFamily="49" charset="0"/>
                </a:rPr>
                <a:t>10</a:t>
              </a:r>
              <a:r>
                <a:rPr lang="en-US" sz="1600" b="1" dirty="0">
                  <a:latin typeface="Courier New" pitchFamily="49" charset="0"/>
                  <a:cs typeface="Courier New" pitchFamily="49" charset="0"/>
                </a:rPr>
                <a:t> * *x;</a:t>
              </a:r>
            </a:p>
            <a:p>
              <a:pPr>
                <a:defRPr/>
              </a:pPr>
              <a:r>
                <a:rPr lang="en-US" sz="1600" b="1" dirty="0">
                  <a:latin typeface="Courier New" pitchFamily="49" charset="0"/>
                  <a:cs typeface="Courier New" pitchFamily="49" charset="0"/>
                </a:rPr>
                <a:t>    *z = *x + *y + *z;</a:t>
              </a:r>
            </a:p>
            <a:p>
              <a:pPr>
                <a:defRPr/>
              </a:pPr>
              <a:r>
                <a:rPr lang="en-US" sz="1600" b="1" dirty="0">
                  <a:latin typeface="Courier New" pitchFamily="49" charset="0"/>
                  <a:cs typeface="Courier New" pitchFamily="49" charset="0"/>
                </a:rPr>
                <a:t>    </a:t>
              </a:r>
              <a:r>
                <a:rPr lang="en-US" sz="1600" b="1" dirty="0" err="1">
                  <a:latin typeface="Courier New" pitchFamily="49" charset="0"/>
                  <a:cs typeface="Courier New" pitchFamily="49" charset="0"/>
                </a:rPr>
                <a:t>printf</a:t>
              </a:r>
              <a:r>
                <a:rPr lang="en-US" sz="1600" b="1" dirty="0">
                  <a:latin typeface="Courier New" pitchFamily="49" charset="0"/>
                  <a:cs typeface="Courier New" pitchFamily="49" charset="0"/>
                </a:rPr>
                <a:t>(</a:t>
              </a:r>
              <a:r>
                <a:rPr lang="en-US" sz="1600" b="1" dirty="0">
                  <a:solidFill>
                    <a:srgbClr val="006600"/>
                  </a:solidFill>
                  <a:latin typeface="Courier New" pitchFamily="49" charset="0"/>
                  <a:cs typeface="Courier New" pitchFamily="49" charset="0"/>
                </a:rPr>
                <a:t>"x = </a:t>
              </a:r>
              <a:r>
                <a:rPr lang="en-US" sz="1600" b="1" dirty="0">
                  <a:solidFill>
                    <a:srgbClr val="FF0000"/>
                  </a:solidFill>
                  <a:latin typeface="Courier New" pitchFamily="49" charset="0"/>
                  <a:cs typeface="Courier New" pitchFamily="49" charset="0"/>
                </a:rPr>
                <a:t>%d</a:t>
              </a:r>
              <a:r>
                <a:rPr lang="en-US" sz="1600" b="1" dirty="0">
                  <a:solidFill>
                    <a:srgbClr val="006600"/>
                  </a:solidFill>
                  <a:latin typeface="Courier New" pitchFamily="49" charset="0"/>
                  <a:cs typeface="Courier New" pitchFamily="49" charset="0"/>
                </a:rPr>
                <a:t>, y = </a:t>
              </a:r>
              <a:r>
                <a:rPr lang="en-US" sz="1600" b="1" dirty="0">
                  <a:solidFill>
                    <a:srgbClr val="FF0000"/>
                  </a:solidFill>
                  <a:latin typeface="Courier New" pitchFamily="49" charset="0"/>
                  <a:cs typeface="Courier New" pitchFamily="49" charset="0"/>
                </a:rPr>
                <a:t>%d</a:t>
              </a:r>
              <a:r>
                <a:rPr lang="en-US" sz="1600" b="1" dirty="0">
                  <a:solidFill>
                    <a:srgbClr val="006600"/>
                  </a:solidFill>
                  <a:latin typeface="Courier New" pitchFamily="49" charset="0"/>
                  <a:cs typeface="Courier New" pitchFamily="49" charset="0"/>
                </a:rPr>
                <a:t>, z = </a:t>
              </a:r>
              <a:r>
                <a:rPr lang="en-US" sz="1600" b="1" dirty="0">
                  <a:solidFill>
                    <a:srgbClr val="FF0000"/>
                  </a:solidFill>
                  <a:latin typeface="Courier New" pitchFamily="49" charset="0"/>
                  <a:cs typeface="Courier New" pitchFamily="49" charset="0"/>
                </a:rPr>
                <a:t>%d\n</a:t>
              </a:r>
              <a:r>
                <a:rPr lang="en-US" sz="1600" b="1" dirty="0">
                  <a:solidFill>
                    <a:srgbClr val="006600"/>
                  </a:solidFill>
                  <a:latin typeface="Courier New" pitchFamily="49" charset="0"/>
                  <a:cs typeface="Courier New" pitchFamily="49" charset="0"/>
                </a:rPr>
                <a:t>"</a:t>
              </a:r>
              <a:r>
                <a:rPr lang="en-US" sz="1600" b="1" dirty="0">
                  <a:latin typeface="Courier New" pitchFamily="49" charset="0"/>
                  <a:cs typeface="Courier New" pitchFamily="49" charset="0"/>
                </a:rPr>
                <a:t>, x, y, z);</a:t>
              </a:r>
            </a:p>
            <a:p>
              <a:pPr>
                <a:defRPr/>
              </a:pPr>
              <a:r>
                <a:rPr lang="en-US" sz="1600" b="1" dirty="0">
                  <a:latin typeface="Courier New" pitchFamily="49" charset="0"/>
                  <a:cs typeface="Courier New" pitchFamily="49" charset="0"/>
                </a:rPr>
                <a:t>} </a:t>
              </a:r>
            </a:p>
          </p:txBody>
        </p:sp>
        <p:sp>
          <p:nvSpPr>
            <p:cNvPr id="12" name="TextBox 11"/>
            <p:cNvSpPr txBox="1">
              <a:spLocks noChangeArrowheads="1"/>
            </p:cNvSpPr>
            <p:nvPr/>
          </p:nvSpPr>
          <p:spPr bwMode="auto">
            <a:xfrm>
              <a:off x="5601622" y="1386353"/>
              <a:ext cx="2835071" cy="369332"/>
            </a:xfrm>
            <a:prstGeom prst="rect">
              <a:avLst/>
            </a:prstGeom>
            <a:solidFill>
              <a:srgbClr val="FFFF99"/>
            </a:solidFill>
            <a:ln w="9525">
              <a:solidFill>
                <a:schemeClr val="tx1"/>
              </a:solidFill>
              <a:miter lim="800000"/>
              <a:headEnd/>
              <a:tailEnd/>
            </a:ln>
          </p:spPr>
          <p:txBody>
            <a:bodyPr wrap="none">
              <a:spAutoFit/>
            </a:bodyPr>
            <a:lstStyle/>
            <a:p>
              <a:r>
                <a:rPr lang="en-US" dirty="0" smtClean="0"/>
                <a:t>Week6_FunctionDemo3.c</a:t>
              </a:r>
              <a:endParaRPr lang="en-US" dirty="0"/>
            </a:p>
          </p:txBody>
        </p:sp>
      </p:grpSp>
      <p:sp>
        <p:nvSpPr>
          <p:cNvPr id="24578" name="Rectangle 2"/>
          <p:cNvSpPr>
            <a:spLocks noGrp="1" noChangeArrowheads="1"/>
          </p:cNvSpPr>
          <p:nvPr>
            <p:ph type="title"/>
          </p:nvPr>
        </p:nvSpPr>
        <p:spPr>
          <a:xfrm>
            <a:off x="533400" y="381000"/>
            <a:ext cx="8382000" cy="838200"/>
          </a:xfrm>
        </p:spPr>
        <p:txBody>
          <a:bodyPr/>
          <a:lstStyle/>
          <a:p>
            <a:pPr eaLnBrk="1" hangingPunct="1"/>
            <a:r>
              <a:rPr lang="en-GB" dirty="0" smtClean="0"/>
              <a:t>5. Functions with &amp;parameters (3/6)</a:t>
            </a:r>
            <a:endParaRPr lang="en-GB" sz="4800" dirty="0" smtClean="0"/>
          </a:p>
        </p:txBody>
      </p:sp>
      <p:sp>
        <p:nvSpPr>
          <p:cNvPr id="21508" name="Slide Number Placeholder 7"/>
          <p:cNvSpPr>
            <a:spLocks noGrp="1"/>
          </p:cNvSpPr>
          <p:nvPr>
            <p:ph type="sldNum" sz="quarter" idx="12"/>
          </p:nvPr>
        </p:nvSpPr>
        <p:spPr/>
        <p:txBody>
          <a:bodyPr/>
          <a:lstStyle/>
          <a:p>
            <a:pPr>
              <a:defRPr/>
            </a:pPr>
            <a:r>
              <a:rPr dirty="0" smtClean="0">
                <a:cs typeface="Arial" pitchFamily="34" charset="0"/>
              </a:rPr>
              <a:t>Week6 - </a:t>
            </a:r>
            <a:fld id="{CC4D500D-3124-4E03-A1D6-F8651F0C648C}" type="slidenum">
              <a:rPr smtClean="0">
                <a:cs typeface="Arial" pitchFamily="34" charset="0"/>
              </a:rPr>
              <a:pPr>
                <a:defRPr/>
              </a:pPr>
              <a:t>25</a:t>
            </a:fld>
            <a:endParaRPr dirty="0" smtClean="0">
              <a:cs typeface="Arial" pitchFamily="34" charset="0"/>
            </a:endParaRPr>
          </a:p>
        </p:txBody>
      </p:sp>
      <p:sp>
        <p:nvSpPr>
          <p:cNvPr id="24582" name="Text Box 4"/>
          <p:cNvSpPr txBox="1">
            <a:spLocks noChangeArrowheads="1"/>
          </p:cNvSpPr>
          <p:nvPr/>
        </p:nvSpPr>
        <p:spPr bwMode="auto">
          <a:xfrm>
            <a:off x="152400" y="6400800"/>
            <a:ext cx="304800" cy="201613"/>
          </a:xfrm>
          <a:prstGeom prst="rect">
            <a:avLst/>
          </a:prstGeom>
          <a:noFill/>
          <a:ln w="9525">
            <a:noFill/>
            <a:miter lim="800000"/>
            <a:headEnd/>
            <a:tailEnd/>
          </a:ln>
        </p:spPr>
        <p:txBody>
          <a:bodyPr lIns="9144" tIns="9144" rIns="9144" bIns="9144">
            <a:spAutoFit/>
          </a:bodyPr>
          <a:lstStyle/>
          <a:p>
            <a:pPr algn="ctr">
              <a:spcBef>
                <a:spcPct val="50000"/>
              </a:spcBef>
            </a:pPr>
            <a:r>
              <a:rPr lang="en-US" sz="1200">
                <a:sym typeface="Wingdings 2" pitchFamily="18" charset="2"/>
              </a:rPr>
              <a:t></a:t>
            </a:r>
          </a:p>
        </p:txBody>
      </p:sp>
      <p:grpSp>
        <p:nvGrpSpPr>
          <p:cNvPr id="2" name="Group 44"/>
          <p:cNvGrpSpPr>
            <a:grpSpLocks/>
          </p:cNvGrpSpPr>
          <p:nvPr/>
        </p:nvGrpSpPr>
        <p:grpSpPr bwMode="auto">
          <a:xfrm>
            <a:off x="2873375" y="5197475"/>
            <a:ext cx="2254250" cy="304800"/>
            <a:chOff x="2249213" y="3978166"/>
            <a:chExt cx="2254468" cy="304800"/>
          </a:xfrm>
        </p:grpSpPr>
        <p:sp>
          <p:nvSpPr>
            <p:cNvPr id="24585" name="Oval 45"/>
            <p:cNvSpPr>
              <a:spLocks noChangeArrowheads="1"/>
            </p:cNvSpPr>
            <p:nvPr/>
          </p:nvSpPr>
          <p:spPr bwMode="auto">
            <a:xfrm>
              <a:off x="2249213" y="3978166"/>
              <a:ext cx="268013" cy="304800"/>
            </a:xfrm>
            <a:prstGeom prst="ellipse">
              <a:avLst/>
            </a:prstGeom>
            <a:noFill/>
            <a:ln w="19050" cap="sq" algn="ctr">
              <a:solidFill>
                <a:srgbClr val="FF9900"/>
              </a:solidFill>
              <a:round/>
              <a:headEnd type="none" w="sm" len="sm"/>
              <a:tailEnd type="none" w="sm" len="sm"/>
            </a:ln>
          </p:spPr>
          <p:txBody>
            <a:bodyPr/>
            <a:lstStyle/>
            <a:p>
              <a:endParaRPr lang="en-SG"/>
            </a:p>
          </p:txBody>
        </p:sp>
        <p:sp>
          <p:nvSpPr>
            <p:cNvPr id="24586" name="Oval 46"/>
            <p:cNvSpPr>
              <a:spLocks noChangeArrowheads="1"/>
            </p:cNvSpPr>
            <p:nvPr/>
          </p:nvSpPr>
          <p:spPr bwMode="auto">
            <a:xfrm>
              <a:off x="3247696" y="3978166"/>
              <a:ext cx="268013" cy="304800"/>
            </a:xfrm>
            <a:prstGeom prst="ellipse">
              <a:avLst/>
            </a:prstGeom>
            <a:noFill/>
            <a:ln w="19050" cap="sq" algn="ctr">
              <a:solidFill>
                <a:srgbClr val="FF9900"/>
              </a:solidFill>
              <a:round/>
              <a:headEnd type="none" w="sm" len="sm"/>
              <a:tailEnd type="none" w="sm" len="sm"/>
            </a:ln>
          </p:spPr>
          <p:txBody>
            <a:bodyPr/>
            <a:lstStyle/>
            <a:p>
              <a:endParaRPr lang="en-SG"/>
            </a:p>
          </p:txBody>
        </p:sp>
        <p:sp>
          <p:nvSpPr>
            <p:cNvPr id="24587" name="Oval 47"/>
            <p:cNvSpPr>
              <a:spLocks noChangeArrowheads="1"/>
            </p:cNvSpPr>
            <p:nvPr/>
          </p:nvSpPr>
          <p:spPr bwMode="auto">
            <a:xfrm>
              <a:off x="4235668" y="3978166"/>
              <a:ext cx="268013" cy="304800"/>
            </a:xfrm>
            <a:prstGeom prst="ellipse">
              <a:avLst/>
            </a:prstGeom>
            <a:noFill/>
            <a:ln w="19050" cap="sq" algn="ctr">
              <a:solidFill>
                <a:srgbClr val="FF9900"/>
              </a:solidFill>
              <a:round/>
              <a:headEnd type="none" w="sm" len="sm"/>
              <a:tailEnd type="none" w="sm" len="sm"/>
            </a:ln>
          </p:spPr>
          <p:txBody>
            <a:bodyPr/>
            <a:lstStyle/>
            <a:p>
              <a:endParaRPr lang="en-SG"/>
            </a:p>
          </p:txBody>
        </p:sp>
      </p:grpSp>
      <p:pic>
        <p:nvPicPr>
          <p:cNvPr id="13" name="Picture 12" descr="focus-md.png"/>
          <p:cNvPicPr>
            <a:picLocks noChangeAspect="1"/>
          </p:cNvPicPr>
          <p:nvPr/>
        </p:nvPicPr>
        <p:blipFill>
          <a:blip r:embed="rId3" cstate="print"/>
          <a:stretch>
            <a:fillRect/>
          </a:stretch>
        </p:blipFill>
        <p:spPr>
          <a:xfrm>
            <a:off x="8229649" y="375969"/>
            <a:ext cx="614548" cy="830472"/>
          </a:xfrm>
          <a:prstGeom prst="rect">
            <a:avLst/>
          </a:prstGeom>
          <a:effectLst>
            <a:outerShdw blurRad="50800" dist="38100" dir="5400000" algn="t" rotWithShape="0">
              <a:prstClr val="black">
                <a:alpha val="40000"/>
              </a:prstClr>
            </a:outerShdw>
            <a:reflection blurRad="6350" stA="50000" endA="300" endPos="55000" dir="5400000" sy="-100000" algn="bl" rotWithShape="0"/>
          </a:effectLst>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Group 20"/>
          <p:cNvGrpSpPr/>
          <p:nvPr/>
        </p:nvGrpSpPr>
        <p:grpSpPr>
          <a:xfrm>
            <a:off x="846138" y="1285978"/>
            <a:ext cx="7601706" cy="4508681"/>
            <a:chOff x="846138" y="1285978"/>
            <a:chExt cx="7601706" cy="4508681"/>
          </a:xfrm>
        </p:grpSpPr>
        <p:sp>
          <p:nvSpPr>
            <p:cNvPr id="7" name="TextBox 6"/>
            <p:cNvSpPr txBox="1"/>
            <p:nvPr/>
          </p:nvSpPr>
          <p:spPr>
            <a:xfrm>
              <a:off x="846138" y="1516565"/>
              <a:ext cx="7005637" cy="4278094"/>
            </a:xfrm>
            <a:prstGeom prst="rect">
              <a:avLst/>
            </a:prstGeom>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wrap="square">
              <a:spAutoFit/>
            </a:bodyPr>
            <a:lstStyle/>
            <a:p>
              <a:pPr>
                <a:defRPr/>
              </a:pPr>
              <a:r>
                <a:rPr lang="en-US" sz="1600" b="1" dirty="0" smtClean="0">
                  <a:solidFill>
                    <a:srgbClr val="7030A0"/>
                  </a:solidFill>
                  <a:latin typeface="Courier New" pitchFamily="49" charset="0"/>
                  <a:cs typeface="Courier New" pitchFamily="49" charset="0"/>
                </a:rPr>
                <a:t>#</a:t>
              </a:r>
              <a:r>
                <a:rPr lang="en-US" sz="1600" b="1" dirty="0">
                  <a:solidFill>
                    <a:srgbClr val="7030A0"/>
                  </a:solidFill>
                  <a:latin typeface="Courier New" pitchFamily="49" charset="0"/>
                  <a:cs typeface="Courier New" pitchFamily="49" charset="0"/>
                </a:rPr>
                <a:t>include</a:t>
              </a:r>
              <a:r>
                <a:rPr lang="en-US" sz="1600" b="1" dirty="0">
                  <a:latin typeface="Courier New" pitchFamily="49" charset="0"/>
                  <a:cs typeface="Courier New" pitchFamily="49" charset="0"/>
                </a:rPr>
                <a:t> </a:t>
              </a:r>
              <a:r>
                <a:rPr lang="en-US" sz="1600" b="1" dirty="0">
                  <a:solidFill>
                    <a:srgbClr val="006600"/>
                  </a:solidFill>
                  <a:latin typeface="Courier New" pitchFamily="49" charset="0"/>
                  <a:cs typeface="Courier New" pitchFamily="49" charset="0"/>
                </a:rPr>
                <a:t>&lt;</a:t>
              </a:r>
              <a:r>
                <a:rPr lang="en-US" sz="1600" b="1" dirty="0" err="1">
                  <a:solidFill>
                    <a:srgbClr val="006600"/>
                  </a:solidFill>
                  <a:latin typeface="Courier New" pitchFamily="49" charset="0"/>
                  <a:cs typeface="Courier New" pitchFamily="49" charset="0"/>
                </a:rPr>
                <a:t>stdio.h</a:t>
              </a:r>
              <a:r>
                <a:rPr lang="en-US" sz="1600" b="1" dirty="0">
                  <a:solidFill>
                    <a:srgbClr val="006600"/>
                  </a:solidFill>
                  <a:latin typeface="Courier New" pitchFamily="49" charset="0"/>
                  <a:cs typeface="Courier New" pitchFamily="49" charset="0"/>
                </a:rPr>
                <a:t>&gt;</a:t>
              </a:r>
            </a:p>
            <a:p>
              <a:pPr>
                <a:defRPr/>
              </a:pPr>
              <a:r>
                <a:rPr lang="en-US" sz="1600" b="1" dirty="0">
                  <a:solidFill>
                    <a:srgbClr val="0000FF"/>
                  </a:solidFill>
                  <a:latin typeface="Courier New" pitchFamily="49" charset="0"/>
                  <a:cs typeface="Courier New" pitchFamily="49" charset="0"/>
                </a:rPr>
                <a:t>void</a:t>
              </a:r>
              <a:r>
                <a:rPr lang="en-US" sz="1600" b="1" dirty="0">
                  <a:latin typeface="Courier New" pitchFamily="49" charset="0"/>
                  <a:cs typeface="Courier New" pitchFamily="49" charset="0"/>
                </a:rPr>
                <a:t> f(</a:t>
              </a:r>
              <a:r>
                <a:rPr lang="en-US" sz="1600" b="1" dirty="0" err="1">
                  <a:solidFill>
                    <a:srgbClr val="0000FF"/>
                  </a:solidFill>
                  <a:latin typeface="Courier New" pitchFamily="49" charset="0"/>
                  <a:cs typeface="Courier New" pitchFamily="49" charset="0"/>
                </a:rPr>
                <a:t>int</a:t>
              </a:r>
              <a:r>
                <a:rPr lang="en-US" sz="1600" b="1" dirty="0">
                  <a:latin typeface="Courier New" pitchFamily="49" charset="0"/>
                  <a:cs typeface="Courier New" pitchFamily="49" charset="0"/>
                </a:rPr>
                <a:t> *, </a:t>
              </a:r>
              <a:r>
                <a:rPr lang="en-US" sz="1600" b="1" dirty="0" err="1">
                  <a:solidFill>
                    <a:srgbClr val="0000FF"/>
                  </a:solidFill>
                  <a:latin typeface="Courier New" pitchFamily="49" charset="0"/>
                  <a:cs typeface="Courier New" pitchFamily="49" charset="0"/>
                </a:rPr>
                <a:t>int</a:t>
              </a:r>
              <a:r>
                <a:rPr lang="en-US" sz="1600" b="1" dirty="0">
                  <a:latin typeface="Courier New" pitchFamily="49" charset="0"/>
                  <a:cs typeface="Courier New" pitchFamily="49" charset="0"/>
                </a:rPr>
                <a:t> *, </a:t>
              </a:r>
              <a:r>
                <a:rPr lang="en-US" sz="1600" b="1" dirty="0" err="1">
                  <a:solidFill>
                    <a:srgbClr val="0000FF"/>
                  </a:solidFill>
                  <a:latin typeface="Courier New" pitchFamily="49" charset="0"/>
                  <a:cs typeface="Courier New" pitchFamily="49" charset="0"/>
                </a:rPr>
                <a:t>int</a:t>
              </a:r>
              <a:r>
                <a:rPr lang="en-US" sz="1600" b="1" dirty="0">
                  <a:latin typeface="Courier New" pitchFamily="49" charset="0"/>
                  <a:cs typeface="Courier New" pitchFamily="49" charset="0"/>
                </a:rPr>
                <a:t> *);</a:t>
              </a:r>
            </a:p>
            <a:p>
              <a:pPr>
                <a:defRPr/>
              </a:pPr>
              <a:endParaRPr lang="en-US" sz="1600" b="1" dirty="0">
                <a:latin typeface="Courier New" pitchFamily="49" charset="0"/>
                <a:cs typeface="Courier New" pitchFamily="49" charset="0"/>
              </a:endParaRPr>
            </a:p>
            <a:p>
              <a:pPr>
                <a:defRPr/>
              </a:pPr>
              <a:r>
                <a:rPr lang="en-US" sz="1600" b="1" dirty="0" err="1">
                  <a:solidFill>
                    <a:srgbClr val="0000FF"/>
                  </a:solidFill>
                  <a:latin typeface="Courier New" pitchFamily="49" charset="0"/>
                  <a:cs typeface="Courier New" pitchFamily="49" charset="0"/>
                </a:rPr>
                <a:t>int</a:t>
              </a:r>
              <a:r>
                <a:rPr lang="en-US" sz="1600" b="1" dirty="0">
                  <a:latin typeface="Courier New" pitchFamily="49" charset="0"/>
                  <a:cs typeface="Courier New" pitchFamily="49" charset="0"/>
                </a:rPr>
                <a:t> main(</a:t>
              </a:r>
              <a:r>
                <a:rPr lang="en-US" sz="1600" b="1" dirty="0">
                  <a:solidFill>
                    <a:srgbClr val="0000FF"/>
                  </a:solidFill>
                  <a:latin typeface="Courier New" pitchFamily="49" charset="0"/>
                  <a:cs typeface="Courier New" pitchFamily="49" charset="0"/>
                </a:rPr>
                <a:t>void</a:t>
              </a:r>
              <a:r>
                <a:rPr lang="en-US" sz="1600" b="1" dirty="0">
                  <a:latin typeface="Courier New" pitchFamily="49" charset="0"/>
                  <a:cs typeface="Courier New" pitchFamily="49" charset="0"/>
                </a:rPr>
                <a:t>) {</a:t>
              </a:r>
            </a:p>
            <a:p>
              <a:pPr>
                <a:defRPr/>
              </a:pPr>
              <a:r>
                <a:rPr lang="en-US" sz="1600" b="1" dirty="0">
                  <a:latin typeface="Courier New" pitchFamily="49" charset="0"/>
                  <a:cs typeface="Courier New" pitchFamily="49" charset="0"/>
                </a:rPr>
                <a:t>    </a:t>
              </a:r>
              <a:r>
                <a:rPr lang="en-US" sz="1600" b="1" dirty="0" err="1">
                  <a:solidFill>
                    <a:srgbClr val="0000FF"/>
                  </a:solidFill>
                  <a:latin typeface="Courier New" pitchFamily="49" charset="0"/>
                  <a:cs typeface="Courier New" pitchFamily="49" charset="0"/>
                </a:rPr>
                <a:t>int</a:t>
              </a:r>
              <a:r>
                <a:rPr lang="en-US" sz="1600" b="1" dirty="0">
                  <a:latin typeface="Courier New" pitchFamily="49" charset="0"/>
                  <a:cs typeface="Courier New" pitchFamily="49" charset="0"/>
                </a:rPr>
                <a:t> a = </a:t>
              </a:r>
              <a:r>
                <a:rPr lang="en-US" sz="1600" b="1" dirty="0">
                  <a:solidFill>
                    <a:srgbClr val="006600"/>
                  </a:solidFill>
                  <a:latin typeface="Courier New" pitchFamily="49" charset="0"/>
                  <a:cs typeface="Courier New" pitchFamily="49" charset="0"/>
                </a:rPr>
                <a:t>9</a:t>
              </a:r>
              <a:r>
                <a:rPr lang="en-US" sz="1600" b="1" dirty="0">
                  <a:latin typeface="Courier New" pitchFamily="49" charset="0"/>
                  <a:cs typeface="Courier New" pitchFamily="49" charset="0"/>
                </a:rPr>
                <a:t>, b = </a:t>
              </a:r>
              <a:r>
                <a:rPr lang="en-US" sz="1600" b="1" dirty="0">
                  <a:solidFill>
                    <a:srgbClr val="006600"/>
                  </a:solidFill>
                  <a:latin typeface="Courier New" pitchFamily="49" charset="0"/>
                  <a:cs typeface="Courier New" pitchFamily="49" charset="0"/>
                </a:rPr>
                <a:t>-2</a:t>
              </a:r>
              <a:r>
                <a:rPr lang="en-US" sz="1600" b="1" dirty="0">
                  <a:latin typeface="Courier New" pitchFamily="49" charset="0"/>
                  <a:cs typeface="Courier New" pitchFamily="49" charset="0"/>
                </a:rPr>
                <a:t>, c = </a:t>
              </a:r>
              <a:r>
                <a:rPr lang="en-US" sz="1600" b="1" dirty="0">
                  <a:solidFill>
                    <a:srgbClr val="006600"/>
                  </a:solidFill>
                  <a:latin typeface="Courier New" pitchFamily="49" charset="0"/>
                  <a:cs typeface="Courier New" pitchFamily="49" charset="0"/>
                </a:rPr>
                <a:t>5</a:t>
              </a:r>
              <a:r>
                <a:rPr lang="en-US" sz="1600" b="1" dirty="0">
                  <a:latin typeface="Courier New" pitchFamily="49" charset="0"/>
                  <a:cs typeface="Courier New" pitchFamily="49" charset="0"/>
                </a:rPr>
                <a:t>;</a:t>
              </a:r>
            </a:p>
            <a:p>
              <a:pPr>
                <a:defRPr/>
              </a:pPr>
              <a:r>
                <a:rPr lang="en-US" sz="1600" b="1" dirty="0">
                  <a:latin typeface="Courier New" pitchFamily="49" charset="0"/>
                  <a:cs typeface="Courier New" pitchFamily="49" charset="0"/>
                </a:rPr>
                <a:t>    f(&amp;a, &amp;b, &amp;c);</a:t>
              </a:r>
            </a:p>
            <a:p>
              <a:pPr>
                <a:defRPr/>
              </a:pPr>
              <a:r>
                <a:rPr lang="en-US" sz="1600" b="1" dirty="0">
                  <a:latin typeface="Courier New" pitchFamily="49" charset="0"/>
                  <a:cs typeface="Courier New" pitchFamily="49" charset="0"/>
                </a:rPr>
                <a:t>    </a:t>
              </a:r>
              <a:r>
                <a:rPr lang="en-US" sz="1600" b="1" dirty="0" err="1">
                  <a:latin typeface="Courier New" pitchFamily="49" charset="0"/>
                  <a:cs typeface="Courier New" pitchFamily="49" charset="0"/>
                </a:rPr>
                <a:t>printf</a:t>
              </a:r>
              <a:r>
                <a:rPr lang="en-US" sz="1600" b="1" dirty="0">
                  <a:latin typeface="Courier New" pitchFamily="49" charset="0"/>
                  <a:cs typeface="Courier New" pitchFamily="49" charset="0"/>
                </a:rPr>
                <a:t>(</a:t>
              </a:r>
              <a:r>
                <a:rPr lang="en-US" sz="1600" b="1" dirty="0">
                  <a:solidFill>
                    <a:srgbClr val="006600"/>
                  </a:solidFill>
                  <a:latin typeface="Courier New" pitchFamily="49" charset="0"/>
                  <a:cs typeface="Courier New" pitchFamily="49" charset="0"/>
                </a:rPr>
                <a:t>"a = </a:t>
              </a:r>
              <a:r>
                <a:rPr lang="en-US" sz="1600" b="1" dirty="0">
                  <a:solidFill>
                    <a:srgbClr val="FF0000"/>
                  </a:solidFill>
                  <a:latin typeface="Courier New" pitchFamily="49" charset="0"/>
                  <a:cs typeface="Courier New" pitchFamily="49" charset="0"/>
                </a:rPr>
                <a:t>%d</a:t>
              </a:r>
              <a:r>
                <a:rPr lang="en-US" sz="1600" b="1" dirty="0">
                  <a:solidFill>
                    <a:srgbClr val="006600"/>
                  </a:solidFill>
                  <a:latin typeface="Courier New" pitchFamily="49" charset="0"/>
                  <a:cs typeface="Courier New" pitchFamily="49" charset="0"/>
                </a:rPr>
                <a:t>, b = </a:t>
              </a:r>
              <a:r>
                <a:rPr lang="en-US" sz="1600" b="1" dirty="0">
                  <a:solidFill>
                    <a:srgbClr val="FF0000"/>
                  </a:solidFill>
                  <a:latin typeface="Courier New" pitchFamily="49" charset="0"/>
                  <a:cs typeface="Courier New" pitchFamily="49" charset="0"/>
                </a:rPr>
                <a:t>%d</a:t>
              </a:r>
              <a:r>
                <a:rPr lang="en-US" sz="1600" b="1" dirty="0">
                  <a:solidFill>
                    <a:srgbClr val="006600"/>
                  </a:solidFill>
                  <a:latin typeface="Courier New" pitchFamily="49" charset="0"/>
                  <a:cs typeface="Courier New" pitchFamily="49" charset="0"/>
                </a:rPr>
                <a:t>, c = </a:t>
              </a:r>
              <a:r>
                <a:rPr lang="en-US" sz="1600" b="1" dirty="0">
                  <a:solidFill>
                    <a:srgbClr val="FF0000"/>
                  </a:solidFill>
                  <a:latin typeface="Courier New" pitchFamily="49" charset="0"/>
                  <a:cs typeface="Courier New" pitchFamily="49" charset="0"/>
                </a:rPr>
                <a:t>%d\n</a:t>
              </a:r>
              <a:r>
                <a:rPr lang="en-US" sz="1600" b="1" dirty="0">
                  <a:solidFill>
                    <a:srgbClr val="006600"/>
                  </a:solidFill>
                  <a:latin typeface="Courier New" pitchFamily="49" charset="0"/>
                  <a:cs typeface="Courier New" pitchFamily="49" charset="0"/>
                </a:rPr>
                <a:t>"</a:t>
              </a:r>
              <a:r>
                <a:rPr lang="en-US" sz="1600" b="1" dirty="0">
                  <a:latin typeface="Courier New" pitchFamily="49" charset="0"/>
                  <a:cs typeface="Courier New" pitchFamily="49" charset="0"/>
                </a:rPr>
                <a:t>, a, b, c);</a:t>
              </a:r>
            </a:p>
            <a:p>
              <a:pPr>
                <a:defRPr/>
              </a:pPr>
              <a:r>
                <a:rPr lang="en-US" sz="1600" b="1" dirty="0">
                  <a:latin typeface="Courier New" pitchFamily="49" charset="0"/>
                  <a:cs typeface="Courier New" pitchFamily="49" charset="0"/>
                </a:rPr>
                <a:t>    </a:t>
              </a:r>
              <a:r>
                <a:rPr lang="en-US" sz="1600" b="1" dirty="0">
                  <a:solidFill>
                    <a:srgbClr val="0000FF"/>
                  </a:solidFill>
                  <a:latin typeface="Courier New" pitchFamily="49" charset="0"/>
                  <a:cs typeface="Courier New" pitchFamily="49" charset="0"/>
                </a:rPr>
                <a:t>return </a:t>
              </a:r>
              <a:r>
                <a:rPr lang="en-US" sz="1600" b="1" dirty="0">
                  <a:latin typeface="Courier New" pitchFamily="49" charset="0"/>
                  <a:cs typeface="Courier New" pitchFamily="49" charset="0"/>
                </a:rPr>
                <a:t>0;</a:t>
              </a:r>
            </a:p>
            <a:p>
              <a:pPr>
                <a:defRPr/>
              </a:pPr>
              <a:r>
                <a:rPr lang="en-US" sz="1600" b="1" dirty="0">
                  <a:latin typeface="Courier New" pitchFamily="49" charset="0"/>
                  <a:cs typeface="Courier New" pitchFamily="49" charset="0"/>
                </a:rPr>
                <a:t>}</a:t>
              </a:r>
            </a:p>
            <a:p>
              <a:pPr>
                <a:defRPr/>
              </a:pPr>
              <a:endParaRPr lang="en-US" sz="1600" b="1" dirty="0">
                <a:latin typeface="Courier New" pitchFamily="49" charset="0"/>
                <a:cs typeface="Courier New" pitchFamily="49" charset="0"/>
              </a:endParaRPr>
            </a:p>
            <a:p>
              <a:pPr>
                <a:defRPr/>
              </a:pPr>
              <a:r>
                <a:rPr lang="en-US" sz="1600" b="1" dirty="0">
                  <a:solidFill>
                    <a:srgbClr val="0000FF"/>
                  </a:solidFill>
                  <a:latin typeface="Courier New" pitchFamily="49" charset="0"/>
                  <a:cs typeface="Courier New" pitchFamily="49" charset="0"/>
                </a:rPr>
                <a:t>void</a:t>
              </a:r>
              <a:r>
                <a:rPr lang="en-US" sz="1600" b="1" dirty="0">
                  <a:latin typeface="Courier New" pitchFamily="49" charset="0"/>
                  <a:cs typeface="Courier New" pitchFamily="49" charset="0"/>
                </a:rPr>
                <a:t> f(</a:t>
              </a:r>
              <a:r>
                <a:rPr lang="en-US" sz="1600" b="1" dirty="0" err="1">
                  <a:solidFill>
                    <a:srgbClr val="0000FF"/>
                  </a:solidFill>
                  <a:latin typeface="Courier New" pitchFamily="49" charset="0"/>
                  <a:cs typeface="Courier New" pitchFamily="49" charset="0"/>
                </a:rPr>
                <a:t>int</a:t>
              </a:r>
              <a:r>
                <a:rPr lang="en-US" sz="1600" b="1" dirty="0">
                  <a:solidFill>
                    <a:srgbClr val="0000FF"/>
                  </a:solidFill>
                  <a:latin typeface="Courier New" pitchFamily="49" charset="0"/>
                  <a:cs typeface="Courier New" pitchFamily="49" charset="0"/>
                </a:rPr>
                <a:t> </a:t>
              </a:r>
              <a:r>
                <a:rPr lang="en-US" sz="1600" b="1" dirty="0">
                  <a:latin typeface="Courier New" pitchFamily="49" charset="0"/>
                  <a:cs typeface="Courier New" pitchFamily="49" charset="0"/>
                </a:rPr>
                <a:t>*x, </a:t>
              </a:r>
              <a:r>
                <a:rPr lang="en-US" sz="1600" b="1" dirty="0" err="1">
                  <a:solidFill>
                    <a:srgbClr val="0000FF"/>
                  </a:solidFill>
                  <a:latin typeface="Courier New" pitchFamily="49" charset="0"/>
                  <a:cs typeface="Courier New" pitchFamily="49" charset="0"/>
                </a:rPr>
                <a:t>int</a:t>
              </a:r>
              <a:r>
                <a:rPr lang="en-US" sz="1600" b="1" dirty="0">
                  <a:latin typeface="Courier New" pitchFamily="49" charset="0"/>
                  <a:cs typeface="Courier New" pitchFamily="49" charset="0"/>
                </a:rPr>
                <a:t> *y, </a:t>
              </a:r>
              <a:r>
                <a:rPr lang="en-US" sz="1600" b="1" dirty="0" err="1">
                  <a:solidFill>
                    <a:srgbClr val="0000FF"/>
                  </a:solidFill>
                  <a:latin typeface="Courier New" pitchFamily="49" charset="0"/>
                  <a:cs typeface="Courier New" pitchFamily="49" charset="0"/>
                </a:rPr>
                <a:t>int</a:t>
              </a:r>
              <a:r>
                <a:rPr lang="en-US" sz="1600" b="1" dirty="0">
                  <a:latin typeface="Courier New" pitchFamily="49" charset="0"/>
                  <a:cs typeface="Courier New" pitchFamily="49" charset="0"/>
                </a:rPr>
                <a:t> *z)</a:t>
              </a:r>
            </a:p>
            <a:p>
              <a:pPr>
                <a:defRPr/>
              </a:pPr>
              <a:r>
                <a:rPr lang="en-US" sz="1600" b="1" dirty="0">
                  <a:latin typeface="Courier New" pitchFamily="49" charset="0"/>
                  <a:cs typeface="Courier New" pitchFamily="49" charset="0"/>
                </a:rPr>
                <a:t>{</a:t>
              </a:r>
            </a:p>
            <a:p>
              <a:pPr>
                <a:defRPr/>
              </a:pPr>
              <a:r>
                <a:rPr lang="en-US" sz="1600" b="1" dirty="0">
                  <a:latin typeface="Courier New" pitchFamily="49" charset="0"/>
                  <a:cs typeface="Courier New" pitchFamily="49" charset="0"/>
                </a:rPr>
                <a:t>    *x = </a:t>
              </a:r>
              <a:r>
                <a:rPr lang="en-US" sz="1600" b="1" dirty="0">
                  <a:solidFill>
                    <a:srgbClr val="006600"/>
                  </a:solidFill>
                  <a:latin typeface="Courier New" pitchFamily="49" charset="0"/>
                  <a:cs typeface="Courier New" pitchFamily="49" charset="0"/>
                </a:rPr>
                <a:t>3</a:t>
              </a:r>
              <a:r>
                <a:rPr lang="en-US" sz="1600" b="1" dirty="0">
                  <a:latin typeface="Courier New" pitchFamily="49" charset="0"/>
                  <a:cs typeface="Courier New" pitchFamily="49" charset="0"/>
                </a:rPr>
                <a:t> + *y;</a:t>
              </a:r>
            </a:p>
            <a:p>
              <a:pPr>
                <a:defRPr/>
              </a:pPr>
              <a:r>
                <a:rPr lang="en-US" sz="1600" b="1" dirty="0">
                  <a:latin typeface="Courier New" pitchFamily="49" charset="0"/>
                  <a:cs typeface="Courier New" pitchFamily="49" charset="0"/>
                </a:rPr>
                <a:t>    *y = </a:t>
              </a:r>
              <a:r>
                <a:rPr lang="en-US" sz="1600" b="1" dirty="0">
                  <a:solidFill>
                    <a:srgbClr val="006600"/>
                  </a:solidFill>
                  <a:latin typeface="Courier New" pitchFamily="49" charset="0"/>
                  <a:cs typeface="Courier New" pitchFamily="49" charset="0"/>
                </a:rPr>
                <a:t>10</a:t>
              </a:r>
              <a:r>
                <a:rPr lang="en-US" sz="1600" b="1" dirty="0">
                  <a:latin typeface="Courier New" pitchFamily="49" charset="0"/>
                  <a:cs typeface="Courier New" pitchFamily="49" charset="0"/>
                </a:rPr>
                <a:t> * *x;</a:t>
              </a:r>
            </a:p>
            <a:p>
              <a:pPr>
                <a:defRPr/>
              </a:pPr>
              <a:r>
                <a:rPr lang="en-US" sz="1600" b="1" dirty="0">
                  <a:latin typeface="Courier New" pitchFamily="49" charset="0"/>
                  <a:cs typeface="Courier New" pitchFamily="49" charset="0"/>
                </a:rPr>
                <a:t>    *z = *x + *y + *z;</a:t>
              </a:r>
            </a:p>
            <a:p>
              <a:pPr>
                <a:defRPr/>
              </a:pPr>
              <a:r>
                <a:rPr lang="en-US" sz="1600" b="1" dirty="0">
                  <a:latin typeface="Courier New" pitchFamily="49" charset="0"/>
                  <a:cs typeface="Courier New" pitchFamily="49" charset="0"/>
                </a:rPr>
                <a:t>    </a:t>
              </a:r>
              <a:r>
                <a:rPr lang="en-US" sz="1600" b="1" dirty="0" err="1">
                  <a:latin typeface="Courier New" pitchFamily="49" charset="0"/>
                  <a:cs typeface="Courier New" pitchFamily="49" charset="0"/>
                </a:rPr>
                <a:t>printf</a:t>
              </a:r>
              <a:r>
                <a:rPr lang="en-US" sz="1600" b="1" dirty="0">
                  <a:latin typeface="Courier New" pitchFamily="49" charset="0"/>
                  <a:cs typeface="Courier New" pitchFamily="49" charset="0"/>
                </a:rPr>
                <a:t>(</a:t>
              </a:r>
              <a:r>
                <a:rPr lang="en-US" sz="1600" b="1" dirty="0">
                  <a:solidFill>
                    <a:srgbClr val="006600"/>
                  </a:solidFill>
                  <a:latin typeface="Courier New" pitchFamily="49" charset="0"/>
                  <a:cs typeface="Courier New" pitchFamily="49" charset="0"/>
                </a:rPr>
                <a:t>"x = </a:t>
              </a:r>
              <a:r>
                <a:rPr lang="en-US" sz="1600" b="1" dirty="0">
                  <a:solidFill>
                    <a:srgbClr val="FF0000"/>
                  </a:solidFill>
                  <a:latin typeface="Courier New" pitchFamily="49" charset="0"/>
                  <a:cs typeface="Courier New" pitchFamily="49" charset="0"/>
                </a:rPr>
                <a:t>%p</a:t>
              </a:r>
              <a:r>
                <a:rPr lang="en-US" sz="1600" b="1" dirty="0">
                  <a:solidFill>
                    <a:srgbClr val="006600"/>
                  </a:solidFill>
                  <a:latin typeface="Courier New" pitchFamily="49" charset="0"/>
                  <a:cs typeface="Courier New" pitchFamily="49" charset="0"/>
                </a:rPr>
                <a:t>, y = </a:t>
              </a:r>
              <a:r>
                <a:rPr lang="en-US" sz="1600" b="1" dirty="0">
                  <a:solidFill>
                    <a:srgbClr val="FF0000"/>
                  </a:solidFill>
                  <a:latin typeface="Courier New" pitchFamily="49" charset="0"/>
                  <a:cs typeface="Courier New" pitchFamily="49" charset="0"/>
                </a:rPr>
                <a:t>%p</a:t>
              </a:r>
              <a:r>
                <a:rPr lang="en-US" sz="1600" b="1" dirty="0">
                  <a:solidFill>
                    <a:srgbClr val="006600"/>
                  </a:solidFill>
                  <a:latin typeface="Courier New" pitchFamily="49" charset="0"/>
                  <a:cs typeface="Courier New" pitchFamily="49" charset="0"/>
                </a:rPr>
                <a:t>, z = </a:t>
              </a:r>
              <a:r>
                <a:rPr lang="en-US" sz="1600" b="1" dirty="0">
                  <a:solidFill>
                    <a:srgbClr val="FF0000"/>
                  </a:solidFill>
                  <a:latin typeface="Courier New" pitchFamily="49" charset="0"/>
                  <a:cs typeface="Courier New" pitchFamily="49" charset="0"/>
                </a:rPr>
                <a:t>%p\n</a:t>
              </a:r>
              <a:r>
                <a:rPr lang="en-US" sz="1600" b="1" dirty="0">
                  <a:solidFill>
                    <a:srgbClr val="006600"/>
                  </a:solidFill>
                  <a:latin typeface="Courier New" pitchFamily="49" charset="0"/>
                  <a:cs typeface="Courier New" pitchFamily="49" charset="0"/>
                </a:rPr>
                <a:t>"</a:t>
              </a:r>
              <a:r>
                <a:rPr lang="en-US" sz="1600" b="1" dirty="0">
                  <a:latin typeface="Courier New" pitchFamily="49" charset="0"/>
                  <a:cs typeface="Courier New" pitchFamily="49" charset="0"/>
                </a:rPr>
                <a:t>, x, y, z);</a:t>
              </a:r>
            </a:p>
            <a:p>
              <a:pPr>
                <a:defRPr/>
              </a:pPr>
              <a:r>
                <a:rPr lang="en-US" sz="1600" b="1" dirty="0">
                  <a:latin typeface="Courier New" pitchFamily="49" charset="0"/>
                  <a:cs typeface="Courier New" pitchFamily="49" charset="0"/>
                </a:rPr>
                <a:t>} </a:t>
              </a:r>
            </a:p>
          </p:txBody>
        </p:sp>
        <p:sp>
          <p:nvSpPr>
            <p:cNvPr id="18" name="TextBox 17"/>
            <p:cNvSpPr txBox="1">
              <a:spLocks noChangeArrowheads="1"/>
            </p:cNvSpPr>
            <p:nvPr/>
          </p:nvSpPr>
          <p:spPr bwMode="auto">
            <a:xfrm>
              <a:off x="5612773" y="1285978"/>
              <a:ext cx="2835071" cy="369332"/>
            </a:xfrm>
            <a:prstGeom prst="rect">
              <a:avLst/>
            </a:prstGeom>
            <a:solidFill>
              <a:srgbClr val="FFFF99"/>
            </a:solidFill>
            <a:ln w="9525">
              <a:solidFill>
                <a:schemeClr val="tx1"/>
              </a:solidFill>
              <a:miter lim="800000"/>
              <a:headEnd/>
              <a:tailEnd/>
            </a:ln>
          </p:spPr>
          <p:txBody>
            <a:bodyPr wrap="none">
              <a:spAutoFit/>
            </a:bodyPr>
            <a:lstStyle/>
            <a:p>
              <a:r>
                <a:rPr lang="en-US" dirty="0" smtClean="0"/>
                <a:t>Week6_FunctionDemo4.c</a:t>
              </a:r>
              <a:endParaRPr lang="en-US" dirty="0"/>
            </a:p>
          </p:txBody>
        </p:sp>
      </p:grpSp>
      <p:sp>
        <p:nvSpPr>
          <p:cNvPr id="25602" name="Rectangle 2"/>
          <p:cNvSpPr>
            <a:spLocks noGrp="1" noChangeArrowheads="1"/>
          </p:cNvSpPr>
          <p:nvPr>
            <p:ph type="title"/>
          </p:nvPr>
        </p:nvSpPr>
        <p:spPr>
          <a:xfrm>
            <a:off x="533400" y="381000"/>
            <a:ext cx="8382000" cy="838200"/>
          </a:xfrm>
        </p:spPr>
        <p:txBody>
          <a:bodyPr/>
          <a:lstStyle/>
          <a:p>
            <a:pPr eaLnBrk="1" hangingPunct="1"/>
            <a:r>
              <a:rPr lang="en-GB" dirty="0" smtClean="0"/>
              <a:t>5. Functions with &amp;parameters (4/6)</a:t>
            </a:r>
            <a:endParaRPr lang="en-GB" sz="4800" dirty="0" smtClean="0"/>
          </a:p>
        </p:txBody>
      </p:sp>
      <p:sp>
        <p:nvSpPr>
          <p:cNvPr id="22532" name="Slide Number Placeholder 7"/>
          <p:cNvSpPr>
            <a:spLocks noGrp="1"/>
          </p:cNvSpPr>
          <p:nvPr>
            <p:ph type="sldNum" sz="quarter" idx="12"/>
          </p:nvPr>
        </p:nvSpPr>
        <p:spPr/>
        <p:txBody>
          <a:bodyPr/>
          <a:lstStyle/>
          <a:p>
            <a:pPr>
              <a:defRPr/>
            </a:pPr>
            <a:r>
              <a:rPr dirty="0" smtClean="0">
                <a:cs typeface="Arial" pitchFamily="34" charset="0"/>
              </a:rPr>
              <a:t>Week6 - </a:t>
            </a:r>
            <a:fld id="{DE8639AC-1D16-4605-A8A0-AA1FAB8BFACA}" type="slidenum">
              <a:rPr smtClean="0">
                <a:cs typeface="Arial" pitchFamily="34" charset="0"/>
              </a:rPr>
              <a:pPr>
                <a:defRPr/>
              </a:pPr>
              <a:t>26</a:t>
            </a:fld>
            <a:endParaRPr dirty="0" smtClean="0">
              <a:cs typeface="Arial" pitchFamily="34" charset="0"/>
            </a:endParaRPr>
          </a:p>
        </p:txBody>
      </p:sp>
      <p:sp>
        <p:nvSpPr>
          <p:cNvPr id="25606" name="Text Box 4"/>
          <p:cNvSpPr txBox="1">
            <a:spLocks noChangeArrowheads="1"/>
          </p:cNvSpPr>
          <p:nvPr/>
        </p:nvSpPr>
        <p:spPr bwMode="auto">
          <a:xfrm>
            <a:off x="152400" y="6400800"/>
            <a:ext cx="304800" cy="201613"/>
          </a:xfrm>
          <a:prstGeom prst="rect">
            <a:avLst/>
          </a:prstGeom>
          <a:noFill/>
          <a:ln w="9525">
            <a:noFill/>
            <a:miter lim="800000"/>
            <a:headEnd/>
            <a:tailEnd/>
          </a:ln>
        </p:spPr>
        <p:txBody>
          <a:bodyPr lIns="9144" tIns="9144" rIns="9144" bIns="9144">
            <a:spAutoFit/>
          </a:bodyPr>
          <a:lstStyle/>
          <a:p>
            <a:pPr algn="ctr">
              <a:spcBef>
                <a:spcPct val="50000"/>
              </a:spcBef>
            </a:pPr>
            <a:r>
              <a:rPr lang="en-US" sz="1200">
                <a:sym typeface="Wingdings 2" pitchFamily="18" charset="2"/>
              </a:rPr>
              <a:t></a:t>
            </a:r>
          </a:p>
        </p:txBody>
      </p:sp>
      <p:sp>
        <p:nvSpPr>
          <p:cNvPr id="44" name="TextBox 43"/>
          <p:cNvSpPr txBox="1"/>
          <p:nvPr/>
        </p:nvSpPr>
        <p:spPr>
          <a:xfrm>
            <a:off x="3253141" y="4556434"/>
            <a:ext cx="2032542" cy="338554"/>
          </a:xfrm>
          <a:prstGeom prst="rect">
            <a:avLst/>
          </a:prstGeom>
          <a:solidFill>
            <a:srgbClr val="CCFF99"/>
          </a:solidFill>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wrap="square">
            <a:spAutoFit/>
          </a:bodyPr>
          <a:lstStyle/>
          <a:p>
            <a:pPr>
              <a:defRPr/>
            </a:pPr>
            <a:r>
              <a:rPr lang="en-US" sz="1600" dirty="0">
                <a:cs typeface="Courier New" pitchFamily="49" charset="0"/>
              </a:rPr>
              <a:t>Use </a:t>
            </a:r>
            <a:r>
              <a:rPr lang="en-US" sz="1600" dirty="0">
                <a:solidFill>
                  <a:srgbClr val="FF0000"/>
                </a:solidFill>
                <a:cs typeface="Courier New" pitchFamily="49" charset="0"/>
              </a:rPr>
              <a:t>%p </a:t>
            </a:r>
            <a:r>
              <a:rPr lang="en-US" sz="1600" dirty="0">
                <a:cs typeface="Courier New" pitchFamily="49" charset="0"/>
              </a:rPr>
              <a:t>for pointers.</a:t>
            </a:r>
          </a:p>
        </p:txBody>
      </p:sp>
      <p:grpSp>
        <p:nvGrpSpPr>
          <p:cNvPr id="2" name="Group 44"/>
          <p:cNvGrpSpPr>
            <a:grpSpLocks/>
          </p:cNvGrpSpPr>
          <p:nvPr/>
        </p:nvGrpSpPr>
        <p:grpSpPr bwMode="auto">
          <a:xfrm>
            <a:off x="2862224" y="5197475"/>
            <a:ext cx="2243099" cy="304800"/>
            <a:chOff x="2249213" y="3978166"/>
            <a:chExt cx="2243316" cy="304800"/>
          </a:xfrm>
        </p:grpSpPr>
        <p:sp>
          <p:nvSpPr>
            <p:cNvPr id="25615" name="Oval 45"/>
            <p:cNvSpPr>
              <a:spLocks noChangeArrowheads="1"/>
            </p:cNvSpPr>
            <p:nvPr/>
          </p:nvSpPr>
          <p:spPr bwMode="auto">
            <a:xfrm>
              <a:off x="2249213" y="3978166"/>
              <a:ext cx="268013" cy="304800"/>
            </a:xfrm>
            <a:prstGeom prst="ellipse">
              <a:avLst/>
            </a:prstGeom>
            <a:noFill/>
            <a:ln w="19050" cap="sq" algn="ctr">
              <a:solidFill>
                <a:srgbClr val="FF9900"/>
              </a:solidFill>
              <a:round/>
              <a:headEnd type="none" w="sm" len="sm"/>
              <a:tailEnd type="none" w="sm" len="sm"/>
            </a:ln>
          </p:spPr>
          <p:txBody>
            <a:bodyPr/>
            <a:lstStyle/>
            <a:p>
              <a:endParaRPr lang="en-SG"/>
            </a:p>
          </p:txBody>
        </p:sp>
        <p:sp>
          <p:nvSpPr>
            <p:cNvPr id="25616" name="Oval 46"/>
            <p:cNvSpPr>
              <a:spLocks noChangeArrowheads="1"/>
            </p:cNvSpPr>
            <p:nvPr/>
          </p:nvSpPr>
          <p:spPr bwMode="auto">
            <a:xfrm>
              <a:off x="3247696" y="3978166"/>
              <a:ext cx="268013" cy="304800"/>
            </a:xfrm>
            <a:prstGeom prst="ellipse">
              <a:avLst/>
            </a:prstGeom>
            <a:noFill/>
            <a:ln w="19050" cap="sq" algn="ctr">
              <a:solidFill>
                <a:srgbClr val="FF9900"/>
              </a:solidFill>
              <a:round/>
              <a:headEnd type="none" w="sm" len="sm"/>
              <a:tailEnd type="none" w="sm" len="sm"/>
            </a:ln>
          </p:spPr>
          <p:txBody>
            <a:bodyPr/>
            <a:lstStyle/>
            <a:p>
              <a:endParaRPr lang="en-SG"/>
            </a:p>
          </p:txBody>
        </p:sp>
        <p:sp>
          <p:nvSpPr>
            <p:cNvPr id="25617" name="Oval 47"/>
            <p:cNvSpPr>
              <a:spLocks noChangeArrowheads="1"/>
            </p:cNvSpPr>
            <p:nvPr/>
          </p:nvSpPr>
          <p:spPr bwMode="auto">
            <a:xfrm>
              <a:off x="4224516" y="3978166"/>
              <a:ext cx="268013" cy="304800"/>
            </a:xfrm>
            <a:prstGeom prst="ellipse">
              <a:avLst/>
            </a:prstGeom>
            <a:noFill/>
            <a:ln w="19050" cap="sq" algn="ctr">
              <a:solidFill>
                <a:srgbClr val="FF9900"/>
              </a:solidFill>
              <a:round/>
              <a:headEnd type="none" w="sm" len="sm"/>
              <a:tailEnd type="none" w="sm" len="sm"/>
            </a:ln>
          </p:spPr>
          <p:txBody>
            <a:bodyPr/>
            <a:lstStyle/>
            <a:p>
              <a:endParaRPr lang="en-SG"/>
            </a:p>
          </p:txBody>
        </p:sp>
      </p:grpSp>
      <p:pic>
        <p:nvPicPr>
          <p:cNvPr id="19" name="Picture 18" descr="focus-md.png"/>
          <p:cNvPicPr>
            <a:picLocks noChangeAspect="1"/>
          </p:cNvPicPr>
          <p:nvPr/>
        </p:nvPicPr>
        <p:blipFill>
          <a:blip r:embed="rId3" cstate="print"/>
          <a:stretch>
            <a:fillRect/>
          </a:stretch>
        </p:blipFill>
        <p:spPr>
          <a:xfrm>
            <a:off x="8229649" y="375969"/>
            <a:ext cx="614548" cy="830472"/>
          </a:xfrm>
          <a:prstGeom prst="rect">
            <a:avLst/>
          </a:prstGeom>
          <a:effectLst>
            <a:outerShdw blurRad="50800" dist="38100" dir="5400000" algn="t" rotWithShape="0">
              <a:prstClr val="black">
                <a:alpha val="40000"/>
              </a:prstClr>
            </a:outerShdw>
            <a:reflection blurRad="6350" stA="50000" endA="300" endPos="55000" dir="5400000" sy="-100000" algn="bl" rotWithShape="0"/>
          </a:effectLst>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dissolve">
                                      <p:cBhvr>
                                        <p:cTn id="7" dur="500"/>
                                        <p:tgtEl>
                                          <p:spTgt spid="44"/>
                                        </p:tgtEl>
                                      </p:cBhvr>
                                    </p:animEffect>
                                  </p:childTnLst>
                                </p:cTn>
                              </p:par>
                              <p:par>
                                <p:cTn id="8" presetID="9" presetClass="entr" presetSubtype="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dissolve">
                                      <p:cBhvr>
                                        <p:cTn id="1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533400" y="381000"/>
            <a:ext cx="8382000" cy="838200"/>
          </a:xfrm>
        </p:spPr>
        <p:txBody>
          <a:bodyPr/>
          <a:lstStyle/>
          <a:p>
            <a:pPr eaLnBrk="1" hangingPunct="1"/>
            <a:r>
              <a:rPr lang="en-GB" dirty="0" smtClean="0"/>
              <a:t>5. Functions with &amp;parameters (5/6)</a:t>
            </a:r>
            <a:endParaRPr lang="en-GB" sz="4800" dirty="0" smtClean="0"/>
          </a:p>
        </p:txBody>
      </p:sp>
      <p:sp>
        <p:nvSpPr>
          <p:cNvPr id="23557" name="Slide Number Placeholder 7"/>
          <p:cNvSpPr>
            <a:spLocks noGrp="1"/>
          </p:cNvSpPr>
          <p:nvPr>
            <p:ph type="sldNum" sz="quarter" idx="12"/>
          </p:nvPr>
        </p:nvSpPr>
        <p:spPr/>
        <p:txBody>
          <a:bodyPr/>
          <a:lstStyle/>
          <a:p>
            <a:pPr>
              <a:defRPr/>
            </a:pPr>
            <a:r>
              <a:rPr dirty="0" smtClean="0">
                <a:cs typeface="Arial" pitchFamily="34" charset="0"/>
              </a:rPr>
              <a:t>Week6 - </a:t>
            </a:r>
            <a:fld id="{2E25AB14-8BB7-4093-9970-0280E1652101}" type="slidenum">
              <a:rPr smtClean="0">
                <a:cs typeface="Arial" pitchFamily="34" charset="0"/>
              </a:rPr>
              <a:pPr>
                <a:defRPr/>
              </a:pPr>
              <a:t>27</a:t>
            </a:fld>
            <a:endParaRPr dirty="0" smtClean="0">
              <a:cs typeface="Arial" pitchFamily="34" charset="0"/>
            </a:endParaRPr>
          </a:p>
        </p:txBody>
      </p:sp>
      <p:sp>
        <p:nvSpPr>
          <p:cNvPr id="31747" name="Rectangle 3"/>
          <p:cNvSpPr>
            <a:spLocks noGrp="1" noChangeArrowheads="1"/>
          </p:cNvSpPr>
          <p:nvPr>
            <p:ph sz="quarter" idx="1"/>
          </p:nvPr>
        </p:nvSpPr>
        <p:spPr>
          <a:xfrm>
            <a:off x="471488" y="1309688"/>
            <a:ext cx="7948612" cy="522287"/>
          </a:xfrm>
        </p:spPr>
        <p:txBody>
          <a:bodyPr/>
          <a:lstStyle/>
          <a:p>
            <a:pPr marL="457200" indent="-457200" eaLnBrk="1" hangingPunct="1">
              <a:spcBef>
                <a:spcPts val="600"/>
              </a:spcBef>
              <a:buSzPct val="100000"/>
              <a:buFont typeface="Wingdings" pitchFamily="2" charset="2"/>
              <a:buChar char="§"/>
            </a:pPr>
            <a:r>
              <a:rPr lang="en-GB" dirty="0" smtClean="0">
                <a:solidFill>
                  <a:schemeClr val="tx1"/>
                </a:solidFill>
              </a:rPr>
              <a:t>One useful application: swapping of 2 variables</a:t>
            </a:r>
            <a:endParaRPr lang="en-GB" b="1" dirty="0" smtClean="0"/>
          </a:p>
          <a:p>
            <a:pPr marL="457200" indent="-457200" eaLnBrk="1" hangingPunct="1">
              <a:buSzPct val="120000"/>
              <a:buFont typeface="Wingdings" pitchFamily="2" charset="2"/>
              <a:buNone/>
            </a:pPr>
            <a:endParaRPr lang="en-GB" b="1" dirty="0" smtClean="0"/>
          </a:p>
          <a:p>
            <a:pPr marL="457200" indent="-457200" eaLnBrk="1" hangingPunct="1">
              <a:buSzPct val="120000"/>
              <a:buFont typeface="Wingdings" pitchFamily="2" charset="2"/>
              <a:buNone/>
            </a:pPr>
            <a:endParaRPr lang="en-GB" b="1" dirty="0" smtClean="0"/>
          </a:p>
          <a:p>
            <a:pPr marL="457200" indent="-457200" eaLnBrk="1" hangingPunct="1">
              <a:buSzPct val="120000"/>
              <a:buFont typeface="Wingdings" pitchFamily="2" charset="2"/>
              <a:buNone/>
            </a:pPr>
            <a:endParaRPr lang="en-GB" sz="2000" dirty="0" smtClean="0"/>
          </a:p>
        </p:txBody>
      </p:sp>
      <p:sp>
        <p:nvSpPr>
          <p:cNvPr id="6" name="TextBox 5"/>
          <p:cNvSpPr txBox="1"/>
          <p:nvPr/>
        </p:nvSpPr>
        <p:spPr>
          <a:xfrm>
            <a:off x="1247775" y="1860550"/>
            <a:ext cx="6345238" cy="4278094"/>
          </a:xfrm>
          <a:prstGeom prst="rect">
            <a:avLst/>
          </a:prstGeom>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a:spAutoFit/>
          </a:bodyPr>
          <a:lstStyle/>
          <a:p>
            <a:pPr>
              <a:defRPr/>
            </a:pPr>
            <a:r>
              <a:rPr lang="en-US" sz="1600" b="1" dirty="0">
                <a:solidFill>
                  <a:srgbClr val="7030A0"/>
                </a:solidFill>
                <a:latin typeface="Courier New" pitchFamily="49" charset="0"/>
                <a:cs typeface="Courier New" pitchFamily="49" charset="0"/>
              </a:rPr>
              <a:t>#include </a:t>
            </a:r>
            <a:r>
              <a:rPr lang="en-US" sz="1600" b="1" dirty="0">
                <a:solidFill>
                  <a:srgbClr val="006600"/>
                </a:solidFill>
                <a:latin typeface="Courier New" pitchFamily="49" charset="0"/>
                <a:cs typeface="Courier New" pitchFamily="49" charset="0"/>
              </a:rPr>
              <a:t>&lt;</a:t>
            </a:r>
            <a:r>
              <a:rPr lang="en-US" sz="1600" b="1" dirty="0" err="1">
                <a:solidFill>
                  <a:srgbClr val="006600"/>
                </a:solidFill>
                <a:latin typeface="Courier New" pitchFamily="49" charset="0"/>
                <a:cs typeface="Courier New" pitchFamily="49" charset="0"/>
              </a:rPr>
              <a:t>stdio.h</a:t>
            </a:r>
            <a:r>
              <a:rPr lang="en-US" sz="1600" b="1" dirty="0">
                <a:solidFill>
                  <a:srgbClr val="006600"/>
                </a:solidFill>
                <a:latin typeface="Courier New" pitchFamily="49" charset="0"/>
                <a:cs typeface="Courier New" pitchFamily="49" charset="0"/>
              </a:rPr>
              <a:t>&gt;</a:t>
            </a:r>
          </a:p>
          <a:p>
            <a:pPr>
              <a:defRPr/>
            </a:pPr>
            <a:r>
              <a:rPr lang="en-US" sz="1600" b="1" dirty="0">
                <a:solidFill>
                  <a:srgbClr val="0000FF"/>
                </a:solidFill>
                <a:latin typeface="Courier New" pitchFamily="49" charset="0"/>
                <a:cs typeface="Courier New" pitchFamily="49" charset="0"/>
              </a:rPr>
              <a:t>void</a:t>
            </a:r>
            <a:r>
              <a:rPr lang="en-US" sz="1600" b="1" dirty="0">
                <a:latin typeface="Courier New" pitchFamily="49" charset="0"/>
                <a:cs typeface="Courier New" pitchFamily="49" charset="0"/>
              </a:rPr>
              <a:t> swap(</a:t>
            </a:r>
            <a:r>
              <a:rPr lang="en-US" sz="1600" b="1" dirty="0" err="1">
                <a:solidFill>
                  <a:srgbClr val="0000FF"/>
                </a:solidFill>
                <a:latin typeface="Courier New" pitchFamily="49" charset="0"/>
                <a:cs typeface="Courier New" pitchFamily="49" charset="0"/>
              </a:rPr>
              <a:t>int</a:t>
            </a:r>
            <a:r>
              <a:rPr lang="en-US" sz="1600" b="1" dirty="0">
                <a:latin typeface="Courier New" pitchFamily="49" charset="0"/>
                <a:cs typeface="Courier New" pitchFamily="49" charset="0"/>
              </a:rPr>
              <a:t>, </a:t>
            </a:r>
            <a:r>
              <a:rPr lang="en-US" sz="1600" b="1" dirty="0" err="1">
                <a:solidFill>
                  <a:srgbClr val="0000FF"/>
                </a:solidFill>
                <a:latin typeface="Courier New" pitchFamily="49" charset="0"/>
                <a:cs typeface="Courier New" pitchFamily="49" charset="0"/>
              </a:rPr>
              <a:t>int</a:t>
            </a:r>
            <a:r>
              <a:rPr lang="en-US" sz="1600" b="1" dirty="0">
                <a:latin typeface="Courier New" pitchFamily="49" charset="0"/>
                <a:cs typeface="Courier New" pitchFamily="49" charset="0"/>
              </a:rPr>
              <a:t>);</a:t>
            </a:r>
          </a:p>
          <a:p>
            <a:pPr>
              <a:defRPr/>
            </a:pPr>
            <a:endParaRPr lang="en-US" sz="1600" b="1" dirty="0">
              <a:latin typeface="Courier New" pitchFamily="49" charset="0"/>
              <a:cs typeface="Courier New" pitchFamily="49" charset="0"/>
            </a:endParaRPr>
          </a:p>
          <a:p>
            <a:pPr>
              <a:defRPr/>
            </a:pPr>
            <a:r>
              <a:rPr lang="en-US" sz="1600" b="1" dirty="0" err="1">
                <a:solidFill>
                  <a:srgbClr val="0000FF"/>
                </a:solidFill>
                <a:latin typeface="Courier New" pitchFamily="49" charset="0"/>
                <a:cs typeface="Courier New" pitchFamily="49" charset="0"/>
              </a:rPr>
              <a:t>int</a:t>
            </a:r>
            <a:r>
              <a:rPr lang="en-US" sz="1600" b="1" dirty="0">
                <a:latin typeface="Courier New" pitchFamily="49" charset="0"/>
                <a:cs typeface="Courier New" pitchFamily="49" charset="0"/>
              </a:rPr>
              <a:t> main(</a:t>
            </a:r>
            <a:r>
              <a:rPr lang="en-US" sz="1600" b="1" dirty="0">
                <a:solidFill>
                  <a:srgbClr val="0000FF"/>
                </a:solidFill>
                <a:latin typeface="Courier New" pitchFamily="49" charset="0"/>
                <a:cs typeface="Courier New" pitchFamily="49" charset="0"/>
              </a:rPr>
              <a:t>void</a:t>
            </a:r>
            <a:r>
              <a:rPr lang="en-US" sz="1600" b="1" dirty="0">
                <a:latin typeface="Courier New" pitchFamily="49" charset="0"/>
                <a:cs typeface="Courier New" pitchFamily="49" charset="0"/>
              </a:rPr>
              <a:t>) </a:t>
            </a:r>
            <a:r>
              <a:rPr lang="en-US" sz="1600" b="1" dirty="0" smtClean="0">
                <a:latin typeface="Courier New" pitchFamily="49" charset="0"/>
                <a:cs typeface="Courier New" pitchFamily="49" charset="0"/>
              </a:rPr>
              <a:t>{</a:t>
            </a:r>
            <a:endParaRPr lang="en-US" sz="1600" b="1" dirty="0">
              <a:latin typeface="Courier New" pitchFamily="49" charset="0"/>
              <a:cs typeface="Courier New" pitchFamily="49" charset="0"/>
            </a:endParaRPr>
          </a:p>
          <a:p>
            <a:pPr>
              <a:defRPr/>
            </a:pPr>
            <a:r>
              <a:rPr lang="en-US" sz="1600" b="1" dirty="0">
                <a:latin typeface="Courier New" pitchFamily="49" charset="0"/>
                <a:cs typeface="Courier New" pitchFamily="49" charset="0"/>
              </a:rPr>
              <a:t>    </a:t>
            </a:r>
            <a:r>
              <a:rPr lang="en-US" sz="1600" b="1" dirty="0" err="1">
                <a:solidFill>
                  <a:srgbClr val="0000FF"/>
                </a:solidFill>
                <a:latin typeface="Courier New" pitchFamily="49" charset="0"/>
                <a:cs typeface="Courier New" pitchFamily="49" charset="0"/>
              </a:rPr>
              <a:t>int</a:t>
            </a:r>
            <a:r>
              <a:rPr lang="en-US" sz="1600" b="1" dirty="0">
                <a:latin typeface="Courier New" pitchFamily="49" charset="0"/>
                <a:cs typeface="Courier New" pitchFamily="49" charset="0"/>
              </a:rPr>
              <a:t> a = </a:t>
            </a:r>
            <a:r>
              <a:rPr lang="en-US" sz="1600" b="1" dirty="0">
                <a:solidFill>
                  <a:srgbClr val="006600"/>
                </a:solidFill>
                <a:latin typeface="Courier New" pitchFamily="49" charset="0"/>
                <a:cs typeface="Courier New" pitchFamily="49" charset="0"/>
              </a:rPr>
              <a:t>9</a:t>
            </a:r>
            <a:r>
              <a:rPr lang="en-US" sz="1600" b="1" dirty="0">
                <a:latin typeface="Courier New" pitchFamily="49" charset="0"/>
                <a:cs typeface="Courier New" pitchFamily="49" charset="0"/>
              </a:rPr>
              <a:t>, b = </a:t>
            </a:r>
            <a:r>
              <a:rPr lang="en-US" sz="1600" b="1" dirty="0">
                <a:solidFill>
                  <a:srgbClr val="006600"/>
                </a:solidFill>
                <a:latin typeface="Courier New" pitchFamily="49" charset="0"/>
                <a:cs typeface="Courier New" pitchFamily="49" charset="0"/>
              </a:rPr>
              <a:t>-2</a:t>
            </a:r>
            <a:r>
              <a:rPr lang="en-US" sz="1600" b="1" dirty="0">
                <a:latin typeface="Courier New" pitchFamily="49" charset="0"/>
                <a:cs typeface="Courier New" pitchFamily="49" charset="0"/>
              </a:rPr>
              <a:t>;</a:t>
            </a:r>
          </a:p>
          <a:p>
            <a:pPr>
              <a:defRPr/>
            </a:pPr>
            <a:r>
              <a:rPr lang="en-US" sz="1600" b="1" dirty="0">
                <a:latin typeface="Courier New" pitchFamily="49" charset="0"/>
                <a:cs typeface="Courier New" pitchFamily="49" charset="0"/>
              </a:rPr>
              <a:t>    swap(a, b);</a:t>
            </a:r>
          </a:p>
          <a:p>
            <a:pPr>
              <a:defRPr/>
            </a:pPr>
            <a:r>
              <a:rPr lang="en-US" sz="1600" b="1" dirty="0">
                <a:latin typeface="Courier New" pitchFamily="49" charset="0"/>
                <a:cs typeface="Courier New" pitchFamily="49" charset="0"/>
              </a:rPr>
              <a:t>    </a:t>
            </a:r>
            <a:r>
              <a:rPr lang="en-US" sz="1600" b="1" dirty="0" err="1">
                <a:latin typeface="Courier New" pitchFamily="49" charset="0"/>
                <a:cs typeface="Courier New" pitchFamily="49" charset="0"/>
              </a:rPr>
              <a:t>printf</a:t>
            </a:r>
            <a:r>
              <a:rPr lang="en-US" sz="1600" b="1" dirty="0">
                <a:latin typeface="Courier New" pitchFamily="49" charset="0"/>
                <a:cs typeface="Courier New" pitchFamily="49" charset="0"/>
              </a:rPr>
              <a:t>(</a:t>
            </a:r>
            <a:r>
              <a:rPr lang="en-US" sz="1600" b="1" dirty="0">
                <a:solidFill>
                  <a:srgbClr val="006600"/>
                </a:solidFill>
                <a:latin typeface="Courier New" pitchFamily="49" charset="0"/>
                <a:cs typeface="Courier New" pitchFamily="49" charset="0"/>
              </a:rPr>
              <a:t>"a = </a:t>
            </a:r>
            <a:r>
              <a:rPr lang="en-US" sz="1600" b="1" dirty="0">
                <a:solidFill>
                  <a:srgbClr val="FF0000"/>
                </a:solidFill>
                <a:latin typeface="Courier New" pitchFamily="49" charset="0"/>
                <a:cs typeface="Courier New" pitchFamily="49" charset="0"/>
              </a:rPr>
              <a:t>%d</a:t>
            </a:r>
            <a:r>
              <a:rPr lang="en-US" sz="1600" b="1" dirty="0">
                <a:solidFill>
                  <a:srgbClr val="006600"/>
                </a:solidFill>
                <a:latin typeface="Courier New" pitchFamily="49" charset="0"/>
                <a:cs typeface="Courier New" pitchFamily="49" charset="0"/>
              </a:rPr>
              <a:t>, b = </a:t>
            </a:r>
            <a:r>
              <a:rPr lang="en-US" sz="1600" b="1" dirty="0">
                <a:solidFill>
                  <a:srgbClr val="FF0000"/>
                </a:solidFill>
                <a:latin typeface="Courier New" pitchFamily="49" charset="0"/>
                <a:cs typeface="Courier New" pitchFamily="49" charset="0"/>
              </a:rPr>
              <a:t>%d\n</a:t>
            </a:r>
            <a:r>
              <a:rPr lang="en-US" sz="1600" b="1" dirty="0">
                <a:solidFill>
                  <a:srgbClr val="006600"/>
                </a:solidFill>
                <a:latin typeface="Courier New" pitchFamily="49" charset="0"/>
                <a:cs typeface="Courier New" pitchFamily="49" charset="0"/>
              </a:rPr>
              <a:t>"</a:t>
            </a:r>
            <a:r>
              <a:rPr lang="en-US" sz="1600" b="1" dirty="0">
                <a:latin typeface="Courier New" pitchFamily="49" charset="0"/>
                <a:cs typeface="Courier New" pitchFamily="49" charset="0"/>
              </a:rPr>
              <a:t>, a, b);</a:t>
            </a:r>
          </a:p>
          <a:p>
            <a:pPr>
              <a:defRPr/>
            </a:pPr>
            <a:r>
              <a:rPr lang="en-US" sz="1600" b="1" dirty="0">
                <a:latin typeface="Courier New" pitchFamily="49" charset="0"/>
                <a:cs typeface="Courier New" pitchFamily="49" charset="0"/>
              </a:rPr>
              <a:t>    </a:t>
            </a:r>
            <a:r>
              <a:rPr lang="en-US" sz="1600" b="1" dirty="0">
                <a:solidFill>
                  <a:srgbClr val="0000FF"/>
                </a:solidFill>
                <a:latin typeface="Courier New" pitchFamily="49" charset="0"/>
                <a:cs typeface="Courier New" pitchFamily="49" charset="0"/>
              </a:rPr>
              <a:t>return</a:t>
            </a:r>
            <a:r>
              <a:rPr lang="en-US" sz="1600" b="1" dirty="0">
                <a:latin typeface="Courier New" pitchFamily="49" charset="0"/>
                <a:cs typeface="Courier New" pitchFamily="49" charset="0"/>
              </a:rPr>
              <a:t> </a:t>
            </a:r>
            <a:r>
              <a:rPr lang="en-US" sz="1600" b="1" dirty="0">
                <a:solidFill>
                  <a:srgbClr val="006600"/>
                </a:solidFill>
                <a:latin typeface="Courier New" pitchFamily="49" charset="0"/>
                <a:cs typeface="Courier New" pitchFamily="49" charset="0"/>
              </a:rPr>
              <a:t>0</a:t>
            </a:r>
            <a:r>
              <a:rPr lang="en-US" sz="1600" b="1" dirty="0">
                <a:latin typeface="Courier New" pitchFamily="49" charset="0"/>
                <a:cs typeface="Courier New" pitchFamily="49" charset="0"/>
              </a:rPr>
              <a:t>;</a:t>
            </a:r>
          </a:p>
          <a:p>
            <a:pPr>
              <a:defRPr/>
            </a:pPr>
            <a:r>
              <a:rPr lang="en-US" sz="1600" b="1" dirty="0">
                <a:latin typeface="Courier New" pitchFamily="49" charset="0"/>
                <a:cs typeface="Courier New" pitchFamily="49" charset="0"/>
              </a:rPr>
              <a:t>}</a:t>
            </a:r>
          </a:p>
          <a:p>
            <a:pPr>
              <a:defRPr/>
            </a:pPr>
            <a:endParaRPr lang="en-US" sz="1600" b="1" dirty="0">
              <a:latin typeface="Courier New" pitchFamily="49" charset="0"/>
              <a:cs typeface="Courier New" pitchFamily="49" charset="0"/>
            </a:endParaRPr>
          </a:p>
          <a:p>
            <a:pPr>
              <a:defRPr/>
            </a:pPr>
            <a:r>
              <a:rPr lang="en-US" sz="1600" b="1" dirty="0">
                <a:solidFill>
                  <a:srgbClr val="0000FF"/>
                </a:solidFill>
                <a:latin typeface="Courier New" pitchFamily="49" charset="0"/>
                <a:cs typeface="Courier New" pitchFamily="49" charset="0"/>
              </a:rPr>
              <a:t>void</a:t>
            </a:r>
            <a:r>
              <a:rPr lang="en-US" sz="1600" b="1" dirty="0">
                <a:latin typeface="Courier New" pitchFamily="49" charset="0"/>
                <a:cs typeface="Courier New" pitchFamily="49" charset="0"/>
              </a:rPr>
              <a:t> swap(</a:t>
            </a:r>
            <a:r>
              <a:rPr lang="en-US" sz="1600" b="1" dirty="0" err="1">
                <a:solidFill>
                  <a:srgbClr val="0000FF"/>
                </a:solidFill>
                <a:latin typeface="Courier New" pitchFamily="49" charset="0"/>
                <a:cs typeface="Courier New" pitchFamily="49" charset="0"/>
              </a:rPr>
              <a:t>int</a:t>
            </a:r>
            <a:r>
              <a:rPr lang="en-US" sz="1600" b="1" dirty="0">
                <a:latin typeface="Courier New" pitchFamily="49" charset="0"/>
                <a:cs typeface="Courier New" pitchFamily="49" charset="0"/>
              </a:rPr>
              <a:t> x, </a:t>
            </a:r>
            <a:r>
              <a:rPr lang="en-US" sz="1600" b="1" dirty="0" err="1">
                <a:solidFill>
                  <a:srgbClr val="0000FF"/>
                </a:solidFill>
                <a:latin typeface="Courier New" pitchFamily="49" charset="0"/>
                <a:cs typeface="Courier New" pitchFamily="49" charset="0"/>
              </a:rPr>
              <a:t>int</a:t>
            </a:r>
            <a:r>
              <a:rPr lang="en-US" sz="1600" b="1" dirty="0">
                <a:latin typeface="Courier New" pitchFamily="49" charset="0"/>
                <a:cs typeface="Courier New" pitchFamily="49" charset="0"/>
              </a:rPr>
              <a:t> y</a:t>
            </a:r>
            <a:r>
              <a:rPr lang="en-US" sz="1600" b="1" dirty="0" smtClean="0">
                <a:latin typeface="Courier New" pitchFamily="49" charset="0"/>
                <a:cs typeface="Courier New" pitchFamily="49" charset="0"/>
              </a:rPr>
              <a:t>) {</a:t>
            </a:r>
            <a:endParaRPr lang="en-US" sz="1600" b="1" dirty="0">
              <a:latin typeface="Courier New" pitchFamily="49" charset="0"/>
              <a:cs typeface="Courier New" pitchFamily="49" charset="0"/>
            </a:endParaRPr>
          </a:p>
          <a:p>
            <a:pPr>
              <a:defRPr/>
            </a:pPr>
            <a:r>
              <a:rPr lang="en-US" sz="1600" b="1" dirty="0">
                <a:latin typeface="Courier New" pitchFamily="49" charset="0"/>
                <a:cs typeface="Courier New" pitchFamily="49" charset="0"/>
              </a:rPr>
              <a:t>    </a:t>
            </a:r>
            <a:r>
              <a:rPr lang="en-US" sz="1600" b="1" dirty="0" err="1">
                <a:solidFill>
                  <a:srgbClr val="0000FF"/>
                </a:solidFill>
                <a:latin typeface="Courier New" pitchFamily="49" charset="0"/>
                <a:cs typeface="Courier New" pitchFamily="49" charset="0"/>
              </a:rPr>
              <a:t>int</a:t>
            </a:r>
            <a:r>
              <a:rPr lang="en-US" sz="1600" b="1" dirty="0">
                <a:latin typeface="Courier New" pitchFamily="49" charset="0"/>
                <a:cs typeface="Courier New" pitchFamily="49" charset="0"/>
              </a:rPr>
              <a:t> temp</a:t>
            </a:r>
            <a:r>
              <a:rPr lang="en-US" sz="1600" b="1" dirty="0" smtClean="0">
                <a:latin typeface="Courier New" pitchFamily="49" charset="0"/>
                <a:cs typeface="Courier New" pitchFamily="49" charset="0"/>
              </a:rPr>
              <a:t>;</a:t>
            </a:r>
          </a:p>
          <a:p>
            <a:pPr>
              <a:defRPr/>
            </a:pPr>
            <a:endParaRPr lang="en-US" sz="1600" b="1" dirty="0">
              <a:latin typeface="Courier New" pitchFamily="49" charset="0"/>
              <a:cs typeface="Courier New" pitchFamily="49" charset="0"/>
            </a:endParaRPr>
          </a:p>
          <a:p>
            <a:pPr>
              <a:defRPr/>
            </a:pPr>
            <a:r>
              <a:rPr lang="en-US" sz="1600" b="1" dirty="0">
                <a:latin typeface="Courier New" pitchFamily="49" charset="0"/>
                <a:cs typeface="Courier New" pitchFamily="49" charset="0"/>
              </a:rPr>
              <a:t>    temp = x;</a:t>
            </a:r>
          </a:p>
          <a:p>
            <a:pPr>
              <a:defRPr/>
            </a:pPr>
            <a:r>
              <a:rPr lang="en-US" sz="1600" b="1" dirty="0">
                <a:latin typeface="Courier New" pitchFamily="49" charset="0"/>
                <a:cs typeface="Courier New" pitchFamily="49" charset="0"/>
              </a:rPr>
              <a:t>    x = y;</a:t>
            </a:r>
          </a:p>
          <a:p>
            <a:pPr>
              <a:defRPr/>
            </a:pPr>
            <a:r>
              <a:rPr lang="en-US" sz="1600" b="1" dirty="0">
                <a:latin typeface="Courier New" pitchFamily="49" charset="0"/>
                <a:cs typeface="Courier New" pitchFamily="49" charset="0"/>
              </a:rPr>
              <a:t>    y = temp;</a:t>
            </a:r>
          </a:p>
          <a:p>
            <a:pPr>
              <a:defRPr/>
            </a:pPr>
            <a:r>
              <a:rPr lang="en-US" sz="1600" b="1" dirty="0">
                <a:latin typeface="Courier New" pitchFamily="49" charset="0"/>
                <a:cs typeface="Courier New" pitchFamily="49" charset="0"/>
              </a:rPr>
              <a:t>} </a:t>
            </a:r>
          </a:p>
        </p:txBody>
      </p:sp>
      <p:sp>
        <p:nvSpPr>
          <p:cNvPr id="7" name="TextBox 6"/>
          <p:cNvSpPr txBox="1"/>
          <p:nvPr/>
        </p:nvSpPr>
        <p:spPr>
          <a:xfrm>
            <a:off x="5949108" y="2172936"/>
            <a:ext cx="2293984" cy="707886"/>
          </a:xfrm>
          <a:prstGeom prst="rect">
            <a:avLst/>
          </a:prstGeom>
          <a:solidFill>
            <a:srgbClr val="CCFF99"/>
          </a:solidFill>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wrap="square">
            <a:spAutoFit/>
          </a:bodyPr>
          <a:lstStyle/>
          <a:p>
            <a:pPr>
              <a:defRPr/>
            </a:pPr>
            <a:r>
              <a:rPr lang="en-US" sz="2000" dirty="0">
                <a:cs typeface="Courier New" pitchFamily="49" charset="0"/>
              </a:rPr>
              <a:t>Does this work</a:t>
            </a:r>
            <a:r>
              <a:rPr lang="en-US" sz="2000" dirty="0" smtClean="0">
                <a:cs typeface="Courier New" pitchFamily="49" charset="0"/>
              </a:rPr>
              <a:t>? </a:t>
            </a:r>
          </a:p>
          <a:p>
            <a:pPr>
              <a:defRPr/>
            </a:pPr>
            <a:r>
              <a:rPr lang="en-US" sz="2000" dirty="0" smtClean="0">
                <a:cs typeface="Courier New" pitchFamily="49" charset="0"/>
              </a:rPr>
              <a:t>Why or why not?</a:t>
            </a:r>
            <a:endParaRPr lang="en-US" sz="2000" dirty="0">
              <a:cs typeface="Courier New" pitchFamily="49" charset="0"/>
            </a:endParaRPr>
          </a:p>
        </p:txBody>
      </p:sp>
      <p:pic>
        <p:nvPicPr>
          <p:cNvPr id="8" name="Picture 7" descr="focus-md.png"/>
          <p:cNvPicPr>
            <a:picLocks noChangeAspect="1"/>
          </p:cNvPicPr>
          <p:nvPr/>
        </p:nvPicPr>
        <p:blipFill>
          <a:blip r:embed="rId3" cstate="print"/>
          <a:stretch>
            <a:fillRect/>
          </a:stretch>
        </p:blipFill>
        <p:spPr>
          <a:xfrm>
            <a:off x="8229649" y="375969"/>
            <a:ext cx="614548" cy="830472"/>
          </a:xfrm>
          <a:prstGeom prst="rect">
            <a:avLst/>
          </a:prstGeom>
          <a:effectLst>
            <a:outerShdw blurRad="50800" dist="38100" dir="5400000" algn="t" rotWithShape="0">
              <a:prstClr val="black">
                <a:alpha val="40000"/>
              </a:prstClr>
            </a:outerShdw>
            <a:reflection blurRad="6350" stA="50000" endA="300" endPos="55000" dir="5400000" sy="-100000" algn="bl" rotWithShape="0"/>
          </a:effectLst>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dissolve">
                                      <p:cBhvr>
                                        <p:cTn id="1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533400" y="381000"/>
            <a:ext cx="8382000" cy="838200"/>
          </a:xfrm>
        </p:spPr>
        <p:txBody>
          <a:bodyPr/>
          <a:lstStyle/>
          <a:p>
            <a:pPr eaLnBrk="1" hangingPunct="1"/>
            <a:r>
              <a:rPr lang="en-GB" dirty="0" smtClean="0"/>
              <a:t>5. Functions with &amp;parameters (6/6)</a:t>
            </a:r>
            <a:endParaRPr lang="en-GB" sz="4800" dirty="0" smtClean="0"/>
          </a:p>
        </p:txBody>
      </p:sp>
      <p:sp>
        <p:nvSpPr>
          <p:cNvPr id="23557" name="Slide Number Placeholder 7"/>
          <p:cNvSpPr>
            <a:spLocks noGrp="1"/>
          </p:cNvSpPr>
          <p:nvPr>
            <p:ph type="sldNum" sz="quarter" idx="12"/>
          </p:nvPr>
        </p:nvSpPr>
        <p:spPr/>
        <p:txBody>
          <a:bodyPr/>
          <a:lstStyle/>
          <a:p>
            <a:pPr>
              <a:defRPr/>
            </a:pPr>
            <a:r>
              <a:rPr dirty="0" smtClean="0">
                <a:cs typeface="Arial" pitchFamily="34" charset="0"/>
              </a:rPr>
              <a:t>Week6 - </a:t>
            </a:r>
            <a:fld id="{F1F7F44D-91A0-491D-A226-8B285F46A5A0}" type="slidenum">
              <a:rPr smtClean="0">
                <a:cs typeface="Arial" pitchFamily="34" charset="0"/>
              </a:rPr>
              <a:pPr>
                <a:defRPr/>
              </a:pPr>
              <a:t>28</a:t>
            </a:fld>
            <a:endParaRPr dirty="0" smtClean="0">
              <a:cs typeface="Arial" pitchFamily="34" charset="0"/>
            </a:endParaRPr>
          </a:p>
        </p:txBody>
      </p:sp>
      <p:sp>
        <p:nvSpPr>
          <p:cNvPr id="31747" name="Rectangle 3"/>
          <p:cNvSpPr>
            <a:spLocks noGrp="1" noChangeArrowheads="1"/>
          </p:cNvSpPr>
          <p:nvPr>
            <p:ph sz="quarter" idx="1"/>
          </p:nvPr>
        </p:nvSpPr>
        <p:spPr>
          <a:xfrm>
            <a:off x="471488" y="1309688"/>
            <a:ext cx="7948612" cy="522287"/>
          </a:xfrm>
        </p:spPr>
        <p:txBody>
          <a:bodyPr/>
          <a:lstStyle/>
          <a:p>
            <a:pPr marL="457200" indent="-457200" eaLnBrk="1" hangingPunct="1">
              <a:spcBef>
                <a:spcPts val="600"/>
              </a:spcBef>
              <a:buSzPct val="100000"/>
              <a:buFont typeface="Wingdings" pitchFamily="2" charset="2"/>
              <a:buChar char="§"/>
            </a:pPr>
            <a:r>
              <a:rPr lang="en-GB" sz="1800" dirty="0" smtClean="0">
                <a:solidFill>
                  <a:schemeClr val="tx1"/>
                </a:solidFill>
              </a:rPr>
              <a:t>Can you correct the previous program? </a:t>
            </a:r>
            <a:r>
              <a:rPr lang="en-GB" sz="1800" dirty="0" smtClean="0"/>
              <a:t>(Answer will be shown in class.)</a:t>
            </a:r>
            <a:endParaRPr lang="en-GB" sz="1800" b="1" dirty="0" smtClean="0"/>
          </a:p>
          <a:p>
            <a:pPr marL="457200" indent="-457200" eaLnBrk="1" hangingPunct="1">
              <a:buSzPct val="120000"/>
              <a:buFont typeface="Wingdings" pitchFamily="2" charset="2"/>
              <a:buNone/>
            </a:pPr>
            <a:endParaRPr lang="en-GB" b="1" dirty="0" smtClean="0"/>
          </a:p>
          <a:p>
            <a:pPr marL="457200" indent="-457200" eaLnBrk="1" hangingPunct="1">
              <a:buSzPct val="120000"/>
              <a:buFont typeface="Wingdings" pitchFamily="2" charset="2"/>
              <a:buNone/>
            </a:pPr>
            <a:endParaRPr lang="en-GB" b="1" dirty="0" smtClean="0"/>
          </a:p>
          <a:p>
            <a:pPr marL="457200" indent="-457200" eaLnBrk="1" hangingPunct="1">
              <a:buSzPct val="120000"/>
              <a:buFont typeface="Wingdings" pitchFamily="2" charset="2"/>
              <a:buNone/>
            </a:pPr>
            <a:endParaRPr lang="en-GB" sz="2000" dirty="0" smtClean="0"/>
          </a:p>
        </p:txBody>
      </p:sp>
      <p:sp>
        <p:nvSpPr>
          <p:cNvPr id="27655" name="Text Box 4"/>
          <p:cNvSpPr txBox="1">
            <a:spLocks noChangeArrowheads="1"/>
          </p:cNvSpPr>
          <p:nvPr/>
        </p:nvSpPr>
        <p:spPr bwMode="auto">
          <a:xfrm>
            <a:off x="152400" y="6400800"/>
            <a:ext cx="304800" cy="201613"/>
          </a:xfrm>
          <a:prstGeom prst="rect">
            <a:avLst/>
          </a:prstGeom>
          <a:noFill/>
          <a:ln w="9525">
            <a:noFill/>
            <a:miter lim="800000"/>
            <a:headEnd/>
            <a:tailEnd/>
          </a:ln>
        </p:spPr>
        <p:txBody>
          <a:bodyPr lIns="9144" tIns="9144" rIns="9144" bIns="9144">
            <a:spAutoFit/>
          </a:bodyPr>
          <a:lstStyle/>
          <a:p>
            <a:pPr algn="ctr">
              <a:spcBef>
                <a:spcPct val="50000"/>
              </a:spcBef>
            </a:pPr>
            <a:r>
              <a:rPr lang="en-US" sz="1200" dirty="0">
                <a:sym typeface="Wingdings 2" pitchFamily="18" charset="2"/>
              </a:rPr>
              <a:t></a:t>
            </a:r>
          </a:p>
        </p:txBody>
      </p:sp>
      <p:pic>
        <p:nvPicPr>
          <p:cNvPr id="20" name="Picture 19" descr="focus-md.png"/>
          <p:cNvPicPr>
            <a:picLocks noChangeAspect="1"/>
          </p:cNvPicPr>
          <p:nvPr/>
        </p:nvPicPr>
        <p:blipFill>
          <a:blip r:embed="rId3" cstate="print"/>
          <a:stretch>
            <a:fillRect/>
          </a:stretch>
        </p:blipFill>
        <p:spPr>
          <a:xfrm>
            <a:off x="8229649" y="375969"/>
            <a:ext cx="614548" cy="830472"/>
          </a:xfrm>
          <a:prstGeom prst="rect">
            <a:avLst/>
          </a:prstGeom>
          <a:effectLst>
            <a:outerShdw blurRad="50800" dist="38100" dir="5400000" algn="t" rotWithShape="0">
              <a:prstClr val="black">
                <a:alpha val="40000"/>
              </a:prstClr>
            </a:outerShdw>
            <a:reflection blurRad="6350" stA="50000" endA="300" endPos="55000" dir="5400000" sy="-100000" algn="bl" rotWithShape="0"/>
          </a:effectLst>
        </p:spPr>
      </p:pic>
    </p:spTree>
  </p:cSld>
  <p:clrMapOvr>
    <a:masterClrMapping/>
  </p:clrMapOvr>
  <p:transition>
    <p:fade/>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533400" y="381000"/>
            <a:ext cx="8382000" cy="838200"/>
          </a:xfrm>
        </p:spPr>
        <p:txBody>
          <a:bodyPr/>
          <a:lstStyle/>
          <a:p>
            <a:pPr eaLnBrk="1" hangingPunct="1"/>
            <a:r>
              <a:rPr lang="en-GB" dirty="0" smtClean="0"/>
              <a:t>6. Exercise #1</a:t>
            </a:r>
          </a:p>
        </p:txBody>
      </p:sp>
      <p:sp>
        <p:nvSpPr>
          <p:cNvPr id="23557" name="Slide Number Placeholder 7"/>
          <p:cNvSpPr>
            <a:spLocks noGrp="1"/>
          </p:cNvSpPr>
          <p:nvPr>
            <p:ph type="sldNum" sz="quarter" idx="12"/>
          </p:nvPr>
        </p:nvSpPr>
        <p:spPr/>
        <p:txBody>
          <a:bodyPr/>
          <a:lstStyle/>
          <a:p>
            <a:pPr>
              <a:defRPr/>
            </a:pPr>
            <a:r>
              <a:rPr dirty="0" smtClean="0">
                <a:cs typeface="Arial" pitchFamily="34" charset="0"/>
              </a:rPr>
              <a:t>Week6 - </a:t>
            </a:r>
            <a:fld id="{0FCBEDCD-8C15-4420-B0D9-18665FE2808E}" type="slidenum">
              <a:rPr smtClean="0">
                <a:cs typeface="Arial" pitchFamily="34" charset="0"/>
              </a:rPr>
              <a:pPr>
                <a:defRPr/>
              </a:pPr>
              <a:t>29</a:t>
            </a:fld>
            <a:endParaRPr dirty="0" smtClean="0">
              <a:cs typeface="Arial" pitchFamily="34" charset="0"/>
            </a:endParaRPr>
          </a:p>
        </p:txBody>
      </p:sp>
      <p:sp>
        <p:nvSpPr>
          <p:cNvPr id="31747" name="Rectangle 3"/>
          <p:cNvSpPr>
            <a:spLocks noGrp="1" noChangeArrowheads="1"/>
          </p:cNvSpPr>
          <p:nvPr>
            <p:ph sz="quarter" idx="1"/>
          </p:nvPr>
        </p:nvSpPr>
        <p:spPr>
          <a:xfrm>
            <a:off x="458788" y="1222375"/>
            <a:ext cx="7948612" cy="523875"/>
          </a:xfrm>
        </p:spPr>
        <p:txBody>
          <a:bodyPr/>
          <a:lstStyle/>
          <a:p>
            <a:pPr marL="457200" indent="-457200" eaLnBrk="1" hangingPunct="1">
              <a:spcBef>
                <a:spcPts val="600"/>
              </a:spcBef>
              <a:buSzPct val="100000"/>
              <a:buFont typeface="Wingdings" pitchFamily="2" charset="2"/>
              <a:buChar char="§"/>
            </a:pPr>
            <a:r>
              <a:rPr lang="en-GB" sz="2000" dirty="0" smtClean="0">
                <a:solidFill>
                  <a:schemeClr val="tx1"/>
                </a:solidFill>
              </a:rPr>
              <a:t>Trace the code </a:t>
            </a:r>
            <a:r>
              <a:rPr lang="en-GB" sz="2000" u="sng" dirty="0" smtClean="0">
                <a:solidFill>
                  <a:schemeClr val="tx1"/>
                </a:solidFill>
              </a:rPr>
              <a:t>manually</a:t>
            </a:r>
            <a:r>
              <a:rPr lang="en-GB" sz="2000" dirty="0" smtClean="0">
                <a:solidFill>
                  <a:schemeClr val="tx1"/>
                </a:solidFill>
              </a:rPr>
              <a:t>. What are the outputs?</a:t>
            </a:r>
            <a:endParaRPr lang="en-GB" sz="2000" b="1" dirty="0" smtClean="0"/>
          </a:p>
          <a:p>
            <a:pPr marL="457200" indent="-457200" eaLnBrk="1" hangingPunct="1">
              <a:buSzPct val="120000"/>
              <a:buFont typeface="Wingdings" pitchFamily="2" charset="2"/>
              <a:buNone/>
            </a:pPr>
            <a:endParaRPr lang="en-GB" b="1" dirty="0" smtClean="0"/>
          </a:p>
          <a:p>
            <a:pPr marL="457200" indent="-457200" eaLnBrk="1" hangingPunct="1">
              <a:buSzPct val="120000"/>
              <a:buFont typeface="Wingdings" pitchFamily="2" charset="2"/>
              <a:buNone/>
            </a:pPr>
            <a:endParaRPr lang="en-GB" b="1" dirty="0" smtClean="0"/>
          </a:p>
          <a:p>
            <a:pPr marL="457200" indent="-457200" eaLnBrk="1" hangingPunct="1">
              <a:buSzPct val="120000"/>
              <a:buFont typeface="Wingdings" pitchFamily="2" charset="2"/>
              <a:buNone/>
            </a:pPr>
            <a:endParaRPr lang="en-GB" sz="2000" dirty="0" smtClean="0"/>
          </a:p>
        </p:txBody>
      </p:sp>
      <p:sp>
        <p:nvSpPr>
          <p:cNvPr id="6" name="TextBox 5"/>
          <p:cNvSpPr txBox="1"/>
          <p:nvPr/>
        </p:nvSpPr>
        <p:spPr>
          <a:xfrm>
            <a:off x="258762" y="2357400"/>
            <a:ext cx="6832917" cy="3539430"/>
          </a:xfrm>
          <a:prstGeom prst="rect">
            <a:avLst/>
          </a:prstGeom>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wrap="square">
            <a:spAutoFit/>
          </a:bodyPr>
          <a:lstStyle/>
          <a:p>
            <a:pPr>
              <a:tabLst>
                <a:tab pos="361950" algn="l"/>
                <a:tab pos="722313" algn="l"/>
              </a:tabLst>
              <a:defRPr/>
            </a:pPr>
            <a:r>
              <a:rPr lang="en-US" sz="1400" b="1" dirty="0">
                <a:solidFill>
                  <a:srgbClr val="7030A0"/>
                </a:solidFill>
                <a:latin typeface="Courier New" pitchFamily="49" charset="0"/>
                <a:cs typeface="Courier New" pitchFamily="49" charset="0"/>
              </a:rPr>
              <a:t>#include </a:t>
            </a:r>
            <a:r>
              <a:rPr lang="en-US" sz="1400" b="1" dirty="0">
                <a:solidFill>
                  <a:srgbClr val="006600"/>
                </a:solidFill>
                <a:latin typeface="Courier New" pitchFamily="49" charset="0"/>
                <a:cs typeface="Courier New" pitchFamily="49" charset="0"/>
              </a:rPr>
              <a:t>&lt;</a:t>
            </a:r>
            <a:r>
              <a:rPr lang="en-US" sz="1400" b="1" dirty="0" err="1">
                <a:solidFill>
                  <a:srgbClr val="006600"/>
                </a:solidFill>
                <a:latin typeface="Courier New" pitchFamily="49" charset="0"/>
                <a:cs typeface="Courier New" pitchFamily="49" charset="0"/>
              </a:rPr>
              <a:t>stdio.h</a:t>
            </a:r>
            <a:r>
              <a:rPr lang="en-US" sz="1400" b="1" dirty="0">
                <a:solidFill>
                  <a:srgbClr val="006600"/>
                </a:solidFill>
                <a:latin typeface="Courier New" pitchFamily="49" charset="0"/>
                <a:cs typeface="Courier New" pitchFamily="49" charset="0"/>
              </a:rPr>
              <a:t>&gt;</a:t>
            </a:r>
          </a:p>
          <a:p>
            <a:pPr>
              <a:tabLst>
                <a:tab pos="361950" algn="l"/>
                <a:tab pos="722313" algn="l"/>
              </a:tabLst>
              <a:defRPr/>
            </a:pPr>
            <a:r>
              <a:rPr lang="en-US" sz="1400" b="1" dirty="0">
                <a:solidFill>
                  <a:srgbClr val="0000FF"/>
                </a:solidFill>
                <a:latin typeface="Courier New" pitchFamily="49" charset="0"/>
                <a:cs typeface="Courier New" pitchFamily="49" charset="0"/>
              </a:rPr>
              <a:t>void</a:t>
            </a:r>
            <a:r>
              <a:rPr lang="en-US" sz="1400" b="1" dirty="0">
                <a:solidFill>
                  <a:schemeClr val="tx1"/>
                </a:solidFill>
                <a:latin typeface="Courier New" pitchFamily="49" charset="0"/>
                <a:cs typeface="Courier New" pitchFamily="49" charset="0"/>
              </a:rPr>
              <a:t> f(</a:t>
            </a:r>
            <a:r>
              <a:rPr lang="en-US" sz="1400" b="1" dirty="0" err="1">
                <a:solidFill>
                  <a:srgbClr val="0000FF"/>
                </a:solidFill>
                <a:latin typeface="Courier New" pitchFamily="49" charset="0"/>
                <a:cs typeface="Courier New" pitchFamily="49" charset="0"/>
              </a:rPr>
              <a:t>int</a:t>
            </a:r>
            <a:r>
              <a:rPr lang="en-US" sz="1400" b="1" dirty="0">
                <a:solidFill>
                  <a:schemeClr val="tx1"/>
                </a:solidFill>
                <a:latin typeface="Courier New" pitchFamily="49" charset="0"/>
                <a:cs typeface="Courier New" pitchFamily="49" charset="0"/>
              </a:rPr>
              <a:t>, </a:t>
            </a:r>
            <a:r>
              <a:rPr lang="en-US" sz="1400" b="1" dirty="0">
                <a:solidFill>
                  <a:srgbClr val="0000FF"/>
                </a:solidFill>
                <a:latin typeface="Courier New" pitchFamily="49" charset="0"/>
                <a:cs typeface="Courier New" pitchFamily="49" charset="0"/>
              </a:rPr>
              <a:t>double</a:t>
            </a:r>
            <a:r>
              <a:rPr lang="en-US" sz="1400" b="1" dirty="0">
                <a:solidFill>
                  <a:schemeClr val="tx1"/>
                </a:solidFill>
                <a:latin typeface="Courier New" pitchFamily="49" charset="0"/>
                <a:cs typeface="Courier New" pitchFamily="49" charset="0"/>
              </a:rPr>
              <a:t>, </a:t>
            </a:r>
            <a:r>
              <a:rPr lang="en-US" sz="1400" b="1" dirty="0" err="1">
                <a:solidFill>
                  <a:srgbClr val="0000FF"/>
                </a:solidFill>
                <a:latin typeface="Courier New" pitchFamily="49" charset="0"/>
                <a:cs typeface="Courier New" pitchFamily="49" charset="0"/>
              </a:rPr>
              <a:t>int</a:t>
            </a:r>
            <a:r>
              <a:rPr lang="en-US" sz="1400" b="1" dirty="0">
                <a:solidFill>
                  <a:schemeClr val="tx1"/>
                </a:solidFill>
                <a:latin typeface="Courier New" pitchFamily="49" charset="0"/>
                <a:cs typeface="Courier New" pitchFamily="49" charset="0"/>
              </a:rPr>
              <a:t> *, </a:t>
            </a:r>
            <a:r>
              <a:rPr lang="en-US" sz="1400" b="1" dirty="0">
                <a:solidFill>
                  <a:srgbClr val="0000FF"/>
                </a:solidFill>
                <a:latin typeface="Courier New" pitchFamily="49" charset="0"/>
                <a:cs typeface="Courier New" pitchFamily="49" charset="0"/>
              </a:rPr>
              <a:t>double</a:t>
            </a:r>
            <a:r>
              <a:rPr lang="en-US" sz="1400" b="1" dirty="0">
                <a:solidFill>
                  <a:schemeClr val="tx1"/>
                </a:solidFill>
                <a:latin typeface="Courier New" pitchFamily="49" charset="0"/>
                <a:cs typeface="Courier New" pitchFamily="49" charset="0"/>
              </a:rPr>
              <a:t> *);</a:t>
            </a:r>
          </a:p>
          <a:p>
            <a:pPr>
              <a:tabLst>
                <a:tab pos="361950" algn="l"/>
                <a:tab pos="722313" algn="l"/>
              </a:tabLst>
              <a:defRPr/>
            </a:pPr>
            <a:endParaRPr lang="en-US" sz="1400" b="1" dirty="0">
              <a:solidFill>
                <a:schemeClr val="tx1"/>
              </a:solidFill>
              <a:latin typeface="Courier New" pitchFamily="49" charset="0"/>
              <a:cs typeface="Courier New" pitchFamily="49" charset="0"/>
            </a:endParaRPr>
          </a:p>
          <a:p>
            <a:pPr>
              <a:tabLst>
                <a:tab pos="361950" algn="l"/>
                <a:tab pos="722313" algn="l"/>
              </a:tabLst>
              <a:defRPr/>
            </a:pPr>
            <a:r>
              <a:rPr lang="en-US" sz="1400" b="1" dirty="0" err="1">
                <a:solidFill>
                  <a:srgbClr val="0000FF"/>
                </a:solidFill>
                <a:latin typeface="Courier New" pitchFamily="49" charset="0"/>
                <a:cs typeface="Courier New" pitchFamily="49" charset="0"/>
              </a:rPr>
              <a:t>int</a:t>
            </a:r>
            <a:r>
              <a:rPr lang="en-US" sz="1400" b="1" dirty="0">
                <a:solidFill>
                  <a:schemeClr val="tx1"/>
                </a:solidFill>
                <a:latin typeface="Courier New" pitchFamily="49" charset="0"/>
                <a:cs typeface="Courier New" pitchFamily="49" charset="0"/>
              </a:rPr>
              <a:t> main(</a:t>
            </a:r>
            <a:r>
              <a:rPr lang="en-US" sz="1400" b="1" dirty="0">
                <a:solidFill>
                  <a:srgbClr val="0000FF"/>
                </a:solidFill>
                <a:latin typeface="Courier New" pitchFamily="49" charset="0"/>
                <a:cs typeface="Courier New" pitchFamily="49" charset="0"/>
              </a:rPr>
              <a:t>void</a:t>
            </a:r>
            <a:r>
              <a:rPr lang="en-US" sz="1400" b="1" dirty="0">
                <a:solidFill>
                  <a:schemeClr val="tx1"/>
                </a:solidFill>
                <a:latin typeface="Courier New" pitchFamily="49" charset="0"/>
                <a:cs typeface="Courier New" pitchFamily="49" charset="0"/>
              </a:rPr>
              <a:t>) </a:t>
            </a:r>
            <a:r>
              <a:rPr lang="en-US" sz="1400" b="1" dirty="0" smtClean="0">
                <a:solidFill>
                  <a:schemeClr val="tx1"/>
                </a:solidFill>
                <a:latin typeface="Courier New" pitchFamily="49" charset="0"/>
                <a:cs typeface="Courier New" pitchFamily="49" charset="0"/>
              </a:rPr>
              <a:t>{</a:t>
            </a:r>
            <a:endParaRPr lang="en-US" sz="1400" b="1" dirty="0">
              <a:solidFill>
                <a:schemeClr val="tx1"/>
              </a:solidFill>
              <a:latin typeface="Courier New" pitchFamily="49" charset="0"/>
              <a:cs typeface="Courier New" pitchFamily="49" charset="0"/>
            </a:endParaRPr>
          </a:p>
          <a:p>
            <a:pPr>
              <a:tabLst>
                <a:tab pos="361950" algn="l"/>
                <a:tab pos="722313" algn="l"/>
              </a:tabLst>
              <a:defRPr/>
            </a:pPr>
            <a:r>
              <a:rPr lang="en-US" sz="1400" b="1" dirty="0">
                <a:solidFill>
                  <a:schemeClr val="tx1"/>
                </a:solidFill>
                <a:latin typeface="Courier New" pitchFamily="49" charset="0"/>
                <a:cs typeface="Courier New" pitchFamily="49" charset="0"/>
              </a:rPr>
              <a:t>	</a:t>
            </a:r>
            <a:r>
              <a:rPr lang="en-US" sz="1400" b="1" dirty="0" err="1" smtClean="0">
                <a:solidFill>
                  <a:srgbClr val="0000FF"/>
                </a:solidFill>
                <a:latin typeface="Courier New" pitchFamily="49" charset="0"/>
                <a:cs typeface="Courier New" pitchFamily="49" charset="0"/>
              </a:rPr>
              <a:t>int</a:t>
            </a:r>
            <a:r>
              <a:rPr lang="en-US" sz="1400" b="1" dirty="0" smtClean="0">
                <a:solidFill>
                  <a:schemeClr val="tx1"/>
                </a:solidFill>
                <a:latin typeface="Courier New" pitchFamily="49" charset="0"/>
                <a:cs typeface="Courier New" pitchFamily="49" charset="0"/>
              </a:rPr>
              <a:t> </a:t>
            </a:r>
            <a:r>
              <a:rPr lang="en-US" sz="1400" b="1" dirty="0">
                <a:solidFill>
                  <a:schemeClr val="tx1"/>
                </a:solidFill>
                <a:latin typeface="Courier New" pitchFamily="49" charset="0"/>
                <a:cs typeface="Courier New" pitchFamily="49" charset="0"/>
              </a:rPr>
              <a:t>a = </a:t>
            </a:r>
            <a:r>
              <a:rPr lang="en-US" sz="1400" b="1" dirty="0">
                <a:solidFill>
                  <a:srgbClr val="006600"/>
                </a:solidFill>
                <a:latin typeface="Courier New" pitchFamily="49" charset="0"/>
                <a:cs typeface="Courier New" pitchFamily="49" charset="0"/>
              </a:rPr>
              <a:t>5</a:t>
            </a:r>
            <a:r>
              <a:rPr lang="en-US" sz="1400" b="1" dirty="0">
                <a:solidFill>
                  <a:schemeClr val="tx1"/>
                </a:solidFill>
                <a:latin typeface="Courier New" pitchFamily="49" charset="0"/>
                <a:cs typeface="Courier New" pitchFamily="49" charset="0"/>
              </a:rPr>
              <a:t>; </a:t>
            </a:r>
            <a:r>
              <a:rPr lang="en-US" sz="1400" b="1" dirty="0">
                <a:solidFill>
                  <a:srgbClr val="0000FF"/>
                </a:solidFill>
                <a:latin typeface="Courier New" pitchFamily="49" charset="0"/>
                <a:cs typeface="Courier New" pitchFamily="49" charset="0"/>
              </a:rPr>
              <a:t>double</a:t>
            </a:r>
            <a:r>
              <a:rPr lang="en-US" sz="1400" b="1" dirty="0">
                <a:solidFill>
                  <a:schemeClr val="tx1"/>
                </a:solidFill>
                <a:latin typeface="Courier New" pitchFamily="49" charset="0"/>
                <a:cs typeface="Courier New" pitchFamily="49" charset="0"/>
              </a:rPr>
              <a:t> b = </a:t>
            </a:r>
            <a:r>
              <a:rPr lang="en-US" sz="1400" b="1" dirty="0">
                <a:solidFill>
                  <a:srgbClr val="006600"/>
                </a:solidFill>
                <a:latin typeface="Courier New" pitchFamily="49" charset="0"/>
                <a:cs typeface="Courier New" pitchFamily="49" charset="0"/>
              </a:rPr>
              <a:t>7.1</a:t>
            </a:r>
            <a:r>
              <a:rPr lang="en-US" sz="1400" b="1" dirty="0">
                <a:solidFill>
                  <a:schemeClr val="tx1"/>
                </a:solidFill>
                <a:latin typeface="Courier New" pitchFamily="49" charset="0"/>
                <a:cs typeface="Courier New" pitchFamily="49" charset="0"/>
              </a:rPr>
              <a:t>;</a:t>
            </a:r>
          </a:p>
          <a:p>
            <a:pPr>
              <a:tabLst>
                <a:tab pos="361950" algn="l"/>
                <a:tab pos="722313" algn="l"/>
              </a:tabLst>
              <a:defRPr/>
            </a:pPr>
            <a:r>
              <a:rPr lang="en-US" sz="1400" b="1" dirty="0">
                <a:solidFill>
                  <a:schemeClr val="tx1"/>
                </a:solidFill>
                <a:latin typeface="Courier New" pitchFamily="49" charset="0"/>
                <a:cs typeface="Courier New" pitchFamily="49" charset="0"/>
              </a:rPr>
              <a:t>	</a:t>
            </a:r>
            <a:r>
              <a:rPr lang="en-US" sz="1400" b="1" dirty="0" err="1" smtClean="0">
                <a:solidFill>
                  <a:srgbClr val="0000FF"/>
                </a:solidFill>
                <a:latin typeface="Courier New" pitchFamily="49" charset="0"/>
                <a:cs typeface="Courier New" pitchFamily="49" charset="0"/>
              </a:rPr>
              <a:t>int</a:t>
            </a:r>
            <a:r>
              <a:rPr lang="en-US" sz="1400" b="1" dirty="0" smtClean="0">
                <a:solidFill>
                  <a:schemeClr val="tx1"/>
                </a:solidFill>
                <a:latin typeface="Courier New" pitchFamily="49" charset="0"/>
                <a:cs typeface="Courier New" pitchFamily="49" charset="0"/>
              </a:rPr>
              <a:t> </a:t>
            </a:r>
            <a:r>
              <a:rPr lang="en-US" sz="1400" b="1" dirty="0">
                <a:solidFill>
                  <a:schemeClr val="tx1"/>
                </a:solidFill>
                <a:latin typeface="Courier New" pitchFamily="49" charset="0"/>
                <a:cs typeface="Courier New" pitchFamily="49" charset="0"/>
              </a:rPr>
              <a:t>c = </a:t>
            </a:r>
            <a:r>
              <a:rPr lang="en-US" sz="1400" b="1" dirty="0">
                <a:solidFill>
                  <a:srgbClr val="006600"/>
                </a:solidFill>
                <a:latin typeface="Courier New" pitchFamily="49" charset="0"/>
                <a:cs typeface="Courier New" pitchFamily="49" charset="0"/>
              </a:rPr>
              <a:t>12</a:t>
            </a:r>
            <a:r>
              <a:rPr lang="en-US" sz="1400" b="1" dirty="0">
                <a:solidFill>
                  <a:schemeClr val="tx1"/>
                </a:solidFill>
                <a:latin typeface="Courier New" pitchFamily="49" charset="0"/>
                <a:cs typeface="Courier New" pitchFamily="49" charset="0"/>
              </a:rPr>
              <a:t>; </a:t>
            </a:r>
            <a:r>
              <a:rPr lang="en-US" sz="1400" b="1" dirty="0">
                <a:solidFill>
                  <a:srgbClr val="0000FF"/>
                </a:solidFill>
                <a:latin typeface="Courier New" pitchFamily="49" charset="0"/>
                <a:cs typeface="Courier New" pitchFamily="49" charset="0"/>
              </a:rPr>
              <a:t>double</a:t>
            </a:r>
            <a:r>
              <a:rPr lang="en-US" sz="1400" b="1" dirty="0">
                <a:solidFill>
                  <a:schemeClr val="tx1"/>
                </a:solidFill>
                <a:latin typeface="Courier New" pitchFamily="49" charset="0"/>
                <a:cs typeface="Courier New" pitchFamily="49" charset="0"/>
              </a:rPr>
              <a:t> d = </a:t>
            </a:r>
            <a:r>
              <a:rPr lang="en-US" sz="1400" b="1" dirty="0">
                <a:solidFill>
                  <a:srgbClr val="006600"/>
                </a:solidFill>
                <a:latin typeface="Courier New" pitchFamily="49" charset="0"/>
                <a:cs typeface="Courier New" pitchFamily="49" charset="0"/>
              </a:rPr>
              <a:t>22.3</a:t>
            </a:r>
            <a:r>
              <a:rPr lang="en-US" sz="1400" b="1" dirty="0">
                <a:solidFill>
                  <a:schemeClr val="tx1"/>
                </a:solidFill>
                <a:latin typeface="Courier New" pitchFamily="49" charset="0"/>
                <a:cs typeface="Courier New" pitchFamily="49" charset="0"/>
              </a:rPr>
              <a:t>;</a:t>
            </a:r>
          </a:p>
          <a:p>
            <a:pPr>
              <a:tabLst>
                <a:tab pos="361950" algn="l"/>
                <a:tab pos="722313" algn="l"/>
              </a:tabLst>
              <a:defRPr/>
            </a:pPr>
            <a:endParaRPr lang="en-US" sz="1400" b="1" dirty="0">
              <a:solidFill>
                <a:schemeClr val="tx1"/>
              </a:solidFill>
              <a:latin typeface="Courier New" pitchFamily="49" charset="0"/>
              <a:cs typeface="Courier New" pitchFamily="49" charset="0"/>
            </a:endParaRPr>
          </a:p>
          <a:p>
            <a:pPr>
              <a:tabLst>
                <a:tab pos="361950" algn="l"/>
                <a:tab pos="722313" algn="l"/>
              </a:tabLst>
              <a:defRPr/>
            </a:pPr>
            <a:r>
              <a:rPr lang="en-US" sz="1400" b="1" dirty="0">
                <a:solidFill>
                  <a:schemeClr val="tx1"/>
                </a:solidFill>
                <a:latin typeface="Courier New" pitchFamily="49" charset="0"/>
                <a:cs typeface="Courier New" pitchFamily="49" charset="0"/>
              </a:rPr>
              <a:t>	</a:t>
            </a:r>
            <a:r>
              <a:rPr lang="en-US" sz="1400" b="1" dirty="0" err="1" smtClean="0">
                <a:solidFill>
                  <a:schemeClr val="tx1"/>
                </a:solidFill>
                <a:latin typeface="Courier New" pitchFamily="49" charset="0"/>
                <a:cs typeface="Courier New" pitchFamily="49" charset="0"/>
              </a:rPr>
              <a:t>printf</a:t>
            </a:r>
            <a:r>
              <a:rPr lang="en-US" sz="1400" b="1" dirty="0" smtClean="0">
                <a:solidFill>
                  <a:schemeClr val="tx1"/>
                </a:solidFill>
                <a:latin typeface="Courier New" pitchFamily="49" charset="0"/>
                <a:cs typeface="Courier New" pitchFamily="49" charset="0"/>
              </a:rPr>
              <a:t>(</a:t>
            </a:r>
            <a:r>
              <a:rPr lang="en-US" sz="1400" b="1" dirty="0" smtClean="0">
                <a:solidFill>
                  <a:srgbClr val="006600"/>
                </a:solidFill>
                <a:latin typeface="Courier New" pitchFamily="49" charset="0"/>
                <a:cs typeface="Courier New" pitchFamily="49" charset="0"/>
              </a:rPr>
              <a:t>"a = </a:t>
            </a:r>
            <a:r>
              <a:rPr lang="en-US" sz="1400" b="1" dirty="0" smtClean="0">
                <a:solidFill>
                  <a:srgbClr val="FF0000"/>
                </a:solidFill>
                <a:latin typeface="Courier New" pitchFamily="49" charset="0"/>
                <a:cs typeface="Courier New" pitchFamily="49" charset="0"/>
              </a:rPr>
              <a:t>%d</a:t>
            </a:r>
            <a:r>
              <a:rPr lang="en-US" sz="1400" b="1" dirty="0" smtClean="0">
                <a:solidFill>
                  <a:srgbClr val="006600"/>
                </a:solidFill>
                <a:latin typeface="Courier New" pitchFamily="49" charset="0"/>
                <a:cs typeface="Courier New" pitchFamily="49" charset="0"/>
              </a:rPr>
              <a:t>, b = </a:t>
            </a:r>
            <a:r>
              <a:rPr lang="en-US" sz="1400" b="1" dirty="0" smtClean="0">
                <a:solidFill>
                  <a:srgbClr val="FF0000"/>
                </a:solidFill>
                <a:latin typeface="Courier New" pitchFamily="49" charset="0"/>
                <a:cs typeface="Courier New" pitchFamily="49" charset="0"/>
              </a:rPr>
              <a:t>%f</a:t>
            </a:r>
            <a:r>
              <a:rPr lang="en-US" sz="1400" b="1" dirty="0" smtClean="0">
                <a:solidFill>
                  <a:srgbClr val="006600"/>
                </a:solidFill>
                <a:latin typeface="Courier New" pitchFamily="49" charset="0"/>
                <a:cs typeface="Courier New" pitchFamily="49" charset="0"/>
              </a:rPr>
              <a:t>, c = </a:t>
            </a:r>
            <a:r>
              <a:rPr lang="en-US" sz="1400" b="1" dirty="0" smtClean="0">
                <a:solidFill>
                  <a:srgbClr val="FF0000"/>
                </a:solidFill>
                <a:latin typeface="Courier New" pitchFamily="49" charset="0"/>
                <a:cs typeface="Courier New" pitchFamily="49" charset="0"/>
              </a:rPr>
              <a:t>%d</a:t>
            </a:r>
            <a:r>
              <a:rPr lang="en-US" sz="1400" b="1" dirty="0" smtClean="0">
                <a:solidFill>
                  <a:srgbClr val="006600"/>
                </a:solidFill>
                <a:latin typeface="Courier New" pitchFamily="49" charset="0"/>
                <a:cs typeface="Courier New" pitchFamily="49" charset="0"/>
              </a:rPr>
              <a:t>, d = </a:t>
            </a:r>
            <a:r>
              <a:rPr lang="en-US" sz="1400" b="1" dirty="0" smtClean="0">
                <a:solidFill>
                  <a:srgbClr val="FF0000"/>
                </a:solidFill>
                <a:latin typeface="Courier New" pitchFamily="49" charset="0"/>
                <a:cs typeface="Courier New" pitchFamily="49" charset="0"/>
              </a:rPr>
              <a:t>%f\n</a:t>
            </a:r>
            <a:r>
              <a:rPr lang="en-US" sz="1400" b="1" dirty="0" smtClean="0">
                <a:solidFill>
                  <a:srgbClr val="006600"/>
                </a:solidFill>
                <a:latin typeface="Courier New" pitchFamily="49" charset="0"/>
                <a:cs typeface="Courier New" pitchFamily="49" charset="0"/>
              </a:rPr>
              <a:t>"</a:t>
            </a:r>
            <a:r>
              <a:rPr lang="en-US" sz="1400" b="1" dirty="0" smtClean="0">
                <a:solidFill>
                  <a:schemeClr val="tx1"/>
                </a:solidFill>
                <a:latin typeface="Courier New" pitchFamily="49" charset="0"/>
                <a:cs typeface="Courier New" pitchFamily="49" charset="0"/>
              </a:rPr>
              <a:t>, a</a:t>
            </a:r>
            <a:r>
              <a:rPr lang="en-US" sz="1400" b="1" dirty="0">
                <a:solidFill>
                  <a:schemeClr val="tx1"/>
                </a:solidFill>
                <a:latin typeface="Courier New" pitchFamily="49" charset="0"/>
                <a:cs typeface="Courier New" pitchFamily="49" charset="0"/>
              </a:rPr>
              <a:t>, b, </a:t>
            </a:r>
            <a:r>
              <a:rPr lang="en-US" sz="1400" b="1" dirty="0" smtClean="0">
                <a:solidFill>
                  <a:schemeClr val="tx1"/>
                </a:solidFill>
                <a:latin typeface="Courier New" pitchFamily="49" charset="0"/>
                <a:cs typeface="Courier New" pitchFamily="49" charset="0"/>
              </a:rPr>
              <a:t>c</a:t>
            </a:r>
            <a:r>
              <a:rPr lang="en-US" sz="1400" b="1" dirty="0">
                <a:solidFill>
                  <a:schemeClr val="tx1"/>
                </a:solidFill>
                <a:latin typeface="Courier New" pitchFamily="49" charset="0"/>
                <a:cs typeface="Courier New" pitchFamily="49" charset="0"/>
              </a:rPr>
              <a:t>, d);</a:t>
            </a:r>
          </a:p>
          <a:p>
            <a:pPr>
              <a:tabLst>
                <a:tab pos="361950" algn="l"/>
                <a:tab pos="722313" algn="l"/>
              </a:tabLst>
              <a:defRPr/>
            </a:pPr>
            <a:r>
              <a:rPr lang="en-US" sz="1400" b="1" dirty="0">
                <a:solidFill>
                  <a:schemeClr val="tx1"/>
                </a:solidFill>
                <a:latin typeface="Courier New" pitchFamily="49" charset="0"/>
                <a:cs typeface="Courier New" pitchFamily="49" charset="0"/>
              </a:rPr>
              <a:t>	</a:t>
            </a:r>
            <a:r>
              <a:rPr lang="en-US" sz="1400" b="1" dirty="0" err="1" smtClean="0">
                <a:solidFill>
                  <a:schemeClr val="tx1"/>
                </a:solidFill>
                <a:latin typeface="Courier New" pitchFamily="49" charset="0"/>
                <a:cs typeface="Courier New" pitchFamily="49" charset="0"/>
              </a:rPr>
              <a:t>printf</a:t>
            </a:r>
            <a:r>
              <a:rPr lang="en-US" sz="1400" b="1" dirty="0">
                <a:solidFill>
                  <a:schemeClr val="tx1"/>
                </a:solidFill>
                <a:latin typeface="Courier New" pitchFamily="49" charset="0"/>
                <a:cs typeface="Courier New" pitchFamily="49" charset="0"/>
              </a:rPr>
              <a:t>(</a:t>
            </a:r>
            <a:r>
              <a:rPr lang="en-US" sz="1400" b="1" dirty="0">
                <a:solidFill>
                  <a:srgbClr val="006600"/>
                </a:solidFill>
                <a:latin typeface="Courier New" pitchFamily="49" charset="0"/>
                <a:cs typeface="Courier New" pitchFamily="49" charset="0"/>
              </a:rPr>
              <a:t>"&amp;a = </a:t>
            </a:r>
            <a:r>
              <a:rPr lang="en-US" sz="1400" b="1" dirty="0">
                <a:solidFill>
                  <a:srgbClr val="FF0000"/>
                </a:solidFill>
                <a:latin typeface="Courier New" pitchFamily="49" charset="0"/>
                <a:cs typeface="Courier New" pitchFamily="49" charset="0"/>
              </a:rPr>
              <a:t>%p, </a:t>
            </a:r>
            <a:r>
              <a:rPr lang="en-US" sz="1400" b="1" dirty="0">
                <a:solidFill>
                  <a:srgbClr val="006600"/>
                </a:solidFill>
                <a:latin typeface="Courier New" pitchFamily="49" charset="0"/>
                <a:cs typeface="Courier New" pitchFamily="49" charset="0"/>
              </a:rPr>
              <a:t>&amp;b = </a:t>
            </a:r>
            <a:r>
              <a:rPr lang="en-US" sz="1400" b="1" dirty="0">
                <a:solidFill>
                  <a:srgbClr val="FF0000"/>
                </a:solidFill>
                <a:latin typeface="Courier New" pitchFamily="49" charset="0"/>
                <a:cs typeface="Courier New" pitchFamily="49" charset="0"/>
              </a:rPr>
              <a:t>%p\n</a:t>
            </a:r>
            <a:r>
              <a:rPr lang="en-US" sz="1400" b="1" dirty="0">
                <a:solidFill>
                  <a:srgbClr val="006600"/>
                </a:solidFill>
                <a:latin typeface="Courier New" pitchFamily="49" charset="0"/>
                <a:cs typeface="Courier New" pitchFamily="49" charset="0"/>
              </a:rPr>
              <a:t>"</a:t>
            </a:r>
            <a:r>
              <a:rPr lang="en-US" sz="1400" b="1" dirty="0">
                <a:solidFill>
                  <a:schemeClr val="tx1"/>
                </a:solidFill>
                <a:latin typeface="Courier New" pitchFamily="49" charset="0"/>
                <a:cs typeface="Courier New" pitchFamily="49" charset="0"/>
              </a:rPr>
              <a:t>, &amp;a, &amp;b);</a:t>
            </a:r>
          </a:p>
          <a:p>
            <a:pPr>
              <a:tabLst>
                <a:tab pos="361950" algn="l"/>
                <a:tab pos="722313" algn="l"/>
              </a:tabLst>
              <a:defRPr/>
            </a:pPr>
            <a:endParaRPr lang="en-US" sz="1400" b="1" dirty="0">
              <a:solidFill>
                <a:schemeClr val="tx1"/>
              </a:solidFill>
              <a:latin typeface="Courier New" pitchFamily="49" charset="0"/>
              <a:cs typeface="Courier New" pitchFamily="49" charset="0"/>
            </a:endParaRPr>
          </a:p>
          <a:p>
            <a:pPr>
              <a:tabLst>
                <a:tab pos="361950" algn="l"/>
                <a:tab pos="722313" algn="l"/>
              </a:tabLst>
              <a:defRPr/>
            </a:pPr>
            <a:r>
              <a:rPr lang="en-US" sz="1400" b="1" dirty="0">
                <a:solidFill>
                  <a:schemeClr val="tx1"/>
                </a:solidFill>
                <a:latin typeface="Courier New" pitchFamily="49" charset="0"/>
                <a:cs typeface="Courier New" pitchFamily="49" charset="0"/>
              </a:rPr>
              <a:t>	</a:t>
            </a:r>
            <a:r>
              <a:rPr lang="en-US" sz="1400" b="1" dirty="0" smtClean="0">
                <a:solidFill>
                  <a:schemeClr val="tx1"/>
                </a:solidFill>
                <a:latin typeface="Courier New" pitchFamily="49" charset="0"/>
                <a:cs typeface="Courier New" pitchFamily="49" charset="0"/>
              </a:rPr>
              <a:t>f(c</a:t>
            </a:r>
            <a:r>
              <a:rPr lang="en-US" sz="1400" b="1" dirty="0">
                <a:solidFill>
                  <a:schemeClr val="tx1"/>
                </a:solidFill>
                <a:latin typeface="Courier New" pitchFamily="49" charset="0"/>
                <a:cs typeface="Courier New" pitchFamily="49" charset="0"/>
              </a:rPr>
              <a:t>, d, &amp;a, &amp;b);</a:t>
            </a:r>
          </a:p>
          <a:p>
            <a:pPr>
              <a:tabLst>
                <a:tab pos="361950" algn="l"/>
                <a:tab pos="722313" algn="l"/>
              </a:tabLst>
              <a:defRPr/>
            </a:pPr>
            <a:endParaRPr lang="en-US" sz="1400" b="1" dirty="0">
              <a:solidFill>
                <a:schemeClr val="tx1"/>
              </a:solidFill>
              <a:latin typeface="Courier New" pitchFamily="49" charset="0"/>
              <a:cs typeface="Courier New" pitchFamily="49" charset="0"/>
            </a:endParaRPr>
          </a:p>
          <a:p>
            <a:pPr>
              <a:tabLst>
                <a:tab pos="361950" algn="l"/>
                <a:tab pos="722313" algn="l"/>
              </a:tabLst>
              <a:defRPr/>
            </a:pPr>
            <a:r>
              <a:rPr lang="en-US" sz="1400" b="1" dirty="0" smtClean="0">
                <a:solidFill>
                  <a:schemeClr val="tx1"/>
                </a:solidFill>
                <a:latin typeface="Courier New" pitchFamily="49" charset="0"/>
                <a:cs typeface="Courier New" pitchFamily="49" charset="0"/>
              </a:rPr>
              <a:t>	</a:t>
            </a:r>
            <a:r>
              <a:rPr lang="en-US" sz="1400" b="1" dirty="0" err="1" smtClean="0">
                <a:solidFill>
                  <a:schemeClr val="tx1"/>
                </a:solidFill>
                <a:latin typeface="Courier New" pitchFamily="49" charset="0"/>
                <a:cs typeface="Courier New" pitchFamily="49" charset="0"/>
              </a:rPr>
              <a:t>printf</a:t>
            </a:r>
            <a:r>
              <a:rPr lang="en-US" sz="1400" b="1" dirty="0">
                <a:solidFill>
                  <a:schemeClr val="tx1"/>
                </a:solidFill>
                <a:latin typeface="Courier New" pitchFamily="49" charset="0"/>
                <a:cs typeface="Courier New" pitchFamily="49" charset="0"/>
              </a:rPr>
              <a:t>(</a:t>
            </a:r>
            <a:r>
              <a:rPr lang="en-US" sz="1400" b="1" dirty="0">
                <a:solidFill>
                  <a:srgbClr val="006600"/>
                </a:solidFill>
                <a:latin typeface="Courier New" pitchFamily="49" charset="0"/>
                <a:cs typeface="Courier New" pitchFamily="49" charset="0"/>
              </a:rPr>
              <a:t>"After returning from function f:</a:t>
            </a:r>
            <a:r>
              <a:rPr lang="en-US" sz="1400" b="1" dirty="0">
                <a:solidFill>
                  <a:srgbClr val="FF0000"/>
                </a:solidFill>
                <a:latin typeface="Courier New" pitchFamily="49" charset="0"/>
                <a:cs typeface="Courier New" pitchFamily="49" charset="0"/>
              </a:rPr>
              <a:t>\n</a:t>
            </a:r>
            <a:r>
              <a:rPr lang="en-US" sz="1400" b="1" dirty="0">
                <a:solidFill>
                  <a:srgbClr val="006600"/>
                </a:solidFill>
                <a:latin typeface="Courier New" pitchFamily="49" charset="0"/>
                <a:cs typeface="Courier New" pitchFamily="49" charset="0"/>
              </a:rPr>
              <a:t>"</a:t>
            </a:r>
            <a:r>
              <a:rPr lang="en-US" sz="1400" b="1" dirty="0">
                <a:solidFill>
                  <a:schemeClr val="tx1"/>
                </a:solidFill>
                <a:latin typeface="Courier New" pitchFamily="49" charset="0"/>
                <a:cs typeface="Courier New" pitchFamily="49" charset="0"/>
              </a:rPr>
              <a:t>);</a:t>
            </a:r>
          </a:p>
          <a:p>
            <a:pPr>
              <a:tabLst>
                <a:tab pos="361950" algn="l"/>
                <a:tab pos="722313" algn="l"/>
              </a:tabLst>
              <a:defRPr/>
            </a:pPr>
            <a:r>
              <a:rPr lang="en-US" sz="1400" b="1" dirty="0">
                <a:solidFill>
                  <a:schemeClr val="tx1"/>
                </a:solidFill>
                <a:latin typeface="Courier New" pitchFamily="49" charset="0"/>
                <a:cs typeface="Courier New" pitchFamily="49" charset="0"/>
              </a:rPr>
              <a:t>	</a:t>
            </a:r>
            <a:r>
              <a:rPr lang="en-US" sz="1400" b="1" dirty="0" err="1" smtClean="0">
                <a:solidFill>
                  <a:schemeClr val="tx1"/>
                </a:solidFill>
                <a:latin typeface="Courier New" pitchFamily="49" charset="0"/>
                <a:cs typeface="Courier New" pitchFamily="49" charset="0"/>
              </a:rPr>
              <a:t>printf</a:t>
            </a:r>
            <a:r>
              <a:rPr lang="en-US" sz="1400" b="1" dirty="0">
                <a:solidFill>
                  <a:schemeClr val="tx1"/>
                </a:solidFill>
                <a:latin typeface="Courier New" pitchFamily="49" charset="0"/>
                <a:cs typeface="Courier New" pitchFamily="49" charset="0"/>
              </a:rPr>
              <a:t>(</a:t>
            </a:r>
            <a:r>
              <a:rPr lang="en-US" sz="1400" b="1" dirty="0">
                <a:solidFill>
                  <a:srgbClr val="006600"/>
                </a:solidFill>
                <a:latin typeface="Courier New" pitchFamily="49" charset="0"/>
                <a:cs typeface="Courier New" pitchFamily="49" charset="0"/>
              </a:rPr>
              <a:t>"a = </a:t>
            </a:r>
            <a:r>
              <a:rPr lang="en-US" sz="1400" b="1" dirty="0">
                <a:solidFill>
                  <a:srgbClr val="FF0000"/>
                </a:solidFill>
                <a:latin typeface="Courier New" pitchFamily="49" charset="0"/>
                <a:cs typeface="Courier New" pitchFamily="49" charset="0"/>
              </a:rPr>
              <a:t>%d</a:t>
            </a:r>
            <a:r>
              <a:rPr lang="en-US" sz="1400" b="1" dirty="0">
                <a:solidFill>
                  <a:srgbClr val="006600"/>
                </a:solidFill>
                <a:latin typeface="Courier New" pitchFamily="49" charset="0"/>
                <a:cs typeface="Courier New" pitchFamily="49" charset="0"/>
              </a:rPr>
              <a:t>, b = </a:t>
            </a:r>
            <a:r>
              <a:rPr lang="en-US" sz="1400" b="1" dirty="0">
                <a:solidFill>
                  <a:srgbClr val="FF0000"/>
                </a:solidFill>
                <a:latin typeface="Courier New" pitchFamily="49" charset="0"/>
                <a:cs typeface="Courier New" pitchFamily="49" charset="0"/>
              </a:rPr>
              <a:t>%f</a:t>
            </a:r>
            <a:r>
              <a:rPr lang="en-US" sz="1400" b="1" dirty="0">
                <a:solidFill>
                  <a:srgbClr val="006600"/>
                </a:solidFill>
                <a:latin typeface="Courier New" pitchFamily="49" charset="0"/>
                <a:cs typeface="Courier New" pitchFamily="49" charset="0"/>
              </a:rPr>
              <a:t>, c = </a:t>
            </a:r>
            <a:r>
              <a:rPr lang="en-US" sz="1400" b="1" dirty="0">
                <a:solidFill>
                  <a:srgbClr val="FF0000"/>
                </a:solidFill>
                <a:latin typeface="Courier New" pitchFamily="49" charset="0"/>
                <a:cs typeface="Courier New" pitchFamily="49" charset="0"/>
              </a:rPr>
              <a:t>%d</a:t>
            </a:r>
            <a:r>
              <a:rPr lang="en-US" sz="1400" b="1" dirty="0">
                <a:solidFill>
                  <a:srgbClr val="006600"/>
                </a:solidFill>
                <a:latin typeface="Courier New" pitchFamily="49" charset="0"/>
                <a:cs typeface="Courier New" pitchFamily="49" charset="0"/>
              </a:rPr>
              <a:t>, d </a:t>
            </a:r>
            <a:r>
              <a:rPr lang="en-US" sz="1400" b="1" dirty="0" smtClean="0">
                <a:solidFill>
                  <a:srgbClr val="006600"/>
                </a:solidFill>
                <a:latin typeface="Courier New" pitchFamily="49" charset="0"/>
                <a:cs typeface="Courier New" pitchFamily="49" charset="0"/>
              </a:rPr>
              <a:t>= </a:t>
            </a:r>
            <a:r>
              <a:rPr lang="en-US" sz="1400" b="1" dirty="0" smtClean="0">
                <a:solidFill>
                  <a:srgbClr val="FF0000"/>
                </a:solidFill>
                <a:latin typeface="Courier New" pitchFamily="49" charset="0"/>
                <a:cs typeface="Courier New" pitchFamily="49" charset="0"/>
              </a:rPr>
              <a:t>%</a:t>
            </a:r>
            <a:r>
              <a:rPr lang="en-US" sz="1400" b="1" dirty="0">
                <a:solidFill>
                  <a:srgbClr val="FF0000"/>
                </a:solidFill>
                <a:latin typeface="Courier New" pitchFamily="49" charset="0"/>
                <a:cs typeface="Courier New" pitchFamily="49" charset="0"/>
              </a:rPr>
              <a:t>f\n</a:t>
            </a:r>
            <a:r>
              <a:rPr lang="en-US" sz="1400" b="1" dirty="0" smtClean="0">
                <a:solidFill>
                  <a:srgbClr val="006600"/>
                </a:solidFill>
                <a:latin typeface="Courier New" pitchFamily="49" charset="0"/>
                <a:cs typeface="Courier New" pitchFamily="49" charset="0"/>
              </a:rPr>
              <a:t>"</a:t>
            </a:r>
            <a:r>
              <a:rPr lang="en-US" sz="1400" b="1" dirty="0" smtClean="0">
                <a:solidFill>
                  <a:schemeClr val="tx1"/>
                </a:solidFill>
                <a:latin typeface="Courier New" pitchFamily="49" charset="0"/>
                <a:cs typeface="Courier New" pitchFamily="49" charset="0"/>
              </a:rPr>
              <a:t>, a</a:t>
            </a:r>
            <a:r>
              <a:rPr lang="en-US" sz="1400" b="1" dirty="0">
                <a:solidFill>
                  <a:schemeClr val="tx1"/>
                </a:solidFill>
                <a:latin typeface="Courier New" pitchFamily="49" charset="0"/>
                <a:cs typeface="Courier New" pitchFamily="49" charset="0"/>
              </a:rPr>
              <a:t>, b, c, d);</a:t>
            </a:r>
          </a:p>
          <a:p>
            <a:pPr>
              <a:tabLst>
                <a:tab pos="361950" algn="l"/>
                <a:tab pos="722313" algn="l"/>
              </a:tabLst>
              <a:defRPr/>
            </a:pPr>
            <a:r>
              <a:rPr lang="en-US" sz="1400" b="1" dirty="0">
                <a:solidFill>
                  <a:schemeClr val="tx1"/>
                </a:solidFill>
                <a:latin typeface="Courier New" pitchFamily="49" charset="0"/>
                <a:cs typeface="Courier New" pitchFamily="49" charset="0"/>
              </a:rPr>
              <a:t>	</a:t>
            </a:r>
            <a:r>
              <a:rPr lang="en-US" sz="1400" b="1" dirty="0" smtClean="0">
                <a:solidFill>
                  <a:srgbClr val="0000FF"/>
                </a:solidFill>
                <a:latin typeface="Courier New" pitchFamily="49" charset="0"/>
                <a:cs typeface="Courier New" pitchFamily="49" charset="0"/>
              </a:rPr>
              <a:t>return</a:t>
            </a:r>
            <a:r>
              <a:rPr lang="en-US" sz="1400" b="1" dirty="0" smtClean="0">
                <a:solidFill>
                  <a:schemeClr val="tx1"/>
                </a:solidFill>
                <a:latin typeface="Courier New" pitchFamily="49" charset="0"/>
                <a:cs typeface="Courier New" pitchFamily="49" charset="0"/>
              </a:rPr>
              <a:t> </a:t>
            </a:r>
            <a:r>
              <a:rPr lang="en-US" sz="1400" b="1" dirty="0">
                <a:solidFill>
                  <a:srgbClr val="006600"/>
                </a:solidFill>
                <a:latin typeface="Courier New" pitchFamily="49" charset="0"/>
                <a:cs typeface="Courier New" pitchFamily="49" charset="0"/>
              </a:rPr>
              <a:t>0</a:t>
            </a:r>
            <a:r>
              <a:rPr lang="en-US" sz="1400" b="1" dirty="0">
                <a:solidFill>
                  <a:schemeClr val="tx1"/>
                </a:solidFill>
                <a:latin typeface="Courier New" pitchFamily="49" charset="0"/>
                <a:cs typeface="Courier New" pitchFamily="49" charset="0"/>
              </a:rPr>
              <a:t>;</a:t>
            </a:r>
          </a:p>
          <a:p>
            <a:pPr>
              <a:tabLst>
                <a:tab pos="361950" algn="l"/>
                <a:tab pos="722313" algn="l"/>
              </a:tabLst>
              <a:defRPr/>
            </a:pPr>
            <a:r>
              <a:rPr lang="en-US" sz="1400" b="1" dirty="0">
                <a:solidFill>
                  <a:schemeClr val="tx1"/>
                </a:solidFill>
                <a:latin typeface="Courier New" pitchFamily="49" charset="0"/>
                <a:cs typeface="Courier New" pitchFamily="49" charset="0"/>
              </a:rPr>
              <a:t>}</a:t>
            </a:r>
          </a:p>
        </p:txBody>
      </p:sp>
      <p:sp>
        <p:nvSpPr>
          <p:cNvPr id="28679" name="Text Box 4"/>
          <p:cNvSpPr txBox="1">
            <a:spLocks noChangeArrowheads="1"/>
          </p:cNvSpPr>
          <p:nvPr/>
        </p:nvSpPr>
        <p:spPr bwMode="auto">
          <a:xfrm>
            <a:off x="152400" y="6400800"/>
            <a:ext cx="304800" cy="201613"/>
          </a:xfrm>
          <a:prstGeom prst="rect">
            <a:avLst/>
          </a:prstGeom>
          <a:noFill/>
          <a:ln w="9525">
            <a:noFill/>
            <a:miter lim="800000"/>
            <a:headEnd/>
            <a:tailEnd/>
          </a:ln>
        </p:spPr>
        <p:txBody>
          <a:bodyPr lIns="9144" tIns="9144" rIns="9144" bIns="9144">
            <a:spAutoFit/>
          </a:bodyPr>
          <a:lstStyle/>
          <a:p>
            <a:pPr algn="ctr">
              <a:spcBef>
                <a:spcPct val="50000"/>
              </a:spcBef>
            </a:pPr>
            <a:r>
              <a:rPr lang="en-US" sz="1200">
                <a:sym typeface="Wingdings 2" pitchFamily="18" charset="2"/>
              </a:rPr>
              <a:t></a:t>
            </a:r>
          </a:p>
        </p:txBody>
      </p:sp>
      <p:sp>
        <p:nvSpPr>
          <p:cNvPr id="10" name="TextBox 9"/>
          <p:cNvSpPr txBox="1"/>
          <p:nvPr/>
        </p:nvSpPr>
        <p:spPr>
          <a:xfrm>
            <a:off x="3913072" y="1779550"/>
            <a:ext cx="5097114" cy="1815882"/>
          </a:xfrm>
          <a:prstGeom prst="rect">
            <a:avLst/>
          </a:prstGeom>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wrap="square" rIns="45720">
            <a:spAutoFit/>
          </a:bodyPr>
          <a:lstStyle/>
          <a:p>
            <a:pPr>
              <a:tabLst>
                <a:tab pos="361950" algn="l"/>
                <a:tab pos="722313" algn="l"/>
              </a:tabLst>
              <a:defRPr/>
            </a:pPr>
            <a:r>
              <a:rPr lang="en-US" sz="1400" b="1" dirty="0">
                <a:solidFill>
                  <a:srgbClr val="0000FF"/>
                </a:solidFill>
                <a:latin typeface="Courier New" pitchFamily="49" charset="0"/>
                <a:cs typeface="Courier New" pitchFamily="49" charset="0"/>
              </a:rPr>
              <a:t>void</a:t>
            </a:r>
            <a:r>
              <a:rPr lang="en-US" sz="1400" b="1" dirty="0">
                <a:solidFill>
                  <a:schemeClr val="tx1"/>
                </a:solidFill>
                <a:latin typeface="Courier New" pitchFamily="49" charset="0"/>
                <a:cs typeface="Courier New" pitchFamily="49" charset="0"/>
              </a:rPr>
              <a:t> f(</a:t>
            </a:r>
            <a:r>
              <a:rPr lang="en-US" sz="1400" b="1" dirty="0" err="1">
                <a:solidFill>
                  <a:srgbClr val="0000FF"/>
                </a:solidFill>
                <a:latin typeface="Courier New" pitchFamily="49" charset="0"/>
                <a:cs typeface="Courier New" pitchFamily="49" charset="0"/>
              </a:rPr>
              <a:t>int</a:t>
            </a:r>
            <a:r>
              <a:rPr lang="en-US" sz="1400" b="1" dirty="0">
                <a:solidFill>
                  <a:schemeClr val="tx1"/>
                </a:solidFill>
                <a:latin typeface="Courier New" pitchFamily="49" charset="0"/>
                <a:cs typeface="Courier New" pitchFamily="49" charset="0"/>
              </a:rPr>
              <a:t> w, </a:t>
            </a:r>
            <a:r>
              <a:rPr lang="en-US" sz="1400" b="1" dirty="0">
                <a:solidFill>
                  <a:srgbClr val="0000FF"/>
                </a:solidFill>
                <a:latin typeface="Courier New" pitchFamily="49" charset="0"/>
                <a:cs typeface="Courier New" pitchFamily="49" charset="0"/>
              </a:rPr>
              <a:t>double</a:t>
            </a:r>
            <a:r>
              <a:rPr lang="en-US" sz="1400" b="1" dirty="0">
                <a:solidFill>
                  <a:schemeClr val="tx1"/>
                </a:solidFill>
                <a:latin typeface="Courier New" pitchFamily="49" charset="0"/>
                <a:cs typeface="Courier New" pitchFamily="49" charset="0"/>
              </a:rPr>
              <a:t> x, </a:t>
            </a:r>
            <a:r>
              <a:rPr lang="en-US" sz="1400" b="1" dirty="0" err="1">
                <a:solidFill>
                  <a:srgbClr val="0000FF"/>
                </a:solidFill>
                <a:latin typeface="Courier New" pitchFamily="49" charset="0"/>
                <a:cs typeface="Courier New" pitchFamily="49" charset="0"/>
              </a:rPr>
              <a:t>int</a:t>
            </a:r>
            <a:r>
              <a:rPr lang="en-US" sz="1400" b="1" dirty="0">
                <a:solidFill>
                  <a:schemeClr val="tx1"/>
                </a:solidFill>
                <a:latin typeface="Courier New" pitchFamily="49" charset="0"/>
                <a:cs typeface="Courier New" pitchFamily="49" charset="0"/>
              </a:rPr>
              <a:t> *y, </a:t>
            </a:r>
            <a:r>
              <a:rPr lang="en-US" sz="1400" b="1" dirty="0">
                <a:solidFill>
                  <a:srgbClr val="0000FF"/>
                </a:solidFill>
                <a:latin typeface="Courier New" pitchFamily="49" charset="0"/>
                <a:cs typeface="Courier New" pitchFamily="49" charset="0"/>
              </a:rPr>
              <a:t>double</a:t>
            </a:r>
            <a:r>
              <a:rPr lang="en-US" sz="1400" b="1" dirty="0">
                <a:solidFill>
                  <a:schemeClr val="tx1"/>
                </a:solidFill>
                <a:latin typeface="Courier New" pitchFamily="49" charset="0"/>
                <a:cs typeface="Courier New" pitchFamily="49" charset="0"/>
              </a:rPr>
              <a:t> *z</a:t>
            </a:r>
            <a:r>
              <a:rPr lang="en-US" sz="1400" b="1" dirty="0" smtClean="0">
                <a:solidFill>
                  <a:schemeClr val="tx1"/>
                </a:solidFill>
                <a:latin typeface="Courier New" pitchFamily="49" charset="0"/>
                <a:cs typeface="Courier New" pitchFamily="49" charset="0"/>
              </a:rPr>
              <a:t>) {</a:t>
            </a:r>
            <a:endParaRPr lang="en-US" sz="1400" b="1" dirty="0">
              <a:solidFill>
                <a:schemeClr val="tx1"/>
              </a:solidFill>
              <a:latin typeface="Courier New" pitchFamily="49" charset="0"/>
              <a:cs typeface="Courier New" pitchFamily="49" charset="0"/>
            </a:endParaRPr>
          </a:p>
          <a:p>
            <a:pPr>
              <a:tabLst>
                <a:tab pos="361950" algn="l"/>
                <a:tab pos="722313" algn="l"/>
              </a:tabLst>
              <a:defRPr/>
            </a:pPr>
            <a:r>
              <a:rPr lang="en-US" sz="1400" b="1" dirty="0">
                <a:solidFill>
                  <a:schemeClr val="tx1"/>
                </a:solidFill>
                <a:latin typeface="Courier New" pitchFamily="49" charset="0"/>
                <a:cs typeface="Courier New" pitchFamily="49" charset="0"/>
              </a:rPr>
              <a:t>	</a:t>
            </a:r>
            <a:r>
              <a:rPr lang="en-US" sz="1400" b="1" dirty="0" err="1" smtClean="0">
                <a:solidFill>
                  <a:schemeClr val="tx1"/>
                </a:solidFill>
                <a:latin typeface="Courier New" pitchFamily="49" charset="0"/>
                <a:cs typeface="Courier New" pitchFamily="49" charset="0"/>
              </a:rPr>
              <a:t>printf</a:t>
            </a:r>
            <a:r>
              <a:rPr lang="en-US" sz="1400" b="1" dirty="0" smtClean="0">
                <a:solidFill>
                  <a:schemeClr val="tx1"/>
                </a:solidFill>
                <a:latin typeface="Courier New" pitchFamily="49" charset="0"/>
                <a:cs typeface="Courier New" pitchFamily="49" charset="0"/>
              </a:rPr>
              <a:t>(</a:t>
            </a:r>
            <a:r>
              <a:rPr lang="en-US" sz="1400" b="1" dirty="0" smtClean="0">
                <a:solidFill>
                  <a:srgbClr val="006600"/>
                </a:solidFill>
                <a:latin typeface="Courier New" pitchFamily="49" charset="0"/>
                <a:cs typeface="Courier New" pitchFamily="49" charset="0"/>
              </a:rPr>
              <a:t>"w = </a:t>
            </a:r>
            <a:r>
              <a:rPr lang="en-US" sz="1400" b="1" dirty="0" smtClean="0">
                <a:solidFill>
                  <a:srgbClr val="FF0000"/>
                </a:solidFill>
                <a:latin typeface="Courier New" pitchFamily="49" charset="0"/>
                <a:cs typeface="Courier New" pitchFamily="49" charset="0"/>
              </a:rPr>
              <a:t>%d</a:t>
            </a:r>
            <a:r>
              <a:rPr lang="en-US" sz="1400" b="1" dirty="0" smtClean="0">
                <a:solidFill>
                  <a:srgbClr val="006600"/>
                </a:solidFill>
                <a:latin typeface="Courier New" pitchFamily="49" charset="0"/>
                <a:cs typeface="Courier New" pitchFamily="49" charset="0"/>
              </a:rPr>
              <a:t>, x = </a:t>
            </a:r>
            <a:r>
              <a:rPr lang="en-US" sz="1400" b="1" dirty="0" smtClean="0">
                <a:solidFill>
                  <a:srgbClr val="FF0000"/>
                </a:solidFill>
                <a:latin typeface="Courier New" pitchFamily="49" charset="0"/>
                <a:cs typeface="Courier New" pitchFamily="49" charset="0"/>
              </a:rPr>
              <a:t>%f</a:t>
            </a:r>
            <a:r>
              <a:rPr lang="en-US" sz="1400" b="1" dirty="0" smtClean="0">
                <a:solidFill>
                  <a:srgbClr val="006600"/>
                </a:solidFill>
                <a:latin typeface="Courier New" pitchFamily="49" charset="0"/>
                <a:cs typeface="Courier New" pitchFamily="49" charset="0"/>
              </a:rPr>
              <a:t>, y = </a:t>
            </a:r>
            <a:r>
              <a:rPr lang="en-US" sz="1400" b="1" dirty="0" smtClean="0">
                <a:solidFill>
                  <a:srgbClr val="FF0000"/>
                </a:solidFill>
                <a:latin typeface="Courier New" pitchFamily="49" charset="0"/>
                <a:cs typeface="Courier New" pitchFamily="49" charset="0"/>
              </a:rPr>
              <a:t>%p</a:t>
            </a:r>
            <a:r>
              <a:rPr lang="en-US" sz="1400" b="1" dirty="0" smtClean="0">
                <a:solidFill>
                  <a:srgbClr val="006600"/>
                </a:solidFill>
                <a:latin typeface="Courier New" pitchFamily="49" charset="0"/>
                <a:cs typeface="Courier New" pitchFamily="49" charset="0"/>
              </a:rPr>
              <a:t>, z = </a:t>
            </a:r>
            <a:r>
              <a:rPr lang="en-US" sz="1400" b="1" dirty="0" smtClean="0">
                <a:solidFill>
                  <a:srgbClr val="FF0000"/>
                </a:solidFill>
                <a:latin typeface="Courier New" pitchFamily="49" charset="0"/>
                <a:cs typeface="Courier New" pitchFamily="49" charset="0"/>
              </a:rPr>
              <a:t>%p\n</a:t>
            </a:r>
            <a:r>
              <a:rPr lang="en-US" sz="1400" b="1" dirty="0" smtClean="0">
                <a:solidFill>
                  <a:srgbClr val="006600"/>
                </a:solidFill>
                <a:latin typeface="Courier New" pitchFamily="49" charset="0"/>
                <a:cs typeface="Courier New" pitchFamily="49" charset="0"/>
              </a:rPr>
              <a:t>"</a:t>
            </a:r>
            <a:r>
              <a:rPr lang="en-US" sz="1400" b="1" dirty="0" smtClean="0">
                <a:solidFill>
                  <a:schemeClr val="tx1"/>
                </a:solidFill>
                <a:latin typeface="Courier New" pitchFamily="49" charset="0"/>
                <a:cs typeface="Courier New" pitchFamily="49" charset="0"/>
              </a:rPr>
              <a:t>, </a:t>
            </a:r>
          </a:p>
          <a:p>
            <a:pPr>
              <a:tabLst>
                <a:tab pos="361950" algn="l"/>
                <a:tab pos="722313" algn="l"/>
              </a:tabLst>
              <a:defRPr/>
            </a:pPr>
            <a:r>
              <a:rPr lang="en-US" sz="1400" b="1" dirty="0" smtClean="0">
                <a:solidFill>
                  <a:schemeClr val="tx1"/>
                </a:solidFill>
                <a:latin typeface="Courier New" pitchFamily="49" charset="0"/>
                <a:cs typeface="Courier New" pitchFamily="49" charset="0"/>
              </a:rPr>
              <a:t>	        w, x, y, z);</a:t>
            </a:r>
            <a:endParaRPr lang="en-US" sz="1400" b="1" dirty="0">
              <a:solidFill>
                <a:schemeClr val="tx1"/>
              </a:solidFill>
              <a:latin typeface="Courier New" pitchFamily="49" charset="0"/>
              <a:cs typeface="Courier New" pitchFamily="49" charset="0"/>
            </a:endParaRPr>
          </a:p>
          <a:p>
            <a:pPr>
              <a:tabLst>
                <a:tab pos="361950" algn="l"/>
                <a:tab pos="722313" algn="l"/>
              </a:tabLst>
              <a:defRPr/>
            </a:pPr>
            <a:r>
              <a:rPr lang="en-US" sz="1400" b="1" dirty="0" smtClean="0">
                <a:solidFill>
                  <a:schemeClr val="tx1"/>
                </a:solidFill>
                <a:latin typeface="Courier New" pitchFamily="49" charset="0"/>
                <a:cs typeface="Courier New" pitchFamily="49" charset="0"/>
              </a:rPr>
              <a:t>	w </a:t>
            </a:r>
            <a:r>
              <a:rPr lang="en-US" sz="1400" b="1" dirty="0">
                <a:solidFill>
                  <a:schemeClr val="tx1"/>
                </a:solidFill>
                <a:latin typeface="Courier New" pitchFamily="49" charset="0"/>
                <a:cs typeface="Courier New" pitchFamily="49" charset="0"/>
              </a:rPr>
              <a:t>= </a:t>
            </a:r>
            <a:r>
              <a:rPr lang="en-US" sz="1400" b="1" dirty="0">
                <a:solidFill>
                  <a:srgbClr val="006600"/>
                </a:solidFill>
                <a:latin typeface="Courier New" pitchFamily="49" charset="0"/>
                <a:cs typeface="Courier New" pitchFamily="49" charset="0"/>
              </a:rPr>
              <a:t>2</a:t>
            </a:r>
            <a:r>
              <a:rPr lang="en-US" sz="1400" b="1" dirty="0">
                <a:solidFill>
                  <a:schemeClr val="tx1"/>
                </a:solidFill>
                <a:latin typeface="Courier New" pitchFamily="49" charset="0"/>
                <a:cs typeface="Courier New" pitchFamily="49" charset="0"/>
              </a:rPr>
              <a:t> * w;</a:t>
            </a:r>
          </a:p>
          <a:p>
            <a:pPr>
              <a:tabLst>
                <a:tab pos="361950" algn="l"/>
                <a:tab pos="722313" algn="l"/>
              </a:tabLst>
              <a:defRPr/>
            </a:pPr>
            <a:r>
              <a:rPr lang="en-US" sz="1400" b="1" dirty="0">
                <a:solidFill>
                  <a:schemeClr val="tx1"/>
                </a:solidFill>
                <a:latin typeface="Courier New" pitchFamily="49" charset="0"/>
                <a:cs typeface="Courier New" pitchFamily="49" charset="0"/>
              </a:rPr>
              <a:t>	</a:t>
            </a:r>
            <a:r>
              <a:rPr lang="en-US" sz="1400" b="1" dirty="0" smtClean="0">
                <a:solidFill>
                  <a:schemeClr val="tx1"/>
                </a:solidFill>
                <a:latin typeface="Courier New" pitchFamily="49" charset="0"/>
                <a:cs typeface="Courier New" pitchFamily="49" charset="0"/>
              </a:rPr>
              <a:t>x </a:t>
            </a:r>
            <a:r>
              <a:rPr lang="en-US" sz="1400" b="1" dirty="0">
                <a:solidFill>
                  <a:schemeClr val="tx1"/>
                </a:solidFill>
                <a:latin typeface="Courier New" pitchFamily="49" charset="0"/>
                <a:cs typeface="Courier New" pitchFamily="49" charset="0"/>
              </a:rPr>
              <a:t>= </a:t>
            </a:r>
            <a:r>
              <a:rPr lang="en-US" sz="1400" b="1" dirty="0">
                <a:solidFill>
                  <a:srgbClr val="006600"/>
                </a:solidFill>
                <a:latin typeface="Courier New" pitchFamily="49" charset="0"/>
                <a:cs typeface="Courier New" pitchFamily="49" charset="0"/>
              </a:rPr>
              <a:t>3</a:t>
            </a:r>
            <a:r>
              <a:rPr lang="en-US" sz="1400" b="1" dirty="0">
                <a:solidFill>
                  <a:schemeClr val="tx1"/>
                </a:solidFill>
                <a:latin typeface="Courier New" pitchFamily="49" charset="0"/>
                <a:cs typeface="Courier New" pitchFamily="49" charset="0"/>
              </a:rPr>
              <a:t> * x;</a:t>
            </a:r>
          </a:p>
          <a:p>
            <a:pPr>
              <a:tabLst>
                <a:tab pos="361950" algn="l"/>
                <a:tab pos="722313" algn="l"/>
              </a:tabLst>
              <a:defRPr/>
            </a:pPr>
            <a:r>
              <a:rPr lang="en-US" sz="1400" b="1" dirty="0">
                <a:solidFill>
                  <a:schemeClr val="tx1"/>
                </a:solidFill>
                <a:latin typeface="Courier New" pitchFamily="49" charset="0"/>
                <a:cs typeface="Courier New" pitchFamily="49" charset="0"/>
              </a:rPr>
              <a:t>	</a:t>
            </a:r>
            <a:r>
              <a:rPr lang="en-US" sz="1400" b="1" dirty="0" smtClean="0">
                <a:solidFill>
                  <a:schemeClr val="tx1"/>
                </a:solidFill>
                <a:latin typeface="Courier New" pitchFamily="49" charset="0"/>
                <a:cs typeface="Courier New" pitchFamily="49" charset="0"/>
              </a:rPr>
              <a:t>*</a:t>
            </a:r>
            <a:r>
              <a:rPr lang="en-US" sz="1400" b="1" dirty="0">
                <a:solidFill>
                  <a:schemeClr val="tx1"/>
                </a:solidFill>
                <a:latin typeface="Courier New" pitchFamily="49" charset="0"/>
                <a:cs typeface="Courier New" pitchFamily="49" charset="0"/>
              </a:rPr>
              <a:t>y = *y * </a:t>
            </a:r>
            <a:r>
              <a:rPr lang="en-US" sz="1400" b="1" dirty="0">
                <a:solidFill>
                  <a:srgbClr val="006600"/>
                </a:solidFill>
                <a:latin typeface="Courier New" pitchFamily="49" charset="0"/>
                <a:cs typeface="Courier New" pitchFamily="49" charset="0"/>
              </a:rPr>
              <a:t>4</a:t>
            </a:r>
            <a:r>
              <a:rPr lang="en-US" sz="1400" b="1" dirty="0">
                <a:solidFill>
                  <a:schemeClr val="tx1"/>
                </a:solidFill>
                <a:latin typeface="Courier New" pitchFamily="49" charset="0"/>
                <a:cs typeface="Courier New" pitchFamily="49" charset="0"/>
              </a:rPr>
              <a:t>;</a:t>
            </a:r>
          </a:p>
          <a:p>
            <a:pPr>
              <a:tabLst>
                <a:tab pos="361950" algn="l"/>
                <a:tab pos="722313" algn="l"/>
              </a:tabLst>
              <a:defRPr/>
            </a:pPr>
            <a:r>
              <a:rPr lang="en-US" sz="1400" b="1" dirty="0">
                <a:solidFill>
                  <a:schemeClr val="tx1"/>
                </a:solidFill>
                <a:latin typeface="Courier New" pitchFamily="49" charset="0"/>
                <a:cs typeface="Courier New" pitchFamily="49" charset="0"/>
              </a:rPr>
              <a:t>	</a:t>
            </a:r>
            <a:r>
              <a:rPr lang="en-US" sz="1400" b="1" dirty="0" smtClean="0">
                <a:solidFill>
                  <a:schemeClr val="tx1"/>
                </a:solidFill>
                <a:latin typeface="Courier New" pitchFamily="49" charset="0"/>
                <a:cs typeface="Courier New" pitchFamily="49" charset="0"/>
              </a:rPr>
              <a:t>*</a:t>
            </a:r>
            <a:r>
              <a:rPr lang="en-US" sz="1400" b="1" dirty="0">
                <a:solidFill>
                  <a:schemeClr val="tx1"/>
                </a:solidFill>
                <a:latin typeface="Courier New" pitchFamily="49" charset="0"/>
                <a:cs typeface="Courier New" pitchFamily="49" charset="0"/>
              </a:rPr>
              <a:t>z = </a:t>
            </a:r>
            <a:r>
              <a:rPr lang="en-US" sz="1400" b="1" dirty="0">
                <a:solidFill>
                  <a:srgbClr val="006600"/>
                </a:solidFill>
                <a:latin typeface="Courier New" pitchFamily="49" charset="0"/>
                <a:cs typeface="Courier New" pitchFamily="49" charset="0"/>
              </a:rPr>
              <a:t>5</a:t>
            </a:r>
            <a:r>
              <a:rPr lang="en-US" sz="1400" b="1" dirty="0">
                <a:solidFill>
                  <a:schemeClr val="tx1"/>
                </a:solidFill>
                <a:latin typeface="Courier New" pitchFamily="49" charset="0"/>
                <a:cs typeface="Courier New" pitchFamily="49" charset="0"/>
              </a:rPr>
              <a:t> * *z;</a:t>
            </a:r>
          </a:p>
          <a:p>
            <a:pPr>
              <a:tabLst>
                <a:tab pos="361950" algn="l"/>
                <a:tab pos="722313" algn="l"/>
              </a:tabLst>
              <a:defRPr/>
            </a:pPr>
            <a:r>
              <a:rPr lang="en-US" sz="1400" b="1" dirty="0">
                <a:solidFill>
                  <a:schemeClr val="tx1"/>
                </a:solidFill>
                <a:latin typeface="Courier New" pitchFamily="49" charset="0"/>
                <a:cs typeface="Courier New" pitchFamily="49" charset="0"/>
              </a:rPr>
              <a:t>}</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dissolve">
                                      <p:cBhvr>
                                        <p:cTn id="1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p:txBody>
          <a:bodyPr/>
          <a:lstStyle/>
          <a:p>
            <a:r>
              <a:rPr lang="en-US" dirty="0" smtClean="0"/>
              <a:t>7. Warning! Global Variables</a:t>
            </a:r>
          </a:p>
        </p:txBody>
      </p:sp>
      <p:sp>
        <p:nvSpPr>
          <p:cNvPr id="5" name="Slide Number Placeholder 4"/>
          <p:cNvSpPr>
            <a:spLocks noGrp="1"/>
          </p:cNvSpPr>
          <p:nvPr>
            <p:ph type="sldNum" sz="quarter" idx="12"/>
          </p:nvPr>
        </p:nvSpPr>
        <p:spPr/>
        <p:txBody>
          <a:bodyPr/>
          <a:lstStyle/>
          <a:p>
            <a:pPr>
              <a:defRPr/>
            </a:pPr>
            <a:r>
              <a:t>Week6 - </a:t>
            </a:r>
            <a:fld id="{CB621475-4935-4A6A-8DCE-0E827DD8139E}" type="slidenum">
              <a:rPr/>
              <a:pPr>
                <a:defRPr/>
              </a:pPr>
              <a:t>30</a:t>
            </a:fld>
            <a:endParaRPr/>
          </a:p>
        </p:txBody>
      </p:sp>
      <p:sp>
        <p:nvSpPr>
          <p:cNvPr id="16387" name="Content Placeholder 2"/>
          <p:cNvSpPr>
            <a:spLocks noGrp="1"/>
          </p:cNvSpPr>
          <p:nvPr>
            <p:ph sz="quarter" idx="1"/>
          </p:nvPr>
        </p:nvSpPr>
        <p:spPr>
          <a:xfrm>
            <a:off x="457200" y="1371600"/>
            <a:ext cx="8229600" cy="1416756"/>
          </a:xfrm>
        </p:spPr>
        <p:txBody>
          <a:bodyPr/>
          <a:lstStyle/>
          <a:p>
            <a:r>
              <a:rPr lang="en-US" dirty="0" smtClean="0">
                <a:solidFill>
                  <a:schemeClr val="tx1"/>
                </a:solidFill>
              </a:rPr>
              <a:t>We do not encourage the use of </a:t>
            </a:r>
            <a:r>
              <a:rPr lang="en-US" dirty="0" smtClean="0"/>
              <a:t>global variables</a:t>
            </a:r>
            <a:r>
              <a:rPr lang="en-US" dirty="0" smtClean="0">
                <a:solidFill>
                  <a:schemeClr val="tx1"/>
                </a:solidFill>
              </a:rPr>
              <a:t>.</a:t>
            </a:r>
          </a:p>
          <a:p>
            <a:pPr lvl="1"/>
            <a:r>
              <a:rPr lang="en-US" dirty="0" smtClean="0"/>
              <a:t>Variables that are declared outside all functions</a:t>
            </a:r>
            <a:endParaRPr lang="en-US" dirty="0" smtClean="0">
              <a:solidFill>
                <a:schemeClr val="tx1"/>
              </a:solidFill>
            </a:endParaRPr>
          </a:p>
          <a:p>
            <a:r>
              <a:rPr lang="en-US" dirty="0" smtClean="0">
                <a:solidFill>
                  <a:schemeClr val="tx1"/>
                </a:solidFill>
              </a:rPr>
              <a:t>Use of global variables will be heavily penalized.</a:t>
            </a:r>
          </a:p>
          <a:p>
            <a:pPr>
              <a:buNone/>
            </a:pPr>
            <a:endParaRPr lang="en-US" dirty="0" smtClean="0"/>
          </a:p>
        </p:txBody>
      </p:sp>
      <p:sp>
        <p:nvSpPr>
          <p:cNvPr id="18" name="TextBox 17"/>
          <p:cNvSpPr txBox="1"/>
          <p:nvPr/>
        </p:nvSpPr>
        <p:spPr>
          <a:xfrm>
            <a:off x="1187532" y="2992582"/>
            <a:ext cx="6412676" cy="2862322"/>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b="1" dirty="0" smtClean="0">
                <a:solidFill>
                  <a:srgbClr val="7030A0"/>
                </a:solidFill>
                <a:latin typeface="Courier New" pitchFamily="49" charset="0"/>
                <a:cs typeface="Courier New" pitchFamily="49" charset="0"/>
              </a:rPr>
              <a:t>#include </a:t>
            </a:r>
            <a:r>
              <a:rPr lang="en-US" b="1" dirty="0" smtClean="0">
                <a:solidFill>
                  <a:srgbClr val="006600"/>
                </a:solidFill>
                <a:latin typeface="Courier New" pitchFamily="49" charset="0"/>
                <a:cs typeface="Courier New" pitchFamily="49" charset="0"/>
              </a:rPr>
              <a:t>&lt;</a:t>
            </a:r>
            <a:r>
              <a:rPr lang="en-US" b="1" dirty="0" err="1" smtClean="0">
                <a:solidFill>
                  <a:srgbClr val="006600"/>
                </a:solidFill>
                <a:latin typeface="Courier New" pitchFamily="49" charset="0"/>
                <a:cs typeface="Courier New" pitchFamily="49" charset="0"/>
              </a:rPr>
              <a:t>stdio.h</a:t>
            </a:r>
            <a:r>
              <a:rPr lang="en-US" b="1" dirty="0" smtClean="0">
                <a:solidFill>
                  <a:srgbClr val="006600"/>
                </a:solidFill>
                <a:latin typeface="Courier New" pitchFamily="49" charset="0"/>
                <a:cs typeface="Courier New" pitchFamily="49" charset="0"/>
              </a:rPr>
              <a:t>&gt;</a:t>
            </a:r>
          </a:p>
          <a:p>
            <a:r>
              <a:rPr lang="en-US" b="1" dirty="0" smtClean="0">
                <a:solidFill>
                  <a:srgbClr val="7030A0"/>
                </a:solidFill>
                <a:latin typeface="Courier New" pitchFamily="49" charset="0"/>
                <a:cs typeface="Courier New" pitchFamily="49" charset="0"/>
              </a:rPr>
              <a:t>#define </a:t>
            </a:r>
            <a:r>
              <a:rPr lang="en-US" b="1" dirty="0" smtClean="0">
                <a:latin typeface="Courier New" pitchFamily="49" charset="0"/>
                <a:cs typeface="Courier New" pitchFamily="49" charset="0"/>
              </a:rPr>
              <a:t>PI </a:t>
            </a:r>
            <a:r>
              <a:rPr lang="en-US" b="1" dirty="0" smtClean="0">
                <a:solidFill>
                  <a:srgbClr val="006600"/>
                </a:solidFill>
                <a:latin typeface="Courier New" pitchFamily="49" charset="0"/>
                <a:cs typeface="Courier New" pitchFamily="49" charset="0"/>
              </a:rPr>
              <a:t>3.14159</a:t>
            </a:r>
          </a:p>
          <a:p>
            <a:endParaRPr lang="en-US" b="1" dirty="0" smtClean="0">
              <a:latin typeface="Courier New" pitchFamily="49" charset="0"/>
              <a:cs typeface="Courier New" pitchFamily="49" charset="0"/>
            </a:endParaRPr>
          </a:p>
          <a:p>
            <a:r>
              <a:rPr lang="en-US" b="1" dirty="0" err="1" smtClean="0">
                <a:solidFill>
                  <a:srgbClr val="0000FF"/>
                </a:solidFill>
                <a:latin typeface="Courier New" pitchFamily="49" charset="0"/>
                <a:cs typeface="Courier New" pitchFamily="49" charset="0"/>
              </a:rPr>
              <a:t>int</a:t>
            </a:r>
            <a:r>
              <a:rPr lang="en-US" b="1" dirty="0" smtClean="0">
                <a:latin typeface="Courier New" pitchFamily="49" charset="0"/>
                <a:cs typeface="Courier New" pitchFamily="49" charset="0"/>
              </a:rPr>
              <a:t> value;</a:t>
            </a:r>
          </a:p>
          <a:p>
            <a:r>
              <a:rPr lang="en-US" b="1" dirty="0" smtClean="0">
                <a:solidFill>
                  <a:srgbClr val="0000FF"/>
                </a:solidFill>
                <a:latin typeface="Courier New" pitchFamily="49" charset="0"/>
                <a:cs typeface="Courier New" pitchFamily="49" charset="0"/>
              </a:rPr>
              <a:t>double</a:t>
            </a:r>
            <a:r>
              <a:rPr lang="en-US" b="1" dirty="0" smtClean="0">
                <a:latin typeface="Courier New" pitchFamily="49" charset="0"/>
                <a:cs typeface="Courier New" pitchFamily="49" charset="0"/>
              </a:rPr>
              <a:t> sum;</a:t>
            </a:r>
          </a:p>
          <a:p>
            <a:endParaRPr lang="en-US" b="1" dirty="0" smtClean="0">
              <a:latin typeface="Courier New" pitchFamily="49" charset="0"/>
              <a:cs typeface="Courier New" pitchFamily="49" charset="0"/>
            </a:endParaRPr>
          </a:p>
          <a:p>
            <a:r>
              <a:rPr lang="en-US" b="1" dirty="0" err="1" smtClean="0">
                <a:solidFill>
                  <a:srgbClr val="0000FF"/>
                </a:solidFill>
                <a:latin typeface="Courier New" pitchFamily="49" charset="0"/>
                <a:cs typeface="Courier New" pitchFamily="49" charset="0"/>
              </a:rPr>
              <a:t>int</a:t>
            </a:r>
            <a:r>
              <a:rPr lang="en-US" b="1" dirty="0" smtClean="0">
                <a:latin typeface="Courier New" pitchFamily="49" charset="0"/>
                <a:cs typeface="Courier New" pitchFamily="49" charset="0"/>
              </a:rPr>
              <a:t> main(</a:t>
            </a:r>
            <a:r>
              <a:rPr lang="en-US" b="1" dirty="0" smtClean="0">
                <a:solidFill>
                  <a:srgbClr val="0000FF"/>
                </a:solidFill>
                <a:latin typeface="Courier New" pitchFamily="49" charset="0"/>
                <a:cs typeface="Courier New" pitchFamily="49" charset="0"/>
              </a:rPr>
              <a:t>void</a:t>
            </a:r>
            <a:r>
              <a:rPr lang="en-US" b="1" dirty="0" smtClean="0">
                <a:latin typeface="Courier New" pitchFamily="49" charset="0"/>
                <a:cs typeface="Courier New" pitchFamily="49" charset="0"/>
              </a:rPr>
              <a:t>) {</a:t>
            </a:r>
          </a:p>
          <a:p>
            <a:pPr>
              <a:tabLst>
                <a:tab pos="273050" algn="l"/>
                <a:tab pos="534988" algn="l"/>
              </a:tabLst>
            </a:pPr>
            <a:r>
              <a:rPr lang="en-US" b="1" dirty="0" smtClean="0">
                <a:latin typeface="Courier New" pitchFamily="49" charset="0"/>
                <a:cs typeface="Courier New" pitchFamily="49" charset="0"/>
              </a:rPr>
              <a:t>	. . .</a:t>
            </a:r>
          </a:p>
          <a:p>
            <a:endParaRPr lang="en-US" b="1" dirty="0" smtClean="0">
              <a:latin typeface="Courier New" pitchFamily="49" charset="0"/>
              <a:cs typeface="Courier New" pitchFamily="49" charset="0"/>
            </a:endParaRPr>
          </a:p>
          <a:p>
            <a:r>
              <a:rPr lang="en-US" b="1" dirty="0" smtClean="0">
                <a:latin typeface="Courier New" pitchFamily="49" charset="0"/>
                <a:cs typeface="Courier New" pitchFamily="49" charset="0"/>
              </a:rPr>
              <a:t>}</a:t>
            </a:r>
            <a:endParaRPr lang="en-SG" b="1" dirty="0">
              <a:latin typeface="Courier New" pitchFamily="49" charset="0"/>
              <a:cs typeface="Courier New" pitchFamily="49" charset="0"/>
            </a:endParaRPr>
          </a:p>
        </p:txBody>
      </p:sp>
      <p:grpSp>
        <p:nvGrpSpPr>
          <p:cNvPr id="45" name="Group 44"/>
          <p:cNvGrpSpPr/>
          <p:nvPr/>
        </p:nvGrpSpPr>
        <p:grpSpPr>
          <a:xfrm>
            <a:off x="2695699" y="4037610"/>
            <a:ext cx="3942606" cy="1168847"/>
            <a:chOff x="2208811" y="3883230"/>
            <a:chExt cx="3942606" cy="1168847"/>
          </a:xfrm>
        </p:grpSpPr>
        <p:cxnSp>
          <p:nvCxnSpPr>
            <p:cNvPr id="20" name="Straight Arrow Connector 19"/>
            <p:cNvCxnSpPr/>
            <p:nvPr/>
          </p:nvCxnSpPr>
          <p:spPr bwMode="auto">
            <a:xfrm rot="10800000">
              <a:off x="2256313" y="4191989"/>
              <a:ext cx="1983181" cy="439390"/>
            </a:xfrm>
            <a:prstGeom prst="straightConnector1">
              <a:avLst/>
            </a:prstGeom>
            <a:solidFill>
              <a:schemeClr val="accent1"/>
            </a:solidFill>
            <a:ln w="28575" cap="sq" cmpd="sng" algn="ctr">
              <a:solidFill>
                <a:srgbClr val="FF0000"/>
              </a:solidFill>
              <a:prstDash val="solid"/>
              <a:round/>
              <a:headEnd type="none" w="sm" len="sm"/>
              <a:tailEnd type="arrow"/>
            </a:ln>
            <a:effectLst/>
          </p:spPr>
        </p:cxnSp>
        <p:cxnSp>
          <p:nvCxnSpPr>
            <p:cNvPr id="22" name="Straight Arrow Connector 21"/>
            <p:cNvCxnSpPr/>
            <p:nvPr/>
          </p:nvCxnSpPr>
          <p:spPr bwMode="auto">
            <a:xfrm rot="10800000">
              <a:off x="2208811" y="3883230"/>
              <a:ext cx="2137558" cy="724396"/>
            </a:xfrm>
            <a:prstGeom prst="straightConnector1">
              <a:avLst/>
            </a:prstGeom>
            <a:solidFill>
              <a:schemeClr val="accent1"/>
            </a:solidFill>
            <a:ln w="28575" cap="sq" cmpd="sng" algn="ctr">
              <a:solidFill>
                <a:srgbClr val="FF0000"/>
              </a:solidFill>
              <a:prstDash val="solid"/>
              <a:round/>
              <a:headEnd type="none" w="sm" len="sm"/>
              <a:tailEnd type="arrow"/>
            </a:ln>
            <a:effectLst/>
          </p:spPr>
        </p:cxnSp>
        <p:sp>
          <p:nvSpPr>
            <p:cNvPr id="24" name="TextBox 23"/>
            <p:cNvSpPr txBox="1"/>
            <p:nvPr/>
          </p:nvSpPr>
          <p:spPr>
            <a:xfrm>
              <a:off x="4180113" y="4405746"/>
              <a:ext cx="1971304" cy="646331"/>
            </a:xfrm>
            <a:prstGeom prst="rect">
              <a:avLst/>
            </a:prstGeom>
            <a:solidFill>
              <a:srgbClr val="FFFFCC"/>
            </a:solidFill>
            <a:ln>
              <a:solidFill>
                <a:schemeClr val="tx1"/>
              </a:solidFill>
            </a:ln>
          </p:spPr>
          <p:txBody>
            <a:bodyPr wrap="square" rtlCol="0">
              <a:spAutoFit/>
            </a:bodyPr>
            <a:lstStyle/>
            <a:p>
              <a:r>
                <a:rPr lang="en-US" dirty="0" smtClean="0"/>
                <a:t>These are global variables.</a:t>
              </a:r>
              <a:endParaRPr lang="en-SG" dirty="0"/>
            </a:p>
          </p:txBody>
        </p:sp>
      </p:grpSp>
      <p:grpSp>
        <p:nvGrpSpPr>
          <p:cNvPr id="46" name="Group 45"/>
          <p:cNvGrpSpPr/>
          <p:nvPr/>
        </p:nvGrpSpPr>
        <p:grpSpPr>
          <a:xfrm>
            <a:off x="2624451" y="3346863"/>
            <a:ext cx="3954479" cy="646331"/>
            <a:chOff x="2624451" y="3346863"/>
            <a:chExt cx="3954479" cy="646331"/>
          </a:xfrm>
        </p:grpSpPr>
        <p:cxnSp>
          <p:nvCxnSpPr>
            <p:cNvPr id="32" name="Straight Arrow Connector 31"/>
            <p:cNvCxnSpPr/>
            <p:nvPr/>
          </p:nvCxnSpPr>
          <p:spPr bwMode="auto">
            <a:xfrm rot="10800000">
              <a:off x="2624451" y="3574477"/>
              <a:ext cx="1615040" cy="237502"/>
            </a:xfrm>
            <a:prstGeom prst="straightConnector1">
              <a:avLst/>
            </a:prstGeom>
            <a:solidFill>
              <a:schemeClr val="accent1"/>
            </a:solidFill>
            <a:ln w="28575" cap="sq" cmpd="sng" algn="ctr">
              <a:solidFill>
                <a:srgbClr val="006600"/>
              </a:solidFill>
              <a:prstDash val="solid"/>
              <a:round/>
              <a:headEnd type="none" w="sm" len="sm"/>
              <a:tailEnd type="arrow"/>
            </a:ln>
            <a:effectLst/>
          </p:spPr>
        </p:cxnSp>
        <p:sp>
          <p:nvSpPr>
            <p:cNvPr id="34" name="TextBox 33"/>
            <p:cNvSpPr txBox="1"/>
            <p:nvPr/>
          </p:nvSpPr>
          <p:spPr>
            <a:xfrm>
              <a:off x="4142508" y="3346863"/>
              <a:ext cx="2436422" cy="646331"/>
            </a:xfrm>
            <a:prstGeom prst="rect">
              <a:avLst/>
            </a:prstGeom>
            <a:solidFill>
              <a:srgbClr val="CCFFCC"/>
            </a:solidFill>
            <a:ln>
              <a:solidFill>
                <a:schemeClr val="tx1"/>
              </a:solidFill>
            </a:ln>
          </p:spPr>
          <p:txBody>
            <a:bodyPr wrap="square" rtlCol="0">
              <a:spAutoFit/>
            </a:bodyPr>
            <a:lstStyle/>
            <a:p>
              <a:r>
                <a:rPr lang="en-US" dirty="0" smtClean="0"/>
                <a:t>This is a constant, not a global variable. </a:t>
              </a:r>
              <a:endParaRPr lang="en-SG" dirty="0"/>
            </a:p>
          </p:txBody>
        </p:sp>
      </p:grpSp>
      <p:pic>
        <p:nvPicPr>
          <p:cNvPr id="14" name="Picture 13" descr="alert_small.jpg"/>
          <p:cNvPicPr>
            <a:picLocks noChangeAspect="1"/>
          </p:cNvPicPr>
          <p:nvPr/>
        </p:nvPicPr>
        <p:blipFill>
          <a:blip r:embed="rId3" cstate="print"/>
          <a:stretch>
            <a:fillRect/>
          </a:stretch>
        </p:blipFill>
        <p:spPr>
          <a:xfrm>
            <a:off x="7979431" y="450813"/>
            <a:ext cx="681094" cy="681094"/>
          </a:xfrm>
          <a:prstGeom prst="rect">
            <a:avLst/>
          </a:prstGeom>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dissolve">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46"/>
                                        </p:tgtEl>
                                        <p:attrNameLst>
                                          <p:attrName>style.visibility</p:attrName>
                                        </p:attrNameLst>
                                      </p:cBhvr>
                                      <p:to>
                                        <p:strVal val="visible"/>
                                      </p:to>
                                    </p:set>
                                    <p:animEffect transition="in" filter="dissolve">
                                      <p:cBhvr>
                                        <p:cTn id="12" dur="500"/>
                                        <p:tgtEl>
                                          <p:spTgt spid="46"/>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45"/>
                                        </p:tgtEl>
                                        <p:attrNameLst>
                                          <p:attrName>style.visibility</p:attrName>
                                        </p:attrNameLst>
                                      </p:cBhvr>
                                      <p:to>
                                        <p:strVal val="visible"/>
                                      </p:to>
                                    </p:set>
                                    <p:animEffect transition="in" filter="dissolve">
                                      <p:cBhvr>
                                        <p:cTn id="17"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p:txBody>
          <a:bodyPr/>
          <a:lstStyle/>
          <a:p>
            <a:r>
              <a:rPr lang="en-US" dirty="0" smtClean="0"/>
              <a:t>8. Modularization and Interfaces (1/3)</a:t>
            </a:r>
          </a:p>
        </p:txBody>
      </p:sp>
      <p:sp>
        <p:nvSpPr>
          <p:cNvPr id="5" name="Slide Number Placeholder 4"/>
          <p:cNvSpPr>
            <a:spLocks noGrp="1"/>
          </p:cNvSpPr>
          <p:nvPr>
            <p:ph type="sldNum" sz="quarter" idx="12"/>
          </p:nvPr>
        </p:nvSpPr>
        <p:spPr/>
        <p:txBody>
          <a:bodyPr/>
          <a:lstStyle/>
          <a:p>
            <a:pPr>
              <a:defRPr/>
            </a:pPr>
            <a:r>
              <a:t>Week6 - </a:t>
            </a:r>
            <a:fld id="{CB621475-4935-4A6A-8DCE-0E827DD8139E}" type="slidenum">
              <a:rPr/>
              <a:pPr>
                <a:defRPr/>
              </a:pPr>
              <a:t>31</a:t>
            </a:fld>
            <a:endParaRPr/>
          </a:p>
        </p:txBody>
      </p:sp>
      <p:sp>
        <p:nvSpPr>
          <p:cNvPr id="16387" name="Content Placeholder 2"/>
          <p:cNvSpPr>
            <a:spLocks noGrp="1"/>
          </p:cNvSpPr>
          <p:nvPr>
            <p:ph sz="quarter" idx="1"/>
          </p:nvPr>
        </p:nvSpPr>
        <p:spPr/>
        <p:txBody>
          <a:bodyPr/>
          <a:lstStyle/>
          <a:p>
            <a:r>
              <a:rPr lang="en-US" dirty="0" smtClean="0">
                <a:solidFill>
                  <a:schemeClr val="tx1"/>
                </a:solidFill>
              </a:rPr>
              <a:t>So far we have compiled our programs directly from the source into an executable:</a:t>
            </a:r>
          </a:p>
          <a:p>
            <a:endParaRPr lang="en-US" dirty="0" smtClean="0"/>
          </a:p>
          <a:p>
            <a:endParaRPr lang="en-US" dirty="0" smtClean="0"/>
          </a:p>
          <a:p>
            <a:endParaRPr lang="en-US" dirty="0" smtClean="0"/>
          </a:p>
          <a:p>
            <a:r>
              <a:rPr lang="en-US" dirty="0" smtClean="0">
                <a:solidFill>
                  <a:schemeClr val="tx1"/>
                </a:solidFill>
              </a:rPr>
              <a:t>For the development of large programs with teams of programmers this is not suitable</a:t>
            </a:r>
          </a:p>
          <a:p>
            <a:pPr lvl="1"/>
            <a:r>
              <a:rPr lang="en-US" dirty="0" smtClean="0"/>
              <a:t>“</a:t>
            </a:r>
            <a:r>
              <a:rPr lang="en-US" dirty="0" smtClean="0">
                <a:solidFill>
                  <a:srgbClr val="0000FF"/>
                </a:solidFill>
              </a:rPr>
              <a:t>break</a:t>
            </a:r>
            <a:r>
              <a:rPr lang="en-US" dirty="0" smtClean="0"/>
              <a:t>” the program into multiple modules (files)</a:t>
            </a:r>
          </a:p>
          <a:p>
            <a:pPr lvl="1"/>
            <a:r>
              <a:rPr lang="en-US" dirty="0" smtClean="0">
                <a:solidFill>
                  <a:srgbClr val="0000FF"/>
                </a:solidFill>
              </a:rPr>
              <a:t>Compile</a:t>
            </a:r>
            <a:r>
              <a:rPr lang="en-US" dirty="0" smtClean="0"/>
              <a:t> modules</a:t>
            </a:r>
            <a:r>
              <a:rPr lang="en-US" dirty="0" smtClean="0">
                <a:solidFill>
                  <a:srgbClr val="0000FF"/>
                </a:solidFill>
              </a:rPr>
              <a:t> separately </a:t>
            </a:r>
            <a:endParaRPr lang="en-US" dirty="0" smtClean="0"/>
          </a:p>
          <a:p>
            <a:pPr lvl="1"/>
            <a:r>
              <a:rPr lang="en-US" dirty="0" smtClean="0">
                <a:solidFill>
                  <a:srgbClr val="0000FF"/>
                </a:solidFill>
              </a:rPr>
              <a:t>Link</a:t>
            </a:r>
            <a:r>
              <a:rPr lang="en-US" dirty="0" smtClean="0"/>
              <a:t> all modules into an executable</a:t>
            </a:r>
          </a:p>
        </p:txBody>
      </p:sp>
      <p:grpSp>
        <p:nvGrpSpPr>
          <p:cNvPr id="2" name="Group 51"/>
          <p:cNvGrpSpPr>
            <a:grpSpLocks/>
          </p:cNvGrpSpPr>
          <p:nvPr/>
        </p:nvGrpSpPr>
        <p:grpSpPr bwMode="auto">
          <a:xfrm>
            <a:off x="2393950" y="2346325"/>
            <a:ext cx="4886325" cy="857250"/>
            <a:chOff x="2394012" y="2747641"/>
            <a:chExt cx="4885677" cy="858174"/>
          </a:xfrm>
        </p:grpSpPr>
        <p:grpSp>
          <p:nvGrpSpPr>
            <p:cNvPr id="3" name="Group 39"/>
            <p:cNvGrpSpPr>
              <a:grpSpLocks/>
            </p:cNvGrpSpPr>
            <p:nvPr/>
          </p:nvGrpSpPr>
          <p:grpSpPr bwMode="auto">
            <a:xfrm>
              <a:off x="4419600" y="2915577"/>
              <a:ext cx="1046086" cy="522302"/>
              <a:chOff x="4397406" y="3012490"/>
              <a:chExt cx="1046086" cy="522302"/>
            </a:xfrm>
          </p:grpSpPr>
          <p:sp>
            <p:nvSpPr>
              <p:cNvPr id="29712" name="Right Arrow 16"/>
              <p:cNvSpPr>
                <a:spLocks noChangeArrowheads="1"/>
              </p:cNvSpPr>
              <p:nvPr/>
            </p:nvSpPr>
            <p:spPr bwMode="auto">
              <a:xfrm>
                <a:off x="4502460" y="3232951"/>
                <a:ext cx="941032" cy="301841"/>
              </a:xfrm>
              <a:prstGeom prst="rightArrow">
                <a:avLst>
                  <a:gd name="adj1" fmla="val 50000"/>
                  <a:gd name="adj2" fmla="val 49998"/>
                </a:avLst>
              </a:prstGeom>
              <a:solidFill>
                <a:srgbClr val="996600"/>
              </a:solidFill>
              <a:ln w="12700" cap="sq" algn="ctr">
                <a:solidFill>
                  <a:schemeClr val="tx1"/>
                </a:solidFill>
                <a:round/>
                <a:headEnd type="none" w="sm" len="sm"/>
                <a:tailEnd type="none" w="sm" len="sm"/>
              </a:ln>
            </p:spPr>
            <p:txBody>
              <a:bodyPr/>
              <a:lstStyle/>
              <a:p>
                <a:endParaRPr lang="en-SG"/>
              </a:p>
            </p:txBody>
          </p:sp>
          <p:sp>
            <p:nvSpPr>
              <p:cNvPr id="29713" name="TextBox 17"/>
              <p:cNvSpPr txBox="1">
                <a:spLocks noChangeArrowheads="1"/>
              </p:cNvSpPr>
              <p:nvPr/>
            </p:nvSpPr>
            <p:spPr bwMode="auto">
              <a:xfrm>
                <a:off x="4397406" y="3012490"/>
                <a:ext cx="1046086" cy="276999"/>
              </a:xfrm>
              <a:prstGeom prst="rect">
                <a:avLst/>
              </a:prstGeom>
              <a:noFill/>
              <a:ln w="9525">
                <a:noFill/>
                <a:miter lim="800000"/>
                <a:headEnd/>
                <a:tailEnd/>
              </a:ln>
            </p:spPr>
            <p:txBody>
              <a:bodyPr>
                <a:spAutoFit/>
              </a:bodyPr>
              <a:lstStyle/>
              <a:p>
                <a:pPr algn="ctr"/>
                <a:r>
                  <a:rPr lang="en-US" sz="1200" i="1"/>
                  <a:t>produces</a:t>
                </a:r>
                <a:endParaRPr lang="en-SG" sz="1200" i="1"/>
              </a:p>
            </p:txBody>
          </p:sp>
        </p:grpSp>
        <p:grpSp>
          <p:nvGrpSpPr>
            <p:cNvPr id="4" name="Group 42"/>
            <p:cNvGrpSpPr>
              <a:grpSpLocks/>
            </p:cNvGrpSpPr>
            <p:nvPr/>
          </p:nvGrpSpPr>
          <p:grpSpPr bwMode="auto">
            <a:xfrm>
              <a:off x="5823751" y="2747641"/>
              <a:ext cx="1455938" cy="858174"/>
              <a:chOff x="5805996" y="2898561"/>
              <a:chExt cx="1455938" cy="858174"/>
            </a:xfrm>
          </p:grpSpPr>
          <p:sp>
            <p:nvSpPr>
              <p:cNvPr id="29709" name="Flowchart: Document 18"/>
              <p:cNvSpPr>
                <a:spLocks noChangeArrowheads="1"/>
              </p:cNvSpPr>
              <p:nvPr/>
            </p:nvSpPr>
            <p:spPr bwMode="auto">
              <a:xfrm>
                <a:off x="5949517" y="3170809"/>
                <a:ext cx="1118587" cy="585926"/>
              </a:xfrm>
              <a:prstGeom prst="flowChartDocument">
                <a:avLst/>
              </a:prstGeom>
              <a:solidFill>
                <a:srgbClr val="66FF99"/>
              </a:solidFill>
              <a:ln w="12700" cap="sq" algn="ctr">
                <a:solidFill>
                  <a:schemeClr val="tx1"/>
                </a:solidFill>
                <a:round/>
                <a:headEnd type="none" w="sm" len="sm"/>
                <a:tailEnd type="none" w="sm" len="sm"/>
              </a:ln>
            </p:spPr>
            <p:txBody>
              <a:bodyPr/>
              <a:lstStyle/>
              <a:p>
                <a:endParaRPr lang="en-SG"/>
              </a:p>
            </p:txBody>
          </p:sp>
          <p:sp>
            <p:nvSpPr>
              <p:cNvPr id="29710" name="TextBox 19"/>
              <p:cNvSpPr txBox="1">
                <a:spLocks noChangeArrowheads="1"/>
              </p:cNvSpPr>
              <p:nvPr/>
            </p:nvSpPr>
            <p:spPr bwMode="auto">
              <a:xfrm>
                <a:off x="5805996" y="2898561"/>
                <a:ext cx="1455938" cy="276999"/>
              </a:xfrm>
              <a:prstGeom prst="rect">
                <a:avLst/>
              </a:prstGeom>
              <a:noFill/>
              <a:ln w="9525">
                <a:noFill/>
                <a:miter lim="800000"/>
                <a:headEnd/>
                <a:tailEnd/>
              </a:ln>
            </p:spPr>
            <p:txBody>
              <a:bodyPr>
                <a:spAutoFit/>
              </a:bodyPr>
              <a:lstStyle/>
              <a:p>
                <a:pPr algn="ctr"/>
                <a:r>
                  <a:rPr lang="en-US" sz="1200" i="1"/>
                  <a:t>Executable code</a:t>
                </a:r>
                <a:endParaRPr lang="en-SG" sz="1200" i="1"/>
              </a:p>
            </p:txBody>
          </p:sp>
          <p:sp>
            <p:nvSpPr>
              <p:cNvPr id="29711" name="TextBox 20"/>
              <p:cNvSpPr txBox="1">
                <a:spLocks noChangeArrowheads="1"/>
              </p:cNvSpPr>
              <p:nvPr/>
            </p:nvSpPr>
            <p:spPr bwMode="auto">
              <a:xfrm>
                <a:off x="5971712" y="3219636"/>
                <a:ext cx="1052005" cy="276999"/>
              </a:xfrm>
              <a:prstGeom prst="rect">
                <a:avLst/>
              </a:prstGeom>
              <a:noFill/>
              <a:ln w="9525">
                <a:noFill/>
                <a:miter lim="800000"/>
                <a:headEnd/>
                <a:tailEnd/>
              </a:ln>
            </p:spPr>
            <p:txBody>
              <a:bodyPr>
                <a:spAutoFit/>
              </a:bodyPr>
              <a:lstStyle/>
              <a:p>
                <a:pPr algn="ctr"/>
                <a:r>
                  <a:rPr lang="en-US" sz="1200"/>
                  <a:t>a.out</a:t>
                </a:r>
                <a:endParaRPr lang="en-SG" sz="1200"/>
              </a:p>
            </p:txBody>
          </p:sp>
        </p:grpSp>
        <p:grpSp>
          <p:nvGrpSpPr>
            <p:cNvPr id="6" name="Group 36"/>
            <p:cNvGrpSpPr>
              <a:grpSpLocks/>
            </p:cNvGrpSpPr>
            <p:nvPr/>
          </p:nvGrpSpPr>
          <p:grpSpPr bwMode="auto">
            <a:xfrm>
              <a:off x="2394012" y="2843816"/>
              <a:ext cx="1660124" cy="665825"/>
              <a:chOff x="2425084" y="3046521"/>
              <a:chExt cx="1660124" cy="665825"/>
            </a:xfrm>
          </p:grpSpPr>
          <p:sp>
            <p:nvSpPr>
              <p:cNvPr id="29706" name="Rounded Rectangle 24"/>
              <p:cNvSpPr>
                <a:spLocks noChangeArrowheads="1"/>
              </p:cNvSpPr>
              <p:nvPr/>
            </p:nvSpPr>
            <p:spPr bwMode="auto">
              <a:xfrm>
                <a:off x="2425084" y="3046521"/>
                <a:ext cx="1660124" cy="665825"/>
              </a:xfrm>
              <a:prstGeom prst="roundRect">
                <a:avLst>
                  <a:gd name="adj" fmla="val 16667"/>
                </a:avLst>
              </a:prstGeom>
              <a:solidFill>
                <a:schemeClr val="accent1"/>
              </a:solidFill>
              <a:ln w="12700" cap="sq" algn="ctr">
                <a:solidFill>
                  <a:schemeClr val="tx1"/>
                </a:solidFill>
                <a:round/>
                <a:headEnd type="none" w="sm" len="sm"/>
                <a:tailEnd type="none" w="sm" len="sm"/>
              </a:ln>
            </p:spPr>
            <p:txBody>
              <a:bodyPr/>
              <a:lstStyle/>
              <a:p>
                <a:endParaRPr lang="en-SG"/>
              </a:p>
            </p:txBody>
          </p:sp>
          <p:sp>
            <p:nvSpPr>
              <p:cNvPr id="29707" name="TextBox 25"/>
              <p:cNvSpPr txBox="1">
                <a:spLocks noChangeArrowheads="1"/>
              </p:cNvSpPr>
              <p:nvPr/>
            </p:nvSpPr>
            <p:spPr bwMode="auto">
              <a:xfrm>
                <a:off x="2663300" y="3099788"/>
                <a:ext cx="1207363" cy="369332"/>
              </a:xfrm>
              <a:prstGeom prst="rect">
                <a:avLst/>
              </a:prstGeom>
              <a:noFill/>
              <a:ln w="9525">
                <a:noFill/>
                <a:miter lim="800000"/>
                <a:headEnd/>
                <a:tailEnd/>
              </a:ln>
            </p:spPr>
            <p:txBody>
              <a:bodyPr>
                <a:spAutoFit/>
              </a:bodyPr>
              <a:lstStyle/>
              <a:p>
                <a:pPr algn="ctr"/>
                <a:r>
                  <a:rPr lang="en-US"/>
                  <a:t>Compiler</a:t>
                </a:r>
                <a:endParaRPr lang="en-SG"/>
              </a:p>
            </p:txBody>
          </p:sp>
          <p:sp>
            <p:nvSpPr>
              <p:cNvPr id="29708" name="TextBox 26"/>
              <p:cNvSpPr txBox="1">
                <a:spLocks noChangeArrowheads="1"/>
              </p:cNvSpPr>
              <p:nvPr/>
            </p:nvSpPr>
            <p:spPr bwMode="auto">
              <a:xfrm>
                <a:off x="2478350" y="3398669"/>
                <a:ext cx="1580225" cy="276999"/>
              </a:xfrm>
              <a:prstGeom prst="rect">
                <a:avLst/>
              </a:prstGeom>
              <a:noFill/>
              <a:ln w="9525">
                <a:noFill/>
                <a:miter lim="800000"/>
                <a:headEnd/>
                <a:tailEnd/>
              </a:ln>
            </p:spPr>
            <p:txBody>
              <a:bodyPr>
                <a:spAutoFit/>
              </a:bodyPr>
              <a:lstStyle/>
              <a:p>
                <a:pPr algn="ctr"/>
                <a:r>
                  <a:rPr lang="en-US" sz="1200" dirty="0" smtClean="0"/>
                  <a:t>e.g.: </a:t>
                </a:r>
                <a:r>
                  <a:rPr lang="en-US" sz="1200" dirty="0" err="1"/>
                  <a:t>gcc</a:t>
                </a:r>
                <a:r>
                  <a:rPr lang="en-US" sz="1200" dirty="0"/>
                  <a:t> </a:t>
                </a:r>
                <a:r>
                  <a:rPr lang="en-US" sz="1200" dirty="0" err="1"/>
                  <a:t>welcome.c</a:t>
                </a:r>
                <a:endParaRPr lang="en-SG" sz="1200" dirty="0"/>
              </a:p>
            </p:txBody>
          </p:sp>
        </p:grpSp>
      </p:grpSp>
    </p:spTree>
  </p:cSld>
  <p:clrMapOvr>
    <a:masterClrMapping/>
  </p:clrMapOvr>
  <p:transition>
    <p:fade/>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8"/>
          <p:cNvSpPr>
            <a:spLocks noChangeArrowheads="1"/>
          </p:cNvSpPr>
          <p:nvPr/>
        </p:nvSpPr>
        <p:spPr bwMode="auto">
          <a:xfrm>
            <a:off x="468313" y="1371600"/>
            <a:ext cx="7908925" cy="4843463"/>
          </a:xfrm>
          <a:prstGeom prst="rect">
            <a:avLst/>
          </a:prstGeom>
          <a:noFill/>
          <a:ln w="9525">
            <a:noFill/>
            <a:miter lim="800000"/>
            <a:headEnd/>
            <a:tailEnd/>
          </a:ln>
        </p:spPr>
        <p:txBody>
          <a:bodyPr/>
          <a:lstStyle/>
          <a:p>
            <a:pPr marL="342900" indent="-342900">
              <a:spcBef>
                <a:spcPct val="20000"/>
              </a:spcBef>
              <a:buClr>
                <a:schemeClr val="bg2"/>
              </a:buClr>
              <a:buSzPct val="75000"/>
              <a:buFont typeface="Wingdings" pitchFamily="2" charset="2"/>
              <a:buChar char="n"/>
            </a:pPr>
            <a:r>
              <a:rPr lang="en-US" sz="2400" dirty="0">
                <a:solidFill>
                  <a:srgbClr val="0000FF"/>
                </a:solidFill>
              </a:rPr>
              <a:t>Header Files and Separate Compilation</a:t>
            </a:r>
          </a:p>
          <a:p>
            <a:pPr marL="742950" lvl="1" indent="-285750">
              <a:spcBef>
                <a:spcPct val="20000"/>
              </a:spcBef>
              <a:buClr>
                <a:schemeClr val="accent2"/>
              </a:buClr>
              <a:buSzPct val="80000"/>
              <a:buFont typeface="Wingdings" pitchFamily="2" charset="2"/>
              <a:buChar char="¨"/>
            </a:pPr>
            <a:r>
              <a:rPr lang="en-US" sz="2000" dirty="0"/>
              <a:t>Problem is broken into sub-problems and each sub-problem is tackled separately – </a:t>
            </a:r>
            <a:r>
              <a:rPr lang="en-US" sz="2000" dirty="0">
                <a:solidFill>
                  <a:srgbClr val="0000FF"/>
                </a:solidFill>
              </a:rPr>
              <a:t>divide-and-conquer</a:t>
            </a:r>
            <a:r>
              <a:rPr lang="en-US" sz="2000" dirty="0"/>
              <a:t>.</a:t>
            </a:r>
          </a:p>
          <a:p>
            <a:pPr marL="742950" lvl="1" indent="-285750">
              <a:spcBef>
                <a:spcPct val="20000"/>
              </a:spcBef>
              <a:buClr>
                <a:schemeClr val="accent2"/>
              </a:buClr>
              <a:buSzPct val="80000"/>
              <a:buFont typeface="Wingdings" pitchFamily="2" charset="2"/>
              <a:buChar char="¨"/>
            </a:pPr>
            <a:r>
              <a:rPr lang="en-US" sz="2000" dirty="0"/>
              <a:t>Such a process is called </a:t>
            </a:r>
            <a:r>
              <a:rPr lang="en-US" sz="2000" dirty="0">
                <a:solidFill>
                  <a:srgbClr val="0000FF"/>
                </a:solidFill>
              </a:rPr>
              <a:t>modularization</a:t>
            </a:r>
            <a:r>
              <a:rPr lang="en-US" sz="2000" dirty="0"/>
              <a:t>.</a:t>
            </a:r>
          </a:p>
          <a:p>
            <a:pPr marL="742950" lvl="1" indent="-285750">
              <a:spcBef>
                <a:spcPct val="20000"/>
              </a:spcBef>
              <a:buClr>
                <a:schemeClr val="accent2"/>
              </a:buClr>
              <a:buSzPct val="80000"/>
              <a:buFont typeface="Wingdings" pitchFamily="2" charset="2"/>
              <a:buChar char="¨"/>
            </a:pPr>
            <a:r>
              <a:rPr lang="en-US" sz="2000" dirty="0"/>
              <a:t>The modules are possibly implemented by different programmers, hence the need for well-defined interfaces.</a:t>
            </a:r>
          </a:p>
          <a:p>
            <a:pPr marL="742950" lvl="1" indent="-285750">
              <a:spcBef>
                <a:spcPct val="20000"/>
              </a:spcBef>
              <a:buClr>
                <a:schemeClr val="accent2"/>
              </a:buClr>
              <a:buSzPct val="80000"/>
              <a:buFont typeface="Wingdings" pitchFamily="2" charset="2"/>
              <a:buChar char="¨"/>
            </a:pPr>
            <a:r>
              <a:rPr lang="en-US" sz="2000" dirty="0"/>
              <a:t>The </a:t>
            </a:r>
            <a:r>
              <a:rPr lang="en-US" sz="2000" dirty="0" smtClean="0">
                <a:solidFill>
                  <a:srgbClr val="0000FF"/>
                </a:solidFill>
              </a:rPr>
              <a:t>function prototype </a:t>
            </a:r>
            <a:r>
              <a:rPr lang="en-US" sz="2000" dirty="0" smtClean="0"/>
              <a:t>constitutes </a:t>
            </a:r>
            <a:r>
              <a:rPr lang="en-US" sz="2000" dirty="0"/>
              <a:t>the</a:t>
            </a:r>
            <a:r>
              <a:rPr lang="en-US" sz="2000" dirty="0">
                <a:solidFill>
                  <a:srgbClr val="990033"/>
                </a:solidFill>
              </a:rPr>
              <a:t> </a:t>
            </a:r>
            <a:r>
              <a:rPr lang="en-US" sz="2000" dirty="0">
                <a:solidFill>
                  <a:srgbClr val="0000FF"/>
                </a:solidFill>
              </a:rPr>
              <a:t>interface </a:t>
            </a:r>
            <a:r>
              <a:rPr lang="en-US" sz="2000" dirty="0"/>
              <a:t>(header file). The </a:t>
            </a:r>
            <a:r>
              <a:rPr lang="en-US" sz="2000" dirty="0" smtClean="0"/>
              <a:t>function body (implementation</a:t>
            </a:r>
            <a:r>
              <a:rPr lang="en-US" sz="2000" dirty="0"/>
              <a:t>) is hidden – </a:t>
            </a:r>
            <a:r>
              <a:rPr lang="en-US" sz="2000" dirty="0">
                <a:solidFill>
                  <a:srgbClr val="0000FF"/>
                </a:solidFill>
              </a:rPr>
              <a:t>abstraction</a:t>
            </a:r>
            <a:r>
              <a:rPr lang="en-US" sz="2000" dirty="0"/>
              <a:t>.</a:t>
            </a:r>
          </a:p>
          <a:p>
            <a:pPr marL="742950" lvl="1" indent="-285750">
              <a:spcBef>
                <a:spcPct val="20000"/>
              </a:spcBef>
              <a:buClr>
                <a:schemeClr val="accent2"/>
              </a:buClr>
              <a:buSzPct val="80000"/>
              <a:buFont typeface="Wingdings" pitchFamily="2" charset="2"/>
              <a:buChar char="¨"/>
            </a:pPr>
            <a:r>
              <a:rPr lang="en-US" sz="2000" dirty="0">
                <a:solidFill>
                  <a:srgbClr val="0000FF"/>
                </a:solidFill>
              </a:rPr>
              <a:t>Good documentation </a:t>
            </a:r>
            <a:r>
              <a:rPr lang="en-US" sz="2000" dirty="0"/>
              <a:t>(example: comment to describe what the method does) aids in understanding.</a:t>
            </a:r>
          </a:p>
        </p:txBody>
      </p:sp>
      <p:sp>
        <p:nvSpPr>
          <p:cNvPr id="30725" name="Title 14"/>
          <p:cNvSpPr>
            <a:spLocks noGrp="1"/>
          </p:cNvSpPr>
          <p:nvPr>
            <p:ph type="title"/>
          </p:nvPr>
        </p:nvSpPr>
        <p:spPr/>
        <p:txBody>
          <a:bodyPr/>
          <a:lstStyle/>
          <a:p>
            <a:r>
              <a:rPr lang="en-US" dirty="0" smtClean="0"/>
              <a:t>8. Modularization and Interfaces (2/3)</a:t>
            </a:r>
          </a:p>
        </p:txBody>
      </p:sp>
      <p:sp>
        <p:nvSpPr>
          <p:cNvPr id="8" name="Slide Number Placeholder 7"/>
          <p:cNvSpPr>
            <a:spLocks noGrp="1"/>
          </p:cNvSpPr>
          <p:nvPr>
            <p:ph type="sldNum" sz="quarter" idx="12"/>
          </p:nvPr>
        </p:nvSpPr>
        <p:spPr/>
        <p:txBody>
          <a:bodyPr/>
          <a:lstStyle/>
          <a:p>
            <a:pPr>
              <a:defRPr/>
            </a:pPr>
            <a:r>
              <a:rPr dirty="0" smtClean="0"/>
              <a:t>Week6 </a:t>
            </a:r>
            <a:r>
              <a:rPr dirty="0"/>
              <a:t>- </a:t>
            </a:r>
            <a:fld id="{7C10EC84-2FED-4B43-9919-3D9FBD9B9753}" type="slidenum">
              <a:rPr/>
              <a:pPr>
                <a:defRPr/>
              </a:pPr>
              <a:t>32</a:t>
            </a:fld>
            <a:endParaRPr dirty="0"/>
          </a:p>
        </p:txBody>
      </p:sp>
      <p:sp>
        <p:nvSpPr>
          <p:cNvPr id="15" name="TextBox 14"/>
          <p:cNvSpPr txBox="1"/>
          <p:nvPr/>
        </p:nvSpPr>
        <p:spPr>
          <a:xfrm>
            <a:off x="1065213" y="4930553"/>
            <a:ext cx="7016750" cy="522288"/>
          </a:xfrm>
          <a:prstGeom prst="rect">
            <a:avLst/>
          </a:prstGeom>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a:spAutoFit/>
          </a:bodyPr>
          <a:lstStyle/>
          <a:p>
            <a:pPr>
              <a:defRPr/>
            </a:pPr>
            <a:r>
              <a:rPr lang="en-US" sz="1400" b="1" dirty="0">
                <a:solidFill>
                  <a:srgbClr val="0000FF"/>
                </a:solidFill>
                <a:latin typeface="Courier New" pitchFamily="49" charset="0"/>
                <a:cs typeface="Courier New" pitchFamily="49" charset="0"/>
              </a:rPr>
              <a:t>double</a:t>
            </a:r>
            <a:r>
              <a:rPr lang="en-US" sz="1400" b="1" dirty="0">
                <a:latin typeface="Courier New" pitchFamily="49" charset="0"/>
                <a:cs typeface="Courier New" pitchFamily="49" charset="0"/>
              </a:rPr>
              <a:t> mean(</a:t>
            </a:r>
            <a:r>
              <a:rPr lang="en-US" sz="1400" b="1" dirty="0">
                <a:solidFill>
                  <a:srgbClr val="0000FF"/>
                </a:solidFill>
                <a:latin typeface="Courier New" pitchFamily="49" charset="0"/>
                <a:cs typeface="Courier New" pitchFamily="49" charset="0"/>
              </a:rPr>
              <a:t>double</a:t>
            </a:r>
            <a:r>
              <a:rPr lang="en-US" sz="1400" b="1" dirty="0">
                <a:latin typeface="Courier New" pitchFamily="49" charset="0"/>
                <a:cs typeface="Courier New" pitchFamily="49" charset="0"/>
              </a:rPr>
              <a:t>, </a:t>
            </a:r>
            <a:r>
              <a:rPr lang="en-US" sz="1400" b="1" dirty="0">
                <a:solidFill>
                  <a:srgbClr val="0000FF"/>
                </a:solidFill>
                <a:latin typeface="Courier New" pitchFamily="49" charset="0"/>
                <a:cs typeface="Courier New" pitchFamily="49" charset="0"/>
              </a:rPr>
              <a:t>double</a:t>
            </a:r>
            <a:r>
              <a:rPr lang="en-US" sz="1400" b="1" dirty="0">
                <a:latin typeface="Courier New" pitchFamily="49" charset="0"/>
                <a:cs typeface="Courier New" pitchFamily="49" charset="0"/>
              </a:rPr>
              <a:t>);</a:t>
            </a:r>
          </a:p>
          <a:p>
            <a:pPr>
              <a:defRPr/>
            </a:pPr>
            <a:r>
              <a:rPr lang="en-US" sz="1400" b="1" dirty="0">
                <a:solidFill>
                  <a:srgbClr val="C00000"/>
                </a:solidFill>
                <a:latin typeface="Courier New" pitchFamily="49" charset="0"/>
                <a:cs typeface="Courier New" pitchFamily="49" charset="0"/>
              </a:rPr>
              <a:t>// Returns the mean of two double floating-point values.</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dissolve">
                                      <p:cBhvr>
                                        <p:cTn id="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p:nvPr>
        </p:nvSpPr>
        <p:spPr/>
        <p:txBody>
          <a:bodyPr/>
          <a:lstStyle/>
          <a:p>
            <a:r>
              <a:rPr lang="en-US" dirty="0" smtClean="0"/>
              <a:t>8. Modularization and Interfaces (3/3)</a:t>
            </a:r>
          </a:p>
        </p:txBody>
      </p:sp>
      <p:sp>
        <p:nvSpPr>
          <p:cNvPr id="5" name="Slide Number Placeholder 4"/>
          <p:cNvSpPr>
            <a:spLocks noGrp="1"/>
          </p:cNvSpPr>
          <p:nvPr>
            <p:ph type="sldNum" sz="quarter" idx="12"/>
          </p:nvPr>
        </p:nvSpPr>
        <p:spPr/>
        <p:txBody>
          <a:bodyPr/>
          <a:lstStyle/>
          <a:p>
            <a:pPr>
              <a:defRPr/>
            </a:pPr>
            <a:r>
              <a:t>Week6 - </a:t>
            </a:r>
            <a:fld id="{1044C7BC-8E68-4FEB-ACF5-0FADBDE554FF}" type="slidenum">
              <a:rPr/>
              <a:pPr>
                <a:defRPr/>
              </a:pPr>
              <a:t>33</a:t>
            </a:fld>
            <a:endParaRPr/>
          </a:p>
        </p:txBody>
      </p:sp>
      <p:sp>
        <p:nvSpPr>
          <p:cNvPr id="18435" name="Content Placeholder 2"/>
          <p:cNvSpPr>
            <a:spLocks noGrp="1"/>
          </p:cNvSpPr>
          <p:nvPr>
            <p:ph sz="quarter" idx="1"/>
          </p:nvPr>
        </p:nvSpPr>
        <p:spPr/>
        <p:txBody>
          <a:bodyPr/>
          <a:lstStyle/>
          <a:p>
            <a:r>
              <a:rPr lang="en-US" dirty="0" smtClean="0"/>
              <a:t>Reasons for Modular Programming</a:t>
            </a:r>
          </a:p>
          <a:p>
            <a:pPr lvl="1"/>
            <a:r>
              <a:rPr lang="en-US" dirty="0" smtClean="0"/>
              <a:t>Divide problems into manageable parts</a:t>
            </a:r>
          </a:p>
          <a:p>
            <a:pPr lvl="1"/>
            <a:r>
              <a:rPr lang="en-US" dirty="0" smtClean="0"/>
              <a:t>Reduce compilation time</a:t>
            </a:r>
          </a:p>
          <a:p>
            <a:pPr lvl="2"/>
            <a:r>
              <a:rPr lang="en-US" dirty="0" smtClean="0"/>
              <a:t>Unchanged modules do not need to be re-compiled.</a:t>
            </a:r>
          </a:p>
          <a:p>
            <a:pPr lvl="1"/>
            <a:r>
              <a:rPr lang="en-US" dirty="0" smtClean="0"/>
              <a:t>Debug modules separately</a:t>
            </a:r>
          </a:p>
          <a:p>
            <a:pPr lvl="2"/>
            <a:r>
              <a:rPr lang="en-US" dirty="0" smtClean="0"/>
              <a:t>Small test programs can be written to exercise the functions in one module.</a:t>
            </a:r>
          </a:p>
          <a:p>
            <a:pPr lvl="1"/>
            <a:r>
              <a:rPr lang="en-US" dirty="0" smtClean="0"/>
              <a:t>Build libraries of useful functions</a:t>
            </a:r>
          </a:p>
          <a:p>
            <a:pPr lvl="2"/>
            <a:r>
              <a:rPr lang="en-US" dirty="0" smtClean="0"/>
              <a:t>Code can be re-used in different projects.</a:t>
            </a:r>
          </a:p>
          <a:p>
            <a:pPr lvl="3"/>
            <a:r>
              <a:rPr lang="en-US" dirty="0" smtClean="0"/>
              <a:t>Faster development.</a:t>
            </a:r>
          </a:p>
          <a:p>
            <a:pPr lvl="3"/>
            <a:r>
              <a:rPr lang="en-US" dirty="0" smtClean="0"/>
              <a:t>Do not need to know how some functionality is implemented, e.g., image processing routines.</a:t>
            </a:r>
          </a:p>
          <a:p>
            <a:pPr lvl="3"/>
            <a:r>
              <a:rPr lang="en-US" dirty="0" smtClean="0"/>
              <a:t>Example: </a:t>
            </a:r>
            <a:r>
              <a:rPr lang="en-US" dirty="0" err="1" smtClean="0"/>
              <a:t>OpenCV</a:t>
            </a:r>
            <a:r>
              <a:rPr lang="en-US" dirty="0" smtClean="0"/>
              <a:t> – a computer vision library.</a:t>
            </a:r>
          </a:p>
        </p:txBody>
      </p:sp>
    </p:spTree>
  </p:cSld>
  <p:clrMapOvr>
    <a:masterClrMapping/>
  </p:clrMapOvr>
  <p:transition>
    <p:fade/>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p:txBody>
          <a:bodyPr/>
          <a:lstStyle/>
          <a:p>
            <a:r>
              <a:rPr lang="en-US" dirty="0" smtClean="0"/>
              <a:t>9. Separate Compilation </a:t>
            </a:r>
          </a:p>
        </p:txBody>
      </p:sp>
      <p:sp>
        <p:nvSpPr>
          <p:cNvPr id="5" name="Slide Number Placeholder 4"/>
          <p:cNvSpPr>
            <a:spLocks noGrp="1"/>
          </p:cNvSpPr>
          <p:nvPr>
            <p:ph type="sldNum" sz="quarter" idx="12"/>
          </p:nvPr>
        </p:nvSpPr>
        <p:spPr/>
        <p:txBody>
          <a:bodyPr/>
          <a:lstStyle/>
          <a:p>
            <a:pPr>
              <a:defRPr/>
            </a:pPr>
            <a:r>
              <a:rPr dirty="0" smtClean="0"/>
              <a:t>Week6 - </a:t>
            </a:r>
            <a:fld id="{CD64BC74-9807-4EEF-94D1-C8D7F7D0227E}" type="slidenum">
              <a:rPr smtClean="0"/>
              <a:pPr>
                <a:defRPr/>
              </a:pPr>
              <a:t>34</a:t>
            </a:fld>
            <a:endParaRPr dirty="0"/>
          </a:p>
        </p:txBody>
      </p:sp>
      <p:sp>
        <p:nvSpPr>
          <p:cNvPr id="27655" name="Content Placeholder 2"/>
          <p:cNvSpPr>
            <a:spLocks noGrp="1"/>
          </p:cNvSpPr>
          <p:nvPr>
            <p:ph sz="quarter" idx="1"/>
          </p:nvPr>
        </p:nvSpPr>
        <p:spPr>
          <a:xfrm>
            <a:off x="457200" y="1371600"/>
            <a:ext cx="8229600" cy="4884738"/>
          </a:xfrm>
        </p:spPr>
        <p:txBody>
          <a:bodyPr>
            <a:normAutofit lnSpcReduction="10000"/>
          </a:bodyPr>
          <a:lstStyle/>
          <a:p>
            <a:r>
              <a:rPr lang="en-US" dirty="0" smtClean="0">
                <a:solidFill>
                  <a:schemeClr val="tx1"/>
                </a:solidFill>
              </a:rPr>
              <a:t>In most cases, a </a:t>
            </a:r>
            <a:r>
              <a:rPr lang="en-US" dirty="0" smtClean="0"/>
              <a:t>module</a:t>
            </a:r>
            <a:r>
              <a:rPr lang="en-US" dirty="0" smtClean="0">
                <a:solidFill>
                  <a:schemeClr val="tx1"/>
                </a:solidFill>
              </a:rPr>
              <a:t> contains </a:t>
            </a:r>
            <a:r>
              <a:rPr lang="en-US" dirty="0" smtClean="0"/>
              <a:t>functions that are related</a:t>
            </a:r>
            <a:r>
              <a:rPr lang="en-US" dirty="0" smtClean="0">
                <a:solidFill>
                  <a:schemeClr val="tx1"/>
                </a:solidFill>
              </a:rPr>
              <a:t>, e.g., math functions</a:t>
            </a:r>
            <a:r>
              <a:rPr lang="en-US" dirty="0" smtClean="0"/>
              <a:t>.</a:t>
            </a:r>
          </a:p>
          <a:p>
            <a:r>
              <a:rPr lang="en-US" dirty="0" smtClean="0">
                <a:solidFill>
                  <a:schemeClr val="tx1"/>
                </a:solidFill>
              </a:rPr>
              <a:t>A module consists of</a:t>
            </a:r>
          </a:p>
          <a:p>
            <a:pPr lvl="1"/>
            <a:r>
              <a:rPr lang="en-US" dirty="0" smtClean="0"/>
              <a:t>A header file (e.g., f1.h). This file contains: </a:t>
            </a:r>
          </a:p>
          <a:p>
            <a:pPr lvl="2"/>
            <a:r>
              <a:rPr lang="en-US" dirty="0" smtClean="0"/>
              <a:t>Constant definitions, e.g.:</a:t>
            </a:r>
          </a:p>
          <a:p>
            <a:pPr lvl="3"/>
            <a:r>
              <a:rPr lang="en-US" b="1" dirty="0" smtClean="0">
                <a:solidFill>
                  <a:srgbClr val="9933FF"/>
                </a:solidFill>
              </a:rPr>
              <a:t>#define   </a:t>
            </a:r>
            <a:r>
              <a:rPr lang="en-US" b="1" dirty="0" smtClean="0"/>
              <a:t>MAX  </a:t>
            </a:r>
            <a:r>
              <a:rPr lang="en-US" b="1" dirty="0" smtClean="0">
                <a:solidFill>
                  <a:srgbClr val="006600"/>
                </a:solidFill>
              </a:rPr>
              <a:t>100</a:t>
            </a:r>
          </a:p>
          <a:p>
            <a:pPr lvl="2"/>
            <a:r>
              <a:rPr lang="en-US" dirty="0" smtClean="0"/>
              <a:t>Function prototypes, e.g.:</a:t>
            </a:r>
          </a:p>
          <a:p>
            <a:pPr lvl="3"/>
            <a:r>
              <a:rPr lang="en-US" b="1" dirty="0" smtClean="0">
                <a:solidFill>
                  <a:srgbClr val="0000FF"/>
                </a:solidFill>
              </a:rPr>
              <a:t>double</a:t>
            </a:r>
            <a:r>
              <a:rPr lang="en-US" b="1" dirty="0" smtClean="0"/>
              <a:t> mean(</a:t>
            </a:r>
            <a:r>
              <a:rPr lang="en-US" b="1" dirty="0" smtClean="0">
                <a:solidFill>
                  <a:srgbClr val="0000FF"/>
                </a:solidFill>
              </a:rPr>
              <a:t>double</a:t>
            </a:r>
            <a:r>
              <a:rPr lang="en-US" b="1" dirty="0" smtClean="0"/>
              <a:t>, </a:t>
            </a:r>
            <a:r>
              <a:rPr lang="en-US" b="1" dirty="0" smtClean="0">
                <a:solidFill>
                  <a:srgbClr val="0000FF"/>
                </a:solidFill>
              </a:rPr>
              <a:t>double</a:t>
            </a:r>
            <a:r>
              <a:rPr lang="en-US" b="1" dirty="0" smtClean="0"/>
              <a:t>);</a:t>
            </a:r>
          </a:p>
          <a:p>
            <a:pPr lvl="3"/>
            <a:endParaRPr lang="en-US" dirty="0" smtClean="0"/>
          </a:p>
          <a:p>
            <a:pPr lvl="1"/>
            <a:r>
              <a:rPr lang="en-US" dirty="0" smtClean="0"/>
              <a:t>A source file (e.g., f1.c). This file contains:</a:t>
            </a:r>
          </a:p>
          <a:p>
            <a:pPr lvl="2"/>
            <a:r>
              <a:rPr lang="en-US" dirty="0" smtClean="0"/>
              <a:t>The functions that implement the function prototypes in the header file (e.g., the code for the function mean(…)).</a:t>
            </a:r>
          </a:p>
          <a:p>
            <a:pPr lvl="2"/>
            <a:r>
              <a:rPr lang="en-US" dirty="0" smtClean="0"/>
              <a:t>Other functions, variables, and constants that are only used within the module (i.e., they are module-local).</a:t>
            </a:r>
          </a:p>
        </p:txBody>
      </p:sp>
      <p:grpSp>
        <p:nvGrpSpPr>
          <p:cNvPr id="2" name="Group 9"/>
          <p:cNvGrpSpPr>
            <a:grpSpLocks/>
          </p:cNvGrpSpPr>
          <p:nvPr/>
        </p:nvGrpSpPr>
        <p:grpSpPr bwMode="auto">
          <a:xfrm>
            <a:off x="6607175" y="2873375"/>
            <a:ext cx="1730375" cy="893763"/>
            <a:chOff x="6607175" y="2873375"/>
            <a:chExt cx="1730375" cy="893763"/>
          </a:xfrm>
        </p:grpSpPr>
        <p:sp>
          <p:nvSpPr>
            <p:cNvPr id="32778" name="Flowchart: Punched Tape 77"/>
            <p:cNvSpPr>
              <a:spLocks noChangeArrowheads="1"/>
            </p:cNvSpPr>
            <p:nvPr/>
          </p:nvSpPr>
          <p:spPr bwMode="auto">
            <a:xfrm>
              <a:off x="7478713" y="3157538"/>
              <a:ext cx="858837" cy="609600"/>
            </a:xfrm>
            <a:prstGeom prst="flowChartPunchedTape">
              <a:avLst/>
            </a:prstGeom>
            <a:solidFill>
              <a:srgbClr val="00B050">
                <a:alpha val="25098"/>
              </a:srgbClr>
            </a:solidFill>
            <a:ln w="12700" cap="sq" algn="ctr">
              <a:solidFill>
                <a:schemeClr val="tx1"/>
              </a:solidFill>
              <a:round/>
              <a:headEnd type="none" w="sm" len="sm"/>
              <a:tailEnd type="none" w="sm" len="sm"/>
            </a:ln>
          </p:spPr>
          <p:txBody>
            <a:bodyPr/>
            <a:lstStyle/>
            <a:p>
              <a:r>
                <a:rPr lang="en-US"/>
                <a:t>f1.h</a:t>
              </a:r>
            </a:p>
          </p:txBody>
        </p:sp>
        <p:cxnSp>
          <p:nvCxnSpPr>
            <p:cNvPr id="32779" name="Straight Arrow Connector 48"/>
            <p:cNvCxnSpPr>
              <a:cxnSpLocks noChangeShapeType="1"/>
            </p:cNvCxnSpPr>
            <p:nvPr/>
          </p:nvCxnSpPr>
          <p:spPr bwMode="auto">
            <a:xfrm rot="10800000">
              <a:off x="6607175" y="2873375"/>
              <a:ext cx="609600" cy="512763"/>
            </a:xfrm>
            <a:prstGeom prst="straightConnector1">
              <a:avLst/>
            </a:prstGeom>
            <a:noFill/>
            <a:ln w="19050" cap="sq" algn="ctr">
              <a:solidFill>
                <a:schemeClr val="tx1"/>
              </a:solidFill>
              <a:round/>
              <a:headEnd type="none" w="sm" len="sm"/>
              <a:tailEnd type="arrow" w="med" len="med"/>
            </a:ln>
          </p:spPr>
        </p:cxnSp>
      </p:grpSp>
      <p:grpSp>
        <p:nvGrpSpPr>
          <p:cNvPr id="3" name="Group 10"/>
          <p:cNvGrpSpPr>
            <a:grpSpLocks/>
          </p:cNvGrpSpPr>
          <p:nvPr/>
        </p:nvGrpSpPr>
        <p:grpSpPr bwMode="auto">
          <a:xfrm>
            <a:off x="6553200" y="3570288"/>
            <a:ext cx="1687513" cy="1100137"/>
            <a:chOff x="6553200" y="3570288"/>
            <a:chExt cx="1687513" cy="1100137"/>
          </a:xfrm>
        </p:grpSpPr>
        <p:sp>
          <p:nvSpPr>
            <p:cNvPr id="32776" name="Flowchart: Punched Tape 6"/>
            <p:cNvSpPr>
              <a:spLocks noChangeArrowheads="1"/>
            </p:cNvSpPr>
            <p:nvPr/>
          </p:nvSpPr>
          <p:spPr bwMode="auto">
            <a:xfrm>
              <a:off x="7380288" y="3570288"/>
              <a:ext cx="860425" cy="609600"/>
            </a:xfrm>
            <a:prstGeom prst="flowChartPunchedTape">
              <a:avLst/>
            </a:prstGeom>
            <a:solidFill>
              <a:srgbClr val="00B050"/>
            </a:solidFill>
            <a:ln w="12700" cap="sq" algn="ctr">
              <a:solidFill>
                <a:schemeClr val="tx1"/>
              </a:solidFill>
              <a:round/>
              <a:headEnd type="none" w="sm" len="sm"/>
              <a:tailEnd type="none" w="sm" len="sm"/>
            </a:ln>
          </p:spPr>
          <p:txBody>
            <a:bodyPr/>
            <a:lstStyle/>
            <a:p>
              <a:r>
                <a:rPr lang="en-US"/>
                <a:t>f1.c</a:t>
              </a:r>
            </a:p>
          </p:txBody>
        </p:sp>
        <p:cxnSp>
          <p:nvCxnSpPr>
            <p:cNvPr id="32777" name="Straight Arrow Connector 50"/>
            <p:cNvCxnSpPr>
              <a:cxnSpLocks noChangeShapeType="1"/>
            </p:cNvCxnSpPr>
            <p:nvPr/>
          </p:nvCxnSpPr>
          <p:spPr bwMode="auto">
            <a:xfrm rot="5400000">
              <a:off x="6542088" y="3984625"/>
              <a:ext cx="696912" cy="674688"/>
            </a:xfrm>
            <a:prstGeom prst="straightConnector1">
              <a:avLst/>
            </a:prstGeom>
            <a:noFill/>
            <a:ln w="19050" cap="sq" algn="ctr">
              <a:solidFill>
                <a:schemeClr val="tx1"/>
              </a:solidFill>
              <a:round/>
              <a:headEnd type="none" w="sm" len="sm"/>
              <a:tailEnd type="arrow" w="med" len="med"/>
            </a:ln>
          </p:spPr>
        </p:cxnSp>
      </p:gr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dissolve">
                                      <p:cBhvr>
                                        <p:cTn id="1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Flowchart: Punched Tape 77"/>
          <p:cNvSpPr>
            <a:spLocks noChangeArrowheads="1"/>
          </p:cNvSpPr>
          <p:nvPr/>
        </p:nvSpPr>
        <p:spPr bwMode="auto">
          <a:xfrm>
            <a:off x="936625" y="2341563"/>
            <a:ext cx="858838" cy="609600"/>
          </a:xfrm>
          <a:prstGeom prst="flowChartPunchedTape">
            <a:avLst/>
          </a:prstGeom>
          <a:solidFill>
            <a:srgbClr val="00B050">
              <a:alpha val="25098"/>
            </a:srgbClr>
          </a:solidFill>
          <a:ln w="12700" cap="sq" algn="ctr">
            <a:solidFill>
              <a:schemeClr val="tx1"/>
            </a:solidFill>
            <a:round/>
            <a:headEnd type="none" w="sm" len="sm"/>
            <a:tailEnd type="none" w="sm" len="sm"/>
          </a:ln>
        </p:spPr>
        <p:txBody>
          <a:bodyPr/>
          <a:lstStyle/>
          <a:p>
            <a:r>
              <a:rPr lang="en-US"/>
              <a:t>f1.h</a:t>
            </a:r>
          </a:p>
        </p:txBody>
      </p:sp>
      <p:sp>
        <p:nvSpPr>
          <p:cNvPr id="33795" name="Flowchart: Punched Tape 78"/>
          <p:cNvSpPr>
            <a:spLocks noChangeArrowheads="1"/>
          </p:cNvSpPr>
          <p:nvPr/>
        </p:nvSpPr>
        <p:spPr bwMode="auto">
          <a:xfrm>
            <a:off x="936625" y="3397250"/>
            <a:ext cx="858838" cy="609600"/>
          </a:xfrm>
          <a:prstGeom prst="flowChartPunchedTape">
            <a:avLst/>
          </a:prstGeom>
          <a:solidFill>
            <a:srgbClr val="00B050">
              <a:alpha val="25098"/>
            </a:srgbClr>
          </a:solidFill>
          <a:ln w="12700" cap="sq" algn="ctr">
            <a:solidFill>
              <a:schemeClr val="tx1"/>
            </a:solidFill>
            <a:round/>
            <a:headEnd type="none" w="sm" len="sm"/>
            <a:tailEnd type="none" w="sm" len="sm"/>
          </a:ln>
        </p:spPr>
        <p:txBody>
          <a:bodyPr/>
          <a:lstStyle/>
          <a:p>
            <a:r>
              <a:rPr lang="en-US"/>
              <a:t>f2.h</a:t>
            </a:r>
          </a:p>
        </p:txBody>
      </p:sp>
      <p:sp>
        <p:nvSpPr>
          <p:cNvPr id="33796" name="Flowchart: Punched Tape 79"/>
          <p:cNvSpPr>
            <a:spLocks noChangeArrowheads="1"/>
          </p:cNvSpPr>
          <p:nvPr/>
        </p:nvSpPr>
        <p:spPr bwMode="auto">
          <a:xfrm>
            <a:off x="936625" y="4440238"/>
            <a:ext cx="858838" cy="609600"/>
          </a:xfrm>
          <a:prstGeom prst="flowChartPunchedTape">
            <a:avLst/>
          </a:prstGeom>
          <a:solidFill>
            <a:srgbClr val="00B050">
              <a:alpha val="25098"/>
            </a:srgbClr>
          </a:solidFill>
          <a:ln w="12700" cap="sq" algn="ctr">
            <a:solidFill>
              <a:schemeClr val="tx1"/>
            </a:solidFill>
            <a:round/>
            <a:headEnd type="none" w="sm" len="sm"/>
            <a:tailEnd type="none" w="sm" len="sm"/>
          </a:ln>
        </p:spPr>
        <p:txBody>
          <a:bodyPr/>
          <a:lstStyle/>
          <a:p>
            <a:r>
              <a:rPr lang="en-US"/>
              <a:t>f3.h</a:t>
            </a:r>
          </a:p>
        </p:txBody>
      </p:sp>
      <p:sp>
        <p:nvSpPr>
          <p:cNvPr id="33797" name="Title 1"/>
          <p:cNvSpPr>
            <a:spLocks noGrp="1"/>
          </p:cNvSpPr>
          <p:nvPr>
            <p:ph type="title"/>
          </p:nvPr>
        </p:nvSpPr>
        <p:spPr/>
        <p:txBody>
          <a:bodyPr/>
          <a:lstStyle/>
          <a:p>
            <a:r>
              <a:rPr lang="en-US" dirty="0" smtClean="0"/>
              <a:t>9.1 Separate Compilation, Case 1 </a:t>
            </a:r>
          </a:p>
        </p:txBody>
      </p:sp>
      <p:sp>
        <p:nvSpPr>
          <p:cNvPr id="5" name="Slide Number Placeholder 4"/>
          <p:cNvSpPr>
            <a:spLocks noGrp="1"/>
          </p:cNvSpPr>
          <p:nvPr>
            <p:ph type="sldNum" sz="quarter" idx="12"/>
          </p:nvPr>
        </p:nvSpPr>
        <p:spPr/>
        <p:txBody>
          <a:bodyPr/>
          <a:lstStyle/>
          <a:p>
            <a:pPr>
              <a:defRPr/>
            </a:pPr>
            <a:r>
              <a:rPr dirty="0" smtClean="0"/>
              <a:t>Week6 - </a:t>
            </a:r>
            <a:fld id="{77026730-2D3C-4B9E-AAD5-584496A981AB}" type="slidenum">
              <a:rPr smtClean="0"/>
              <a:pPr>
                <a:defRPr/>
              </a:pPr>
              <a:t>35</a:t>
            </a:fld>
            <a:endParaRPr dirty="0"/>
          </a:p>
        </p:txBody>
      </p:sp>
      <p:sp>
        <p:nvSpPr>
          <p:cNvPr id="33800" name="Rounded Rectangle 24"/>
          <p:cNvSpPr>
            <a:spLocks noChangeArrowheads="1"/>
          </p:cNvSpPr>
          <p:nvPr/>
        </p:nvSpPr>
        <p:spPr bwMode="auto">
          <a:xfrm>
            <a:off x="5486400" y="4195763"/>
            <a:ext cx="1350963" cy="463550"/>
          </a:xfrm>
          <a:prstGeom prst="roundRect">
            <a:avLst>
              <a:gd name="adj" fmla="val 16667"/>
            </a:avLst>
          </a:prstGeom>
          <a:solidFill>
            <a:schemeClr val="accent1"/>
          </a:solidFill>
          <a:ln w="12700" cap="sq" algn="ctr">
            <a:solidFill>
              <a:schemeClr val="tx1"/>
            </a:solidFill>
            <a:round/>
            <a:headEnd type="none" w="sm" len="sm"/>
            <a:tailEnd type="none" w="sm" len="sm"/>
          </a:ln>
        </p:spPr>
        <p:txBody>
          <a:bodyPr/>
          <a:lstStyle/>
          <a:p>
            <a:r>
              <a:rPr lang="en-SG"/>
              <a:t>gcc</a:t>
            </a:r>
          </a:p>
        </p:txBody>
      </p:sp>
      <p:sp>
        <p:nvSpPr>
          <p:cNvPr id="33801" name="Flowchart: Punched Tape 6"/>
          <p:cNvSpPr>
            <a:spLocks noChangeArrowheads="1"/>
          </p:cNvSpPr>
          <p:nvPr/>
        </p:nvSpPr>
        <p:spPr bwMode="auto">
          <a:xfrm>
            <a:off x="838200" y="2754313"/>
            <a:ext cx="860425" cy="609600"/>
          </a:xfrm>
          <a:prstGeom prst="flowChartPunchedTape">
            <a:avLst/>
          </a:prstGeom>
          <a:solidFill>
            <a:srgbClr val="00B050"/>
          </a:solidFill>
          <a:ln w="12700" cap="sq" algn="ctr">
            <a:solidFill>
              <a:schemeClr val="tx1"/>
            </a:solidFill>
            <a:round/>
            <a:headEnd type="none" w="sm" len="sm"/>
            <a:tailEnd type="none" w="sm" len="sm"/>
          </a:ln>
        </p:spPr>
        <p:txBody>
          <a:bodyPr/>
          <a:lstStyle/>
          <a:p>
            <a:r>
              <a:rPr lang="en-US"/>
              <a:t>f1.c</a:t>
            </a:r>
          </a:p>
        </p:txBody>
      </p:sp>
      <p:sp>
        <p:nvSpPr>
          <p:cNvPr id="33802" name="Flowchart: Punched Tape 7"/>
          <p:cNvSpPr>
            <a:spLocks noChangeArrowheads="1"/>
          </p:cNvSpPr>
          <p:nvPr/>
        </p:nvSpPr>
        <p:spPr bwMode="auto">
          <a:xfrm>
            <a:off x="838200" y="3810000"/>
            <a:ext cx="860425" cy="609600"/>
          </a:xfrm>
          <a:prstGeom prst="flowChartPunchedTape">
            <a:avLst/>
          </a:prstGeom>
          <a:solidFill>
            <a:srgbClr val="00B050"/>
          </a:solidFill>
          <a:ln w="12700" cap="sq" algn="ctr">
            <a:solidFill>
              <a:schemeClr val="tx1"/>
            </a:solidFill>
            <a:round/>
            <a:headEnd type="none" w="sm" len="sm"/>
            <a:tailEnd type="none" w="sm" len="sm"/>
          </a:ln>
        </p:spPr>
        <p:txBody>
          <a:bodyPr/>
          <a:lstStyle/>
          <a:p>
            <a:r>
              <a:rPr lang="en-US"/>
              <a:t>f2.c</a:t>
            </a:r>
          </a:p>
        </p:txBody>
      </p:sp>
      <p:sp>
        <p:nvSpPr>
          <p:cNvPr id="33803" name="Flowchart: Punched Tape 8"/>
          <p:cNvSpPr>
            <a:spLocks noChangeArrowheads="1"/>
          </p:cNvSpPr>
          <p:nvPr/>
        </p:nvSpPr>
        <p:spPr bwMode="auto">
          <a:xfrm>
            <a:off x="838200" y="4854575"/>
            <a:ext cx="860425" cy="609600"/>
          </a:xfrm>
          <a:prstGeom prst="flowChartPunchedTape">
            <a:avLst/>
          </a:prstGeom>
          <a:solidFill>
            <a:srgbClr val="00B050"/>
          </a:solidFill>
          <a:ln w="12700" cap="sq" algn="ctr">
            <a:solidFill>
              <a:schemeClr val="tx1"/>
            </a:solidFill>
            <a:round/>
            <a:headEnd type="none" w="sm" len="sm"/>
            <a:tailEnd type="none" w="sm" len="sm"/>
          </a:ln>
        </p:spPr>
        <p:txBody>
          <a:bodyPr/>
          <a:lstStyle/>
          <a:p>
            <a:r>
              <a:rPr lang="en-US"/>
              <a:t>f3.c</a:t>
            </a:r>
          </a:p>
        </p:txBody>
      </p:sp>
      <p:sp>
        <p:nvSpPr>
          <p:cNvPr id="33804" name="Flowchart: Punched Tape 16"/>
          <p:cNvSpPr>
            <a:spLocks noChangeArrowheads="1"/>
          </p:cNvSpPr>
          <p:nvPr/>
        </p:nvSpPr>
        <p:spPr bwMode="auto">
          <a:xfrm>
            <a:off x="838200" y="5584825"/>
            <a:ext cx="860425" cy="609600"/>
          </a:xfrm>
          <a:prstGeom prst="flowChartPunchedTape">
            <a:avLst/>
          </a:prstGeom>
          <a:solidFill>
            <a:srgbClr val="00B050"/>
          </a:solidFill>
          <a:ln w="12700" cap="sq" algn="ctr">
            <a:solidFill>
              <a:schemeClr val="tx1"/>
            </a:solidFill>
            <a:round/>
            <a:headEnd type="none" w="sm" len="sm"/>
            <a:tailEnd type="none" w="sm" len="sm"/>
          </a:ln>
        </p:spPr>
        <p:txBody>
          <a:bodyPr/>
          <a:lstStyle/>
          <a:p>
            <a:r>
              <a:rPr lang="en-US"/>
              <a:t>main.c</a:t>
            </a:r>
          </a:p>
        </p:txBody>
      </p:sp>
      <p:sp>
        <p:nvSpPr>
          <p:cNvPr id="33805" name="Flowchart: Punched Tape 20"/>
          <p:cNvSpPr>
            <a:spLocks noChangeArrowheads="1"/>
          </p:cNvSpPr>
          <p:nvPr/>
        </p:nvSpPr>
        <p:spPr bwMode="auto">
          <a:xfrm>
            <a:off x="7588250" y="4114800"/>
            <a:ext cx="869950" cy="609600"/>
          </a:xfrm>
          <a:prstGeom prst="flowChartPunchedTape">
            <a:avLst/>
          </a:prstGeom>
          <a:solidFill>
            <a:srgbClr val="FF0000"/>
          </a:solidFill>
          <a:ln w="12700" cap="sq" algn="ctr">
            <a:solidFill>
              <a:schemeClr val="tx1"/>
            </a:solidFill>
            <a:round/>
            <a:headEnd type="none" w="sm" len="sm"/>
            <a:tailEnd type="none" w="sm" len="sm"/>
          </a:ln>
        </p:spPr>
        <p:txBody>
          <a:bodyPr/>
          <a:lstStyle/>
          <a:p>
            <a:r>
              <a:rPr lang="en-US"/>
              <a:t>a.out</a:t>
            </a:r>
          </a:p>
        </p:txBody>
      </p:sp>
      <p:sp>
        <p:nvSpPr>
          <p:cNvPr id="33806" name="TextBox 21"/>
          <p:cNvSpPr txBox="1">
            <a:spLocks noChangeArrowheads="1"/>
          </p:cNvSpPr>
          <p:nvPr/>
        </p:nvSpPr>
        <p:spPr bwMode="auto">
          <a:xfrm>
            <a:off x="795338" y="1328738"/>
            <a:ext cx="914400" cy="922337"/>
          </a:xfrm>
          <a:prstGeom prst="rect">
            <a:avLst/>
          </a:prstGeom>
          <a:noFill/>
          <a:ln w="9525">
            <a:noFill/>
            <a:miter lim="800000"/>
            <a:headEnd/>
            <a:tailEnd/>
          </a:ln>
        </p:spPr>
        <p:txBody>
          <a:bodyPr wrap="none">
            <a:spAutoFit/>
          </a:bodyPr>
          <a:lstStyle/>
          <a:p>
            <a:pPr algn="ctr"/>
            <a:r>
              <a:rPr lang="en-US"/>
              <a:t>Source</a:t>
            </a:r>
            <a:br>
              <a:rPr lang="en-US"/>
            </a:br>
            <a:r>
              <a:rPr lang="en-US"/>
              <a:t>files</a:t>
            </a:r>
            <a:br>
              <a:rPr lang="en-US"/>
            </a:br>
            <a:r>
              <a:rPr lang="en-US"/>
              <a:t>.c &amp; .h</a:t>
            </a:r>
          </a:p>
        </p:txBody>
      </p:sp>
      <p:sp>
        <p:nvSpPr>
          <p:cNvPr id="33807" name="TextBox 25"/>
          <p:cNvSpPr txBox="1">
            <a:spLocks noChangeArrowheads="1"/>
          </p:cNvSpPr>
          <p:nvPr/>
        </p:nvSpPr>
        <p:spPr bwMode="auto">
          <a:xfrm>
            <a:off x="6977063" y="2220913"/>
            <a:ext cx="890587" cy="646112"/>
          </a:xfrm>
          <a:prstGeom prst="rect">
            <a:avLst/>
          </a:prstGeom>
          <a:noFill/>
          <a:ln w="9525">
            <a:noFill/>
            <a:miter lim="800000"/>
            <a:headEnd/>
            <a:tailEnd/>
          </a:ln>
        </p:spPr>
        <p:txBody>
          <a:bodyPr wrap="none">
            <a:spAutoFit/>
          </a:bodyPr>
          <a:lstStyle/>
          <a:p>
            <a:pPr algn="ctr"/>
            <a:r>
              <a:rPr lang="en-US"/>
              <a:t>Library</a:t>
            </a:r>
            <a:br>
              <a:rPr lang="en-US"/>
            </a:br>
            <a:r>
              <a:rPr lang="en-US"/>
              <a:t>file(s)</a:t>
            </a:r>
          </a:p>
        </p:txBody>
      </p:sp>
      <p:sp>
        <p:nvSpPr>
          <p:cNvPr id="33808" name="TextBox 26"/>
          <p:cNvSpPr txBox="1">
            <a:spLocks noChangeArrowheads="1"/>
          </p:cNvSpPr>
          <p:nvPr/>
        </p:nvSpPr>
        <p:spPr bwMode="auto">
          <a:xfrm>
            <a:off x="5475288" y="4941888"/>
            <a:ext cx="1403350" cy="646112"/>
          </a:xfrm>
          <a:prstGeom prst="rect">
            <a:avLst/>
          </a:prstGeom>
          <a:noFill/>
          <a:ln w="9525">
            <a:noFill/>
            <a:miter lim="800000"/>
            <a:headEnd/>
            <a:tailEnd/>
          </a:ln>
        </p:spPr>
        <p:txBody>
          <a:bodyPr wrap="none">
            <a:spAutoFit/>
          </a:bodyPr>
          <a:lstStyle/>
          <a:p>
            <a:r>
              <a:rPr lang="en-US"/>
              <a:t>Compilation</a:t>
            </a:r>
          </a:p>
          <a:p>
            <a:r>
              <a:rPr lang="en-US"/>
              <a:t>and Linking</a:t>
            </a:r>
          </a:p>
        </p:txBody>
      </p:sp>
      <p:cxnSp>
        <p:nvCxnSpPr>
          <p:cNvPr id="33809" name="Straight Arrow Connector 52"/>
          <p:cNvCxnSpPr>
            <a:cxnSpLocks noChangeShapeType="1"/>
            <a:stCxn id="33801" idx="3"/>
          </p:cNvCxnSpPr>
          <p:nvPr/>
        </p:nvCxnSpPr>
        <p:spPr bwMode="auto">
          <a:xfrm>
            <a:off x="1698625" y="3059113"/>
            <a:ext cx="3797300" cy="1362075"/>
          </a:xfrm>
          <a:prstGeom prst="straightConnector1">
            <a:avLst/>
          </a:prstGeom>
          <a:noFill/>
          <a:ln w="12700" cap="sq" algn="ctr">
            <a:solidFill>
              <a:schemeClr val="tx1"/>
            </a:solidFill>
            <a:round/>
            <a:headEnd type="none" w="sm" len="sm"/>
            <a:tailEnd type="arrow" w="med" len="med"/>
          </a:ln>
        </p:spPr>
      </p:cxnSp>
      <p:cxnSp>
        <p:nvCxnSpPr>
          <p:cNvPr id="33810" name="Straight Arrow Connector 54"/>
          <p:cNvCxnSpPr>
            <a:cxnSpLocks noChangeShapeType="1"/>
            <a:stCxn id="33802" idx="3"/>
          </p:cNvCxnSpPr>
          <p:nvPr/>
        </p:nvCxnSpPr>
        <p:spPr bwMode="auto">
          <a:xfrm>
            <a:off x="1698625" y="4114800"/>
            <a:ext cx="3797300" cy="306388"/>
          </a:xfrm>
          <a:prstGeom prst="straightConnector1">
            <a:avLst/>
          </a:prstGeom>
          <a:noFill/>
          <a:ln w="12700" cap="sq" algn="ctr">
            <a:solidFill>
              <a:schemeClr val="tx1"/>
            </a:solidFill>
            <a:round/>
            <a:headEnd type="none" w="sm" len="sm"/>
            <a:tailEnd type="arrow" w="med" len="med"/>
          </a:ln>
        </p:spPr>
      </p:cxnSp>
      <p:cxnSp>
        <p:nvCxnSpPr>
          <p:cNvPr id="33811" name="Straight Arrow Connector 56"/>
          <p:cNvCxnSpPr>
            <a:cxnSpLocks noChangeShapeType="1"/>
            <a:stCxn id="33803" idx="3"/>
          </p:cNvCxnSpPr>
          <p:nvPr/>
        </p:nvCxnSpPr>
        <p:spPr bwMode="auto">
          <a:xfrm flipV="1">
            <a:off x="1698625" y="4421188"/>
            <a:ext cx="3797300" cy="738187"/>
          </a:xfrm>
          <a:prstGeom prst="straightConnector1">
            <a:avLst/>
          </a:prstGeom>
          <a:noFill/>
          <a:ln w="12700" cap="sq" algn="ctr">
            <a:solidFill>
              <a:schemeClr val="tx1"/>
            </a:solidFill>
            <a:round/>
            <a:headEnd type="none" w="sm" len="sm"/>
            <a:tailEnd type="arrow" w="med" len="med"/>
          </a:ln>
        </p:spPr>
      </p:cxnSp>
      <p:cxnSp>
        <p:nvCxnSpPr>
          <p:cNvPr id="33812" name="Straight Arrow Connector 64"/>
          <p:cNvCxnSpPr>
            <a:cxnSpLocks noChangeShapeType="1"/>
            <a:stCxn id="33804" idx="3"/>
          </p:cNvCxnSpPr>
          <p:nvPr/>
        </p:nvCxnSpPr>
        <p:spPr bwMode="auto">
          <a:xfrm flipV="1">
            <a:off x="1698625" y="4421188"/>
            <a:ext cx="3797300" cy="1468437"/>
          </a:xfrm>
          <a:prstGeom prst="straightConnector1">
            <a:avLst/>
          </a:prstGeom>
          <a:noFill/>
          <a:ln w="12700" cap="sq" algn="ctr">
            <a:solidFill>
              <a:schemeClr val="tx1"/>
            </a:solidFill>
            <a:round/>
            <a:headEnd type="none" w="sm" len="sm"/>
            <a:tailEnd type="arrow" w="med" len="med"/>
          </a:ln>
        </p:spPr>
      </p:cxnSp>
      <p:cxnSp>
        <p:nvCxnSpPr>
          <p:cNvPr id="33813" name="Straight Arrow Connector 68"/>
          <p:cNvCxnSpPr>
            <a:cxnSpLocks noChangeShapeType="1"/>
            <a:endCxn id="33805" idx="1"/>
          </p:cNvCxnSpPr>
          <p:nvPr/>
        </p:nvCxnSpPr>
        <p:spPr bwMode="auto">
          <a:xfrm flipV="1">
            <a:off x="6846888" y="4419600"/>
            <a:ext cx="741362" cy="1588"/>
          </a:xfrm>
          <a:prstGeom prst="straightConnector1">
            <a:avLst/>
          </a:prstGeom>
          <a:noFill/>
          <a:ln w="12700" cap="sq" algn="ctr">
            <a:solidFill>
              <a:schemeClr val="tx1"/>
            </a:solidFill>
            <a:round/>
            <a:headEnd type="none" w="sm" len="sm"/>
            <a:tailEnd type="arrow" w="med" len="med"/>
          </a:ln>
        </p:spPr>
      </p:cxnSp>
      <p:sp>
        <p:nvSpPr>
          <p:cNvPr id="33814" name="TextBox 75"/>
          <p:cNvSpPr txBox="1">
            <a:spLocks noChangeArrowheads="1"/>
          </p:cNvSpPr>
          <p:nvPr/>
        </p:nvSpPr>
        <p:spPr bwMode="auto">
          <a:xfrm>
            <a:off x="7500938" y="4876800"/>
            <a:ext cx="1325562" cy="646113"/>
          </a:xfrm>
          <a:prstGeom prst="rect">
            <a:avLst/>
          </a:prstGeom>
          <a:noFill/>
          <a:ln w="9525">
            <a:noFill/>
            <a:miter lim="800000"/>
            <a:headEnd/>
            <a:tailEnd/>
          </a:ln>
        </p:spPr>
        <p:txBody>
          <a:bodyPr wrap="none">
            <a:spAutoFit/>
          </a:bodyPr>
          <a:lstStyle/>
          <a:p>
            <a:r>
              <a:rPr lang="en-US"/>
              <a:t>Executable</a:t>
            </a:r>
            <a:br>
              <a:rPr lang="en-US"/>
            </a:br>
            <a:r>
              <a:rPr lang="en-US"/>
              <a:t>file</a:t>
            </a:r>
          </a:p>
        </p:txBody>
      </p:sp>
      <p:sp>
        <p:nvSpPr>
          <p:cNvPr id="33815" name="Flowchart: Punched Tape 95"/>
          <p:cNvSpPr>
            <a:spLocks noChangeArrowheads="1"/>
          </p:cNvSpPr>
          <p:nvPr/>
        </p:nvSpPr>
        <p:spPr bwMode="auto">
          <a:xfrm>
            <a:off x="5813425" y="2209800"/>
            <a:ext cx="957263" cy="609600"/>
          </a:xfrm>
          <a:prstGeom prst="flowChartPunchedTape">
            <a:avLst/>
          </a:prstGeom>
          <a:solidFill>
            <a:srgbClr val="C00000">
              <a:alpha val="25098"/>
            </a:srgbClr>
          </a:solidFill>
          <a:ln w="12700" cap="sq" algn="ctr">
            <a:solidFill>
              <a:schemeClr val="tx1"/>
            </a:solidFill>
            <a:round/>
            <a:headEnd type="none" w="sm" len="sm"/>
            <a:tailEnd type="none" w="sm" len="sm"/>
          </a:ln>
        </p:spPr>
        <p:txBody>
          <a:bodyPr/>
          <a:lstStyle/>
          <a:p>
            <a:r>
              <a:rPr lang="en-US"/>
              <a:t>math.h</a:t>
            </a:r>
          </a:p>
        </p:txBody>
      </p:sp>
      <p:sp>
        <p:nvSpPr>
          <p:cNvPr id="33816" name="Flowchart: Punched Tape 15"/>
          <p:cNvSpPr>
            <a:spLocks noChangeArrowheads="1"/>
          </p:cNvSpPr>
          <p:nvPr/>
        </p:nvSpPr>
        <p:spPr bwMode="auto">
          <a:xfrm>
            <a:off x="5705475" y="2644775"/>
            <a:ext cx="923925" cy="609600"/>
          </a:xfrm>
          <a:prstGeom prst="flowChartPunchedTape">
            <a:avLst/>
          </a:prstGeom>
          <a:solidFill>
            <a:srgbClr val="C00000"/>
          </a:solidFill>
          <a:ln w="12700" cap="sq" algn="ctr">
            <a:solidFill>
              <a:schemeClr val="tx1"/>
            </a:solidFill>
            <a:round/>
            <a:headEnd type="none" w="sm" len="sm"/>
            <a:tailEnd type="none" w="sm" len="sm"/>
          </a:ln>
        </p:spPr>
        <p:txBody>
          <a:bodyPr/>
          <a:lstStyle/>
          <a:p>
            <a:r>
              <a:rPr lang="en-US"/>
              <a:t>libm.a</a:t>
            </a:r>
          </a:p>
        </p:txBody>
      </p:sp>
      <p:cxnSp>
        <p:nvCxnSpPr>
          <p:cNvPr id="33817" name="Straight Arrow Connector 73"/>
          <p:cNvCxnSpPr>
            <a:cxnSpLocks noChangeShapeType="1"/>
            <a:stCxn id="33816" idx="2"/>
          </p:cNvCxnSpPr>
          <p:nvPr/>
        </p:nvCxnSpPr>
        <p:spPr bwMode="auto">
          <a:xfrm rot="16200000" flipH="1">
            <a:off x="5674519" y="3686969"/>
            <a:ext cx="990600" cy="4762"/>
          </a:xfrm>
          <a:prstGeom prst="straightConnector1">
            <a:avLst/>
          </a:prstGeom>
          <a:noFill/>
          <a:ln w="12700" cap="sq" algn="ctr">
            <a:solidFill>
              <a:schemeClr val="tx1"/>
            </a:solidFill>
            <a:round/>
            <a:headEnd type="none" w="sm" len="sm"/>
            <a:tailEnd type="arrow" w="med" len="med"/>
          </a:ln>
        </p:spPr>
      </p:cxnSp>
      <p:sp>
        <p:nvSpPr>
          <p:cNvPr id="33818" name="TextBox 51"/>
          <p:cNvSpPr txBox="1">
            <a:spLocks noChangeArrowheads="1"/>
          </p:cNvSpPr>
          <p:nvPr/>
        </p:nvSpPr>
        <p:spPr bwMode="auto">
          <a:xfrm>
            <a:off x="2079625" y="1295400"/>
            <a:ext cx="6389688" cy="646113"/>
          </a:xfrm>
          <a:prstGeom prst="rect">
            <a:avLst/>
          </a:prstGeom>
          <a:solidFill>
            <a:srgbClr val="FFFF00"/>
          </a:solidFill>
          <a:ln w="9525">
            <a:noFill/>
            <a:miter lim="800000"/>
            <a:headEnd/>
            <a:tailEnd/>
          </a:ln>
        </p:spPr>
        <p:txBody>
          <a:bodyPr>
            <a:spAutoFit/>
          </a:bodyPr>
          <a:lstStyle/>
          <a:p>
            <a:r>
              <a:rPr lang="en-US" b="1"/>
              <a:t>Case 1:</a:t>
            </a:r>
          </a:p>
          <a:p>
            <a:r>
              <a:rPr lang="en-US"/>
              <a:t>All the source files are compiled and linked in one step.</a:t>
            </a:r>
          </a:p>
        </p:txBody>
      </p:sp>
      <p:sp>
        <p:nvSpPr>
          <p:cNvPr id="33819" name="TextBox 53"/>
          <p:cNvSpPr txBox="1">
            <a:spLocks noChangeArrowheads="1"/>
          </p:cNvSpPr>
          <p:nvPr/>
        </p:nvSpPr>
        <p:spPr bwMode="auto">
          <a:xfrm>
            <a:off x="6215063" y="3462338"/>
            <a:ext cx="506412" cy="368300"/>
          </a:xfrm>
          <a:prstGeom prst="rect">
            <a:avLst/>
          </a:prstGeom>
          <a:noFill/>
          <a:ln w="9525">
            <a:noFill/>
            <a:miter lim="800000"/>
            <a:headEnd/>
            <a:tailEnd/>
          </a:ln>
        </p:spPr>
        <p:txBody>
          <a:bodyPr wrap="none">
            <a:spAutoFit/>
          </a:bodyPr>
          <a:lstStyle/>
          <a:p>
            <a:r>
              <a:rPr lang="en-US"/>
              <a:t>-lm</a:t>
            </a:r>
          </a:p>
        </p:txBody>
      </p:sp>
    </p:spTree>
  </p:cSld>
  <p:clrMapOvr>
    <a:masterClrMapping/>
  </p:clrMapOvr>
  <p:transition>
    <p:fade/>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p:txBody>
          <a:bodyPr/>
          <a:lstStyle/>
          <a:p>
            <a:r>
              <a:rPr lang="en-US" dirty="0" smtClean="0"/>
              <a:t>9.1 Demo #2: Separate Module</a:t>
            </a:r>
          </a:p>
        </p:txBody>
      </p:sp>
      <p:sp>
        <p:nvSpPr>
          <p:cNvPr id="5" name="Slide Number Placeholder 4"/>
          <p:cNvSpPr>
            <a:spLocks noGrp="1"/>
          </p:cNvSpPr>
          <p:nvPr>
            <p:ph type="sldNum" sz="quarter" idx="12"/>
          </p:nvPr>
        </p:nvSpPr>
        <p:spPr/>
        <p:txBody>
          <a:bodyPr/>
          <a:lstStyle/>
          <a:p>
            <a:pPr>
              <a:defRPr/>
            </a:pPr>
            <a:r>
              <a:t>Week6 - </a:t>
            </a:r>
            <a:fld id="{3C627433-78DC-48DF-8E3A-A816650E3749}" type="slidenum">
              <a:rPr/>
              <a:pPr>
                <a:defRPr/>
              </a:pPr>
              <a:t>36</a:t>
            </a:fld>
            <a:endParaRPr/>
          </a:p>
        </p:txBody>
      </p:sp>
      <p:sp>
        <p:nvSpPr>
          <p:cNvPr id="29699" name="Content Placeholder 2"/>
          <p:cNvSpPr>
            <a:spLocks noGrp="1"/>
          </p:cNvSpPr>
          <p:nvPr>
            <p:ph sz="quarter" idx="1"/>
          </p:nvPr>
        </p:nvSpPr>
        <p:spPr>
          <a:xfrm>
            <a:off x="457200" y="1371599"/>
            <a:ext cx="8229600" cy="4979773"/>
          </a:xfrm>
        </p:spPr>
        <p:txBody>
          <a:bodyPr/>
          <a:lstStyle/>
          <a:p>
            <a:r>
              <a:rPr lang="en-US" dirty="0" smtClean="0">
                <a:solidFill>
                  <a:schemeClr val="tx1"/>
                </a:solidFill>
              </a:rPr>
              <a:t>Let’s re-visit our Freezer example. We will create a module that contains a function to calculate the freezer temperature:</a:t>
            </a:r>
          </a:p>
          <a:p>
            <a:pPr lvl="1"/>
            <a:r>
              <a:rPr lang="en-US" dirty="0" smtClean="0"/>
              <a:t>Module header file:</a:t>
            </a:r>
            <a:endParaRPr lang="en-US" dirty="0" smtClean="0">
              <a:solidFill>
                <a:srgbClr val="C00000"/>
              </a:solidFill>
            </a:endParaRPr>
          </a:p>
          <a:p>
            <a:pPr lvl="2"/>
            <a:endParaRPr lang="en-US" dirty="0" smtClean="0"/>
          </a:p>
          <a:p>
            <a:pPr lvl="1"/>
            <a:endParaRPr lang="en-US" dirty="0" smtClean="0"/>
          </a:p>
          <a:p>
            <a:pPr lvl="1"/>
            <a:endParaRPr lang="en-US" dirty="0" smtClean="0"/>
          </a:p>
          <a:p>
            <a:pPr lvl="1"/>
            <a:r>
              <a:rPr lang="en-US" dirty="0" smtClean="0"/>
              <a:t>Module source file:</a:t>
            </a:r>
            <a:endParaRPr lang="en-US" dirty="0" smtClean="0">
              <a:solidFill>
                <a:srgbClr val="C00000"/>
              </a:solidFill>
            </a:endParaRPr>
          </a:p>
        </p:txBody>
      </p:sp>
      <p:grpSp>
        <p:nvGrpSpPr>
          <p:cNvPr id="11" name="Group 10"/>
          <p:cNvGrpSpPr/>
          <p:nvPr/>
        </p:nvGrpSpPr>
        <p:grpSpPr>
          <a:xfrm>
            <a:off x="1098550" y="4311691"/>
            <a:ext cx="7195291" cy="1778197"/>
            <a:chOff x="1098550" y="4311691"/>
            <a:chExt cx="7195291" cy="1778197"/>
          </a:xfrm>
        </p:grpSpPr>
        <p:sp>
          <p:nvSpPr>
            <p:cNvPr id="7" name="TextBox 6"/>
            <p:cNvSpPr txBox="1"/>
            <p:nvPr/>
          </p:nvSpPr>
          <p:spPr>
            <a:xfrm>
              <a:off x="1098550" y="4489450"/>
              <a:ext cx="7015163" cy="1600438"/>
            </a:xfrm>
            <a:prstGeom prst="rect">
              <a:avLst/>
            </a:prstGeom>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a:spAutoFit/>
            </a:bodyPr>
            <a:lstStyle/>
            <a:p>
              <a:pPr>
                <a:defRPr/>
              </a:pPr>
              <a:r>
                <a:rPr lang="en-US" sz="1400" b="1" dirty="0">
                  <a:solidFill>
                    <a:srgbClr val="7030A0"/>
                  </a:solidFill>
                  <a:latin typeface="Courier New" pitchFamily="49" charset="0"/>
                  <a:cs typeface="Courier New" pitchFamily="49" charset="0"/>
                </a:rPr>
                <a:t>#include </a:t>
              </a:r>
              <a:r>
                <a:rPr lang="en-US" sz="1400" b="1" dirty="0">
                  <a:solidFill>
                    <a:srgbClr val="006600"/>
                  </a:solidFill>
                  <a:latin typeface="Courier New" pitchFamily="49" charset="0"/>
                  <a:cs typeface="Courier New" pitchFamily="49" charset="0"/>
                </a:rPr>
                <a:t>&lt;</a:t>
              </a:r>
              <a:r>
                <a:rPr lang="en-US" sz="1400" b="1" dirty="0" err="1">
                  <a:solidFill>
                    <a:srgbClr val="006600"/>
                  </a:solidFill>
                  <a:latin typeface="Courier New" pitchFamily="49" charset="0"/>
                  <a:cs typeface="Courier New" pitchFamily="49" charset="0"/>
                </a:rPr>
                <a:t>math.h</a:t>
              </a:r>
              <a:r>
                <a:rPr lang="en-US" sz="1400" b="1" dirty="0">
                  <a:solidFill>
                    <a:srgbClr val="006600"/>
                  </a:solidFill>
                  <a:latin typeface="Courier New" pitchFamily="49" charset="0"/>
                  <a:cs typeface="Courier New" pitchFamily="49" charset="0"/>
                </a:rPr>
                <a:t>&gt;</a:t>
              </a:r>
            </a:p>
            <a:p>
              <a:pPr>
                <a:defRPr/>
              </a:pPr>
              <a:r>
                <a:rPr lang="en-US" sz="1400" b="1" dirty="0">
                  <a:latin typeface="Courier New" pitchFamily="49" charset="0"/>
                  <a:cs typeface="Courier New" pitchFamily="49" charset="0"/>
                </a:rPr>
                <a:t>  </a:t>
              </a:r>
            </a:p>
            <a:p>
              <a:pPr>
                <a:defRPr/>
              </a:pPr>
              <a:r>
                <a:rPr lang="en-US" sz="1400" b="1" dirty="0">
                  <a:solidFill>
                    <a:srgbClr val="C00000"/>
                  </a:solidFill>
                  <a:latin typeface="Courier New" pitchFamily="49" charset="0"/>
                  <a:cs typeface="Courier New" pitchFamily="49" charset="0"/>
                </a:rPr>
                <a:t>// Compute new temperature in freezer</a:t>
              </a:r>
            </a:p>
            <a:p>
              <a:pPr>
                <a:defRPr/>
              </a:pPr>
              <a:r>
                <a:rPr lang="en-US" sz="1400" b="1" dirty="0">
                  <a:solidFill>
                    <a:srgbClr val="0000FF"/>
                  </a:solidFill>
                  <a:latin typeface="Courier New" pitchFamily="49" charset="0"/>
                  <a:cs typeface="Courier New" pitchFamily="49" charset="0"/>
                </a:rPr>
                <a:t>float</a:t>
              </a:r>
              <a:r>
                <a:rPr lang="en-US" sz="1400" b="1" dirty="0">
                  <a:latin typeface="Courier New" pitchFamily="49" charset="0"/>
                  <a:cs typeface="Courier New" pitchFamily="49" charset="0"/>
                </a:rPr>
                <a:t> </a:t>
              </a:r>
              <a:r>
                <a:rPr lang="en-US" sz="1400" b="1" dirty="0" err="1" smtClean="0">
                  <a:latin typeface="Courier New" pitchFamily="49" charset="0"/>
                  <a:cs typeface="Courier New" pitchFamily="49" charset="0"/>
                </a:rPr>
                <a:t>calc_temperature</a:t>
              </a:r>
              <a:r>
                <a:rPr lang="en-US" sz="1400" b="1" dirty="0" smtClean="0">
                  <a:latin typeface="Courier New" pitchFamily="49" charset="0"/>
                  <a:cs typeface="Courier New" pitchFamily="49" charset="0"/>
                </a:rPr>
                <a:t>(</a:t>
              </a:r>
              <a:r>
                <a:rPr lang="en-US" sz="1400" b="1" dirty="0" smtClean="0">
                  <a:solidFill>
                    <a:srgbClr val="0000FF"/>
                  </a:solidFill>
                  <a:latin typeface="Courier New" pitchFamily="49" charset="0"/>
                  <a:cs typeface="Courier New" pitchFamily="49" charset="0"/>
                </a:rPr>
                <a:t>float</a:t>
              </a:r>
              <a:r>
                <a:rPr lang="en-US" sz="1400" b="1" dirty="0" smtClean="0">
                  <a:latin typeface="Courier New" pitchFamily="49" charset="0"/>
                  <a:cs typeface="Courier New" pitchFamily="49" charset="0"/>
                </a:rPr>
                <a:t> </a:t>
              </a:r>
              <a:r>
                <a:rPr lang="en-US" sz="1400" b="1" dirty="0" err="1">
                  <a:latin typeface="Courier New" pitchFamily="49" charset="0"/>
                  <a:cs typeface="Courier New" pitchFamily="49" charset="0"/>
                </a:rPr>
                <a:t>hours_float</a:t>
              </a:r>
              <a:r>
                <a:rPr lang="en-US" sz="1400" b="1" dirty="0" smtClean="0">
                  <a:latin typeface="Courier New" pitchFamily="49" charset="0"/>
                  <a:cs typeface="Courier New" pitchFamily="49" charset="0"/>
                </a:rPr>
                <a:t>) {</a:t>
              </a:r>
              <a:endParaRPr lang="en-US" sz="1400" b="1" dirty="0">
                <a:latin typeface="Courier New" pitchFamily="49" charset="0"/>
                <a:cs typeface="Courier New" pitchFamily="49" charset="0"/>
              </a:endParaRPr>
            </a:p>
            <a:p>
              <a:pPr>
                <a:defRPr/>
              </a:pPr>
              <a:r>
                <a:rPr lang="en-US" sz="1400" b="1" dirty="0">
                  <a:latin typeface="Courier New" pitchFamily="49" charset="0"/>
                  <a:cs typeface="Courier New" pitchFamily="49" charset="0"/>
                </a:rPr>
                <a:t>     </a:t>
              </a:r>
              <a:r>
                <a:rPr lang="en-US" sz="1400" b="1" dirty="0">
                  <a:solidFill>
                    <a:srgbClr val="0000FF"/>
                  </a:solidFill>
                  <a:latin typeface="Courier New" pitchFamily="49" charset="0"/>
                  <a:cs typeface="Courier New" pitchFamily="49" charset="0"/>
                </a:rPr>
                <a:t>return</a:t>
              </a:r>
              <a:r>
                <a:rPr lang="en-US" sz="1400" b="1" dirty="0">
                  <a:latin typeface="Courier New" pitchFamily="49" charset="0"/>
                  <a:cs typeface="Courier New" pitchFamily="49" charset="0"/>
                </a:rPr>
                <a:t> ((</a:t>
              </a:r>
              <a:r>
                <a:rPr lang="en-US" sz="1400" b="1" dirty="0">
                  <a:solidFill>
                    <a:srgbClr val="006600"/>
                  </a:solidFill>
                  <a:latin typeface="Courier New" pitchFamily="49" charset="0"/>
                  <a:cs typeface="Courier New" pitchFamily="49" charset="0"/>
                </a:rPr>
                <a:t>4.0</a:t>
              </a:r>
              <a:r>
                <a:rPr lang="en-US" sz="1400" b="1" dirty="0">
                  <a:latin typeface="Courier New" pitchFamily="49" charset="0"/>
                  <a:cs typeface="Courier New" pitchFamily="49" charset="0"/>
                </a:rPr>
                <a:t> * </a:t>
              </a:r>
              <a:r>
                <a:rPr lang="en-US" sz="1400" b="1" dirty="0" err="1">
                  <a:latin typeface="Courier New" pitchFamily="49" charset="0"/>
                  <a:cs typeface="Courier New" pitchFamily="49" charset="0"/>
                </a:rPr>
                <a:t>pow</a:t>
              </a:r>
              <a:r>
                <a:rPr lang="en-US" sz="1400" b="1" dirty="0">
                  <a:latin typeface="Courier New" pitchFamily="49" charset="0"/>
                  <a:cs typeface="Courier New" pitchFamily="49" charset="0"/>
                </a:rPr>
                <a:t>(</a:t>
              </a:r>
              <a:r>
                <a:rPr lang="en-US" sz="1400" b="1" dirty="0" err="1">
                  <a:latin typeface="Courier New" pitchFamily="49" charset="0"/>
                  <a:cs typeface="Courier New" pitchFamily="49" charset="0"/>
                </a:rPr>
                <a:t>hours_float</a:t>
              </a:r>
              <a:r>
                <a:rPr lang="en-US" sz="1400" b="1" dirty="0">
                  <a:latin typeface="Courier New" pitchFamily="49" charset="0"/>
                  <a:cs typeface="Courier New" pitchFamily="49" charset="0"/>
                </a:rPr>
                <a:t>, </a:t>
              </a:r>
              <a:r>
                <a:rPr lang="en-US" sz="1400" b="1" dirty="0">
                  <a:solidFill>
                    <a:srgbClr val="006600"/>
                  </a:solidFill>
                  <a:latin typeface="Courier New" pitchFamily="49" charset="0"/>
                  <a:cs typeface="Courier New" pitchFamily="49" charset="0"/>
                </a:rPr>
                <a:t>10.0</a:t>
              </a:r>
              <a:r>
                <a:rPr lang="en-US" sz="1400" b="1" dirty="0">
                  <a:latin typeface="Courier New" pitchFamily="49" charset="0"/>
                  <a:cs typeface="Courier New" pitchFamily="49" charset="0"/>
                </a:rPr>
                <a:t>))/(</a:t>
              </a:r>
              <a:r>
                <a:rPr lang="en-US" sz="1400" b="1" dirty="0" err="1">
                  <a:latin typeface="Courier New" pitchFamily="49" charset="0"/>
                  <a:cs typeface="Courier New" pitchFamily="49" charset="0"/>
                </a:rPr>
                <a:t>pow</a:t>
              </a:r>
              <a:r>
                <a:rPr lang="en-US" sz="1400" b="1" dirty="0">
                  <a:latin typeface="Courier New" pitchFamily="49" charset="0"/>
                  <a:cs typeface="Courier New" pitchFamily="49" charset="0"/>
                </a:rPr>
                <a:t>(</a:t>
              </a:r>
              <a:r>
                <a:rPr lang="en-US" sz="1400" b="1" dirty="0" err="1">
                  <a:latin typeface="Courier New" pitchFamily="49" charset="0"/>
                  <a:cs typeface="Courier New" pitchFamily="49" charset="0"/>
                </a:rPr>
                <a:t>hours_float</a:t>
              </a:r>
              <a:r>
                <a:rPr lang="en-US" sz="1400" b="1" dirty="0">
                  <a:latin typeface="Courier New" pitchFamily="49" charset="0"/>
                  <a:cs typeface="Courier New" pitchFamily="49" charset="0"/>
                </a:rPr>
                <a:t>,</a:t>
              </a:r>
              <a:br>
                <a:rPr lang="en-US" sz="1400" b="1" dirty="0">
                  <a:latin typeface="Courier New" pitchFamily="49" charset="0"/>
                  <a:cs typeface="Courier New" pitchFamily="49" charset="0"/>
                </a:rPr>
              </a:br>
              <a:r>
                <a:rPr lang="en-US" sz="1400" b="1" dirty="0">
                  <a:latin typeface="Courier New" pitchFamily="49" charset="0"/>
                  <a:cs typeface="Courier New" pitchFamily="49" charset="0"/>
                </a:rPr>
                <a:t>              </a:t>
              </a:r>
              <a:r>
                <a:rPr lang="en-US" sz="1400" b="1" dirty="0">
                  <a:solidFill>
                    <a:srgbClr val="006600"/>
                  </a:solidFill>
                  <a:latin typeface="Courier New" pitchFamily="49" charset="0"/>
                  <a:cs typeface="Courier New" pitchFamily="49" charset="0"/>
                </a:rPr>
                <a:t>9.0</a:t>
              </a:r>
              <a:r>
                <a:rPr lang="en-US" sz="1400" b="1" dirty="0">
                  <a:latin typeface="Courier New" pitchFamily="49" charset="0"/>
                  <a:cs typeface="Courier New" pitchFamily="49" charset="0"/>
                </a:rPr>
                <a:t>) + </a:t>
              </a:r>
              <a:r>
                <a:rPr lang="en-US" sz="1400" b="1" dirty="0">
                  <a:solidFill>
                    <a:srgbClr val="006600"/>
                  </a:solidFill>
                  <a:latin typeface="Courier New" pitchFamily="49" charset="0"/>
                  <a:cs typeface="Courier New" pitchFamily="49" charset="0"/>
                </a:rPr>
                <a:t>2.0</a:t>
              </a:r>
              <a:r>
                <a:rPr lang="en-US" sz="1400" b="1" dirty="0">
                  <a:latin typeface="Courier New" pitchFamily="49" charset="0"/>
                  <a:cs typeface="Courier New" pitchFamily="49" charset="0"/>
                </a:rPr>
                <a:t>)) - </a:t>
              </a:r>
              <a:r>
                <a:rPr lang="en-US" sz="1400" b="1" dirty="0">
                  <a:solidFill>
                    <a:srgbClr val="006600"/>
                  </a:solidFill>
                  <a:latin typeface="Courier New" pitchFamily="49" charset="0"/>
                  <a:cs typeface="Courier New" pitchFamily="49" charset="0"/>
                </a:rPr>
                <a:t>20.0</a:t>
              </a:r>
              <a:r>
                <a:rPr lang="en-US" sz="1400" b="1" dirty="0">
                  <a:latin typeface="Courier New" pitchFamily="49" charset="0"/>
                  <a:cs typeface="Courier New" pitchFamily="49" charset="0"/>
                </a:rPr>
                <a:t>;</a:t>
              </a:r>
            </a:p>
            <a:p>
              <a:pPr>
                <a:defRPr/>
              </a:pPr>
              <a:r>
                <a:rPr lang="en-US" sz="1400" b="1" dirty="0">
                  <a:latin typeface="Courier New" pitchFamily="49" charset="0"/>
                  <a:cs typeface="Courier New" pitchFamily="49" charset="0"/>
                </a:rPr>
                <a:t>}</a:t>
              </a:r>
            </a:p>
          </p:txBody>
        </p:sp>
        <p:sp>
          <p:nvSpPr>
            <p:cNvPr id="8" name="TextBox 7"/>
            <p:cNvSpPr txBox="1">
              <a:spLocks noChangeArrowheads="1"/>
            </p:cNvSpPr>
            <p:nvPr/>
          </p:nvSpPr>
          <p:spPr bwMode="auto">
            <a:xfrm>
              <a:off x="5728010" y="4311691"/>
              <a:ext cx="2565831" cy="369332"/>
            </a:xfrm>
            <a:prstGeom prst="rect">
              <a:avLst/>
            </a:prstGeom>
            <a:solidFill>
              <a:srgbClr val="FFFF99"/>
            </a:solidFill>
            <a:ln w="9525">
              <a:solidFill>
                <a:schemeClr val="tx1"/>
              </a:solidFill>
              <a:miter lim="800000"/>
              <a:headEnd/>
              <a:tailEnd/>
            </a:ln>
          </p:spPr>
          <p:txBody>
            <a:bodyPr wrap="none">
              <a:spAutoFit/>
            </a:bodyPr>
            <a:lstStyle/>
            <a:p>
              <a:r>
                <a:rPr lang="en-US" dirty="0" smtClean="0"/>
                <a:t>Week6_FreezerTemp.c</a:t>
              </a:r>
              <a:endParaRPr lang="en-US" dirty="0"/>
            </a:p>
          </p:txBody>
        </p:sp>
      </p:grpSp>
      <p:grpSp>
        <p:nvGrpSpPr>
          <p:cNvPr id="10" name="Group 9"/>
          <p:cNvGrpSpPr/>
          <p:nvPr/>
        </p:nvGrpSpPr>
        <p:grpSpPr>
          <a:xfrm>
            <a:off x="1087438" y="2858315"/>
            <a:ext cx="7224988" cy="724673"/>
            <a:chOff x="1087438" y="2858315"/>
            <a:chExt cx="7224988" cy="724673"/>
          </a:xfrm>
        </p:grpSpPr>
        <p:sp>
          <p:nvSpPr>
            <p:cNvPr id="6" name="TextBox 5"/>
            <p:cNvSpPr txBox="1"/>
            <p:nvPr/>
          </p:nvSpPr>
          <p:spPr>
            <a:xfrm>
              <a:off x="1087438" y="3059113"/>
              <a:ext cx="7016750" cy="523875"/>
            </a:xfrm>
            <a:prstGeom prst="rect">
              <a:avLst/>
            </a:prstGeom>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a:spAutoFit/>
            </a:bodyPr>
            <a:lstStyle/>
            <a:p>
              <a:pPr>
                <a:defRPr/>
              </a:pPr>
              <a:r>
                <a:rPr lang="en-US" sz="1400" b="1" dirty="0">
                  <a:solidFill>
                    <a:srgbClr val="C00000"/>
                  </a:solidFill>
                  <a:latin typeface="Courier New" pitchFamily="49" charset="0"/>
                  <a:cs typeface="Courier New" pitchFamily="49" charset="0"/>
                </a:rPr>
                <a:t>// Compute new temperature in freezer</a:t>
              </a:r>
            </a:p>
            <a:p>
              <a:pPr>
                <a:defRPr/>
              </a:pPr>
              <a:r>
                <a:rPr lang="en-US" sz="1400" b="1" dirty="0">
                  <a:solidFill>
                    <a:srgbClr val="0000FF"/>
                  </a:solidFill>
                  <a:latin typeface="Courier New" pitchFamily="49" charset="0"/>
                  <a:cs typeface="Courier New" pitchFamily="49" charset="0"/>
                </a:rPr>
                <a:t>float</a:t>
              </a:r>
              <a:r>
                <a:rPr lang="en-US" sz="1400" b="1" dirty="0">
                  <a:latin typeface="Courier New" pitchFamily="49" charset="0"/>
                  <a:cs typeface="Courier New" pitchFamily="49" charset="0"/>
                </a:rPr>
                <a:t> </a:t>
              </a:r>
              <a:r>
                <a:rPr lang="en-US" sz="1400" b="1" dirty="0" err="1" smtClean="0">
                  <a:latin typeface="Courier New" pitchFamily="49" charset="0"/>
                  <a:cs typeface="Courier New" pitchFamily="49" charset="0"/>
                </a:rPr>
                <a:t>calc_temperature</a:t>
              </a:r>
              <a:r>
                <a:rPr lang="en-US" sz="1400" b="1" dirty="0" smtClean="0">
                  <a:latin typeface="Courier New" pitchFamily="49" charset="0"/>
                  <a:cs typeface="Courier New" pitchFamily="49" charset="0"/>
                </a:rPr>
                <a:t>(</a:t>
              </a:r>
              <a:r>
                <a:rPr lang="en-US" sz="1400" b="1" dirty="0" smtClean="0">
                  <a:solidFill>
                    <a:srgbClr val="0000FF"/>
                  </a:solidFill>
                  <a:latin typeface="Courier New" pitchFamily="49" charset="0"/>
                  <a:cs typeface="Courier New" pitchFamily="49" charset="0"/>
                </a:rPr>
                <a:t>float</a:t>
              </a:r>
              <a:r>
                <a:rPr lang="en-US" sz="1400" b="1" dirty="0" smtClean="0">
                  <a:latin typeface="Courier New" pitchFamily="49" charset="0"/>
                  <a:cs typeface="Courier New" pitchFamily="49" charset="0"/>
                </a:rPr>
                <a:t> </a:t>
              </a:r>
              <a:r>
                <a:rPr lang="en-US" sz="1400" b="1" dirty="0" err="1">
                  <a:latin typeface="Courier New" pitchFamily="49" charset="0"/>
                  <a:cs typeface="Courier New" pitchFamily="49" charset="0"/>
                </a:rPr>
                <a:t>hours_float</a:t>
              </a:r>
              <a:r>
                <a:rPr lang="en-US" sz="1400" b="1" dirty="0">
                  <a:latin typeface="Courier New" pitchFamily="49" charset="0"/>
                  <a:cs typeface="Courier New" pitchFamily="49" charset="0"/>
                </a:rPr>
                <a:t>);</a:t>
              </a:r>
            </a:p>
          </p:txBody>
        </p:sp>
        <p:sp>
          <p:nvSpPr>
            <p:cNvPr id="9" name="TextBox 8"/>
            <p:cNvSpPr txBox="1">
              <a:spLocks noChangeArrowheads="1"/>
            </p:cNvSpPr>
            <p:nvPr/>
          </p:nvSpPr>
          <p:spPr bwMode="auto">
            <a:xfrm>
              <a:off x="5746595" y="2858315"/>
              <a:ext cx="2565831" cy="369332"/>
            </a:xfrm>
            <a:prstGeom prst="rect">
              <a:avLst/>
            </a:prstGeom>
            <a:solidFill>
              <a:srgbClr val="FFFF99"/>
            </a:solidFill>
            <a:ln w="9525">
              <a:solidFill>
                <a:schemeClr val="tx1"/>
              </a:solidFill>
              <a:miter lim="800000"/>
              <a:headEnd/>
              <a:tailEnd/>
            </a:ln>
          </p:spPr>
          <p:txBody>
            <a:bodyPr wrap="none">
              <a:spAutoFit/>
            </a:bodyPr>
            <a:lstStyle/>
            <a:p>
              <a:r>
                <a:rPr lang="en-US" dirty="0" smtClean="0"/>
                <a:t>Week6_FreezerTemp.h</a:t>
              </a:r>
              <a:endParaRPr lang="en-US" dirty="0"/>
            </a:p>
          </p:txBody>
        </p:sp>
      </p:grpSp>
    </p:spTree>
  </p:cSld>
  <p:clrMapOvr>
    <a:masterClrMapping/>
  </p:clrMapOvr>
  <p:transition>
    <p:fade/>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p:txBody>
          <a:bodyPr/>
          <a:lstStyle/>
          <a:p>
            <a:r>
              <a:rPr lang="en-US" dirty="0" smtClean="0"/>
              <a:t>9.1 Demo #2: Main Module</a:t>
            </a:r>
          </a:p>
        </p:txBody>
      </p:sp>
      <p:sp>
        <p:nvSpPr>
          <p:cNvPr id="5" name="Slide Number Placeholder 4"/>
          <p:cNvSpPr>
            <a:spLocks noGrp="1"/>
          </p:cNvSpPr>
          <p:nvPr>
            <p:ph type="sldNum" sz="quarter" idx="12"/>
          </p:nvPr>
        </p:nvSpPr>
        <p:spPr/>
        <p:txBody>
          <a:bodyPr/>
          <a:lstStyle/>
          <a:p>
            <a:pPr>
              <a:defRPr/>
            </a:pPr>
            <a:r>
              <a:t>Week6 - </a:t>
            </a:r>
            <a:fld id="{962A98A2-A5DC-40F3-9752-3764F8A22E03}" type="slidenum">
              <a:rPr/>
              <a:pPr>
                <a:defRPr/>
              </a:pPr>
              <a:t>37</a:t>
            </a:fld>
            <a:endParaRPr/>
          </a:p>
        </p:txBody>
      </p:sp>
      <p:grpSp>
        <p:nvGrpSpPr>
          <p:cNvPr id="10" name="Group 9"/>
          <p:cNvGrpSpPr/>
          <p:nvPr/>
        </p:nvGrpSpPr>
        <p:grpSpPr>
          <a:xfrm>
            <a:off x="1098550" y="899417"/>
            <a:ext cx="7755561" cy="5286357"/>
            <a:chOff x="1098550" y="899417"/>
            <a:chExt cx="7755561" cy="5286357"/>
          </a:xfrm>
        </p:grpSpPr>
        <p:sp>
          <p:nvSpPr>
            <p:cNvPr id="6" name="TextBox 5"/>
            <p:cNvSpPr txBox="1"/>
            <p:nvPr/>
          </p:nvSpPr>
          <p:spPr>
            <a:xfrm>
              <a:off x="1098550" y="1138238"/>
              <a:ext cx="7610475" cy="5047536"/>
            </a:xfrm>
            <a:prstGeom prst="rect">
              <a:avLst/>
            </a:prstGeom>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a:spAutoFit/>
            </a:bodyPr>
            <a:lstStyle/>
            <a:p>
              <a:pPr>
                <a:defRPr/>
              </a:pPr>
              <a:r>
                <a:rPr lang="en-US" sz="1400" b="1" dirty="0" smtClean="0">
                  <a:solidFill>
                    <a:srgbClr val="7030A0"/>
                  </a:solidFill>
                  <a:latin typeface="Courier New" pitchFamily="49" charset="0"/>
                  <a:cs typeface="Courier New" pitchFamily="49" charset="0"/>
                </a:rPr>
                <a:t>#include </a:t>
              </a:r>
              <a:r>
                <a:rPr lang="en-US" sz="1400" b="1" dirty="0" smtClean="0">
                  <a:solidFill>
                    <a:srgbClr val="006600"/>
                  </a:solidFill>
                  <a:latin typeface="Courier New" pitchFamily="49" charset="0"/>
                  <a:cs typeface="Courier New" pitchFamily="49" charset="0"/>
                </a:rPr>
                <a:t>&lt;</a:t>
              </a:r>
              <a:r>
                <a:rPr lang="en-US" sz="1400" b="1" dirty="0" err="1">
                  <a:solidFill>
                    <a:srgbClr val="006600"/>
                  </a:solidFill>
                  <a:latin typeface="Courier New" pitchFamily="49" charset="0"/>
                  <a:cs typeface="Courier New" pitchFamily="49" charset="0"/>
                </a:rPr>
                <a:t>stdio.h</a:t>
              </a:r>
              <a:r>
                <a:rPr lang="en-US" sz="1400" b="1" dirty="0">
                  <a:solidFill>
                    <a:srgbClr val="006600"/>
                  </a:solidFill>
                  <a:latin typeface="Courier New" pitchFamily="49" charset="0"/>
                  <a:cs typeface="Courier New" pitchFamily="49" charset="0"/>
                </a:rPr>
                <a:t>&gt;</a:t>
              </a:r>
            </a:p>
            <a:p>
              <a:pPr>
                <a:defRPr/>
              </a:pPr>
              <a:r>
                <a:rPr lang="en-US" sz="1400" b="1" dirty="0" smtClean="0">
                  <a:solidFill>
                    <a:srgbClr val="7030A0"/>
                  </a:solidFill>
                  <a:latin typeface="Courier New" pitchFamily="49" charset="0"/>
                  <a:cs typeface="Courier New" pitchFamily="49" charset="0"/>
                </a:rPr>
                <a:t>#include </a:t>
              </a:r>
              <a:r>
                <a:rPr lang="en-US" sz="1400" b="1" dirty="0">
                  <a:solidFill>
                    <a:srgbClr val="006600"/>
                  </a:solidFill>
                  <a:latin typeface="Courier New" pitchFamily="49" charset="0"/>
                  <a:cs typeface="Courier New" pitchFamily="49" charset="0"/>
                </a:rPr>
                <a:t>"Week6_FreezerTemp.h"</a:t>
              </a:r>
            </a:p>
            <a:p>
              <a:pPr>
                <a:defRPr/>
              </a:pPr>
              <a:endParaRPr lang="en-US" sz="1400" b="1" dirty="0">
                <a:latin typeface="Courier New" pitchFamily="49" charset="0"/>
                <a:cs typeface="Courier New" pitchFamily="49" charset="0"/>
              </a:endParaRPr>
            </a:p>
            <a:p>
              <a:pPr>
                <a:defRPr/>
              </a:pPr>
              <a:r>
                <a:rPr lang="en-US" sz="1400" b="1" dirty="0" err="1">
                  <a:solidFill>
                    <a:srgbClr val="0000FF"/>
                  </a:solidFill>
                  <a:latin typeface="Courier New" pitchFamily="49" charset="0"/>
                  <a:cs typeface="Courier New" pitchFamily="49" charset="0"/>
                </a:rPr>
                <a:t>int</a:t>
              </a:r>
              <a:r>
                <a:rPr lang="en-US" sz="1400" b="1" dirty="0">
                  <a:latin typeface="Courier New" pitchFamily="49" charset="0"/>
                  <a:cs typeface="Courier New" pitchFamily="49" charset="0"/>
                </a:rPr>
                <a:t> </a:t>
              </a:r>
              <a:r>
                <a:rPr lang="en-US" sz="1400" b="1" dirty="0" smtClean="0">
                  <a:latin typeface="Courier New" pitchFamily="49" charset="0"/>
                  <a:cs typeface="Courier New" pitchFamily="49" charset="0"/>
                </a:rPr>
                <a:t>main(</a:t>
              </a:r>
              <a:r>
                <a:rPr lang="en-US" sz="1400" b="1" dirty="0" smtClean="0">
                  <a:solidFill>
                    <a:srgbClr val="0000FF"/>
                  </a:solidFill>
                  <a:latin typeface="Courier New" pitchFamily="49" charset="0"/>
                  <a:cs typeface="Courier New" pitchFamily="49" charset="0"/>
                </a:rPr>
                <a:t>void</a:t>
              </a:r>
              <a:r>
                <a:rPr lang="en-US" sz="1400" b="1" dirty="0" smtClean="0">
                  <a:latin typeface="Courier New" pitchFamily="49" charset="0"/>
                  <a:cs typeface="Courier New" pitchFamily="49" charset="0"/>
                </a:rPr>
                <a:t>) {</a:t>
              </a:r>
              <a:endParaRPr lang="en-US" sz="1400" b="1" dirty="0">
                <a:latin typeface="Courier New" pitchFamily="49" charset="0"/>
                <a:cs typeface="Courier New" pitchFamily="49" charset="0"/>
              </a:endParaRPr>
            </a:p>
            <a:p>
              <a:pPr>
                <a:defRPr/>
              </a:pPr>
              <a:r>
                <a:rPr lang="en-US" sz="1400" b="1" dirty="0">
                  <a:latin typeface="Courier New" pitchFamily="49" charset="0"/>
                  <a:cs typeface="Courier New" pitchFamily="49" charset="0"/>
                </a:rPr>
                <a:t>    </a:t>
              </a:r>
              <a:r>
                <a:rPr lang="en-US" sz="1400" b="1" dirty="0" err="1">
                  <a:solidFill>
                    <a:srgbClr val="0000FF"/>
                  </a:solidFill>
                  <a:latin typeface="Courier New" pitchFamily="49" charset="0"/>
                  <a:cs typeface="Courier New" pitchFamily="49" charset="0"/>
                </a:rPr>
                <a:t>int</a:t>
              </a:r>
              <a:r>
                <a:rPr lang="en-US" sz="1400" b="1" dirty="0">
                  <a:latin typeface="Courier New" pitchFamily="49" charset="0"/>
                  <a:cs typeface="Courier New" pitchFamily="49" charset="0"/>
                </a:rPr>
                <a:t> hours, minutes;</a:t>
              </a:r>
            </a:p>
            <a:p>
              <a:pPr>
                <a:defRPr/>
              </a:pPr>
              <a:r>
                <a:rPr lang="en-US" sz="1400" b="1" dirty="0">
                  <a:latin typeface="Courier New" pitchFamily="49" charset="0"/>
                  <a:cs typeface="Courier New" pitchFamily="49" charset="0"/>
                </a:rPr>
                <a:t>    </a:t>
              </a:r>
              <a:r>
                <a:rPr lang="en-US" sz="1400" b="1" dirty="0">
                  <a:solidFill>
                    <a:srgbClr val="0000FF"/>
                  </a:solidFill>
                  <a:latin typeface="Courier New" pitchFamily="49" charset="0"/>
                  <a:cs typeface="Courier New" pitchFamily="49" charset="0"/>
                </a:rPr>
                <a:t>float</a:t>
              </a:r>
              <a:r>
                <a:rPr lang="en-US" sz="1400" b="1" dirty="0">
                  <a:latin typeface="Courier New" pitchFamily="49" charset="0"/>
                  <a:cs typeface="Courier New" pitchFamily="49" charset="0"/>
                </a:rPr>
                <a:t> </a:t>
              </a:r>
              <a:r>
                <a:rPr lang="en-US" sz="1400" b="1" dirty="0" err="1">
                  <a:latin typeface="Courier New" pitchFamily="49" charset="0"/>
                  <a:cs typeface="Courier New" pitchFamily="49" charset="0"/>
                </a:rPr>
                <a:t>hours_float</a:t>
              </a:r>
              <a:r>
                <a:rPr lang="en-US" sz="1400" b="1" dirty="0">
                  <a:latin typeface="Courier New" pitchFamily="49" charset="0"/>
                  <a:cs typeface="Courier New" pitchFamily="49" charset="0"/>
                </a:rPr>
                <a:t>;  </a:t>
              </a:r>
              <a:r>
                <a:rPr lang="en-US" sz="1400" b="1" dirty="0">
                  <a:solidFill>
                    <a:srgbClr val="C00000"/>
                  </a:solidFill>
                  <a:latin typeface="Courier New" pitchFamily="49" charset="0"/>
                  <a:cs typeface="Courier New" pitchFamily="49" charset="0"/>
                </a:rPr>
                <a:t>// Convert hours and minutes into </a:t>
              </a:r>
              <a:r>
                <a:rPr lang="en-US" sz="1400" b="1" dirty="0" err="1">
                  <a:solidFill>
                    <a:srgbClr val="C00000"/>
                  </a:solidFill>
                  <a:latin typeface="Courier New" pitchFamily="49" charset="0"/>
                  <a:cs typeface="Courier New" pitchFamily="49" charset="0"/>
                </a:rPr>
                <a:t>hours_float</a:t>
              </a:r>
              <a:endParaRPr lang="en-US" sz="1400" b="1" dirty="0">
                <a:solidFill>
                  <a:srgbClr val="C00000"/>
                </a:solidFill>
                <a:latin typeface="Courier New" pitchFamily="49" charset="0"/>
                <a:cs typeface="Courier New" pitchFamily="49" charset="0"/>
              </a:endParaRPr>
            </a:p>
            <a:p>
              <a:pPr>
                <a:defRPr/>
              </a:pPr>
              <a:r>
                <a:rPr lang="en-US" sz="1400" b="1" dirty="0">
                  <a:latin typeface="Courier New" pitchFamily="49" charset="0"/>
                  <a:cs typeface="Courier New" pitchFamily="49" charset="0"/>
                </a:rPr>
                <a:t>    </a:t>
              </a:r>
              <a:r>
                <a:rPr lang="en-US" sz="1400" b="1" dirty="0">
                  <a:solidFill>
                    <a:srgbClr val="0000FF"/>
                  </a:solidFill>
                  <a:latin typeface="Courier New" pitchFamily="49" charset="0"/>
                  <a:cs typeface="Courier New" pitchFamily="49" charset="0"/>
                </a:rPr>
                <a:t>float</a:t>
              </a:r>
              <a:r>
                <a:rPr lang="en-US" sz="1400" b="1" dirty="0">
                  <a:latin typeface="Courier New" pitchFamily="49" charset="0"/>
                  <a:cs typeface="Courier New" pitchFamily="49" charset="0"/>
                </a:rPr>
                <a:t> temperature;  </a:t>
              </a:r>
              <a:r>
                <a:rPr lang="en-US" sz="1400" b="1" dirty="0">
                  <a:solidFill>
                    <a:srgbClr val="C00000"/>
                  </a:solidFill>
                  <a:latin typeface="Courier New" pitchFamily="49" charset="0"/>
                  <a:cs typeface="Courier New" pitchFamily="49" charset="0"/>
                </a:rPr>
                <a:t>// Temperature in freezer</a:t>
              </a:r>
            </a:p>
            <a:p>
              <a:pPr>
                <a:defRPr/>
              </a:pPr>
              <a:r>
                <a:rPr lang="en-US" sz="1400" b="1" dirty="0">
                  <a:latin typeface="Courier New" pitchFamily="49" charset="0"/>
                  <a:cs typeface="Courier New" pitchFamily="49" charset="0"/>
                </a:rPr>
                <a:t> </a:t>
              </a:r>
            </a:p>
            <a:p>
              <a:pPr>
                <a:defRPr/>
              </a:pPr>
              <a:r>
                <a:rPr lang="en-US" sz="1400" b="1" dirty="0">
                  <a:latin typeface="Courier New" pitchFamily="49" charset="0"/>
                  <a:cs typeface="Courier New" pitchFamily="49" charset="0"/>
                </a:rPr>
                <a:t>    </a:t>
              </a:r>
              <a:r>
                <a:rPr lang="en-US" sz="1400" b="1" dirty="0">
                  <a:solidFill>
                    <a:srgbClr val="C00000"/>
                  </a:solidFill>
                  <a:latin typeface="Courier New" pitchFamily="49" charset="0"/>
                  <a:cs typeface="Courier New" pitchFamily="49" charset="0"/>
                </a:rPr>
                <a:t>// Get the hours and minutes</a:t>
              </a:r>
            </a:p>
            <a:p>
              <a:pPr>
                <a:defRPr/>
              </a:pPr>
              <a:r>
                <a:rPr lang="en-US" sz="1400" b="1" dirty="0">
                  <a:latin typeface="Courier New" pitchFamily="49" charset="0"/>
                  <a:cs typeface="Courier New" pitchFamily="49" charset="0"/>
                </a:rPr>
                <a:t>    </a:t>
              </a:r>
              <a:r>
                <a:rPr lang="en-US" sz="1400" b="1" dirty="0" err="1">
                  <a:latin typeface="Courier New" pitchFamily="49" charset="0"/>
                  <a:cs typeface="Courier New" pitchFamily="49" charset="0"/>
                </a:rPr>
                <a:t>printf</a:t>
              </a:r>
              <a:r>
                <a:rPr lang="en-US" sz="1400" b="1" dirty="0">
                  <a:latin typeface="Courier New" pitchFamily="49" charset="0"/>
                  <a:cs typeface="Courier New" pitchFamily="49" charset="0"/>
                </a:rPr>
                <a:t>(</a:t>
              </a:r>
              <a:r>
                <a:rPr lang="en-US" sz="1400" b="1" dirty="0">
                  <a:solidFill>
                    <a:srgbClr val="006600"/>
                  </a:solidFill>
                  <a:latin typeface="Courier New" pitchFamily="49" charset="0"/>
                  <a:cs typeface="Courier New" pitchFamily="49" charset="0"/>
                </a:rPr>
                <a:t>"Enter hours and minutes since power failure: "</a:t>
              </a:r>
              <a:r>
                <a:rPr lang="en-US" sz="1400" b="1" dirty="0">
                  <a:latin typeface="Courier New" pitchFamily="49" charset="0"/>
                  <a:cs typeface="Courier New" pitchFamily="49" charset="0"/>
                </a:rPr>
                <a:t>);</a:t>
              </a:r>
            </a:p>
            <a:p>
              <a:pPr>
                <a:defRPr/>
              </a:pPr>
              <a:r>
                <a:rPr lang="en-US" sz="1400" b="1" dirty="0">
                  <a:latin typeface="Courier New" pitchFamily="49" charset="0"/>
                  <a:cs typeface="Courier New" pitchFamily="49" charset="0"/>
                </a:rPr>
                <a:t>    </a:t>
              </a:r>
              <a:r>
                <a:rPr lang="en-US" sz="1400" b="1" dirty="0" err="1">
                  <a:latin typeface="Courier New" pitchFamily="49" charset="0"/>
                  <a:cs typeface="Courier New" pitchFamily="49" charset="0"/>
                </a:rPr>
                <a:t>scanf</a:t>
              </a:r>
              <a:r>
                <a:rPr lang="en-US" sz="1400" b="1" dirty="0">
                  <a:latin typeface="Courier New" pitchFamily="49" charset="0"/>
                  <a:cs typeface="Courier New" pitchFamily="49" charset="0"/>
                </a:rPr>
                <a:t>(</a:t>
              </a:r>
              <a:r>
                <a:rPr lang="en-US" sz="1400" b="1" dirty="0">
                  <a:solidFill>
                    <a:srgbClr val="006600"/>
                  </a:solidFill>
                  <a:latin typeface="Courier New" pitchFamily="49" charset="0"/>
                  <a:cs typeface="Courier New" pitchFamily="49" charset="0"/>
                </a:rPr>
                <a:t>"</a:t>
              </a:r>
              <a:r>
                <a:rPr lang="en-US" sz="1400" b="1" dirty="0">
                  <a:solidFill>
                    <a:srgbClr val="FF0000"/>
                  </a:solidFill>
                  <a:latin typeface="Courier New" pitchFamily="49" charset="0"/>
                  <a:cs typeface="Courier New" pitchFamily="49" charset="0"/>
                </a:rPr>
                <a:t>%d %d</a:t>
              </a:r>
              <a:r>
                <a:rPr lang="en-US" sz="1400" b="1" dirty="0">
                  <a:solidFill>
                    <a:srgbClr val="006600"/>
                  </a:solidFill>
                  <a:latin typeface="Courier New" pitchFamily="49" charset="0"/>
                  <a:cs typeface="Courier New" pitchFamily="49" charset="0"/>
                </a:rPr>
                <a:t>"</a:t>
              </a:r>
              <a:r>
                <a:rPr lang="en-US" sz="1400" b="1" dirty="0">
                  <a:latin typeface="Courier New" pitchFamily="49" charset="0"/>
                  <a:cs typeface="Courier New" pitchFamily="49" charset="0"/>
                </a:rPr>
                <a:t>, &amp;hours, &amp;minutes);</a:t>
              </a:r>
            </a:p>
            <a:p>
              <a:pPr>
                <a:defRPr/>
              </a:pPr>
              <a:endParaRPr lang="en-US" sz="1400" b="1" dirty="0">
                <a:latin typeface="Courier New" pitchFamily="49" charset="0"/>
                <a:cs typeface="Courier New" pitchFamily="49" charset="0"/>
              </a:endParaRPr>
            </a:p>
            <a:p>
              <a:pPr>
                <a:defRPr/>
              </a:pPr>
              <a:r>
                <a:rPr lang="en-US" sz="1400" b="1" dirty="0">
                  <a:latin typeface="Courier New" pitchFamily="49" charset="0"/>
                  <a:cs typeface="Courier New" pitchFamily="49" charset="0"/>
                </a:rPr>
                <a:t>    </a:t>
              </a:r>
              <a:r>
                <a:rPr lang="en-US" sz="1400" b="1" dirty="0">
                  <a:solidFill>
                    <a:srgbClr val="C00000"/>
                  </a:solidFill>
                  <a:latin typeface="Courier New" pitchFamily="49" charset="0"/>
                  <a:cs typeface="Courier New" pitchFamily="49" charset="0"/>
                </a:rPr>
                <a:t>// Convert hours and minutes into </a:t>
              </a:r>
              <a:r>
                <a:rPr lang="en-US" sz="1400" b="1" dirty="0" err="1">
                  <a:solidFill>
                    <a:srgbClr val="C00000"/>
                  </a:solidFill>
                  <a:latin typeface="Courier New" pitchFamily="49" charset="0"/>
                  <a:cs typeface="Courier New" pitchFamily="49" charset="0"/>
                </a:rPr>
                <a:t>hours_float</a:t>
              </a:r>
              <a:endParaRPr lang="en-US" sz="1400" b="1" dirty="0">
                <a:solidFill>
                  <a:srgbClr val="C00000"/>
                </a:solidFill>
                <a:latin typeface="Courier New" pitchFamily="49" charset="0"/>
                <a:cs typeface="Courier New" pitchFamily="49" charset="0"/>
              </a:endParaRPr>
            </a:p>
            <a:p>
              <a:pPr>
                <a:defRPr/>
              </a:pPr>
              <a:r>
                <a:rPr lang="en-US" sz="1400" b="1" dirty="0">
                  <a:latin typeface="Courier New" pitchFamily="49" charset="0"/>
                  <a:cs typeface="Courier New" pitchFamily="49" charset="0"/>
                </a:rPr>
                <a:t>    </a:t>
              </a:r>
              <a:r>
                <a:rPr lang="en-US" sz="1400" b="1" dirty="0" err="1">
                  <a:latin typeface="Courier New" pitchFamily="49" charset="0"/>
                  <a:cs typeface="Courier New" pitchFamily="49" charset="0"/>
                </a:rPr>
                <a:t>hours_float</a:t>
              </a:r>
              <a:r>
                <a:rPr lang="en-US" sz="1400" b="1" dirty="0">
                  <a:latin typeface="Courier New" pitchFamily="49" charset="0"/>
                  <a:cs typeface="Courier New" pitchFamily="49" charset="0"/>
                </a:rPr>
                <a:t> = hours + minutes/60.0;</a:t>
              </a:r>
            </a:p>
            <a:p>
              <a:pPr>
                <a:defRPr/>
              </a:pPr>
              <a:endParaRPr lang="en-US" sz="1400" b="1" dirty="0">
                <a:latin typeface="Courier New" pitchFamily="49" charset="0"/>
                <a:cs typeface="Courier New" pitchFamily="49" charset="0"/>
              </a:endParaRPr>
            </a:p>
            <a:p>
              <a:pPr>
                <a:defRPr/>
              </a:pPr>
              <a:r>
                <a:rPr lang="en-US" sz="1400" b="1" dirty="0">
                  <a:latin typeface="Courier New" pitchFamily="49" charset="0"/>
                  <a:cs typeface="Courier New" pitchFamily="49" charset="0"/>
                </a:rPr>
                <a:t>    </a:t>
              </a:r>
              <a:r>
                <a:rPr lang="en-US" sz="1400" b="1" dirty="0">
                  <a:solidFill>
                    <a:srgbClr val="C00000"/>
                  </a:solidFill>
                  <a:latin typeface="Courier New" pitchFamily="49" charset="0"/>
                  <a:cs typeface="Courier New" pitchFamily="49" charset="0"/>
                </a:rPr>
                <a:t>// Compute new temperature in freezer</a:t>
              </a:r>
            </a:p>
            <a:p>
              <a:pPr>
                <a:defRPr/>
              </a:pPr>
              <a:r>
                <a:rPr lang="en-US" sz="1400" b="1" dirty="0">
                  <a:latin typeface="Courier New" pitchFamily="49" charset="0"/>
                  <a:cs typeface="Courier New" pitchFamily="49" charset="0"/>
                </a:rPr>
                <a:t>    temperature = </a:t>
              </a:r>
              <a:r>
                <a:rPr lang="en-US" sz="1400" b="1" dirty="0" err="1">
                  <a:latin typeface="Courier New" pitchFamily="49" charset="0"/>
                  <a:cs typeface="Courier New" pitchFamily="49" charset="0"/>
                </a:rPr>
                <a:t>calc_temperature</a:t>
              </a:r>
              <a:r>
                <a:rPr lang="en-US" sz="1400" b="1" dirty="0">
                  <a:latin typeface="Courier New" pitchFamily="49" charset="0"/>
                  <a:cs typeface="Courier New" pitchFamily="49" charset="0"/>
                </a:rPr>
                <a:t>(</a:t>
              </a:r>
              <a:r>
                <a:rPr lang="en-US" sz="1400" b="1" dirty="0" err="1">
                  <a:latin typeface="Courier New" pitchFamily="49" charset="0"/>
                  <a:cs typeface="Courier New" pitchFamily="49" charset="0"/>
                </a:rPr>
                <a:t>hours_float</a:t>
              </a:r>
              <a:r>
                <a:rPr lang="en-US" sz="1400" b="1" dirty="0">
                  <a:latin typeface="Courier New" pitchFamily="49" charset="0"/>
                  <a:cs typeface="Courier New" pitchFamily="49" charset="0"/>
                </a:rPr>
                <a:t>);</a:t>
              </a:r>
            </a:p>
            <a:p>
              <a:pPr>
                <a:defRPr/>
              </a:pPr>
              <a:endParaRPr lang="en-US" sz="1400" b="1" dirty="0">
                <a:latin typeface="Courier New" pitchFamily="49" charset="0"/>
                <a:cs typeface="Courier New" pitchFamily="49" charset="0"/>
              </a:endParaRPr>
            </a:p>
            <a:p>
              <a:pPr>
                <a:defRPr/>
              </a:pPr>
              <a:r>
                <a:rPr lang="en-US" sz="1400" b="1" dirty="0">
                  <a:latin typeface="Courier New" pitchFamily="49" charset="0"/>
                  <a:cs typeface="Courier New" pitchFamily="49" charset="0"/>
                </a:rPr>
                <a:t>    </a:t>
              </a:r>
              <a:r>
                <a:rPr lang="en-US" sz="1400" b="1" dirty="0">
                  <a:solidFill>
                    <a:srgbClr val="C00000"/>
                  </a:solidFill>
                  <a:latin typeface="Courier New" pitchFamily="49" charset="0"/>
                  <a:cs typeface="Courier New" pitchFamily="49" charset="0"/>
                </a:rPr>
                <a:t>// Print new temperature</a:t>
              </a:r>
            </a:p>
            <a:p>
              <a:pPr>
                <a:defRPr/>
              </a:pPr>
              <a:r>
                <a:rPr lang="en-US" sz="1400" b="1" dirty="0">
                  <a:latin typeface="Courier New" pitchFamily="49" charset="0"/>
                  <a:cs typeface="Courier New" pitchFamily="49" charset="0"/>
                </a:rPr>
                <a:t>    </a:t>
              </a:r>
              <a:r>
                <a:rPr lang="en-US" sz="1400" b="1" dirty="0" err="1">
                  <a:latin typeface="Courier New" pitchFamily="49" charset="0"/>
                  <a:cs typeface="Courier New" pitchFamily="49" charset="0"/>
                </a:rPr>
                <a:t>printf</a:t>
              </a:r>
              <a:r>
                <a:rPr lang="en-US" sz="1400" b="1" dirty="0">
                  <a:latin typeface="Courier New" pitchFamily="49" charset="0"/>
                  <a:cs typeface="Courier New" pitchFamily="49" charset="0"/>
                </a:rPr>
                <a:t>(</a:t>
              </a:r>
              <a:r>
                <a:rPr lang="en-US" sz="1400" b="1" dirty="0">
                  <a:solidFill>
                    <a:srgbClr val="006600"/>
                  </a:solidFill>
                  <a:latin typeface="Courier New" pitchFamily="49" charset="0"/>
                  <a:cs typeface="Courier New" pitchFamily="49" charset="0"/>
                </a:rPr>
                <a:t>"Temperature in freezer = </a:t>
              </a:r>
              <a:r>
                <a:rPr lang="en-US" sz="1400" b="1" dirty="0">
                  <a:solidFill>
                    <a:srgbClr val="FF0000"/>
                  </a:solidFill>
                  <a:latin typeface="Courier New" pitchFamily="49" charset="0"/>
                  <a:cs typeface="Courier New" pitchFamily="49" charset="0"/>
                </a:rPr>
                <a:t>%.2f\n</a:t>
              </a:r>
              <a:r>
                <a:rPr lang="en-US" sz="1400" b="1" dirty="0">
                  <a:solidFill>
                    <a:srgbClr val="006600"/>
                  </a:solidFill>
                  <a:latin typeface="Courier New" pitchFamily="49" charset="0"/>
                  <a:cs typeface="Courier New" pitchFamily="49" charset="0"/>
                </a:rPr>
                <a:t>"</a:t>
              </a:r>
              <a:r>
                <a:rPr lang="en-US" sz="1400" b="1" dirty="0">
                  <a:latin typeface="Courier New" pitchFamily="49" charset="0"/>
                  <a:cs typeface="Courier New" pitchFamily="49" charset="0"/>
                </a:rPr>
                <a:t>, temperature);</a:t>
              </a:r>
            </a:p>
            <a:p>
              <a:pPr>
                <a:defRPr/>
              </a:pPr>
              <a:endParaRPr lang="en-US" sz="1400" b="1" dirty="0">
                <a:latin typeface="Courier New" pitchFamily="49" charset="0"/>
                <a:cs typeface="Courier New" pitchFamily="49" charset="0"/>
              </a:endParaRPr>
            </a:p>
            <a:p>
              <a:pPr>
                <a:defRPr/>
              </a:pPr>
              <a:r>
                <a:rPr lang="en-US" sz="1400" b="1" dirty="0">
                  <a:latin typeface="Courier New" pitchFamily="49" charset="0"/>
                  <a:cs typeface="Courier New" pitchFamily="49" charset="0"/>
                </a:rPr>
                <a:t>    </a:t>
              </a:r>
              <a:r>
                <a:rPr lang="en-US" sz="1400" b="1" dirty="0">
                  <a:solidFill>
                    <a:srgbClr val="0000FF"/>
                  </a:solidFill>
                  <a:latin typeface="Courier New" pitchFamily="49" charset="0"/>
                  <a:cs typeface="Courier New" pitchFamily="49" charset="0"/>
                </a:rPr>
                <a:t>return</a:t>
              </a:r>
              <a:r>
                <a:rPr lang="en-US" sz="1400" b="1" dirty="0">
                  <a:latin typeface="Courier New" pitchFamily="49" charset="0"/>
                  <a:cs typeface="Courier New" pitchFamily="49" charset="0"/>
                </a:rPr>
                <a:t> </a:t>
              </a:r>
              <a:r>
                <a:rPr lang="en-US" sz="1400" b="1" dirty="0">
                  <a:solidFill>
                    <a:srgbClr val="006600"/>
                  </a:solidFill>
                  <a:latin typeface="Courier New" pitchFamily="49" charset="0"/>
                  <a:cs typeface="Courier New" pitchFamily="49" charset="0"/>
                </a:rPr>
                <a:t>0</a:t>
              </a:r>
              <a:r>
                <a:rPr lang="en-US" sz="1400" b="1" dirty="0">
                  <a:latin typeface="Courier New" pitchFamily="49" charset="0"/>
                  <a:cs typeface="Courier New" pitchFamily="49" charset="0"/>
                </a:rPr>
                <a:t>;</a:t>
              </a:r>
            </a:p>
            <a:p>
              <a:pPr>
                <a:defRPr/>
              </a:pPr>
              <a:r>
                <a:rPr lang="en-US" sz="1400" b="1" dirty="0">
                  <a:latin typeface="Courier New" pitchFamily="49" charset="0"/>
                  <a:cs typeface="Courier New" pitchFamily="49" charset="0"/>
                </a:rPr>
                <a:t>}</a:t>
              </a:r>
            </a:p>
          </p:txBody>
        </p:sp>
        <p:sp>
          <p:nvSpPr>
            <p:cNvPr id="35846" name="TextBox 7"/>
            <p:cNvSpPr txBox="1">
              <a:spLocks noChangeArrowheads="1"/>
            </p:cNvSpPr>
            <p:nvPr/>
          </p:nvSpPr>
          <p:spPr bwMode="auto">
            <a:xfrm>
              <a:off x="6352464" y="899417"/>
              <a:ext cx="2501647" cy="369332"/>
            </a:xfrm>
            <a:prstGeom prst="rect">
              <a:avLst/>
            </a:prstGeom>
            <a:solidFill>
              <a:srgbClr val="FFFF99"/>
            </a:solidFill>
            <a:ln w="9525">
              <a:solidFill>
                <a:schemeClr val="tx1"/>
              </a:solidFill>
              <a:miter lim="800000"/>
              <a:headEnd/>
              <a:tailEnd/>
            </a:ln>
          </p:spPr>
          <p:txBody>
            <a:bodyPr wrap="none">
              <a:spAutoFit/>
            </a:bodyPr>
            <a:lstStyle/>
            <a:p>
              <a:r>
                <a:rPr lang="en-US" dirty="0" smtClean="0"/>
                <a:t>Week6_FreezerMain.c</a:t>
              </a:r>
              <a:endParaRPr lang="en-US" dirty="0"/>
            </a:p>
          </p:txBody>
        </p:sp>
      </p:grpSp>
      <p:grpSp>
        <p:nvGrpSpPr>
          <p:cNvPr id="2" name="Group 9"/>
          <p:cNvGrpSpPr>
            <a:grpSpLocks/>
          </p:cNvGrpSpPr>
          <p:nvPr/>
        </p:nvGrpSpPr>
        <p:grpSpPr bwMode="auto">
          <a:xfrm>
            <a:off x="5971822" y="1316765"/>
            <a:ext cx="3007663" cy="3243946"/>
            <a:chOff x="5971823" y="1472728"/>
            <a:chExt cx="3007662" cy="3243945"/>
          </a:xfrm>
        </p:grpSpPr>
        <p:sp>
          <p:nvSpPr>
            <p:cNvPr id="7" name="TextBox 6"/>
            <p:cNvSpPr txBox="1"/>
            <p:nvPr/>
          </p:nvSpPr>
          <p:spPr>
            <a:xfrm>
              <a:off x="6152149" y="1472728"/>
              <a:ext cx="2827336" cy="922338"/>
            </a:xfrm>
            <a:prstGeom prst="rect">
              <a:avLst/>
            </a:prstGeom>
            <a:solidFill>
              <a:schemeClr val="accent5"/>
            </a:solidFill>
          </p:spPr>
          <p:txBody>
            <a:bodyPr>
              <a:spAutoFit/>
            </a:bodyPr>
            <a:lstStyle/>
            <a:p>
              <a:pPr>
                <a:defRPr/>
              </a:pPr>
              <a:r>
                <a:rPr lang="en-US" dirty="0"/>
                <a:t>Now we can write a</a:t>
              </a:r>
              <a:br>
                <a:rPr lang="en-US" dirty="0"/>
              </a:br>
              <a:r>
                <a:rPr lang="en-US" dirty="0"/>
                <a:t>program which uses</a:t>
              </a:r>
            </a:p>
            <a:p>
              <a:pPr>
                <a:defRPr/>
              </a:pPr>
              <a:r>
                <a:rPr lang="en-US" dirty="0"/>
                <a:t>our new external function:</a:t>
              </a:r>
            </a:p>
          </p:txBody>
        </p:sp>
        <p:cxnSp>
          <p:nvCxnSpPr>
            <p:cNvPr id="35849" name="Straight Arrow Connector 9"/>
            <p:cNvCxnSpPr>
              <a:cxnSpLocks noChangeShapeType="1"/>
              <a:stCxn id="7" idx="2"/>
            </p:cNvCxnSpPr>
            <p:nvPr/>
          </p:nvCxnSpPr>
          <p:spPr bwMode="auto">
            <a:xfrm flipH="1">
              <a:off x="5971823" y="2395066"/>
              <a:ext cx="1593994" cy="2321607"/>
            </a:xfrm>
            <a:prstGeom prst="straightConnector1">
              <a:avLst/>
            </a:prstGeom>
            <a:noFill/>
            <a:ln w="19050" cap="sq" algn="ctr">
              <a:solidFill>
                <a:schemeClr val="tx1"/>
              </a:solidFill>
              <a:round/>
              <a:headEnd type="none" w="sm" len="sm"/>
              <a:tailEnd type="arrow" w="med" len="med"/>
            </a:ln>
          </p:spPr>
        </p:cxnSp>
      </p:gr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p:nvPr>
        </p:nvSpPr>
        <p:spPr/>
        <p:txBody>
          <a:bodyPr/>
          <a:lstStyle/>
          <a:p>
            <a:r>
              <a:rPr lang="en-US" dirty="0" smtClean="0"/>
              <a:t>9.1 Demo #2: Compilation and Linking</a:t>
            </a:r>
          </a:p>
        </p:txBody>
      </p:sp>
      <p:sp>
        <p:nvSpPr>
          <p:cNvPr id="5" name="Slide Number Placeholder 4"/>
          <p:cNvSpPr>
            <a:spLocks noGrp="1"/>
          </p:cNvSpPr>
          <p:nvPr>
            <p:ph type="sldNum" sz="quarter" idx="12"/>
          </p:nvPr>
        </p:nvSpPr>
        <p:spPr/>
        <p:txBody>
          <a:bodyPr/>
          <a:lstStyle/>
          <a:p>
            <a:pPr>
              <a:defRPr/>
            </a:pPr>
            <a:r>
              <a:rPr smtClean="0"/>
              <a:t>Week6 - </a:t>
            </a:r>
            <a:fld id="{2BACB7B9-6F7D-4A6A-B3CD-1B0FA558ED7D}" type="slidenum">
              <a:rPr smtClean="0"/>
              <a:pPr>
                <a:defRPr/>
              </a:pPr>
              <a:t>38</a:t>
            </a:fld>
            <a:endParaRPr/>
          </a:p>
        </p:txBody>
      </p:sp>
      <p:sp>
        <p:nvSpPr>
          <p:cNvPr id="36867" name="Content Placeholder 2"/>
          <p:cNvSpPr>
            <a:spLocks noGrp="1"/>
          </p:cNvSpPr>
          <p:nvPr>
            <p:ph sz="quarter" idx="1"/>
          </p:nvPr>
        </p:nvSpPr>
        <p:spPr/>
        <p:txBody>
          <a:bodyPr/>
          <a:lstStyle/>
          <a:p>
            <a:r>
              <a:rPr lang="en-US" dirty="0" smtClean="0">
                <a:solidFill>
                  <a:schemeClr val="tx1"/>
                </a:solidFill>
              </a:rPr>
              <a:t>Let’s </a:t>
            </a:r>
            <a:r>
              <a:rPr lang="en-US" dirty="0" smtClean="0"/>
              <a:t>compile</a:t>
            </a:r>
            <a:r>
              <a:rPr lang="en-US" dirty="0" smtClean="0">
                <a:solidFill>
                  <a:schemeClr val="tx1"/>
                </a:solidFill>
              </a:rPr>
              <a:t> and </a:t>
            </a:r>
            <a:r>
              <a:rPr lang="en-US" dirty="0" smtClean="0"/>
              <a:t>link</a:t>
            </a:r>
            <a:r>
              <a:rPr lang="en-US" dirty="0" smtClean="0">
                <a:solidFill>
                  <a:schemeClr val="tx1"/>
                </a:solidFill>
              </a:rPr>
              <a:t> our program</a:t>
            </a:r>
          </a:p>
          <a:p>
            <a:pPr lvl="1"/>
            <a:r>
              <a:rPr lang="en-US" dirty="0" smtClean="0"/>
              <a:t>Case 1: One step compile-and-link</a:t>
            </a:r>
          </a:p>
          <a:p>
            <a:pPr lvl="1"/>
            <a:endParaRPr lang="en-US" dirty="0" smtClean="0"/>
          </a:p>
          <a:p>
            <a:pPr lvl="2"/>
            <a:endParaRPr lang="en-US" dirty="0" smtClean="0"/>
          </a:p>
          <a:p>
            <a:pPr lvl="2">
              <a:spcBef>
                <a:spcPts val="1200"/>
              </a:spcBef>
            </a:pPr>
            <a:r>
              <a:rPr lang="en-US" dirty="0" smtClean="0"/>
              <a:t>Here the compiler creates temporary object files (which are removed after linking) and directly creates </a:t>
            </a:r>
            <a:r>
              <a:rPr lang="en-US" dirty="0" err="1" smtClean="0">
                <a:solidFill>
                  <a:srgbClr val="0000FF"/>
                </a:solidFill>
              </a:rPr>
              <a:t>a.out</a:t>
            </a:r>
            <a:r>
              <a:rPr lang="en-US" dirty="0" smtClean="0"/>
              <a:t>.</a:t>
            </a:r>
          </a:p>
          <a:p>
            <a:pPr lvl="2">
              <a:spcBef>
                <a:spcPts val="1200"/>
              </a:spcBef>
            </a:pPr>
            <a:r>
              <a:rPr lang="en-US" dirty="0" smtClean="0"/>
              <a:t>Hence you don’t get the chance to see the object files.</a:t>
            </a:r>
          </a:p>
          <a:p>
            <a:pPr lvl="2">
              <a:spcBef>
                <a:spcPts val="1200"/>
              </a:spcBef>
            </a:pPr>
            <a:r>
              <a:rPr lang="en-US" dirty="0" smtClean="0"/>
              <a:t>(Note: We have omitted the </a:t>
            </a:r>
            <a:r>
              <a:rPr lang="en-US" dirty="0" smtClean="0">
                <a:solidFill>
                  <a:srgbClr val="0000FF"/>
                </a:solidFill>
              </a:rPr>
              <a:t>–Wall</a:t>
            </a:r>
            <a:r>
              <a:rPr lang="en-US" dirty="0" smtClean="0"/>
              <a:t> option above due to space constraint. Please add the option yourself.)</a:t>
            </a:r>
          </a:p>
        </p:txBody>
      </p:sp>
      <p:sp>
        <p:nvSpPr>
          <p:cNvPr id="23558" name="TextBox 6"/>
          <p:cNvSpPr txBox="1">
            <a:spLocks noChangeArrowheads="1"/>
          </p:cNvSpPr>
          <p:nvPr/>
        </p:nvSpPr>
        <p:spPr bwMode="auto">
          <a:xfrm>
            <a:off x="1109663" y="2344738"/>
            <a:ext cx="7318375" cy="369887"/>
          </a:xfrm>
          <a:prstGeom prst="rect">
            <a:avLst/>
          </a:prstGeom>
          <a:ln>
            <a:headEnd/>
            <a:tailEnd/>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a:spAutoFit/>
          </a:bodyPr>
          <a:lstStyle/>
          <a:p>
            <a:pPr>
              <a:defRPr/>
            </a:pPr>
            <a:r>
              <a:rPr lang="en-US" b="1" dirty="0">
                <a:latin typeface="Courier New" pitchFamily="49" charset="0"/>
                <a:cs typeface="Courier New" pitchFamily="49" charset="0"/>
              </a:rPr>
              <a:t>$ </a:t>
            </a:r>
            <a:r>
              <a:rPr lang="en-US" b="1" dirty="0" err="1">
                <a:latin typeface="Courier New" pitchFamily="49" charset="0"/>
                <a:cs typeface="Courier New" pitchFamily="49" charset="0"/>
              </a:rPr>
              <a:t>gcc</a:t>
            </a:r>
            <a:r>
              <a:rPr lang="en-US" b="1" dirty="0">
                <a:latin typeface="Courier New" pitchFamily="49" charset="0"/>
                <a:cs typeface="Courier New" pitchFamily="49" charset="0"/>
              </a:rPr>
              <a:t> Week6_FreezerMain.c Week6_FreezerTemp.c  -lm</a:t>
            </a:r>
          </a:p>
        </p:txBody>
      </p:sp>
      <p:grpSp>
        <p:nvGrpSpPr>
          <p:cNvPr id="2" name="Group 8"/>
          <p:cNvGrpSpPr>
            <a:grpSpLocks/>
          </p:cNvGrpSpPr>
          <p:nvPr/>
        </p:nvGrpSpPr>
        <p:grpSpPr bwMode="auto">
          <a:xfrm>
            <a:off x="4362450" y="2317750"/>
            <a:ext cx="2987675" cy="361950"/>
            <a:chOff x="4362450" y="2317750"/>
            <a:chExt cx="2987675" cy="361950"/>
          </a:xfrm>
        </p:grpSpPr>
        <p:sp>
          <p:nvSpPr>
            <p:cNvPr id="36872" name="Oval 9"/>
            <p:cNvSpPr>
              <a:spLocks noChangeArrowheads="1"/>
            </p:cNvSpPr>
            <p:nvPr/>
          </p:nvSpPr>
          <p:spPr bwMode="auto">
            <a:xfrm>
              <a:off x="4362450" y="2317750"/>
              <a:ext cx="284163" cy="349250"/>
            </a:xfrm>
            <a:prstGeom prst="ellipse">
              <a:avLst/>
            </a:prstGeom>
            <a:noFill/>
            <a:ln w="19050" cap="sq" algn="ctr">
              <a:solidFill>
                <a:srgbClr val="FF9900"/>
              </a:solidFill>
              <a:round/>
              <a:headEnd type="none" w="sm" len="sm"/>
              <a:tailEnd type="none" w="sm" len="sm"/>
            </a:ln>
          </p:spPr>
          <p:txBody>
            <a:bodyPr/>
            <a:lstStyle/>
            <a:p>
              <a:endParaRPr lang="en-US"/>
            </a:p>
          </p:txBody>
        </p:sp>
        <p:sp>
          <p:nvSpPr>
            <p:cNvPr id="36873" name="Oval 10"/>
            <p:cNvSpPr>
              <a:spLocks noChangeArrowheads="1"/>
            </p:cNvSpPr>
            <p:nvPr/>
          </p:nvSpPr>
          <p:spPr bwMode="auto">
            <a:xfrm>
              <a:off x="7067550" y="2330450"/>
              <a:ext cx="282575" cy="349250"/>
            </a:xfrm>
            <a:prstGeom prst="ellipse">
              <a:avLst/>
            </a:prstGeom>
            <a:noFill/>
            <a:ln w="19050" cap="sq" algn="ctr">
              <a:solidFill>
                <a:srgbClr val="FF9900"/>
              </a:solidFill>
              <a:round/>
              <a:headEnd type="none" w="sm" len="sm"/>
              <a:tailEnd type="none" w="sm" len="sm"/>
            </a:ln>
          </p:spPr>
          <p:txBody>
            <a:bodyPr/>
            <a:lstStyle/>
            <a:p>
              <a:endParaRPr lang="en-US"/>
            </a:p>
          </p:txBody>
        </p:sp>
      </p:gr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Flowchart: Punched Tape 77"/>
          <p:cNvSpPr>
            <a:spLocks noChangeArrowheads="1"/>
          </p:cNvSpPr>
          <p:nvPr/>
        </p:nvSpPr>
        <p:spPr bwMode="auto">
          <a:xfrm>
            <a:off x="936625" y="2341563"/>
            <a:ext cx="858838" cy="609600"/>
          </a:xfrm>
          <a:prstGeom prst="flowChartPunchedTape">
            <a:avLst/>
          </a:prstGeom>
          <a:solidFill>
            <a:srgbClr val="00B050">
              <a:alpha val="25098"/>
            </a:srgbClr>
          </a:solidFill>
          <a:ln w="12700" cap="sq" algn="ctr">
            <a:solidFill>
              <a:schemeClr val="tx1"/>
            </a:solidFill>
            <a:round/>
            <a:headEnd type="none" w="sm" len="sm"/>
            <a:tailEnd type="none" w="sm" len="sm"/>
          </a:ln>
        </p:spPr>
        <p:txBody>
          <a:bodyPr/>
          <a:lstStyle/>
          <a:p>
            <a:r>
              <a:rPr lang="en-US"/>
              <a:t>f1.h</a:t>
            </a:r>
          </a:p>
        </p:txBody>
      </p:sp>
      <p:sp>
        <p:nvSpPr>
          <p:cNvPr id="37891" name="Flowchart: Punched Tape 78"/>
          <p:cNvSpPr>
            <a:spLocks noChangeArrowheads="1"/>
          </p:cNvSpPr>
          <p:nvPr/>
        </p:nvSpPr>
        <p:spPr bwMode="auto">
          <a:xfrm>
            <a:off x="936625" y="3397250"/>
            <a:ext cx="858838" cy="609600"/>
          </a:xfrm>
          <a:prstGeom prst="flowChartPunchedTape">
            <a:avLst/>
          </a:prstGeom>
          <a:solidFill>
            <a:srgbClr val="00B050">
              <a:alpha val="25098"/>
            </a:srgbClr>
          </a:solidFill>
          <a:ln w="12700" cap="sq" algn="ctr">
            <a:solidFill>
              <a:schemeClr val="tx1"/>
            </a:solidFill>
            <a:round/>
            <a:headEnd type="none" w="sm" len="sm"/>
            <a:tailEnd type="none" w="sm" len="sm"/>
          </a:ln>
        </p:spPr>
        <p:txBody>
          <a:bodyPr/>
          <a:lstStyle/>
          <a:p>
            <a:r>
              <a:rPr lang="en-US"/>
              <a:t>f2.h</a:t>
            </a:r>
          </a:p>
        </p:txBody>
      </p:sp>
      <p:sp>
        <p:nvSpPr>
          <p:cNvPr id="37892" name="Flowchart: Punched Tape 79"/>
          <p:cNvSpPr>
            <a:spLocks noChangeArrowheads="1"/>
          </p:cNvSpPr>
          <p:nvPr/>
        </p:nvSpPr>
        <p:spPr bwMode="auto">
          <a:xfrm>
            <a:off x="936625" y="4440238"/>
            <a:ext cx="858838" cy="609600"/>
          </a:xfrm>
          <a:prstGeom prst="flowChartPunchedTape">
            <a:avLst/>
          </a:prstGeom>
          <a:solidFill>
            <a:srgbClr val="00B050">
              <a:alpha val="25098"/>
            </a:srgbClr>
          </a:solidFill>
          <a:ln w="12700" cap="sq" algn="ctr">
            <a:solidFill>
              <a:schemeClr val="tx1"/>
            </a:solidFill>
            <a:round/>
            <a:headEnd type="none" w="sm" len="sm"/>
            <a:tailEnd type="none" w="sm" len="sm"/>
          </a:ln>
        </p:spPr>
        <p:txBody>
          <a:bodyPr/>
          <a:lstStyle/>
          <a:p>
            <a:r>
              <a:rPr lang="en-US"/>
              <a:t>f3.h</a:t>
            </a:r>
          </a:p>
        </p:txBody>
      </p:sp>
      <p:sp>
        <p:nvSpPr>
          <p:cNvPr id="37893" name="Title 1"/>
          <p:cNvSpPr>
            <a:spLocks noGrp="1"/>
          </p:cNvSpPr>
          <p:nvPr>
            <p:ph type="title"/>
          </p:nvPr>
        </p:nvSpPr>
        <p:spPr/>
        <p:txBody>
          <a:bodyPr/>
          <a:lstStyle/>
          <a:p>
            <a:r>
              <a:rPr lang="en-US" dirty="0" smtClean="0"/>
              <a:t>9.2 Separate Compilation, Case 2 </a:t>
            </a:r>
          </a:p>
        </p:txBody>
      </p:sp>
      <p:sp>
        <p:nvSpPr>
          <p:cNvPr id="5" name="Slide Number Placeholder 4"/>
          <p:cNvSpPr>
            <a:spLocks noGrp="1"/>
          </p:cNvSpPr>
          <p:nvPr>
            <p:ph type="sldNum" sz="quarter" idx="12"/>
          </p:nvPr>
        </p:nvSpPr>
        <p:spPr/>
        <p:txBody>
          <a:bodyPr/>
          <a:lstStyle/>
          <a:p>
            <a:pPr>
              <a:defRPr/>
            </a:pPr>
            <a:r>
              <a:rPr dirty="0" smtClean="0"/>
              <a:t>Week6 - </a:t>
            </a:r>
            <a:fld id="{3496EC94-FC7E-4F5D-BA95-77B437773EC5}" type="slidenum">
              <a:rPr smtClean="0"/>
              <a:pPr>
                <a:defRPr/>
              </a:pPr>
              <a:t>39</a:t>
            </a:fld>
            <a:endParaRPr dirty="0"/>
          </a:p>
        </p:txBody>
      </p:sp>
      <p:sp>
        <p:nvSpPr>
          <p:cNvPr id="37896" name="Rounded Rectangle 24"/>
          <p:cNvSpPr>
            <a:spLocks noChangeArrowheads="1"/>
          </p:cNvSpPr>
          <p:nvPr/>
        </p:nvSpPr>
        <p:spPr bwMode="auto">
          <a:xfrm>
            <a:off x="2035175" y="2824163"/>
            <a:ext cx="1350963" cy="463550"/>
          </a:xfrm>
          <a:prstGeom prst="roundRect">
            <a:avLst>
              <a:gd name="adj" fmla="val 16667"/>
            </a:avLst>
          </a:prstGeom>
          <a:solidFill>
            <a:schemeClr val="accent1"/>
          </a:solidFill>
          <a:ln w="12700" cap="sq" algn="ctr">
            <a:solidFill>
              <a:schemeClr val="tx1"/>
            </a:solidFill>
            <a:round/>
            <a:headEnd type="none" w="sm" len="sm"/>
            <a:tailEnd type="none" w="sm" len="sm"/>
          </a:ln>
        </p:spPr>
        <p:txBody>
          <a:bodyPr/>
          <a:lstStyle/>
          <a:p>
            <a:r>
              <a:rPr lang="en-SG"/>
              <a:t>gcc -c</a:t>
            </a:r>
          </a:p>
        </p:txBody>
      </p:sp>
      <p:sp>
        <p:nvSpPr>
          <p:cNvPr id="37897" name="Flowchart: Punched Tape 6"/>
          <p:cNvSpPr>
            <a:spLocks noChangeArrowheads="1"/>
          </p:cNvSpPr>
          <p:nvPr/>
        </p:nvSpPr>
        <p:spPr bwMode="auto">
          <a:xfrm>
            <a:off x="838200" y="2754313"/>
            <a:ext cx="860425" cy="609600"/>
          </a:xfrm>
          <a:prstGeom prst="flowChartPunchedTape">
            <a:avLst/>
          </a:prstGeom>
          <a:solidFill>
            <a:srgbClr val="00B050"/>
          </a:solidFill>
          <a:ln w="12700" cap="sq" algn="ctr">
            <a:solidFill>
              <a:schemeClr val="tx1"/>
            </a:solidFill>
            <a:round/>
            <a:headEnd type="none" w="sm" len="sm"/>
            <a:tailEnd type="none" w="sm" len="sm"/>
          </a:ln>
        </p:spPr>
        <p:txBody>
          <a:bodyPr/>
          <a:lstStyle/>
          <a:p>
            <a:r>
              <a:rPr lang="en-US"/>
              <a:t>f1.c</a:t>
            </a:r>
          </a:p>
        </p:txBody>
      </p:sp>
      <p:sp>
        <p:nvSpPr>
          <p:cNvPr id="37898" name="Flowchart: Punched Tape 7"/>
          <p:cNvSpPr>
            <a:spLocks noChangeArrowheads="1"/>
          </p:cNvSpPr>
          <p:nvPr/>
        </p:nvSpPr>
        <p:spPr bwMode="auto">
          <a:xfrm>
            <a:off x="838200" y="3810000"/>
            <a:ext cx="860425" cy="609600"/>
          </a:xfrm>
          <a:prstGeom prst="flowChartPunchedTape">
            <a:avLst/>
          </a:prstGeom>
          <a:solidFill>
            <a:srgbClr val="00B050"/>
          </a:solidFill>
          <a:ln w="12700" cap="sq" algn="ctr">
            <a:solidFill>
              <a:schemeClr val="tx1"/>
            </a:solidFill>
            <a:round/>
            <a:headEnd type="none" w="sm" len="sm"/>
            <a:tailEnd type="none" w="sm" len="sm"/>
          </a:ln>
        </p:spPr>
        <p:txBody>
          <a:bodyPr/>
          <a:lstStyle/>
          <a:p>
            <a:r>
              <a:rPr lang="en-US"/>
              <a:t>f2.c</a:t>
            </a:r>
          </a:p>
        </p:txBody>
      </p:sp>
      <p:sp>
        <p:nvSpPr>
          <p:cNvPr id="37899" name="Flowchart: Punched Tape 8"/>
          <p:cNvSpPr>
            <a:spLocks noChangeArrowheads="1"/>
          </p:cNvSpPr>
          <p:nvPr/>
        </p:nvSpPr>
        <p:spPr bwMode="auto">
          <a:xfrm>
            <a:off x="838200" y="4854575"/>
            <a:ext cx="860425" cy="609600"/>
          </a:xfrm>
          <a:prstGeom prst="flowChartPunchedTape">
            <a:avLst/>
          </a:prstGeom>
          <a:solidFill>
            <a:srgbClr val="00B050"/>
          </a:solidFill>
          <a:ln w="12700" cap="sq" algn="ctr">
            <a:solidFill>
              <a:schemeClr val="tx1"/>
            </a:solidFill>
            <a:round/>
            <a:headEnd type="none" w="sm" len="sm"/>
            <a:tailEnd type="none" w="sm" len="sm"/>
          </a:ln>
        </p:spPr>
        <p:txBody>
          <a:bodyPr/>
          <a:lstStyle/>
          <a:p>
            <a:r>
              <a:rPr lang="en-US"/>
              <a:t>f3.c</a:t>
            </a:r>
          </a:p>
        </p:txBody>
      </p:sp>
      <p:sp>
        <p:nvSpPr>
          <p:cNvPr id="37900" name="Rounded Rectangle 24"/>
          <p:cNvSpPr>
            <a:spLocks noChangeArrowheads="1"/>
          </p:cNvSpPr>
          <p:nvPr/>
        </p:nvSpPr>
        <p:spPr bwMode="auto">
          <a:xfrm>
            <a:off x="2035175" y="3890963"/>
            <a:ext cx="1350963" cy="463550"/>
          </a:xfrm>
          <a:prstGeom prst="roundRect">
            <a:avLst>
              <a:gd name="adj" fmla="val 16667"/>
            </a:avLst>
          </a:prstGeom>
          <a:solidFill>
            <a:schemeClr val="accent1"/>
          </a:solidFill>
          <a:ln w="12700" cap="sq" algn="ctr">
            <a:solidFill>
              <a:schemeClr val="tx1"/>
            </a:solidFill>
            <a:round/>
            <a:headEnd type="none" w="sm" len="sm"/>
            <a:tailEnd type="none" w="sm" len="sm"/>
          </a:ln>
        </p:spPr>
        <p:txBody>
          <a:bodyPr/>
          <a:lstStyle/>
          <a:p>
            <a:r>
              <a:rPr lang="en-SG"/>
              <a:t>gcc -c</a:t>
            </a:r>
          </a:p>
        </p:txBody>
      </p:sp>
      <p:sp>
        <p:nvSpPr>
          <p:cNvPr id="37901" name="Rounded Rectangle 24"/>
          <p:cNvSpPr>
            <a:spLocks noChangeArrowheads="1"/>
          </p:cNvSpPr>
          <p:nvPr/>
        </p:nvSpPr>
        <p:spPr bwMode="auto">
          <a:xfrm>
            <a:off x="2035175" y="4924425"/>
            <a:ext cx="1350963" cy="463550"/>
          </a:xfrm>
          <a:prstGeom prst="roundRect">
            <a:avLst>
              <a:gd name="adj" fmla="val 16667"/>
            </a:avLst>
          </a:prstGeom>
          <a:solidFill>
            <a:schemeClr val="accent1"/>
          </a:solidFill>
          <a:ln w="12700" cap="sq" algn="ctr">
            <a:solidFill>
              <a:schemeClr val="tx1"/>
            </a:solidFill>
            <a:round/>
            <a:headEnd type="none" w="sm" len="sm"/>
            <a:tailEnd type="none" w="sm" len="sm"/>
          </a:ln>
        </p:spPr>
        <p:txBody>
          <a:bodyPr/>
          <a:lstStyle/>
          <a:p>
            <a:r>
              <a:rPr lang="en-SG"/>
              <a:t>gcc -c</a:t>
            </a:r>
          </a:p>
        </p:txBody>
      </p:sp>
      <p:sp>
        <p:nvSpPr>
          <p:cNvPr id="37902" name="Flowchart: Punched Tape 11"/>
          <p:cNvSpPr>
            <a:spLocks noChangeArrowheads="1"/>
          </p:cNvSpPr>
          <p:nvPr/>
        </p:nvSpPr>
        <p:spPr bwMode="auto">
          <a:xfrm>
            <a:off x="3722688" y="2765425"/>
            <a:ext cx="882650" cy="609600"/>
          </a:xfrm>
          <a:prstGeom prst="flowChartPunchedTape">
            <a:avLst/>
          </a:prstGeom>
          <a:solidFill>
            <a:srgbClr val="FFC000"/>
          </a:solidFill>
          <a:ln w="12700" cap="sq" algn="ctr">
            <a:solidFill>
              <a:schemeClr val="tx1"/>
            </a:solidFill>
            <a:round/>
            <a:headEnd type="none" w="sm" len="sm"/>
            <a:tailEnd type="none" w="sm" len="sm"/>
          </a:ln>
        </p:spPr>
        <p:txBody>
          <a:bodyPr/>
          <a:lstStyle/>
          <a:p>
            <a:r>
              <a:rPr lang="en-US"/>
              <a:t>f1.o</a:t>
            </a:r>
          </a:p>
        </p:txBody>
      </p:sp>
      <p:sp>
        <p:nvSpPr>
          <p:cNvPr id="37903" name="Flowchart: Punched Tape 12"/>
          <p:cNvSpPr>
            <a:spLocks noChangeArrowheads="1"/>
          </p:cNvSpPr>
          <p:nvPr/>
        </p:nvSpPr>
        <p:spPr bwMode="auto">
          <a:xfrm>
            <a:off x="3722688" y="3821113"/>
            <a:ext cx="882650" cy="609600"/>
          </a:xfrm>
          <a:prstGeom prst="flowChartPunchedTape">
            <a:avLst/>
          </a:prstGeom>
          <a:solidFill>
            <a:srgbClr val="FFC000"/>
          </a:solidFill>
          <a:ln w="12700" cap="sq" algn="ctr">
            <a:solidFill>
              <a:schemeClr val="tx1"/>
            </a:solidFill>
            <a:round/>
            <a:headEnd type="none" w="sm" len="sm"/>
            <a:tailEnd type="none" w="sm" len="sm"/>
          </a:ln>
        </p:spPr>
        <p:txBody>
          <a:bodyPr/>
          <a:lstStyle/>
          <a:p>
            <a:r>
              <a:rPr lang="en-US"/>
              <a:t>f2.o</a:t>
            </a:r>
          </a:p>
        </p:txBody>
      </p:sp>
      <p:sp>
        <p:nvSpPr>
          <p:cNvPr id="37904" name="Flowchart: Punched Tape 13"/>
          <p:cNvSpPr>
            <a:spLocks noChangeArrowheads="1"/>
          </p:cNvSpPr>
          <p:nvPr/>
        </p:nvSpPr>
        <p:spPr bwMode="auto">
          <a:xfrm>
            <a:off x="3722688" y="4854575"/>
            <a:ext cx="882650" cy="609600"/>
          </a:xfrm>
          <a:prstGeom prst="flowChartPunchedTape">
            <a:avLst/>
          </a:prstGeom>
          <a:solidFill>
            <a:srgbClr val="FFC000"/>
          </a:solidFill>
          <a:ln w="12700" cap="sq" algn="ctr">
            <a:solidFill>
              <a:schemeClr val="tx1"/>
            </a:solidFill>
            <a:round/>
            <a:headEnd type="none" w="sm" len="sm"/>
            <a:tailEnd type="none" w="sm" len="sm"/>
          </a:ln>
        </p:spPr>
        <p:txBody>
          <a:bodyPr/>
          <a:lstStyle/>
          <a:p>
            <a:r>
              <a:rPr lang="en-US"/>
              <a:t>f3.o</a:t>
            </a:r>
          </a:p>
        </p:txBody>
      </p:sp>
      <p:sp>
        <p:nvSpPr>
          <p:cNvPr id="37905" name="Flowchart: Punched Tape 16"/>
          <p:cNvSpPr>
            <a:spLocks noChangeArrowheads="1"/>
          </p:cNvSpPr>
          <p:nvPr/>
        </p:nvSpPr>
        <p:spPr bwMode="auto">
          <a:xfrm>
            <a:off x="838200" y="5584825"/>
            <a:ext cx="860425" cy="609600"/>
          </a:xfrm>
          <a:prstGeom prst="flowChartPunchedTape">
            <a:avLst/>
          </a:prstGeom>
          <a:solidFill>
            <a:srgbClr val="00B050"/>
          </a:solidFill>
          <a:ln w="12700" cap="sq" algn="ctr">
            <a:solidFill>
              <a:schemeClr val="tx1"/>
            </a:solidFill>
            <a:round/>
            <a:headEnd type="none" w="sm" len="sm"/>
            <a:tailEnd type="none" w="sm" len="sm"/>
          </a:ln>
        </p:spPr>
        <p:txBody>
          <a:bodyPr/>
          <a:lstStyle/>
          <a:p>
            <a:r>
              <a:rPr lang="en-US"/>
              <a:t>main.c</a:t>
            </a:r>
          </a:p>
        </p:txBody>
      </p:sp>
      <p:sp>
        <p:nvSpPr>
          <p:cNvPr id="37906" name="Rounded Rectangle 24"/>
          <p:cNvSpPr>
            <a:spLocks noChangeArrowheads="1"/>
          </p:cNvSpPr>
          <p:nvPr/>
        </p:nvSpPr>
        <p:spPr bwMode="auto">
          <a:xfrm>
            <a:off x="2035175" y="5653088"/>
            <a:ext cx="1350963" cy="465137"/>
          </a:xfrm>
          <a:prstGeom prst="roundRect">
            <a:avLst>
              <a:gd name="adj" fmla="val 16667"/>
            </a:avLst>
          </a:prstGeom>
          <a:solidFill>
            <a:schemeClr val="accent1"/>
          </a:solidFill>
          <a:ln w="12700" cap="sq" algn="ctr">
            <a:solidFill>
              <a:schemeClr val="tx1"/>
            </a:solidFill>
            <a:round/>
            <a:headEnd type="none" w="sm" len="sm"/>
            <a:tailEnd type="none" w="sm" len="sm"/>
          </a:ln>
        </p:spPr>
        <p:txBody>
          <a:bodyPr/>
          <a:lstStyle/>
          <a:p>
            <a:r>
              <a:rPr lang="en-SG"/>
              <a:t>gcc -c</a:t>
            </a:r>
          </a:p>
        </p:txBody>
      </p:sp>
      <p:sp>
        <p:nvSpPr>
          <p:cNvPr id="37907" name="Flowchart: Punched Tape 18"/>
          <p:cNvSpPr>
            <a:spLocks noChangeArrowheads="1"/>
          </p:cNvSpPr>
          <p:nvPr/>
        </p:nvSpPr>
        <p:spPr bwMode="auto">
          <a:xfrm>
            <a:off x="3722688" y="5584825"/>
            <a:ext cx="882650" cy="609600"/>
          </a:xfrm>
          <a:prstGeom prst="flowChartPunchedTape">
            <a:avLst/>
          </a:prstGeom>
          <a:solidFill>
            <a:srgbClr val="FFC000"/>
          </a:solidFill>
          <a:ln w="12700" cap="sq" algn="ctr">
            <a:solidFill>
              <a:schemeClr val="tx1"/>
            </a:solidFill>
            <a:round/>
            <a:headEnd type="none" w="sm" len="sm"/>
            <a:tailEnd type="none" w="sm" len="sm"/>
          </a:ln>
        </p:spPr>
        <p:txBody>
          <a:bodyPr/>
          <a:lstStyle/>
          <a:p>
            <a:r>
              <a:rPr lang="en-US"/>
              <a:t>main.o</a:t>
            </a:r>
          </a:p>
        </p:txBody>
      </p:sp>
      <p:sp>
        <p:nvSpPr>
          <p:cNvPr id="37908" name="Rounded Rectangle 24"/>
          <p:cNvSpPr>
            <a:spLocks noChangeArrowheads="1"/>
          </p:cNvSpPr>
          <p:nvPr/>
        </p:nvSpPr>
        <p:spPr bwMode="auto">
          <a:xfrm>
            <a:off x="5495925" y="4184650"/>
            <a:ext cx="1350963" cy="474663"/>
          </a:xfrm>
          <a:prstGeom prst="roundRect">
            <a:avLst>
              <a:gd name="adj" fmla="val 16667"/>
            </a:avLst>
          </a:prstGeom>
          <a:solidFill>
            <a:srgbClr val="996600"/>
          </a:solidFill>
          <a:ln w="12700" cap="sq" algn="ctr">
            <a:solidFill>
              <a:schemeClr val="tx1"/>
            </a:solidFill>
            <a:round/>
            <a:headEnd type="none" w="sm" len="sm"/>
            <a:tailEnd type="none" w="sm" len="sm"/>
          </a:ln>
        </p:spPr>
        <p:txBody>
          <a:bodyPr/>
          <a:lstStyle/>
          <a:p>
            <a:r>
              <a:rPr lang="en-SG"/>
              <a:t>gcc</a:t>
            </a:r>
          </a:p>
        </p:txBody>
      </p:sp>
      <p:sp>
        <p:nvSpPr>
          <p:cNvPr id="37909" name="Flowchart: Punched Tape 20"/>
          <p:cNvSpPr>
            <a:spLocks noChangeArrowheads="1"/>
          </p:cNvSpPr>
          <p:nvPr/>
        </p:nvSpPr>
        <p:spPr bwMode="auto">
          <a:xfrm>
            <a:off x="7588250" y="4114800"/>
            <a:ext cx="869950" cy="609600"/>
          </a:xfrm>
          <a:prstGeom prst="flowChartPunchedTape">
            <a:avLst/>
          </a:prstGeom>
          <a:solidFill>
            <a:srgbClr val="FF0000"/>
          </a:solidFill>
          <a:ln w="12700" cap="sq" algn="ctr">
            <a:solidFill>
              <a:schemeClr val="tx1"/>
            </a:solidFill>
            <a:round/>
            <a:headEnd type="none" w="sm" len="sm"/>
            <a:tailEnd type="none" w="sm" len="sm"/>
          </a:ln>
        </p:spPr>
        <p:txBody>
          <a:bodyPr/>
          <a:lstStyle/>
          <a:p>
            <a:r>
              <a:rPr lang="en-US"/>
              <a:t>a.out</a:t>
            </a:r>
          </a:p>
        </p:txBody>
      </p:sp>
      <p:sp>
        <p:nvSpPr>
          <p:cNvPr id="37910" name="TextBox 21"/>
          <p:cNvSpPr txBox="1">
            <a:spLocks noChangeArrowheads="1"/>
          </p:cNvSpPr>
          <p:nvPr/>
        </p:nvSpPr>
        <p:spPr bwMode="auto">
          <a:xfrm>
            <a:off x="795338" y="1328738"/>
            <a:ext cx="914400" cy="922337"/>
          </a:xfrm>
          <a:prstGeom prst="rect">
            <a:avLst/>
          </a:prstGeom>
          <a:noFill/>
          <a:ln w="9525">
            <a:noFill/>
            <a:miter lim="800000"/>
            <a:headEnd/>
            <a:tailEnd/>
          </a:ln>
        </p:spPr>
        <p:txBody>
          <a:bodyPr wrap="none">
            <a:spAutoFit/>
          </a:bodyPr>
          <a:lstStyle/>
          <a:p>
            <a:pPr algn="ctr"/>
            <a:r>
              <a:rPr lang="en-US"/>
              <a:t>Source</a:t>
            </a:r>
            <a:br>
              <a:rPr lang="en-US"/>
            </a:br>
            <a:r>
              <a:rPr lang="en-US"/>
              <a:t>files</a:t>
            </a:r>
            <a:br>
              <a:rPr lang="en-US"/>
            </a:br>
            <a:r>
              <a:rPr lang="en-US"/>
              <a:t>.c &amp; .h</a:t>
            </a:r>
          </a:p>
        </p:txBody>
      </p:sp>
      <p:sp>
        <p:nvSpPr>
          <p:cNvPr id="37911" name="TextBox 22"/>
          <p:cNvSpPr txBox="1">
            <a:spLocks noChangeArrowheads="1"/>
          </p:cNvSpPr>
          <p:nvPr/>
        </p:nvSpPr>
        <p:spPr bwMode="auto">
          <a:xfrm>
            <a:off x="2014538" y="2254250"/>
            <a:ext cx="1401762" cy="368300"/>
          </a:xfrm>
          <a:prstGeom prst="rect">
            <a:avLst/>
          </a:prstGeom>
          <a:noFill/>
          <a:ln w="9525">
            <a:noFill/>
            <a:miter lim="800000"/>
            <a:headEnd/>
            <a:tailEnd/>
          </a:ln>
        </p:spPr>
        <p:txBody>
          <a:bodyPr wrap="none">
            <a:spAutoFit/>
          </a:bodyPr>
          <a:lstStyle/>
          <a:p>
            <a:r>
              <a:rPr lang="en-US"/>
              <a:t>Compilation</a:t>
            </a:r>
          </a:p>
        </p:txBody>
      </p:sp>
      <p:sp>
        <p:nvSpPr>
          <p:cNvPr id="37912" name="TextBox 23"/>
          <p:cNvSpPr txBox="1">
            <a:spLocks noChangeArrowheads="1"/>
          </p:cNvSpPr>
          <p:nvPr/>
        </p:nvSpPr>
        <p:spPr bwMode="auto">
          <a:xfrm>
            <a:off x="3733800" y="2101850"/>
            <a:ext cx="850900" cy="646113"/>
          </a:xfrm>
          <a:prstGeom prst="rect">
            <a:avLst/>
          </a:prstGeom>
          <a:noFill/>
          <a:ln w="9525">
            <a:noFill/>
            <a:miter lim="800000"/>
            <a:headEnd/>
            <a:tailEnd/>
          </a:ln>
        </p:spPr>
        <p:txBody>
          <a:bodyPr wrap="none">
            <a:spAutoFit/>
          </a:bodyPr>
          <a:lstStyle/>
          <a:p>
            <a:pPr algn="ctr"/>
            <a:r>
              <a:rPr lang="en-US"/>
              <a:t>Object</a:t>
            </a:r>
            <a:br>
              <a:rPr lang="en-US"/>
            </a:br>
            <a:r>
              <a:rPr lang="en-US"/>
              <a:t>files</a:t>
            </a:r>
          </a:p>
        </p:txBody>
      </p:sp>
      <p:sp>
        <p:nvSpPr>
          <p:cNvPr id="37913" name="TextBox 25"/>
          <p:cNvSpPr txBox="1">
            <a:spLocks noChangeArrowheads="1"/>
          </p:cNvSpPr>
          <p:nvPr/>
        </p:nvSpPr>
        <p:spPr bwMode="auto">
          <a:xfrm>
            <a:off x="6977063" y="2220913"/>
            <a:ext cx="890587" cy="646112"/>
          </a:xfrm>
          <a:prstGeom prst="rect">
            <a:avLst/>
          </a:prstGeom>
          <a:noFill/>
          <a:ln w="9525">
            <a:noFill/>
            <a:miter lim="800000"/>
            <a:headEnd/>
            <a:tailEnd/>
          </a:ln>
        </p:spPr>
        <p:txBody>
          <a:bodyPr wrap="none">
            <a:spAutoFit/>
          </a:bodyPr>
          <a:lstStyle/>
          <a:p>
            <a:pPr algn="ctr"/>
            <a:r>
              <a:rPr lang="en-US"/>
              <a:t>Library</a:t>
            </a:r>
            <a:br>
              <a:rPr lang="en-US"/>
            </a:br>
            <a:r>
              <a:rPr lang="en-US"/>
              <a:t>file</a:t>
            </a:r>
          </a:p>
        </p:txBody>
      </p:sp>
      <p:sp>
        <p:nvSpPr>
          <p:cNvPr id="37914" name="TextBox 26"/>
          <p:cNvSpPr txBox="1">
            <a:spLocks noChangeArrowheads="1"/>
          </p:cNvSpPr>
          <p:nvPr/>
        </p:nvSpPr>
        <p:spPr bwMode="auto">
          <a:xfrm>
            <a:off x="5661025" y="4941888"/>
            <a:ext cx="915988" cy="369887"/>
          </a:xfrm>
          <a:prstGeom prst="rect">
            <a:avLst/>
          </a:prstGeom>
          <a:noFill/>
          <a:ln w="9525">
            <a:noFill/>
            <a:miter lim="800000"/>
            <a:headEnd/>
            <a:tailEnd/>
          </a:ln>
        </p:spPr>
        <p:txBody>
          <a:bodyPr wrap="none">
            <a:spAutoFit/>
          </a:bodyPr>
          <a:lstStyle/>
          <a:p>
            <a:r>
              <a:rPr lang="en-US"/>
              <a:t>Linking</a:t>
            </a:r>
          </a:p>
        </p:txBody>
      </p:sp>
      <p:cxnSp>
        <p:nvCxnSpPr>
          <p:cNvPr id="37915" name="Straight Arrow Connector 28"/>
          <p:cNvCxnSpPr>
            <a:cxnSpLocks noChangeShapeType="1"/>
            <a:stCxn id="37897" idx="3"/>
            <a:endCxn id="37896" idx="1"/>
          </p:cNvCxnSpPr>
          <p:nvPr/>
        </p:nvCxnSpPr>
        <p:spPr bwMode="auto">
          <a:xfrm flipV="1">
            <a:off x="1698625" y="3055938"/>
            <a:ext cx="336550" cy="3175"/>
          </a:xfrm>
          <a:prstGeom prst="straightConnector1">
            <a:avLst/>
          </a:prstGeom>
          <a:noFill/>
          <a:ln w="12700" cap="sq" algn="ctr">
            <a:solidFill>
              <a:schemeClr val="tx1"/>
            </a:solidFill>
            <a:round/>
            <a:headEnd type="none" w="sm" len="sm"/>
            <a:tailEnd type="arrow" w="med" len="med"/>
          </a:ln>
        </p:spPr>
      </p:cxnSp>
      <p:cxnSp>
        <p:nvCxnSpPr>
          <p:cNvPr id="37916" name="Straight Arrow Connector 30"/>
          <p:cNvCxnSpPr>
            <a:cxnSpLocks noChangeShapeType="1"/>
            <a:stCxn id="37898" idx="3"/>
            <a:endCxn id="37900" idx="1"/>
          </p:cNvCxnSpPr>
          <p:nvPr/>
        </p:nvCxnSpPr>
        <p:spPr bwMode="auto">
          <a:xfrm>
            <a:off x="1698625" y="4114800"/>
            <a:ext cx="336550" cy="7938"/>
          </a:xfrm>
          <a:prstGeom prst="straightConnector1">
            <a:avLst/>
          </a:prstGeom>
          <a:noFill/>
          <a:ln w="12700" cap="sq" algn="ctr">
            <a:solidFill>
              <a:schemeClr val="tx1"/>
            </a:solidFill>
            <a:round/>
            <a:headEnd type="none" w="sm" len="sm"/>
            <a:tailEnd type="arrow" w="med" len="med"/>
          </a:ln>
        </p:spPr>
      </p:cxnSp>
      <p:cxnSp>
        <p:nvCxnSpPr>
          <p:cNvPr id="37917" name="Straight Arrow Connector 32"/>
          <p:cNvCxnSpPr>
            <a:cxnSpLocks noChangeShapeType="1"/>
            <a:stCxn id="37899" idx="3"/>
            <a:endCxn id="37901" idx="1"/>
          </p:cNvCxnSpPr>
          <p:nvPr/>
        </p:nvCxnSpPr>
        <p:spPr bwMode="auto">
          <a:xfrm flipV="1">
            <a:off x="1698625" y="5156200"/>
            <a:ext cx="336550" cy="3175"/>
          </a:xfrm>
          <a:prstGeom prst="straightConnector1">
            <a:avLst/>
          </a:prstGeom>
          <a:noFill/>
          <a:ln w="12700" cap="sq" algn="ctr">
            <a:solidFill>
              <a:schemeClr val="tx1"/>
            </a:solidFill>
            <a:round/>
            <a:headEnd type="none" w="sm" len="sm"/>
            <a:tailEnd type="arrow" w="med" len="med"/>
          </a:ln>
        </p:spPr>
      </p:cxnSp>
      <p:cxnSp>
        <p:nvCxnSpPr>
          <p:cNvPr id="37918" name="Straight Arrow Connector 34"/>
          <p:cNvCxnSpPr>
            <a:cxnSpLocks noChangeShapeType="1"/>
            <a:stCxn id="37896" idx="3"/>
            <a:endCxn id="37902" idx="1"/>
          </p:cNvCxnSpPr>
          <p:nvPr/>
        </p:nvCxnSpPr>
        <p:spPr bwMode="auto">
          <a:xfrm>
            <a:off x="3386138" y="3055938"/>
            <a:ext cx="336550" cy="14287"/>
          </a:xfrm>
          <a:prstGeom prst="straightConnector1">
            <a:avLst/>
          </a:prstGeom>
          <a:noFill/>
          <a:ln w="12700" cap="sq" algn="ctr">
            <a:solidFill>
              <a:schemeClr val="tx1"/>
            </a:solidFill>
            <a:round/>
            <a:headEnd type="none" w="sm" len="sm"/>
            <a:tailEnd type="arrow" w="med" len="med"/>
          </a:ln>
        </p:spPr>
      </p:cxnSp>
      <p:cxnSp>
        <p:nvCxnSpPr>
          <p:cNvPr id="37919" name="Straight Arrow Connector 38"/>
          <p:cNvCxnSpPr>
            <a:cxnSpLocks noChangeShapeType="1"/>
            <a:stCxn id="37900" idx="3"/>
            <a:endCxn id="37903" idx="1"/>
          </p:cNvCxnSpPr>
          <p:nvPr/>
        </p:nvCxnSpPr>
        <p:spPr bwMode="auto">
          <a:xfrm>
            <a:off x="3386138" y="4122738"/>
            <a:ext cx="336550" cy="3175"/>
          </a:xfrm>
          <a:prstGeom prst="straightConnector1">
            <a:avLst/>
          </a:prstGeom>
          <a:noFill/>
          <a:ln w="12700" cap="sq" algn="ctr">
            <a:solidFill>
              <a:schemeClr val="tx1"/>
            </a:solidFill>
            <a:round/>
            <a:headEnd type="none" w="sm" len="sm"/>
            <a:tailEnd type="arrow" w="med" len="med"/>
          </a:ln>
        </p:spPr>
      </p:cxnSp>
      <p:cxnSp>
        <p:nvCxnSpPr>
          <p:cNvPr id="37920" name="Straight Arrow Connector 48"/>
          <p:cNvCxnSpPr>
            <a:cxnSpLocks noChangeShapeType="1"/>
            <a:stCxn id="37901" idx="3"/>
            <a:endCxn id="37904" idx="1"/>
          </p:cNvCxnSpPr>
          <p:nvPr/>
        </p:nvCxnSpPr>
        <p:spPr bwMode="auto">
          <a:xfrm>
            <a:off x="3386138" y="5156200"/>
            <a:ext cx="336550" cy="3175"/>
          </a:xfrm>
          <a:prstGeom prst="straightConnector1">
            <a:avLst/>
          </a:prstGeom>
          <a:noFill/>
          <a:ln w="12700" cap="sq" algn="ctr">
            <a:solidFill>
              <a:schemeClr val="tx1"/>
            </a:solidFill>
            <a:round/>
            <a:headEnd type="none" w="sm" len="sm"/>
            <a:tailEnd type="arrow" w="med" len="med"/>
          </a:ln>
        </p:spPr>
      </p:cxnSp>
      <p:cxnSp>
        <p:nvCxnSpPr>
          <p:cNvPr id="37921" name="Straight Arrow Connector 52"/>
          <p:cNvCxnSpPr>
            <a:cxnSpLocks noChangeShapeType="1"/>
            <a:stCxn id="37902" idx="3"/>
            <a:endCxn id="37908" idx="1"/>
          </p:cNvCxnSpPr>
          <p:nvPr/>
        </p:nvCxnSpPr>
        <p:spPr bwMode="auto">
          <a:xfrm>
            <a:off x="4605338" y="3070225"/>
            <a:ext cx="890587" cy="1350963"/>
          </a:xfrm>
          <a:prstGeom prst="straightConnector1">
            <a:avLst/>
          </a:prstGeom>
          <a:noFill/>
          <a:ln w="12700" cap="sq" algn="ctr">
            <a:solidFill>
              <a:schemeClr val="tx1"/>
            </a:solidFill>
            <a:round/>
            <a:headEnd type="none" w="sm" len="sm"/>
            <a:tailEnd type="arrow" w="med" len="med"/>
          </a:ln>
        </p:spPr>
      </p:cxnSp>
      <p:cxnSp>
        <p:nvCxnSpPr>
          <p:cNvPr id="37922" name="Straight Arrow Connector 54"/>
          <p:cNvCxnSpPr>
            <a:cxnSpLocks noChangeShapeType="1"/>
            <a:stCxn id="37903" idx="3"/>
            <a:endCxn id="37908" idx="1"/>
          </p:cNvCxnSpPr>
          <p:nvPr/>
        </p:nvCxnSpPr>
        <p:spPr bwMode="auto">
          <a:xfrm>
            <a:off x="4605338" y="4125913"/>
            <a:ext cx="890587" cy="295275"/>
          </a:xfrm>
          <a:prstGeom prst="straightConnector1">
            <a:avLst/>
          </a:prstGeom>
          <a:noFill/>
          <a:ln w="12700" cap="sq" algn="ctr">
            <a:solidFill>
              <a:schemeClr val="tx1"/>
            </a:solidFill>
            <a:round/>
            <a:headEnd type="none" w="sm" len="sm"/>
            <a:tailEnd type="arrow" w="med" len="med"/>
          </a:ln>
        </p:spPr>
      </p:cxnSp>
      <p:cxnSp>
        <p:nvCxnSpPr>
          <p:cNvPr id="37923" name="Straight Arrow Connector 56"/>
          <p:cNvCxnSpPr>
            <a:cxnSpLocks noChangeShapeType="1"/>
            <a:stCxn id="37904" idx="3"/>
            <a:endCxn id="37908" idx="1"/>
          </p:cNvCxnSpPr>
          <p:nvPr/>
        </p:nvCxnSpPr>
        <p:spPr bwMode="auto">
          <a:xfrm flipV="1">
            <a:off x="4605338" y="4421188"/>
            <a:ext cx="890587" cy="738187"/>
          </a:xfrm>
          <a:prstGeom prst="straightConnector1">
            <a:avLst/>
          </a:prstGeom>
          <a:noFill/>
          <a:ln w="12700" cap="sq" algn="ctr">
            <a:solidFill>
              <a:schemeClr val="tx1"/>
            </a:solidFill>
            <a:round/>
            <a:headEnd type="none" w="sm" len="sm"/>
            <a:tailEnd type="arrow" w="med" len="med"/>
          </a:ln>
        </p:spPr>
      </p:cxnSp>
      <p:cxnSp>
        <p:nvCxnSpPr>
          <p:cNvPr id="37924" name="Straight Arrow Connector 60"/>
          <p:cNvCxnSpPr>
            <a:cxnSpLocks noChangeShapeType="1"/>
            <a:stCxn id="37905" idx="3"/>
            <a:endCxn id="37906" idx="1"/>
          </p:cNvCxnSpPr>
          <p:nvPr/>
        </p:nvCxnSpPr>
        <p:spPr bwMode="auto">
          <a:xfrm flipV="1">
            <a:off x="1698625" y="5884863"/>
            <a:ext cx="336550" cy="4762"/>
          </a:xfrm>
          <a:prstGeom prst="straightConnector1">
            <a:avLst/>
          </a:prstGeom>
          <a:noFill/>
          <a:ln w="12700" cap="sq" algn="ctr">
            <a:solidFill>
              <a:schemeClr val="tx1"/>
            </a:solidFill>
            <a:round/>
            <a:headEnd type="none" w="sm" len="sm"/>
            <a:tailEnd type="arrow" w="med" len="med"/>
          </a:ln>
        </p:spPr>
      </p:cxnSp>
      <p:cxnSp>
        <p:nvCxnSpPr>
          <p:cNvPr id="37925" name="Straight Arrow Connector 62"/>
          <p:cNvCxnSpPr>
            <a:cxnSpLocks noChangeShapeType="1"/>
            <a:stCxn id="37906" idx="3"/>
            <a:endCxn id="37907" idx="1"/>
          </p:cNvCxnSpPr>
          <p:nvPr/>
        </p:nvCxnSpPr>
        <p:spPr bwMode="auto">
          <a:xfrm>
            <a:off x="3386138" y="5884863"/>
            <a:ext cx="336550" cy="4762"/>
          </a:xfrm>
          <a:prstGeom prst="straightConnector1">
            <a:avLst/>
          </a:prstGeom>
          <a:noFill/>
          <a:ln w="12700" cap="sq" algn="ctr">
            <a:solidFill>
              <a:schemeClr val="tx1"/>
            </a:solidFill>
            <a:round/>
            <a:headEnd type="none" w="sm" len="sm"/>
            <a:tailEnd type="arrow" w="med" len="med"/>
          </a:ln>
        </p:spPr>
      </p:cxnSp>
      <p:cxnSp>
        <p:nvCxnSpPr>
          <p:cNvPr id="37926" name="Straight Arrow Connector 64"/>
          <p:cNvCxnSpPr>
            <a:cxnSpLocks noChangeShapeType="1"/>
            <a:stCxn id="37907" idx="3"/>
            <a:endCxn id="37908" idx="1"/>
          </p:cNvCxnSpPr>
          <p:nvPr/>
        </p:nvCxnSpPr>
        <p:spPr bwMode="auto">
          <a:xfrm flipV="1">
            <a:off x="4605338" y="4421188"/>
            <a:ext cx="890587" cy="1468437"/>
          </a:xfrm>
          <a:prstGeom prst="straightConnector1">
            <a:avLst/>
          </a:prstGeom>
          <a:noFill/>
          <a:ln w="12700" cap="sq" algn="ctr">
            <a:solidFill>
              <a:schemeClr val="tx1"/>
            </a:solidFill>
            <a:round/>
            <a:headEnd type="none" w="sm" len="sm"/>
            <a:tailEnd type="arrow" w="med" len="med"/>
          </a:ln>
        </p:spPr>
      </p:cxnSp>
      <p:cxnSp>
        <p:nvCxnSpPr>
          <p:cNvPr id="37927" name="Straight Arrow Connector 68"/>
          <p:cNvCxnSpPr>
            <a:cxnSpLocks noChangeShapeType="1"/>
            <a:stCxn id="37908" idx="3"/>
            <a:endCxn id="37909" idx="1"/>
          </p:cNvCxnSpPr>
          <p:nvPr/>
        </p:nvCxnSpPr>
        <p:spPr bwMode="auto">
          <a:xfrm flipV="1">
            <a:off x="6846888" y="4419600"/>
            <a:ext cx="741362" cy="1588"/>
          </a:xfrm>
          <a:prstGeom prst="straightConnector1">
            <a:avLst/>
          </a:prstGeom>
          <a:noFill/>
          <a:ln w="12700" cap="sq" algn="ctr">
            <a:solidFill>
              <a:schemeClr val="tx1"/>
            </a:solidFill>
            <a:round/>
            <a:headEnd type="none" w="sm" len="sm"/>
            <a:tailEnd type="arrow" w="med" len="med"/>
          </a:ln>
        </p:spPr>
      </p:cxnSp>
      <p:sp>
        <p:nvSpPr>
          <p:cNvPr id="37928" name="TextBox 75"/>
          <p:cNvSpPr txBox="1">
            <a:spLocks noChangeArrowheads="1"/>
          </p:cNvSpPr>
          <p:nvPr/>
        </p:nvSpPr>
        <p:spPr bwMode="auto">
          <a:xfrm>
            <a:off x="7500938" y="4876800"/>
            <a:ext cx="1325562" cy="646113"/>
          </a:xfrm>
          <a:prstGeom prst="rect">
            <a:avLst/>
          </a:prstGeom>
          <a:noFill/>
          <a:ln w="9525">
            <a:noFill/>
            <a:miter lim="800000"/>
            <a:headEnd/>
            <a:tailEnd/>
          </a:ln>
        </p:spPr>
        <p:txBody>
          <a:bodyPr wrap="none">
            <a:spAutoFit/>
          </a:bodyPr>
          <a:lstStyle/>
          <a:p>
            <a:r>
              <a:rPr lang="en-US"/>
              <a:t>Executable</a:t>
            </a:r>
            <a:br>
              <a:rPr lang="en-US"/>
            </a:br>
            <a:r>
              <a:rPr lang="en-US"/>
              <a:t>file</a:t>
            </a:r>
          </a:p>
        </p:txBody>
      </p:sp>
      <p:sp>
        <p:nvSpPr>
          <p:cNvPr id="37929" name="Flowchart: Punched Tape 95"/>
          <p:cNvSpPr>
            <a:spLocks noChangeArrowheads="1"/>
          </p:cNvSpPr>
          <p:nvPr/>
        </p:nvSpPr>
        <p:spPr bwMode="auto">
          <a:xfrm>
            <a:off x="5813425" y="2209800"/>
            <a:ext cx="957263" cy="609600"/>
          </a:xfrm>
          <a:prstGeom prst="flowChartPunchedTape">
            <a:avLst/>
          </a:prstGeom>
          <a:solidFill>
            <a:srgbClr val="C00000">
              <a:alpha val="25098"/>
            </a:srgbClr>
          </a:solidFill>
          <a:ln w="12700" cap="sq" algn="ctr">
            <a:solidFill>
              <a:schemeClr val="tx1"/>
            </a:solidFill>
            <a:round/>
            <a:headEnd type="none" w="sm" len="sm"/>
            <a:tailEnd type="none" w="sm" len="sm"/>
          </a:ln>
        </p:spPr>
        <p:txBody>
          <a:bodyPr/>
          <a:lstStyle/>
          <a:p>
            <a:r>
              <a:rPr lang="en-US"/>
              <a:t>math.h</a:t>
            </a:r>
          </a:p>
        </p:txBody>
      </p:sp>
      <p:sp>
        <p:nvSpPr>
          <p:cNvPr id="37930" name="Flowchart: Punched Tape 15"/>
          <p:cNvSpPr>
            <a:spLocks noChangeArrowheads="1"/>
          </p:cNvSpPr>
          <p:nvPr/>
        </p:nvSpPr>
        <p:spPr bwMode="auto">
          <a:xfrm>
            <a:off x="5705475" y="2644775"/>
            <a:ext cx="923925" cy="609600"/>
          </a:xfrm>
          <a:prstGeom prst="flowChartPunchedTape">
            <a:avLst/>
          </a:prstGeom>
          <a:solidFill>
            <a:srgbClr val="C00000"/>
          </a:solidFill>
          <a:ln w="12700" cap="sq" algn="ctr">
            <a:solidFill>
              <a:schemeClr val="tx1"/>
            </a:solidFill>
            <a:round/>
            <a:headEnd type="none" w="sm" len="sm"/>
            <a:tailEnd type="none" w="sm" len="sm"/>
          </a:ln>
        </p:spPr>
        <p:txBody>
          <a:bodyPr/>
          <a:lstStyle/>
          <a:p>
            <a:r>
              <a:rPr lang="en-US"/>
              <a:t>Libm.a</a:t>
            </a:r>
          </a:p>
        </p:txBody>
      </p:sp>
      <p:cxnSp>
        <p:nvCxnSpPr>
          <p:cNvPr id="37931" name="Straight Arrow Connector 73"/>
          <p:cNvCxnSpPr>
            <a:cxnSpLocks noChangeShapeType="1"/>
            <a:stCxn id="37930" idx="2"/>
            <a:endCxn id="37908" idx="0"/>
          </p:cNvCxnSpPr>
          <p:nvPr/>
        </p:nvCxnSpPr>
        <p:spPr bwMode="auto">
          <a:xfrm rot="16200000" flipH="1">
            <a:off x="5674519" y="3686969"/>
            <a:ext cx="990600" cy="4762"/>
          </a:xfrm>
          <a:prstGeom prst="straightConnector1">
            <a:avLst/>
          </a:prstGeom>
          <a:noFill/>
          <a:ln w="12700" cap="sq" algn="ctr">
            <a:solidFill>
              <a:schemeClr val="tx1"/>
            </a:solidFill>
            <a:round/>
            <a:headEnd type="none" w="sm" len="sm"/>
            <a:tailEnd type="arrow" w="med" len="med"/>
          </a:ln>
        </p:spPr>
      </p:cxnSp>
      <p:sp>
        <p:nvSpPr>
          <p:cNvPr id="37932" name="TextBox 75"/>
          <p:cNvSpPr txBox="1">
            <a:spLocks noChangeArrowheads="1"/>
          </p:cNvSpPr>
          <p:nvPr/>
        </p:nvSpPr>
        <p:spPr bwMode="auto">
          <a:xfrm>
            <a:off x="2079625" y="1295400"/>
            <a:ext cx="6389688" cy="646113"/>
          </a:xfrm>
          <a:prstGeom prst="rect">
            <a:avLst/>
          </a:prstGeom>
          <a:solidFill>
            <a:srgbClr val="FFFF00"/>
          </a:solidFill>
          <a:ln w="9525">
            <a:noFill/>
            <a:miter lim="800000"/>
            <a:headEnd/>
            <a:tailEnd/>
          </a:ln>
        </p:spPr>
        <p:txBody>
          <a:bodyPr>
            <a:spAutoFit/>
          </a:bodyPr>
          <a:lstStyle/>
          <a:p>
            <a:r>
              <a:rPr lang="en-US" b="1"/>
              <a:t>Case 2:</a:t>
            </a:r>
          </a:p>
          <a:p>
            <a:r>
              <a:rPr lang="en-US"/>
              <a:t>Source files are compiled separately and then linked.</a:t>
            </a:r>
          </a:p>
        </p:txBody>
      </p:sp>
      <p:sp>
        <p:nvSpPr>
          <p:cNvPr id="37933" name="TextBox 76"/>
          <p:cNvSpPr txBox="1">
            <a:spLocks noChangeArrowheads="1"/>
          </p:cNvSpPr>
          <p:nvPr/>
        </p:nvSpPr>
        <p:spPr bwMode="auto">
          <a:xfrm>
            <a:off x="5300663" y="5616575"/>
            <a:ext cx="3302000" cy="646113"/>
          </a:xfrm>
          <a:prstGeom prst="rect">
            <a:avLst/>
          </a:prstGeom>
          <a:solidFill>
            <a:srgbClr val="FFFF00"/>
          </a:solidFill>
          <a:ln w="9525">
            <a:noFill/>
            <a:miter lim="800000"/>
            <a:headEnd/>
            <a:tailEnd/>
          </a:ln>
        </p:spPr>
        <p:txBody>
          <a:bodyPr wrap="none">
            <a:spAutoFit/>
          </a:bodyPr>
          <a:lstStyle/>
          <a:p>
            <a:r>
              <a:rPr lang="en-US"/>
              <a:t>The compiler creates separate</a:t>
            </a:r>
          </a:p>
          <a:p>
            <a:r>
              <a:rPr lang="en-US"/>
              <a:t>object files.</a:t>
            </a:r>
          </a:p>
        </p:txBody>
      </p:sp>
      <p:cxnSp>
        <p:nvCxnSpPr>
          <p:cNvPr id="37934" name="Straight Arrow Connector 78"/>
          <p:cNvCxnSpPr>
            <a:cxnSpLocks noChangeShapeType="1"/>
          </p:cNvCxnSpPr>
          <p:nvPr/>
        </p:nvCxnSpPr>
        <p:spPr bwMode="auto">
          <a:xfrm rot="10800000" flipV="1">
            <a:off x="4713288" y="5889625"/>
            <a:ext cx="490537" cy="20638"/>
          </a:xfrm>
          <a:prstGeom prst="straightConnector1">
            <a:avLst/>
          </a:prstGeom>
          <a:noFill/>
          <a:ln w="50800" cap="sq" algn="ctr">
            <a:solidFill>
              <a:srgbClr val="0000FF"/>
            </a:solidFill>
            <a:round/>
            <a:headEnd type="none" w="sm" len="sm"/>
            <a:tailEnd type="arrow" w="med" len="med"/>
          </a:ln>
        </p:spPr>
      </p:cxnSp>
      <p:sp>
        <p:nvSpPr>
          <p:cNvPr id="37935" name="TextBox 79"/>
          <p:cNvSpPr txBox="1">
            <a:spLocks noChangeArrowheads="1"/>
          </p:cNvSpPr>
          <p:nvPr/>
        </p:nvSpPr>
        <p:spPr bwMode="auto">
          <a:xfrm>
            <a:off x="6259513" y="3482975"/>
            <a:ext cx="504825" cy="369888"/>
          </a:xfrm>
          <a:prstGeom prst="rect">
            <a:avLst/>
          </a:prstGeom>
          <a:noFill/>
          <a:ln w="9525">
            <a:noFill/>
            <a:miter lim="800000"/>
            <a:headEnd/>
            <a:tailEnd/>
          </a:ln>
        </p:spPr>
        <p:txBody>
          <a:bodyPr wrap="none">
            <a:spAutoFit/>
          </a:bodyPr>
          <a:lstStyle/>
          <a:p>
            <a:r>
              <a:rPr lang="en-US"/>
              <a:t>-lm</a:t>
            </a:r>
          </a:p>
        </p:txBody>
      </p:sp>
    </p:spTree>
  </p:cSld>
  <p:clrMapOvr>
    <a:masterClrMapping/>
  </p:clrMapOvr>
  <p:transition>
    <p:fade/>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p:cNvSpPr>
            <a:spLocks noGrp="1"/>
          </p:cNvSpPr>
          <p:nvPr>
            <p:ph type="title"/>
          </p:nvPr>
        </p:nvSpPr>
        <p:spPr/>
        <p:txBody>
          <a:bodyPr/>
          <a:lstStyle/>
          <a:p>
            <a:r>
              <a:rPr lang="en-US" dirty="0" smtClean="0"/>
              <a:t>9.2 Demo #3: Compilation and Linking</a:t>
            </a:r>
          </a:p>
        </p:txBody>
      </p:sp>
      <p:sp>
        <p:nvSpPr>
          <p:cNvPr id="5" name="Slide Number Placeholder 4"/>
          <p:cNvSpPr>
            <a:spLocks noGrp="1"/>
          </p:cNvSpPr>
          <p:nvPr>
            <p:ph type="sldNum" sz="quarter" idx="12"/>
          </p:nvPr>
        </p:nvSpPr>
        <p:spPr/>
        <p:txBody>
          <a:bodyPr/>
          <a:lstStyle/>
          <a:p>
            <a:pPr>
              <a:defRPr/>
            </a:pPr>
            <a:r>
              <a:rPr smtClean="0"/>
              <a:t>Week6 - </a:t>
            </a:r>
            <a:fld id="{02EF8E4A-3F82-467F-A878-C3A227ABE3E2}" type="slidenum">
              <a:rPr smtClean="0"/>
              <a:pPr>
                <a:defRPr/>
              </a:pPr>
              <a:t>40</a:t>
            </a:fld>
            <a:endParaRPr/>
          </a:p>
        </p:txBody>
      </p:sp>
      <p:sp>
        <p:nvSpPr>
          <p:cNvPr id="38915" name="Content Placeholder 2"/>
          <p:cNvSpPr>
            <a:spLocks noGrp="1"/>
          </p:cNvSpPr>
          <p:nvPr>
            <p:ph sz="quarter" idx="1"/>
          </p:nvPr>
        </p:nvSpPr>
        <p:spPr/>
        <p:txBody>
          <a:bodyPr/>
          <a:lstStyle/>
          <a:p>
            <a:r>
              <a:rPr lang="en-US" dirty="0" smtClean="0">
                <a:solidFill>
                  <a:schemeClr val="tx1"/>
                </a:solidFill>
              </a:rPr>
              <a:t>Let’s </a:t>
            </a:r>
            <a:r>
              <a:rPr lang="en-US" dirty="0" smtClean="0"/>
              <a:t>compile</a:t>
            </a:r>
            <a:r>
              <a:rPr lang="en-US" dirty="0" smtClean="0">
                <a:solidFill>
                  <a:schemeClr val="tx1"/>
                </a:solidFill>
              </a:rPr>
              <a:t> and </a:t>
            </a:r>
            <a:r>
              <a:rPr lang="en-US" dirty="0" smtClean="0"/>
              <a:t>link</a:t>
            </a:r>
            <a:r>
              <a:rPr lang="en-US" dirty="0" smtClean="0">
                <a:solidFill>
                  <a:schemeClr val="tx1"/>
                </a:solidFill>
              </a:rPr>
              <a:t> our program</a:t>
            </a:r>
          </a:p>
          <a:p>
            <a:pPr lvl="1"/>
            <a:r>
              <a:rPr lang="en-US" dirty="0" smtClean="0"/>
              <a:t>Case 2: 3 steps </a:t>
            </a:r>
            <a:r>
              <a:rPr lang="en-US" dirty="0" smtClean="0">
                <a:sym typeface="Wingdings" pitchFamily="2" charset="2"/>
              </a:rPr>
              <a:t></a:t>
            </a:r>
            <a:r>
              <a:rPr lang="en-US" dirty="0" smtClean="0"/>
              <a:t> compile, compile, and link</a:t>
            </a:r>
          </a:p>
          <a:p>
            <a:pPr lvl="1"/>
            <a:endParaRPr lang="en-US" dirty="0" smtClean="0"/>
          </a:p>
          <a:p>
            <a:pPr lvl="1"/>
            <a:endParaRPr lang="en-US" dirty="0" smtClean="0"/>
          </a:p>
          <a:p>
            <a:pPr lvl="2"/>
            <a:endParaRPr lang="en-US" dirty="0" smtClean="0"/>
          </a:p>
          <a:p>
            <a:pPr lvl="2">
              <a:spcBef>
                <a:spcPts val="1200"/>
              </a:spcBef>
            </a:pPr>
            <a:r>
              <a:rPr lang="en-US" dirty="0" smtClean="0"/>
              <a:t>Here we first create the </a:t>
            </a:r>
            <a:r>
              <a:rPr lang="en-US" dirty="0" smtClean="0">
                <a:solidFill>
                  <a:srgbClr val="0000FF"/>
                </a:solidFill>
              </a:rPr>
              <a:t>Week6_FreezerMain.o</a:t>
            </a:r>
            <a:r>
              <a:rPr lang="en-US" dirty="0" smtClean="0"/>
              <a:t> and </a:t>
            </a:r>
            <a:r>
              <a:rPr lang="en-US" dirty="0" smtClean="0">
                <a:solidFill>
                  <a:srgbClr val="0000FF"/>
                </a:solidFill>
              </a:rPr>
              <a:t>Week6_FreezerTemp.o </a:t>
            </a:r>
            <a:r>
              <a:rPr lang="en-US" dirty="0" smtClean="0"/>
              <a:t>object files.</a:t>
            </a:r>
          </a:p>
          <a:p>
            <a:pPr lvl="2">
              <a:spcBef>
                <a:spcPts val="1200"/>
              </a:spcBef>
            </a:pPr>
            <a:r>
              <a:rPr lang="en-US" dirty="0" smtClean="0"/>
              <a:t>Then, we link both object files into the </a:t>
            </a:r>
            <a:r>
              <a:rPr lang="en-US" dirty="0" err="1" smtClean="0">
                <a:solidFill>
                  <a:srgbClr val="0000FF"/>
                </a:solidFill>
              </a:rPr>
              <a:t>a.out</a:t>
            </a:r>
            <a:r>
              <a:rPr lang="en-US" dirty="0" smtClean="0"/>
              <a:t> executable.</a:t>
            </a:r>
          </a:p>
          <a:p>
            <a:pPr lvl="2">
              <a:spcBef>
                <a:spcPts val="1200"/>
              </a:spcBef>
            </a:pPr>
            <a:r>
              <a:rPr lang="en-US" dirty="0" smtClean="0"/>
              <a:t>(Note: We have omitted the </a:t>
            </a:r>
            <a:r>
              <a:rPr lang="en-US" dirty="0" smtClean="0">
                <a:solidFill>
                  <a:srgbClr val="0000FF"/>
                </a:solidFill>
              </a:rPr>
              <a:t>–Wall</a:t>
            </a:r>
            <a:r>
              <a:rPr lang="en-US" dirty="0" smtClean="0"/>
              <a:t> option above due to space constraint. Please add the option yourself.)</a:t>
            </a:r>
          </a:p>
        </p:txBody>
      </p:sp>
      <p:sp>
        <p:nvSpPr>
          <p:cNvPr id="25606" name="TextBox 5"/>
          <p:cNvSpPr txBox="1">
            <a:spLocks noChangeArrowheads="1"/>
          </p:cNvSpPr>
          <p:nvPr/>
        </p:nvSpPr>
        <p:spPr bwMode="auto">
          <a:xfrm>
            <a:off x="1098550" y="2355850"/>
            <a:ext cx="7015163" cy="830263"/>
          </a:xfrm>
          <a:prstGeom prst="rect">
            <a:avLst/>
          </a:prstGeom>
          <a:ln>
            <a:headEnd/>
            <a:tailEnd/>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a:spAutoFit/>
          </a:bodyPr>
          <a:lstStyle/>
          <a:p>
            <a:pPr>
              <a:defRPr/>
            </a:pPr>
            <a:r>
              <a:rPr lang="en-US" sz="1600" b="1" dirty="0">
                <a:latin typeface="Courier New" pitchFamily="49" charset="0"/>
                <a:cs typeface="Courier New" pitchFamily="49" charset="0"/>
              </a:rPr>
              <a:t>$ </a:t>
            </a:r>
            <a:r>
              <a:rPr lang="en-US" sz="1600" b="1" dirty="0" err="1">
                <a:latin typeface="Courier New" pitchFamily="49" charset="0"/>
                <a:cs typeface="Courier New" pitchFamily="49" charset="0"/>
              </a:rPr>
              <a:t>gcc</a:t>
            </a:r>
            <a:r>
              <a:rPr lang="en-US" sz="1600" b="1" dirty="0">
                <a:latin typeface="Courier New" pitchFamily="49" charset="0"/>
                <a:cs typeface="Courier New" pitchFamily="49" charset="0"/>
              </a:rPr>
              <a:t> –c Week6_FreezerMain.c</a:t>
            </a:r>
          </a:p>
          <a:p>
            <a:pPr>
              <a:defRPr/>
            </a:pPr>
            <a:r>
              <a:rPr lang="en-US" sz="1600" b="1" dirty="0">
                <a:latin typeface="Courier New" pitchFamily="49" charset="0"/>
                <a:cs typeface="Courier New" pitchFamily="49" charset="0"/>
              </a:rPr>
              <a:t>$ </a:t>
            </a:r>
            <a:r>
              <a:rPr lang="en-US" sz="1600" b="1" dirty="0" err="1">
                <a:latin typeface="Courier New" pitchFamily="49" charset="0"/>
                <a:cs typeface="Courier New" pitchFamily="49" charset="0"/>
              </a:rPr>
              <a:t>gcc</a:t>
            </a:r>
            <a:r>
              <a:rPr lang="en-US" sz="1600" b="1" dirty="0">
                <a:latin typeface="Courier New" pitchFamily="49" charset="0"/>
                <a:cs typeface="Courier New" pitchFamily="49" charset="0"/>
              </a:rPr>
              <a:t> –c Week6_FreezerTemp.c</a:t>
            </a:r>
          </a:p>
          <a:p>
            <a:pPr>
              <a:defRPr/>
            </a:pPr>
            <a:r>
              <a:rPr lang="en-US" sz="1600" b="1" dirty="0">
                <a:latin typeface="Courier New" pitchFamily="49" charset="0"/>
                <a:cs typeface="Courier New" pitchFamily="49" charset="0"/>
              </a:rPr>
              <a:t>$ </a:t>
            </a:r>
            <a:r>
              <a:rPr lang="en-US" sz="1600" b="1" dirty="0" err="1">
                <a:latin typeface="Courier New" pitchFamily="49" charset="0"/>
                <a:cs typeface="Courier New" pitchFamily="49" charset="0"/>
              </a:rPr>
              <a:t>gcc</a:t>
            </a:r>
            <a:r>
              <a:rPr lang="en-US" sz="1600" b="1" dirty="0">
                <a:latin typeface="Courier New" pitchFamily="49" charset="0"/>
                <a:cs typeface="Courier New" pitchFamily="49" charset="0"/>
              </a:rPr>
              <a:t> Week6_FreezerMain.o Week6_FreezerTemp.o  -lm</a:t>
            </a:r>
          </a:p>
        </p:txBody>
      </p:sp>
      <p:grpSp>
        <p:nvGrpSpPr>
          <p:cNvPr id="2" name="Group 8"/>
          <p:cNvGrpSpPr>
            <a:grpSpLocks/>
          </p:cNvGrpSpPr>
          <p:nvPr/>
        </p:nvGrpSpPr>
        <p:grpSpPr bwMode="auto">
          <a:xfrm>
            <a:off x="3994150" y="2851150"/>
            <a:ext cx="2749550" cy="347663"/>
            <a:chOff x="3994150" y="2851150"/>
            <a:chExt cx="2749550" cy="347663"/>
          </a:xfrm>
        </p:grpSpPr>
        <p:sp>
          <p:nvSpPr>
            <p:cNvPr id="38920" name="Oval 7"/>
            <p:cNvSpPr>
              <a:spLocks noChangeArrowheads="1"/>
            </p:cNvSpPr>
            <p:nvPr/>
          </p:nvSpPr>
          <p:spPr bwMode="auto">
            <a:xfrm>
              <a:off x="3994150" y="2851150"/>
              <a:ext cx="282575" cy="347663"/>
            </a:xfrm>
            <a:prstGeom prst="ellipse">
              <a:avLst/>
            </a:prstGeom>
            <a:noFill/>
            <a:ln w="19050" cap="sq" algn="ctr">
              <a:solidFill>
                <a:srgbClr val="FF9900"/>
              </a:solidFill>
              <a:round/>
              <a:headEnd type="none" w="sm" len="sm"/>
              <a:tailEnd type="none" w="sm" len="sm"/>
            </a:ln>
          </p:spPr>
          <p:txBody>
            <a:bodyPr/>
            <a:lstStyle/>
            <a:p>
              <a:endParaRPr lang="en-US"/>
            </a:p>
          </p:txBody>
        </p:sp>
        <p:sp>
          <p:nvSpPr>
            <p:cNvPr id="38921" name="Oval 8"/>
            <p:cNvSpPr>
              <a:spLocks noChangeArrowheads="1"/>
            </p:cNvSpPr>
            <p:nvPr/>
          </p:nvSpPr>
          <p:spPr bwMode="auto">
            <a:xfrm>
              <a:off x="6461125" y="2851150"/>
              <a:ext cx="282575" cy="347663"/>
            </a:xfrm>
            <a:prstGeom prst="ellipse">
              <a:avLst/>
            </a:prstGeom>
            <a:noFill/>
            <a:ln w="19050" cap="sq" algn="ctr">
              <a:solidFill>
                <a:srgbClr val="FF9900"/>
              </a:solidFill>
              <a:round/>
              <a:headEnd type="none" w="sm" len="sm"/>
              <a:tailEnd type="none" w="sm" len="sm"/>
            </a:ln>
          </p:spPr>
          <p:txBody>
            <a:bodyPr/>
            <a:lstStyle/>
            <a:p>
              <a:endParaRPr lang="en-US"/>
            </a:p>
          </p:txBody>
        </p:sp>
      </p:gr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p:cNvSpPr>
            <a:spLocks noGrp="1"/>
          </p:cNvSpPr>
          <p:nvPr>
            <p:ph type="title"/>
          </p:nvPr>
        </p:nvSpPr>
        <p:spPr/>
        <p:txBody>
          <a:bodyPr/>
          <a:lstStyle/>
          <a:p>
            <a:r>
              <a:rPr lang="en-US" dirty="0" smtClean="0"/>
              <a:t>9.3 Notes (1/2)</a:t>
            </a:r>
          </a:p>
        </p:txBody>
      </p:sp>
      <p:sp>
        <p:nvSpPr>
          <p:cNvPr id="5" name="Slide Number Placeholder 4"/>
          <p:cNvSpPr>
            <a:spLocks noGrp="1"/>
          </p:cNvSpPr>
          <p:nvPr>
            <p:ph type="sldNum" sz="quarter" idx="12"/>
          </p:nvPr>
        </p:nvSpPr>
        <p:spPr/>
        <p:txBody>
          <a:bodyPr/>
          <a:lstStyle/>
          <a:p>
            <a:pPr>
              <a:defRPr/>
            </a:pPr>
            <a:r>
              <a:rPr smtClean="0"/>
              <a:t>Week6 - </a:t>
            </a:r>
            <a:fld id="{4ECFFE54-0F65-4BE5-B3A7-4B6044F6AB59}" type="slidenum">
              <a:rPr smtClean="0"/>
              <a:pPr>
                <a:defRPr/>
              </a:pPr>
              <a:t>41</a:t>
            </a:fld>
            <a:endParaRPr/>
          </a:p>
        </p:txBody>
      </p:sp>
      <p:sp>
        <p:nvSpPr>
          <p:cNvPr id="39939" name="Content Placeholder 2"/>
          <p:cNvSpPr>
            <a:spLocks noGrp="1"/>
          </p:cNvSpPr>
          <p:nvPr>
            <p:ph sz="quarter" idx="1"/>
          </p:nvPr>
        </p:nvSpPr>
        <p:spPr/>
        <p:txBody>
          <a:bodyPr>
            <a:normAutofit lnSpcReduction="10000"/>
          </a:bodyPr>
          <a:lstStyle/>
          <a:p>
            <a:r>
              <a:rPr lang="en-US" dirty="0" smtClean="0"/>
              <a:t>Difference between</a:t>
            </a:r>
          </a:p>
          <a:p>
            <a:pPr lvl="1"/>
            <a:r>
              <a:rPr lang="en-US" dirty="0" smtClean="0">
                <a:solidFill>
                  <a:srgbClr val="7030A0"/>
                </a:solidFill>
              </a:rPr>
              <a:t>#include </a:t>
            </a:r>
            <a:r>
              <a:rPr lang="en-US" dirty="0" smtClean="0">
                <a:solidFill>
                  <a:srgbClr val="006600"/>
                </a:solidFill>
              </a:rPr>
              <a:t>&lt; … &gt; </a:t>
            </a:r>
            <a:r>
              <a:rPr lang="en-US" dirty="0" smtClean="0"/>
              <a:t>and </a:t>
            </a:r>
            <a:r>
              <a:rPr lang="en-US" dirty="0" smtClean="0">
                <a:solidFill>
                  <a:srgbClr val="7030A0"/>
                </a:solidFill>
              </a:rPr>
              <a:t>#include </a:t>
            </a:r>
            <a:r>
              <a:rPr lang="en-US" dirty="0" smtClean="0">
                <a:solidFill>
                  <a:srgbClr val="006600"/>
                </a:solidFill>
              </a:rPr>
              <a:t>" … "</a:t>
            </a:r>
          </a:p>
          <a:p>
            <a:pPr lvl="1"/>
            <a:r>
              <a:rPr lang="en-US" dirty="0" smtClean="0"/>
              <a:t>Use </a:t>
            </a:r>
            <a:r>
              <a:rPr lang="en-US" dirty="0" smtClean="0">
                <a:solidFill>
                  <a:srgbClr val="006600"/>
                </a:solidFill>
              </a:rPr>
              <a:t>" … " </a:t>
            </a:r>
            <a:r>
              <a:rPr lang="en-US" dirty="0" smtClean="0"/>
              <a:t>to include your own header files and </a:t>
            </a:r>
            <a:r>
              <a:rPr lang="en-US" dirty="0" smtClean="0">
                <a:solidFill>
                  <a:srgbClr val="006600"/>
                </a:solidFill>
              </a:rPr>
              <a:t>&lt; … &gt; </a:t>
            </a:r>
            <a:r>
              <a:rPr lang="en-US" dirty="0" smtClean="0"/>
              <a:t>to include system header files. The compiler uses different directory paths to find </a:t>
            </a:r>
            <a:r>
              <a:rPr lang="en-US" dirty="0" smtClean="0">
                <a:solidFill>
                  <a:srgbClr val="006600"/>
                </a:solidFill>
              </a:rPr>
              <a:t>&lt; … &gt; </a:t>
            </a:r>
            <a:r>
              <a:rPr lang="en-US" dirty="0" smtClean="0"/>
              <a:t>files.</a:t>
            </a:r>
          </a:p>
          <a:p>
            <a:pPr lvl="1"/>
            <a:endParaRPr lang="en-US" dirty="0" smtClean="0"/>
          </a:p>
          <a:p>
            <a:r>
              <a:rPr lang="en-US" dirty="0" smtClean="0"/>
              <a:t>Inclusion of header files</a:t>
            </a:r>
          </a:p>
          <a:p>
            <a:pPr lvl="1"/>
            <a:r>
              <a:rPr lang="en-US" u="sng" dirty="0" smtClean="0"/>
              <a:t>Include *.h files only in *.c files</a:t>
            </a:r>
            <a:r>
              <a:rPr lang="en-US" dirty="0" smtClean="0"/>
              <a:t>, otherwise duplicate inclusions may happen and later may create problems:</a:t>
            </a:r>
          </a:p>
          <a:p>
            <a:pPr lvl="2"/>
            <a:r>
              <a:rPr lang="en-US" dirty="0" smtClean="0"/>
              <a:t>Example: Week6_FreezerTemp</a:t>
            </a:r>
            <a:r>
              <a:rPr lang="en-US" dirty="0" smtClean="0">
                <a:solidFill>
                  <a:srgbClr val="CC0000"/>
                </a:solidFill>
              </a:rPr>
              <a:t>.h</a:t>
            </a:r>
            <a:r>
              <a:rPr lang="en-US" dirty="0" smtClean="0"/>
              <a:t> includes &lt;</a:t>
            </a:r>
            <a:r>
              <a:rPr lang="en-US" dirty="0" err="1" smtClean="0"/>
              <a:t>math.h</a:t>
            </a:r>
            <a:r>
              <a:rPr lang="en-US" dirty="0" smtClean="0"/>
              <a:t>&gt;</a:t>
            </a:r>
            <a:br>
              <a:rPr lang="en-US" dirty="0" smtClean="0"/>
            </a:br>
            <a:r>
              <a:rPr lang="en-US" dirty="0" smtClean="0"/>
              <a:t>                Week6_FreezerMain</a:t>
            </a:r>
            <a:r>
              <a:rPr lang="en-US" dirty="0" smtClean="0">
                <a:solidFill>
                  <a:srgbClr val="CC0000"/>
                </a:solidFill>
              </a:rPr>
              <a:t>.c</a:t>
            </a:r>
            <a:r>
              <a:rPr lang="en-US" dirty="0" smtClean="0"/>
              <a:t> includes &lt;</a:t>
            </a:r>
            <a:r>
              <a:rPr lang="en-US" dirty="0" err="1" smtClean="0"/>
              <a:t>math.h</a:t>
            </a:r>
            <a:r>
              <a:rPr lang="en-US" dirty="0" smtClean="0"/>
              <a:t>&gt; and 		     “Week6_FreezerTemp.h”</a:t>
            </a:r>
            <a:br>
              <a:rPr lang="en-US" dirty="0" smtClean="0"/>
            </a:br>
            <a:r>
              <a:rPr lang="en-US" dirty="0" smtClean="0"/>
              <a:t>Therefore, Week6_FreezerMain</a:t>
            </a:r>
            <a:r>
              <a:rPr lang="en-US" dirty="0" smtClean="0">
                <a:solidFill>
                  <a:srgbClr val="CC0000"/>
                </a:solidFill>
              </a:rPr>
              <a:t>.c</a:t>
            </a:r>
            <a:r>
              <a:rPr lang="en-US" dirty="0" smtClean="0"/>
              <a:t> includes &lt;</a:t>
            </a:r>
            <a:r>
              <a:rPr lang="en-US" dirty="0" err="1" smtClean="0"/>
              <a:t>math.h</a:t>
            </a:r>
            <a:r>
              <a:rPr lang="en-US" dirty="0" smtClean="0"/>
              <a:t>&gt; twice.</a:t>
            </a:r>
          </a:p>
        </p:txBody>
      </p:sp>
    </p:spTree>
  </p:cSld>
  <p:clrMapOvr>
    <a:masterClrMapping/>
  </p:clrMapOvr>
  <p:transition>
    <p:fade/>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p:cNvSpPr>
            <a:spLocks noGrp="1"/>
          </p:cNvSpPr>
          <p:nvPr>
            <p:ph type="title"/>
          </p:nvPr>
        </p:nvSpPr>
        <p:spPr/>
        <p:txBody>
          <a:bodyPr/>
          <a:lstStyle/>
          <a:p>
            <a:r>
              <a:rPr lang="en-US" dirty="0" smtClean="0"/>
              <a:t>9.3 Notes (2/2)</a:t>
            </a:r>
          </a:p>
        </p:txBody>
      </p:sp>
      <p:sp>
        <p:nvSpPr>
          <p:cNvPr id="5" name="Slide Number Placeholder 4"/>
          <p:cNvSpPr>
            <a:spLocks noGrp="1"/>
          </p:cNvSpPr>
          <p:nvPr>
            <p:ph type="sldNum" sz="quarter" idx="12"/>
          </p:nvPr>
        </p:nvSpPr>
        <p:spPr/>
        <p:txBody>
          <a:bodyPr/>
          <a:lstStyle/>
          <a:p>
            <a:pPr>
              <a:defRPr/>
            </a:pPr>
            <a:r>
              <a:rPr smtClean="0"/>
              <a:t>Week6 - </a:t>
            </a:r>
            <a:fld id="{142D3637-33BE-40BB-9277-E7760FEB4F8D}" type="slidenum">
              <a:rPr smtClean="0"/>
              <a:pPr>
                <a:defRPr/>
              </a:pPr>
              <a:t>42</a:t>
            </a:fld>
            <a:endParaRPr/>
          </a:p>
        </p:txBody>
      </p:sp>
      <p:sp>
        <p:nvSpPr>
          <p:cNvPr id="40963" name="Content Placeholder 2"/>
          <p:cNvSpPr>
            <a:spLocks noGrp="1"/>
          </p:cNvSpPr>
          <p:nvPr>
            <p:ph sz="quarter" idx="1"/>
          </p:nvPr>
        </p:nvSpPr>
        <p:spPr/>
        <p:txBody>
          <a:bodyPr/>
          <a:lstStyle/>
          <a:p>
            <a:r>
              <a:rPr lang="en-US" dirty="0" smtClean="0"/>
              <a:t>‘Undefined symbol’ error</a:t>
            </a:r>
          </a:p>
          <a:p>
            <a:pPr lvl="1"/>
            <a:r>
              <a:rPr lang="en-US" dirty="0" smtClean="0"/>
              <a:t>ld: fatal: Symbol referencing errors.</a:t>
            </a:r>
          </a:p>
          <a:p>
            <a:pPr lvl="1"/>
            <a:r>
              <a:rPr lang="en-US" dirty="0" smtClean="0"/>
              <a:t>The linker was not able to find a certain function, etc., and could not create a complete executable.</a:t>
            </a:r>
          </a:p>
          <a:p>
            <a:pPr lvl="2"/>
            <a:r>
              <a:rPr lang="en-US" dirty="0" smtClean="0"/>
              <a:t>Note: A library can have missing functions </a:t>
            </a:r>
            <a:r>
              <a:rPr lang="en-US" dirty="0" smtClean="0">
                <a:sym typeface="Wingdings" pitchFamily="2" charset="2"/>
              </a:rPr>
              <a:t></a:t>
            </a:r>
            <a:r>
              <a:rPr lang="en-US" dirty="0" smtClean="0"/>
              <a:t> it is not a complete executable.</a:t>
            </a:r>
          </a:p>
          <a:p>
            <a:pPr lvl="1"/>
            <a:r>
              <a:rPr lang="en-US" dirty="0" smtClean="0"/>
              <a:t>Usually this means you </a:t>
            </a:r>
            <a:r>
              <a:rPr lang="en-US" dirty="0" smtClean="0">
                <a:solidFill>
                  <a:srgbClr val="0000FF"/>
                </a:solidFill>
              </a:rPr>
              <a:t>forgot to link </a:t>
            </a:r>
            <a:r>
              <a:rPr lang="en-US" dirty="0" smtClean="0"/>
              <a:t>with a certain library or object file. This also happens if you </a:t>
            </a:r>
            <a:r>
              <a:rPr lang="en-US" dirty="0" smtClean="0">
                <a:solidFill>
                  <a:srgbClr val="0000FF"/>
                </a:solidFill>
              </a:rPr>
              <a:t>mistyped</a:t>
            </a:r>
            <a:r>
              <a:rPr lang="en-US" dirty="0" smtClean="0"/>
              <a:t> a function name.</a:t>
            </a:r>
          </a:p>
          <a:p>
            <a:pPr lvl="1"/>
            <a:endParaRPr lang="en-US" dirty="0" smtClean="0"/>
          </a:p>
        </p:txBody>
      </p:sp>
    </p:spTree>
  </p:cSld>
  <p:clrMapOvr>
    <a:masterClrMapping/>
  </p:clrMapOvr>
  <p:transition>
    <p:fade/>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p:cNvSpPr>
            <a:spLocks noGrp="1"/>
          </p:cNvSpPr>
          <p:nvPr>
            <p:ph type="title"/>
          </p:nvPr>
        </p:nvSpPr>
        <p:spPr/>
        <p:txBody>
          <a:bodyPr/>
          <a:lstStyle/>
          <a:p>
            <a:r>
              <a:rPr lang="en-US" dirty="0" smtClean="0"/>
              <a:t>10. Quizzes (1/4)</a:t>
            </a:r>
          </a:p>
        </p:txBody>
      </p:sp>
      <p:sp>
        <p:nvSpPr>
          <p:cNvPr id="5" name="Slide Number Placeholder 4"/>
          <p:cNvSpPr>
            <a:spLocks noGrp="1"/>
          </p:cNvSpPr>
          <p:nvPr>
            <p:ph type="sldNum" sz="quarter" idx="12"/>
          </p:nvPr>
        </p:nvSpPr>
        <p:spPr/>
        <p:txBody>
          <a:bodyPr/>
          <a:lstStyle/>
          <a:p>
            <a:pPr>
              <a:defRPr/>
            </a:pPr>
            <a:r>
              <a:rPr smtClean="0"/>
              <a:t>Week6 - </a:t>
            </a:r>
            <a:fld id="{142D3637-33BE-40BB-9277-E7760FEB4F8D}" type="slidenum">
              <a:rPr smtClean="0"/>
              <a:pPr>
                <a:defRPr/>
              </a:pPr>
              <a:t>43</a:t>
            </a:fld>
            <a:endParaRPr/>
          </a:p>
        </p:txBody>
      </p:sp>
      <p:sp>
        <p:nvSpPr>
          <p:cNvPr id="40963" name="Content Placeholder 2"/>
          <p:cNvSpPr>
            <a:spLocks noGrp="1"/>
          </p:cNvSpPr>
          <p:nvPr>
            <p:ph sz="quarter" idx="1"/>
          </p:nvPr>
        </p:nvSpPr>
        <p:spPr>
          <a:xfrm>
            <a:off x="457199" y="1230489"/>
            <a:ext cx="8466463" cy="807631"/>
          </a:xfrm>
        </p:spPr>
        <p:txBody>
          <a:bodyPr/>
          <a:lstStyle/>
          <a:p>
            <a:pPr>
              <a:spcBef>
                <a:spcPts val="600"/>
              </a:spcBef>
            </a:pPr>
            <a:r>
              <a:rPr lang="en-US" sz="2000" dirty="0" smtClean="0">
                <a:solidFill>
                  <a:schemeClr val="tx1"/>
                </a:solidFill>
              </a:rPr>
              <a:t>Complete this </a:t>
            </a:r>
            <a:r>
              <a:rPr lang="en-US" sz="2000" dirty="0" smtClean="0"/>
              <a:t>Week6_MaxAve_Incomplete.c</a:t>
            </a:r>
            <a:r>
              <a:rPr lang="en-US" sz="2000" dirty="0" smtClean="0">
                <a:solidFill>
                  <a:schemeClr val="tx1"/>
                </a:solidFill>
              </a:rPr>
              <a:t> program that computes the maximum and average of 3 integers in a single function.</a:t>
            </a:r>
          </a:p>
        </p:txBody>
      </p:sp>
      <p:grpSp>
        <p:nvGrpSpPr>
          <p:cNvPr id="14" name="Group 13"/>
          <p:cNvGrpSpPr/>
          <p:nvPr/>
        </p:nvGrpSpPr>
        <p:grpSpPr>
          <a:xfrm>
            <a:off x="613953" y="2046548"/>
            <a:ext cx="7756250" cy="4194687"/>
            <a:chOff x="3193946" y="1527497"/>
            <a:chExt cx="7756250" cy="4194687"/>
          </a:xfrm>
        </p:grpSpPr>
        <p:sp>
          <p:nvSpPr>
            <p:cNvPr id="15" name="TextBox 14"/>
            <p:cNvSpPr txBox="1"/>
            <p:nvPr/>
          </p:nvSpPr>
          <p:spPr>
            <a:xfrm>
              <a:off x="3193946" y="1527497"/>
              <a:ext cx="7438225" cy="4039567"/>
            </a:xfrm>
            <a:prstGeom prst="rect">
              <a:avLst/>
            </a:prstGeom>
            <a:solidFill>
              <a:srgbClr val="FFFFCC"/>
            </a:solidFill>
          </p:spPr>
          <p:style>
            <a:lnRef idx="2">
              <a:schemeClr val="accent6"/>
            </a:lnRef>
            <a:fillRef idx="1">
              <a:schemeClr val="lt1"/>
            </a:fillRef>
            <a:effectRef idx="0">
              <a:schemeClr val="accent6"/>
            </a:effectRef>
            <a:fontRef idx="minor">
              <a:schemeClr val="dk1"/>
            </a:fontRef>
          </p:style>
          <p:txBody>
            <a:bodyPr wrap="square" rtlCol="0">
              <a:spAutoFit/>
            </a:bodyPr>
            <a:lstStyle/>
            <a:p>
              <a:pPr marL="0" indent="0">
                <a:spcBef>
                  <a:spcPts val="300"/>
                </a:spcBef>
                <a:buNone/>
                <a:tabLst>
                  <a:tab pos="360363" algn="l"/>
                  <a:tab pos="630238" algn="l"/>
                  <a:tab pos="900113" algn="l"/>
                  <a:tab pos="2952750" algn="l"/>
                </a:tabLst>
              </a:pPr>
              <a:r>
                <a:rPr lang="en-US" sz="1600" b="1" dirty="0" smtClean="0">
                  <a:solidFill>
                    <a:srgbClr val="0000FF"/>
                  </a:solidFill>
                  <a:latin typeface="Courier New" pitchFamily="49" charset="0"/>
                  <a:cs typeface="Courier New" pitchFamily="49" charset="0"/>
                </a:rPr>
                <a:t>      </a:t>
              </a:r>
              <a:r>
                <a:rPr lang="en-US" sz="1600" b="1" dirty="0" err="1" smtClean="0">
                  <a:solidFill>
                    <a:schemeClr val="tx1"/>
                  </a:solidFill>
                  <a:latin typeface="Courier New" pitchFamily="49" charset="0"/>
                  <a:cs typeface="Courier New" pitchFamily="49" charset="0"/>
                </a:rPr>
                <a:t>max_and_average</a:t>
              </a:r>
              <a:r>
                <a:rPr lang="en-US" sz="1600" b="1" dirty="0" smtClean="0">
                  <a:solidFill>
                    <a:schemeClr val="tx1"/>
                  </a:solidFill>
                  <a:latin typeface="Courier New" pitchFamily="49" charset="0"/>
                  <a:cs typeface="Courier New" pitchFamily="49" charset="0"/>
                </a:rPr>
                <a:t>(</a:t>
              </a:r>
              <a:r>
                <a:rPr lang="en-US" sz="1600" b="1" dirty="0" err="1" smtClean="0">
                  <a:solidFill>
                    <a:srgbClr val="0000FF"/>
                  </a:solidFill>
                  <a:latin typeface="Courier New" pitchFamily="49" charset="0"/>
                  <a:cs typeface="Courier New" pitchFamily="49" charset="0"/>
                </a:rPr>
                <a:t>int</a:t>
              </a:r>
              <a:r>
                <a:rPr lang="en-US" sz="1600" b="1" dirty="0" smtClean="0">
                  <a:solidFill>
                    <a:schemeClr val="tx1"/>
                  </a:solidFill>
                  <a:latin typeface="Courier New" pitchFamily="49" charset="0"/>
                  <a:cs typeface="Courier New" pitchFamily="49" charset="0"/>
                </a:rPr>
                <a:t>, </a:t>
              </a:r>
              <a:r>
                <a:rPr lang="en-US" sz="1600" b="1" dirty="0" err="1" smtClean="0">
                  <a:solidFill>
                    <a:srgbClr val="0000FF"/>
                  </a:solidFill>
                  <a:latin typeface="Courier New" pitchFamily="49" charset="0"/>
                  <a:cs typeface="Courier New" pitchFamily="49" charset="0"/>
                </a:rPr>
                <a:t>int</a:t>
              </a:r>
              <a:r>
                <a:rPr lang="en-US" sz="1600" b="1" dirty="0" smtClean="0">
                  <a:solidFill>
                    <a:schemeClr val="tx1"/>
                  </a:solidFill>
                  <a:latin typeface="Courier New" pitchFamily="49" charset="0"/>
                  <a:cs typeface="Courier New" pitchFamily="49" charset="0"/>
                </a:rPr>
                <a:t>, </a:t>
              </a:r>
              <a:r>
                <a:rPr lang="en-US" sz="1600" b="1" dirty="0" err="1" smtClean="0">
                  <a:solidFill>
                    <a:srgbClr val="0000FF"/>
                  </a:solidFill>
                  <a:latin typeface="Courier New" pitchFamily="49" charset="0"/>
                  <a:cs typeface="Courier New" pitchFamily="49" charset="0"/>
                </a:rPr>
                <a:t>int</a:t>
              </a:r>
              <a:r>
                <a:rPr lang="en-US" sz="1600" b="1" dirty="0" smtClean="0">
                  <a:solidFill>
                    <a:schemeClr val="tx1"/>
                  </a:solidFill>
                  <a:latin typeface="Courier New" pitchFamily="49" charset="0"/>
                  <a:cs typeface="Courier New" pitchFamily="49" charset="0"/>
                </a:rPr>
                <a:t>,</a:t>
              </a:r>
            </a:p>
            <a:p>
              <a:pPr marL="0" indent="0">
                <a:spcBef>
                  <a:spcPts val="300"/>
                </a:spcBef>
                <a:buNone/>
                <a:tabLst>
                  <a:tab pos="360363" algn="l"/>
                  <a:tab pos="630238" algn="l"/>
                  <a:tab pos="900113" algn="l"/>
                  <a:tab pos="2952750" algn="l"/>
                </a:tabLst>
              </a:pPr>
              <a:endParaRPr lang="en-US" sz="1600" b="1" dirty="0" smtClean="0">
                <a:solidFill>
                  <a:srgbClr val="0000FF"/>
                </a:solidFill>
                <a:latin typeface="Courier New" pitchFamily="49" charset="0"/>
                <a:cs typeface="Courier New" pitchFamily="49" charset="0"/>
              </a:endParaRPr>
            </a:p>
            <a:p>
              <a:pPr marL="0" indent="0">
                <a:spcBef>
                  <a:spcPts val="300"/>
                </a:spcBef>
                <a:buNone/>
                <a:tabLst>
                  <a:tab pos="360363" algn="l"/>
                  <a:tab pos="630238" algn="l"/>
                  <a:tab pos="900113" algn="l"/>
                  <a:tab pos="2952750" algn="l"/>
                </a:tabLst>
              </a:pPr>
              <a:r>
                <a:rPr lang="en-US" sz="1600" b="1" dirty="0" err="1" smtClean="0">
                  <a:solidFill>
                    <a:srgbClr val="0000FF"/>
                  </a:solidFill>
                  <a:latin typeface="Courier New" pitchFamily="49" charset="0"/>
                  <a:cs typeface="Courier New" pitchFamily="49" charset="0"/>
                </a:rPr>
                <a:t>int</a:t>
              </a:r>
              <a:r>
                <a:rPr lang="en-US" sz="1600" b="1" dirty="0" smtClean="0">
                  <a:solidFill>
                    <a:srgbClr val="0000FF"/>
                  </a:solidFill>
                  <a:latin typeface="Courier New" pitchFamily="49" charset="0"/>
                  <a:cs typeface="Courier New" pitchFamily="49" charset="0"/>
                </a:rPr>
                <a:t> </a:t>
              </a:r>
              <a:r>
                <a:rPr lang="en-US" sz="1600" b="1" dirty="0" smtClean="0">
                  <a:latin typeface="Courier New" pitchFamily="49" charset="0"/>
                  <a:cs typeface="Courier New" pitchFamily="49" charset="0"/>
                </a:rPr>
                <a:t>main(</a:t>
              </a:r>
              <a:r>
                <a:rPr lang="en-US" sz="1600" b="1" dirty="0" smtClean="0">
                  <a:solidFill>
                    <a:srgbClr val="0000FF"/>
                  </a:solidFill>
                  <a:latin typeface="Courier New" pitchFamily="49" charset="0"/>
                  <a:cs typeface="Courier New" pitchFamily="49" charset="0"/>
                </a:rPr>
                <a:t>void</a:t>
              </a:r>
              <a:r>
                <a:rPr lang="en-US" sz="1600" b="1" dirty="0" smtClean="0">
                  <a:latin typeface="Courier New" pitchFamily="49" charset="0"/>
                  <a:cs typeface="Courier New" pitchFamily="49" charset="0"/>
                </a:rPr>
                <a:t>) {</a:t>
              </a:r>
            </a:p>
            <a:p>
              <a:pPr marL="0" indent="0">
                <a:spcBef>
                  <a:spcPts val="300"/>
                </a:spcBef>
                <a:buNone/>
                <a:tabLst>
                  <a:tab pos="360363" algn="l"/>
                  <a:tab pos="630238" algn="l"/>
                  <a:tab pos="900113" algn="l"/>
                  <a:tab pos="2952750" algn="l"/>
                </a:tabLst>
              </a:pPr>
              <a:r>
                <a:rPr lang="en-US" sz="1600" b="1" dirty="0" smtClean="0">
                  <a:latin typeface="Courier New" pitchFamily="49" charset="0"/>
                  <a:cs typeface="Courier New" pitchFamily="49" charset="0"/>
                </a:rPr>
                <a:t>	</a:t>
              </a:r>
              <a:r>
                <a:rPr lang="en-US" sz="1600" b="1" dirty="0" err="1" smtClean="0">
                  <a:solidFill>
                    <a:srgbClr val="0000FF"/>
                  </a:solidFill>
                  <a:latin typeface="Courier New" pitchFamily="49" charset="0"/>
                  <a:cs typeface="Courier New" pitchFamily="49" charset="0"/>
                </a:rPr>
                <a:t>int</a:t>
              </a:r>
              <a:r>
                <a:rPr lang="en-US" sz="1600" b="1" dirty="0" smtClean="0">
                  <a:latin typeface="Courier New" pitchFamily="49" charset="0"/>
                  <a:cs typeface="Courier New" pitchFamily="49" charset="0"/>
                </a:rPr>
                <a:t> num1, num2, num3; </a:t>
              </a:r>
              <a:r>
                <a:rPr lang="en-US" sz="1600" b="1" dirty="0" smtClean="0">
                  <a:solidFill>
                    <a:srgbClr val="C00000"/>
                  </a:solidFill>
                  <a:latin typeface="Courier New" pitchFamily="49" charset="0"/>
                  <a:cs typeface="Courier New" pitchFamily="49" charset="0"/>
                </a:rPr>
                <a:t>// inputs</a:t>
              </a:r>
            </a:p>
            <a:p>
              <a:pPr marL="0" indent="0">
                <a:spcBef>
                  <a:spcPts val="300"/>
                </a:spcBef>
                <a:buNone/>
                <a:tabLst>
                  <a:tab pos="360363" algn="l"/>
                  <a:tab pos="630238" algn="l"/>
                  <a:tab pos="900113" algn="l"/>
                  <a:tab pos="2952750" algn="l"/>
                </a:tabLst>
              </a:pPr>
              <a:endParaRPr lang="en-US" sz="1600" b="1" dirty="0" smtClean="0">
                <a:latin typeface="Courier New" pitchFamily="49" charset="0"/>
                <a:cs typeface="Courier New" pitchFamily="49" charset="0"/>
              </a:endParaRPr>
            </a:p>
            <a:p>
              <a:pPr marL="0" indent="0">
                <a:spcBef>
                  <a:spcPts val="300"/>
                </a:spcBef>
                <a:buNone/>
                <a:tabLst>
                  <a:tab pos="360363" algn="l"/>
                  <a:tab pos="630238" algn="l"/>
                  <a:tab pos="900113" algn="l"/>
                  <a:tab pos="2952750" algn="l"/>
                </a:tabLst>
              </a:pPr>
              <a:endParaRPr lang="en-US" sz="1600" b="1" dirty="0" smtClean="0">
                <a:latin typeface="Courier New" pitchFamily="49" charset="0"/>
                <a:cs typeface="Courier New" pitchFamily="49" charset="0"/>
              </a:endParaRPr>
            </a:p>
            <a:p>
              <a:pPr marL="0" indent="0">
                <a:spcBef>
                  <a:spcPts val="300"/>
                </a:spcBef>
                <a:buNone/>
                <a:tabLst>
                  <a:tab pos="360363" algn="l"/>
                  <a:tab pos="630238" algn="l"/>
                  <a:tab pos="900113" algn="l"/>
                  <a:tab pos="2952750" algn="l"/>
                </a:tabLst>
              </a:pPr>
              <a:r>
                <a:rPr lang="en-US" sz="1600" b="1" dirty="0" smtClean="0">
                  <a:latin typeface="Courier New" pitchFamily="49" charset="0"/>
                  <a:cs typeface="Courier New" pitchFamily="49" charset="0"/>
                </a:rPr>
                <a:t>	</a:t>
              </a:r>
              <a:r>
                <a:rPr lang="en-US" sz="1600" b="1" dirty="0" err="1" smtClean="0">
                  <a:latin typeface="Courier New" pitchFamily="49" charset="0"/>
                  <a:cs typeface="Courier New" pitchFamily="49" charset="0"/>
                </a:rPr>
                <a:t>printf</a:t>
              </a:r>
              <a:r>
                <a:rPr lang="en-US" sz="1600" b="1" dirty="0" smtClean="0">
                  <a:latin typeface="Courier New" pitchFamily="49" charset="0"/>
                  <a:cs typeface="Courier New" pitchFamily="49" charset="0"/>
                </a:rPr>
                <a:t>(</a:t>
              </a:r>
              <a:r>
                <a:rPr lang="en-US" sz="1600" b="1" dirty="0" smtClean="0">
                  <a:solidFill>
                    <a:srgbClr val="006600"/>
                  </a:solidFill>
                  <a:latin typeface="Courier New" pitchFamily="49" charset="0"/>
                  <a:cs typeface="Courier New" pitchFamily="49" charset="0"/>
                </a:rPr>
                <a:t>"Enter 3 integers: "</a:t>
              </a:r>
              <a:r>
                <a:rPr lang="en-US" sz="1600" b="1" dirty="0" smtClean="0">
                  <a:latin typeface="Courier New" pitchFamily="49" charset="0"/>
                  <a:cs typeface="Courier New" pitchFamily="49" charset="0"/>
                </a:rPr>
                <a:t>);</a:t>
              </a:r>
            </a:p>
            <a:p>
              <a:pPr marL="0" indent="0">
                <a:spcBef>
                  <a:spcPts val="300"/>
                </a:spcBef>
                <a:buNone/>
                <a:tabLst>
                  <a:tab pos="360363" algn="l"/>
                  <a:tab pos="630238" algn="l"/>
                  <a:tab pos="900113" algn="l"/>
                  <a:tab pos="2952750" algn="l"/>
                </a:tabLst>
              </a:pPr>
              <a:r>
                <a:rPr lang="en-US" sz="1600" b="1" dirty="0" smtClean="0">
                  <a:latin typeface="Courier New" pitchFamily="49" charset="0"/>
                  <a:cs typeface="Courier New" pitchFamily="49" charset="0"/>
                </a:rPr>
                <a:t>	</a:t>
              </a:r>
              <a:r>
                <a:rPr lang="en-US" sz="1600" b="1" dirty="0" err="1" smtClean="0">
                  <a:latin typeface="Courier New" pitchFamily="49" charset="0"/>
                  <a:cs typeface="Courier New" pitchFamily="49" charset="0"/>
                </a:rPr>
                <a:t>scanf</a:t>
              </a:r>
              <a:r>
                <a:rPr lang="en-US" sz="1600" b="1" dirty="0" smtClean="0">
                  <a:latin typeface="Courier New" pitchFamily="49" charset="0"/>
                  <a:cs typeface="Courier New" pitchFamily="49" charset="0"/>
                </a:rPr>
                <a:t>(</a:t>
              </a:r>
              <a:r>
                <a:rPr lang="en-US" sz="1600" b="1" dirty="0" smtClean="0">
                  <a:solidFill>
                    <a:srgbClr val="006600"/>
                  </a:solidFill>
                  <a:latin typeface="Courier New" pitchFamily="49" charset="0"/>
                  <a:cs typeface="Courier New" pitchFamily="49" charset="0"/>
                </a:rPr>
                <a:t>"</a:t>
              </a:r>
              <a:r>
                <a:rPr lang="en-US" sz="1600" b="1" dirty="0" smtClean="0">
                  <a:solidFill>
                    <a:srgbClr val="FF0000"/>
                  </a:solidFill>
                  <a:latin typeface="Courier New" pitchFamily="49" charset="0"/>
                  <a:cs typeface="Courier New" pitchFamily="49" charset="0"/>
                </a:rPr>
                <a:t>%d %d %d</a:t>
              </a:r>
              <a:r>
                <a:rPr lang="en-US" sz="1600" b="1" dirty="0" smtClean="0">
                  <a:solidFill>
                    <a:srgbClr val="006600"/>
                  </a:solidFill>
                  <a:latin typeface="Courier New" pitchFamily="49" charset="0"/>
                  <a:cs typeface="Courier New" pitchFamily="49" charset="0"/>
                </a:rPr>
                <a:t>"</a:t>
              </a:r>
              <a:r>
                <a:rPr lang="en-US" sz="1600" b="1" dirty="0" smtClean="0">
                  <a:latin typeface="Courier New" pitchFamily="49" charset="0"/>
                  <a:cs typeface="Courier New" pitchFamily="49" charset="0"/>
                </a:rPr>
                <a:t>, &amp;num1, &amp;num2, &amp;num3);</a:t>
              </a:r>
            </a:p>
            <a:p>
              <a:pPr marL="0" indent="0">
                <a:spcBef>
                  <a:spcPts val="300"/>
                </a:spcBef>
                <a:buNone/>
                <a:tabLst>
                  <a:tab pos="360363" algn="l"/>
                  <a:tab pos="630238" algn="l"/>
                  <a:tab pos="900113" algn="l"/>
                  <a:tab pos="2952750" algn="l"/>
                </a:tabLst>
              </a:pPr>
              <a:endParaRPr lang="en-US" sz="1600" b="1" dirty="0" smtClean="0">
                <a:latin typeface="Courier New" pitchFamily="49" charset="0"/>
                <a:cs typeface="Courier New" pitchFamily="49" charset="0"/>
              </a:endParaRPr>
            </a:p>
            <a:p>
              <a:pPr marL="0" indent="0">
                <a:spcBef>
                  <a:spcPts val="300"/>
                </a:spcBef>
                <a:buNone/>
                <a:tabLst>
                  <a:tab pos="360363" algn="l"/>
                  <a:tab pos="630238" algn="l"/>
                  <a:tab pos="900113" algn="l"/>
                  <a:tab pos="2952750" algn="l"/>
                </a:tabLst>
              </a:pPr>
              <a:endParaRPr lang="en-US" sz="1600" b="1" dirty="0" smtClean="0">
                <a:latin typeface="Courier New" pitchFamily="49" charset="0"/>
                <a:cs typeface="Courier New" pitchFamily="49" charset="0"/>
              </a:endParaRPr>
            </a:p>
            <a:p>
              <a:pPr marL="0" indent="0">
                <a:spcBef>
                  <a:spcPts val="300"/>
                </a:spcBef>
                <a:buNone/>
                <a:tabLst>
                  <a:tab pos="360363" algn="l"/>
                  <a:tab pos="630238" algn="l"/>
                  <a:tab pos="900113" algn="l"/>
                  <a:tab pos="2952750" algn="l"/>
                </a:tabLst>
              </a:pPr>
              <a:r>
                <a:rPr lang="en-US" sz="1600" b="1" dirty="0" smtClean="0">
                  <a:latin typeface="Courier New" pitchFamily="49" charset="0"/>
                  <a:cs typeface="Courier New" pitchFamily="49" charset="0"/>
                </a:rPr>
                <a:t>	</a:t>
              </a:r>
              <a:r>
                <a:rPr lang="en-US" sz="1600" b="1" dirty="0" err="1" smtClean="0">
                  <a:latin typeface="Courier New" pitchFamily="49" charset="0"/>
                  <a:cs typeface="Courier New" pitchFamily="49" charset="0"/>
                </a:rPr>
                <a:t>printf</a:t>
              </a:r>
              <a:r>
                <a:rPr lang="en-US" sz="1600" b="1" dirty="0" smtClean="0">
                  <a:latin typeface="Courier New" pitchFamily="49" charset="0"/>
                  <a:cs typeface="Courier New" pitchFamily="49" charset="0"/>
                </a:rPr>
                <a:t>(</a:t>
              </a:r>
              <a:r>
                <a:rPr lang="en-US" sz="1600" b="1" dirty="0" smtClean="0">
                  <a:solidFill>
                    <a:srgbClr val="006600"/>
                  </a:solidFill>
                  <a:latin typeface="Courier New" pitchFamily="49" charset="0"/>
                  <a:cs typeface="Courier New" pitchFamily="49" charset="0"/>
                </a:rPr>
                <a:t>"Maximum = </a:t>
              </a:r>
              <a:r>
                <a:rPr lang="en-US" sz="1600" b="1" dirty="0" smtClean="0">
                  <a:solidFill>
                    <a:srgbClr val="FF0000"/>
                  </a:solidFill>
                  <a:latin typeface="Courier New" pitchFamily="49" charset="0"/>
                  <a:cs typeface="Courier New" pitchFamily="49" charset="0"/>
                </a:rPr>
                <a:t>%d\n</a:t>
              </a:r>
              <a:r>
                <a:rPr lang="en-US" sz="1600" b="1" dirty="0" smtClean="0">
                  <a:solidFill>
                    <a:srgbClr val="006600"/>
                  </a:solidFill>
                  <a:latin typeface="Courier New" pitchFamily="49" charset="0"/>
                  <a:cs typeface="Courier New" pitchFamily="49" charset="0"/>
                </a:rPr>
                <a:t>"</a:t>
              </a:r>
              <a:r>
                <a:rPr lang="en-US" sz="1600" b="1" dirty="0" smtClean="0">
                  <a:latin typeface="Courier New" pitchFamily="49" charset="0"/>
                  <a:cs typeface="Courier New" pitchFamily="49" charset="0"/>
                </a:rPr>
                <a:t>,      );</a:t>
              </a:r>
            </a:p>
            <a:p>
              <a:pPr marL="0" indent="0">
                <a:spcBef>
                  <a:spcPts val="300"/>
                </a:spcBef>
                <a:buNone/>
                <a:tabLst>
                  <a:tab pos="360363" algn="l"/>
                  <a:tab pos="630238" algn="l"/>
                  <a:tab pos="900113" algn="l"/>
                  <a:tab pos="2952750" algn="l"/>
                </a:tabLst>
              </a:pPr>
              <a:r>
                <a:rPr lang="en-US" sz="1600" b="1" dirty="0" smtClean="0">
                  <a:latin typeface="Courier New" pitchFamily="49" charset="0"/>
                  <a:cs typeface="Courier New" pitchFamily="49" charset="0"/>
                </a:rPr>
                <a:t>	</a:t>
              </a:r>
              <a:r>
                <a:rPr lang="en-US" sz="1600" b="1" dirty="0" err="1" smtClean="0">
                  <a:latin typeface="Courier New" pitchFamily="49" charset="0"/>
                  <a:cs typeface="Courier New" pitchFamily="49" charset="0"/>
                </a:rPr>
                <a:t>printf</a:t>
              </a:r>
              <a:r>
                <a:rPr lang="en-US" sz="1600" b="1" dirty="0" smtClean="0">
                  <a:latin typeface="Courier New" pitchFamily="49" charset="0"/>
                  <a:cs typeface="Courier New" pitchFamily="49" charset="0"/>
                </a:rPr>
                <a:t>(</a:t>
              </a:r>
              <a:r>
                <a:rPr lang="en-US" sz="1600" b="1" dirty="0" smtClean="0">
                  <a:solidFill>
                    <a:srgbClr val="006600"/>
                  </a:solidFill>
                  <a:latin typeface="Courier New" pitchFamily="49" charset="0"/>
                  <a:cs typeface="Courier New" pitchFamily="49" charset="0"/>
                </a:rPr>
                <a:t>"Average = </a:t>
              </a:r>
              <a:r>
                <a:rPr lang="en-US" sz="1600" b="1" dirty="0" smtClean="0">
                  <a:solidFill>
                    <a:srgbClr val="FF0000"/>
                  </a:solidFill>
                  <a:latin typeface="Courier New" pitchFamily="49" charset="0"/>
                  <a:cs typeface="Courier New" pitchFamily="49" charset="0"/>
                </a:rPr>
                <a:t>%.2f\n</a:t>
              </a:r>
              <a:r>
                <a:rPr lang="en-US" sz="1600" b="1" dirty="0" smtClean="0">
                  <a:solidFill>
                    <a:srgbClr val="006600"/>
                  </a:solidFill>
                  <a:latin typeface="Courier New" pitchFamily="49" charset="0"/>
                  <a:cs typeface="Courier New" pitchFamily="49" charset="0"/>
                </a:rPr>
                <a:t>",       </a:t>
              </a:r>
              <a:r>
                <a:rPr lang="en-US" sz="1600" b="1" dirty="0" smtClean="0">
                  <a:latin typeface="Courier New" pitchFamily="49" charset="0"/>
                  <a:cs typeface="Courier New" pitchFamily="49" charset="0"/>
                </a:rPr>
                <a:t>);</a:t>
              </a:r>
              <a:endParaRPr lang="pt-BR" sz="1600" b="1" dirty="0" smtClean="0">
                <a:latin typeface="Courier New" pitchFamily="49" charset="0"/>
                <a:cs typeface="Courier New" pitchFamily="49" charset="0"/>
              </a:endParaRPr>
            </a:p>
            <a:p>
              <a:pPr marL="0" indent="0">
                <a:spcBef>
                  <a:spcPts val="300"/>
                </a:spcBef>
                <a:buNone/>
                <a:tabLst>
                  <a:tab pos="360363" algn="l"/>
                  <a:tab pos="630238" algn="l"/>
                  <a:tab pos="900113" algn="l"/>
                  <a:tab pos="2952750" algn="l"/>
                </a:tabLst>
              </a:pPr>
              <a:r>
                <a:rPr lang="pt-BR" sz="1600" b="1" dirty="0" smtClean="0">
                  <a:latin typeface="Courier New" pitchFamily="49" charset="0"/>
                  <a:cs typeface="Courier New" pitchFamily="49" charset="0"/>
                </a:rPr>
                <a:t>	</a:t>
              </a:r>
              <a:r>
                <a:rPr lang="pt-BR" sz="1600" b="1" dirty="0" smtClean="0">
                  <a:solidFill>
                    <a:srgbClr val="0000FF"/>
                  </a:solidFill>
                  <a:latin typeface="Courier New" pitchFamily="49" charset="0"/>
                  <a:cs typeface="Courier New" pitchFamily="49" charset="0"/>
                </a:rPr>
                <a:t>return </a:t>
              </a:r>
              <a:r>
                <a:rPr lang="pt-BR" sz="1600" b="1" dirty="0" smtClean="0">
                  <a:solidFill>
                    <a:srgbClr val="006600"/>
                  </a:solidFill>
                  <a:latin typeface="Courier New" pitchFamily="49" charset="0"/>
                  <a:cs typeface="Courier New" pitchFamily="49" charset="0"/>
                </a:rPr>
                <a:t>0</a:t>
              </a:r>
              <a:r>
                <a:rPr lang="pt-BR" sz="1600" b="1" dirty="0" smtClean="0">
                  <a:latin typeface="Courier New" pitchFamily="49" charset="0"/>
                  <a:cs typeface="Courier New" pitchFamily="49" charset="0"/>
                </a:rPr>
                <a:t>;</a:t>
              </a:r>
            </a:p>
            <a:p>
              <a:pPr marL="0" indent="0">
                <a:spcBef>
                  <a:spcPts val="300"/>
                </a:spcBef>
                <a:buNone/>
                <a:tabLst>
                  <a:tab pos="360363" algn="l"/>
                  <a:tab pos="630238" algn="l"/>
                  <a:tab pos="900113" algn="l"/>
                  <a:tab pos="2952750" algn="l"/>
                </a:tabLst>
              </a:pPr>
              <a:r>
                <a:rPr lang="pt-BR" sz="1600" b="1" dirty="0" smtClean="0">
                  <a:latin typeface="Courier New" pitchFamily="49" charset="0"/>
                  <a:cs typeface="Courier New" pitchFamily="49" charset="0"/>
                </a:rPr>
                <a:t>}</a:t>
              </a:r>
              <a:endParaRPr lang="en-SG" sz="1600" dirty="0"/>
            </a:p>
          </p:txBody>
        </p:sp>
        <p:sp>
          <p:nvSpPr>
            <p:cNvPr id="16" name="TextBox 15"/>
            <p:cNvSpPr txBox="1"/>
            <p:nvPr/>
          </p:nvSpPr>
          <p:spPr>
            <a:xfrm>
              <a:off x="7568018" y="5352852"/>
              <a:ext cx="3382178" cy="369332"/>
            </a:xfrm>
            <a:prstGeom prst="rect">
              <a:avLst/>
            </a:prstGeom>
            <a:solidFill>
              <a:srgbClr val="FFFF99"/>
            </a:solidFill>
            <a:ln>
              <a:solidFill>
                <a:schemeClr val="tx1"/>
              </a:solidFill>
            </a:ln>
          </p:spPr>
          <p:txBody>
            <a:bodyPr wrap="square" rtlCol="0">
              <a:spAutoFit/>
            </a:bodyPr>
            <a:lstStyle/>
            <a:p>
              <a:r>
                <a:rPr lang="en-US" dirty="0" smtClean="0"/>
                <a:t>Week6_MaxAve_Incomplete.c</a:t>
              </a:r>
              <a:endParaRPr lang="en-SG" dirty="0"/>
            </a:p>
          </p:txBody>
        </p:sp>
      </p:grpSp>
      <p:sp>
        <p:nvSpPr>
          <p:cNvPr id="18" name="Text Box 4"/>
          <p:cNvSpPr txBox="1">
            <a:spLocks noChangeArrowheads="1"/>
          </p:cNvSpPr>
          <p:nvPr/>
        </p:nvSpPr>
        <p:spPr bwMode="auto">
          <a:xfrm>
            <a:off x="152400" y="6400800"/>
            <a:ext cx="304800" cy="201613"/>
          </a:xfrm>
          <a:prstGeom prst="rect">
            <a:avLst/>
          </a:prstGeom>
          <a:noFill/>
          <a:ln w="9525">
            <a:noFill/>
            <a:miter lim="800000"/>
            <a:headEnd/>
            <a:tailEnd/>
          </a:ln>
        </p:spPr>
        <p:txBody>
          <a:bodyPr lIns="9144" tIns="9144" rIns="9144" bIns="9144">
            <a:spAutoFit/>
          </a:bodyPr>
          <a:lstStyle/>
          <a:p>
            <a:pPr algn="ctr">
              <a:spcBef>
                <a:spcPct val="50000"/>
              </a:spcBef>
            </a:pPr>
            <a:r>
              <a:rPr lang="en-US" sz="1200" dirty="0">
                <a:sym typeface="Wingdings 2" pitchFamily="18" charset="2"/>
              </a:rPr>
              <a:t></a:t>
            </a:r>
          </a:p>
        </p:txBody>
      </p:sp>
    </p:spTree>
  </p:cSld>
  <p:clrMapOvr>
    <a:masterClrMapping/>
  </p:clrMapOvr>
  <p:transition>
    <p:fade/>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Group 14"/>
          <p:cNvGrpSpPr/>
          <p:nvPr/>
        </p:nvGrpSpPr>
        <p:grpSpPr>
          <a:xfrm>
            <a:off x="901337" y="2407955"/>
            <a:ext cx="7579035" cy="3657010"/>
            <a:chOff x="901337" y="2407955"/>
            <a:chExt cx="7579035" cy="3657010"/>
          </a:xfrm>
        </p:grpSpPr>
        <p:sp>
          <p:nvSpPr>
            <p:cNvPr id="17" name="TextBox 16"/>
            <p:cNvSpPr txBox="1"/>
            <p:nvPr/>
          </p:nvSpPr>
          <p:spPr>
            <a:xfrm>
              <a:off x="901337" y="2407955"/>
              <a:ext cx="7419703" cy="3470181"/>
            </a:xfrm>
            <a:prstGeom prst="rect">
              <a:avLst/>
            </a:prstGeom>
            <a:solidFill>
              <a:srgbClr val="CCFFFF"/>
            </a:solidFill>
          </p:spPr>
          <p:style>
            <a:lnRef idx="2">
              <a:schemeClr val="accent6"/>
            </a:lnRef>
            <a:fillRef idx="1">
              <a:schemeClr val="lt1"/>
            </a:fillRef>
            <a:effectRef idx="0">
              <a:schemeClr val="accent6"/>
            </a:effectRef>
            <a:fontRef idx="minor">
              <a:schemeClr val="dk1"/>
            </a:fontRef>
          </p:style>
          <p:txBody>
            <a:bodyPr wrap="square" rtlCol="0">
              <a:spAutoFit/>
            </a:bodyPr>
            <a:lstStyle/>
            <a:p>
              <a:pPr marL="0" indent="0">
                <a:spcBef>
                  <a:spcPts val="300"/>
                </a:spcBef>
                <a:buNone/>
                <a:tabLst>
                  <a:tab pos="360363" algn="l"/>
                  <a:tab pos="630238" algn="l"/>
                  <a:tab pos="900113" algn="l"/>
                  <a:tab pos="2952750" algn="l"/>
                </a:tabLst>
              </a:pPr>
              <a:r>
                <a:rPr lang="en-US" sz="1600" b="1" dirty="0" smtClean="0">
                  <a:latin typeface="Courier New" pitchFamily="49" charset="0"/>
                  <a:cs typeface="Courier New" pitchFamily="49" charset="0"/>
                </a:rPr>
                <a:t>      </a:t>
              </a:r>
              <a:r>
                <a:rPr lang="en-US" sz="1600" b="1" dirty="0" err="1" smtClean="0">
                  <a:latin typeface="Courier New" pitchFamily="49" charset="0"/>
                  <a:cs typeface="Courier New" pitchFamily="49" charset="0"/>
                </a:rPr>
                <a:t>max_and_average</a:t>
              </a:r>
              <a:r>
                <a:rPr lang="en-US" sz="1600" b="1" dirty="0" smtClean="0">
                  <a:latin typeface="Courier New" pitchFamily="49" charset="0"/>
                  <a:cs typeface="Courier New" pitchFamily="49" charset="0"/>
                </a:rPr>
                <a:t>(</a:t>
              </a:r>
              <a:r>
                <a:rPr lang="en-US" sz="1600" b="1" dirty="0" err="1" smtClean="0">
                  <a:solidFill>
                    <a:srgbClr val="0000FF"/>
                  </a:solidFill>
                  <a:latin typeface="Courier New" pitchFamily="49" charset="0"/>
                  <a:cs typeface="Courier New" pitchFamily="49" charset="0"/>
                </a:rPr>
                <a:t>int</a:t>
              </a:r>
              <a:r>
                <a:rPr lang="en-US" sz="1600" b="1" dirty="0" smtClean="0">
                  <a:latin typeface="Courier New" pitchFamily="49" charset="0"/>
                  <a:cs typeface="Courier New" pitchFamily="49" charset="0"/>
                </a:rPr>
                <a:t> n1, </a:t>
              </a:r>
              <a:r>
                <a:rPr lang="en-US" sz="1600" b="1" dirty="0" err="1" smtClean="0">
                  <a:solidFill>
                    <a:srgbClr val="0000FF"/>
                  </a:solidFill>
                  <a:latin typeface="Courier New" pitchFamily="49" charset="0"/>
                  <a:cs typeface="Courier New" pitchFamily="49" charset="0"/>
                </a:rPr>
                <a:t>int</a:t>
              </a:r>
              <a:r>
                <a:rPr lang="en-US" sz="1600" b="1" dirty="0" smtClean="0">
                  <a:latin typeface="Courier New" pitchFamily="49" charset="0"/>
                  <a:cs typeface="Courier New" pitchFamily="49" charset="0"/>
                </a:rPr>
                <a:t> n2, </a:t>
              </a:r>
              <a:r>
                <a:rPr lang="en-US" sz="1600" b="1" dirty="0" err="1" smtClean="0">
                  <a:solidFill>
                    <a:srgbClr val="0000FF"/>
                  </a:solidFill>
                  <a:latin typeface="Courier New" pitchFamily="49" charset="0"/>
                  <a:cs typeface="Courier New" pitchFamily="49" charset="0"/>
                </a:rPr>
                <a:t>int</a:t>
              </a:r>
              <a:r>
                <a:rPr lang="en-US" sz="1600" b="1" dirty="0" smtClean="0">
                  <a:latin typeface="Courier New" pitchFamily="49" charset="0"/>
                  <a:cs typeface="Courier New" pitchFamily="49" charset="0"/>
                </a:rPr>
                <a:t> n3,  </a:t>
              </a:r>
            </a:p>
            <a:p>
              <a:pPr marL="0" indent="0">
                <a:spcBef>
                  <a:spcPts val="300"/>
                </a:spcBef>
                <a:buNone/>
                <a:tabLst>
                  <a:tab pos="360363" algn="l"/>
                  <a:tab pos="630238" algn="l"/>
                  <a:tab pos="900113" algn="l"/>
                  <a:tab pos="2952750" algn="l"/>
                </a:tabLst>
              </a:pPr>
              <a:endParaRPr lang="en-US" sz="1600" b="1" dirty="0" smtClean="0">
                <a:latin typeface="Courier New" pitchFamily="49" charset="0"/>
                <a:cs typeface="Courier New" pitchFamily="49" charset="0"/>
              </a:endParaRPr>
            </a:p>
            <a:p>
              <a:pPr marL="0" indent="0">
                <a:spcBef>
                  <a:spcPts val="300"/>
                </a:spcBef>
                <a:buNone/>
                <a:tabLst>
                  <a:tab pos="360363" algn="l"/>
                  <a:tab pos="630238" algn="l"/>
                  <a:tab pos="900113" algn="l"/>
                  <a:tab pos="2952750" algn="l"/>
                </a:tabLst>
              </a:pPr>
              <a:r>
                <a:rPr lang="en-US" sz="1600" b="1" dirty="0" smtClean="0">
                  <a:latin typeface="Courier New" pitchFamily="49" charset="0"/>
                  <a:cs typeface="Courier New" pitchFamily="49" charset="0"/>
                </a:rPr>
                <a:t>{</a:t>
              </a:r>
            </a:p>
            <a:p>
              <a:pPr marL="0" indent="0">
                <a:spcBef>
                  <a:spcPts val="300"/>
                </a:spcBef>
                <a:buNone/>
                <a:tabLst>
                  <a:tab pos="360363" algn="l"/>
                  <a:tab pos="630238" algn="l"/>
                  <a:tab pos="900113" algn="l"/>
                  <a:tab pos="2952750" algn="l"/>
                </a:tabLst>
              </a:pPr>
              <a:endParaRPr lang="pt-BR" sz="1600" b="1" dirty="0" smtClean="0">
                <a:latin typeface="Courier New" pitchFamily="49" charset="0"/>
                <a:cs typeface="Courier New" pitchFamily="49" charset="0"/>
              </a:endParaRPr>
            </a:p>
            <a:p>
              <a:pPr marL="0" indent="0">
                <a:spcBef>
                  <a:spcPts val="300"/>
                </a:spcBef>
                <a:buNone/>
                <a:tabLst>
                  <a:tab pos="360363" algn="l"/>
                  <a:tab pos="630238" algn="l"/>
                  <a:tab pos="900113" algn="l"/>
                  <a:tab pos="2952750" algn="l"/>
                </a:tabLst>
              </a:pPr>
              <a:endParaRPr lang="pt-BR" sz="1600" b="1" dirty="0" smtClean="0">
                <a:latin typeface="Courier New" pitchFamily="49" charset="0"/>
                <a:cs typeface="Courier New" pitchFamily="49" charset="0"/>
              </a:endParaRPr>
            </a:p>
            <a:p>
              <a:pPr marL="0" indent="0">
                <a:spcBef>
                  <a:spcPts val="300"/>
                </a:spcBef>
                <a:buNone/>
                <a:tabLst>
                  <a:tab pos="360363" algn="l"/>
                  <a:tab pos="630238" algn="l"/>
                  <a:tab pos="900113" algn="l"/>
                  <a:tab pos="2952750" algn="l"/>
                </a:tabLst>
              </a:pPr>
              <a:endParaRPr lang="pt-BR" sz="1600" b="1" dirty="0" smtClean="0">
                <a:latin typeface="Courier New" pitchFamily="49" charset="0"/>
                <a:cs typeface="Courier New" pitchFamily="49" charset="0"/>
              </a:endParaRPr>
            </a:p>
            <a:p>
              <a:pPr marL="0" indent="0">
                <a:spcBef>
                  <a:spcPts val="300"/>
                </a:spcBef>
                <a:buNone/>
                <a:tabLst>
                  <a:tab pos="360363" algn="l"/>
                  <a:tab pos="630238" algn="l"/>
                  <a:tab pos="900113" algn="l"/>
                  <a:tab pos="2952750" algn="l"/>
                </a:tabLst>
              </a:pPr>
              <a:endParaRPr lang="pt-BR" sz="1600" b="1" dirty="0" smtClean="0">
                <a:latin typeface="Courier New" pitchFamily="49" charset="0"/>
                <a:cs typeface="Courier New" pitchFamily="49" charset="0"/>
              </a:endParaRPr>
            </a:p>
            <a:p>
              <a:pPr marL="0" indent="0">
                <a:spcBef>
                  <a:spcPts val="300"/>
                </a:spcBef>
                <a:buNone/>
                <a:tabLst>
                  <a:tab pos="360363" algn="l"/>
                  <a:tab pos="630238" algn="l"/>
                  <a:tab pos="900113" algn="l"/>
                  <a:tab pos="2952750" algn="l"/>
                </a:tabLst>
              </a:pPr>
              <a:endParaRPr lang="pt-BR" sz="1600" b="1" dirty="0" smtClean="0">
                <a:latin typeface="Courier New" pitchFamily="49" charset="0"/>
                <a:cs typeface="Courier New" pitchFamily="49" charset="0"/>
              </a:endParaRPr>
            </a:p>
            <a:p>
              <a:pPr marL="0" indent="0">
                <a:spcBef>
                  <a:spcPts val="300"/>
                </a:spcBef>
                <a:buNone/>
                <a:tabLst>
                  <a:tab pos="360363" algn="l"/>
                  <a:tab pos="630238" algn="l"/>
                  <a:tab pos="900113" algn="l"/>
                  <a:tab pos="2952750" algn="l"/>
                </a:tabLst>
              </a:pPr>
              <a:endParaRPr lang="pt-BR" sz="1600" b="1" dirty="0" smtClean="0">
                <a:latin typeface="Courier New" pitchFamily="49" charset="0"/>
                <a:cs typeface="Courier New" pitchFamily="49" charset="0"/>
              </a:endParaRPr>
            </a:p>
            <a:p>
              <a:pPr marL="0" indent="0">
                <a:spcBef>
                  <a:spcPts val="300"/>
                </a:spcBef>
                <a:buNone/>
                <a:tabLst>
                  <a:tab pos="360363" algn="l"/>
                  <a:tab pos="630238" algn="l"/>
                  <a:tab pos="900113" algn="l"/>
                  <a:tab pos="2952750" algn="l"/>
                </a:tabLst>
              </a:pPr>
              <a:endParaRPr lang="pt-BR" sz="1600" b="1" dirty="0" smtClean="0">
                <a:latin typeface="Courier New" pitchFamily="49" charset="0"/>
                <a:cs typeface="Courier New" pitchFamily="49" charset="0"/>
              </a:endParaRPr>
            </a:p>
            <a:p>
              <a:pPr marL="0" indent="0">
                <a:spcBef>
                  <a:spcPts val="300"/>
                </a:spcBef>
                <a:buNone/>
                <a:tabLst>
                  <a:tab pos="360363" algn="l"/>
                  <a:tab pos="630238" algn="l"/>
                  <a:tab pos="900113" algn="l"/>
                  <a:tab pos="2952750" algn="l"/>
                </a:tabLst>
              </a:pPr>
              <a:endParaRPr lang="pt-BR" sz="1600" b="1" dirty="0" smtClean="0">
                <a:latin typeface="Courier New" pitchFamily="49" charset="0"/>
                <a:cs typeface="Courier New" pitchFamily="49" charset="0"/>
              </a:endParaRPr>
            </a:p>
            <a:p>
              <a:pPr marL="0" indent="0">
                <a:spcBef>
                  <a:spcPts val="300"/>
                </a:spcBef>
                <a:buNone/>
                <a:tabLst>
                  <a:tab pos="360363" algn="l"/>
                  <a:tab pos="630238" algn="l"/>
                  <a:tab pos="900113" algn="l"/>
                  <a:tab pos="2952750" algn="l"/>
                </a:tabLst>
              </a:pPr>
              <a:r>
                <a:rPr lang="pt-BR" sz="1600" b="1" dirty="0" smtClean="0">
                  <a:latin typeface="Courier New" pitchFamily="49" charset="0"/>
                  <a:cs typeface="Courier New" pitchFamily="49" charset="0"/>
                </a:rPr>
                <a:t>}</a:t>
              </a:r>
              <a:endParaRPr lang="en-SG" sz="1600" dirty="0"/>
            </a:p>
          </p:txBody>
        </p:sp>
        <p:sp>
          <p:nvSpPr>
            <p:cNvPr id="14" name="TextBox 13"/>
            <p:cNvSpPr txBox="1"/>
            <p:nvPr/>
          </p:nvSpPr>
          <p:spPr>
            <a:xfrm>
              <a:off x="5098194" y="5695633"/>
              <a:ext cx="3382178" cy="369332"/>
            </a:xfrm>
            <a:prstGeom prst="rect">
              <a:avLst/>
            </a:prstGeom>
            <a:solidFill>
              <a:srgbClr val="FFFF99"/>
            </a:solidFill>
            <a:ln>
              <a:solidFill>
                <a:schemeClr val="tx1"/>
              </a:solidFill>
            </a:ln>
          </p:spPr>
          <p:txBody>
            <a:bodyPr wrap="square" rtlCol="0">
              <a:spAutoFit/>
            </a:bodyPr>
            <a:lstStyle/>
            <a:p>
              <a:r>
                <a:rPr lang="en-US" dirty="0" smtClean="0"/>
                <a:t>Week6_MaxAve_Incomplete.c</a:t>
              </a:r>
              <a:endParaRPr lang="en-SG" dirty="0"/>
            </a:p>
          </p:txBody>
        </p:sp>
      </p:grpSp>
      <p:sp>
        <p:nvSpPr>
          <p:cNvPr id="40962" name="Title 1"/>
          <p:cNvSpPr>
            <a:spLocks noGrp="1"/>
          </p:cNvSpPr>
          <p:nvPr>
            <p:ph type="title"/>
          </p:nvPr>
        </p:nvSpPr>
        <p:spPr/>
        <p:txBody>
          <a:bodyPr/>
          <a:lstStyle/>
          <a:p>
            <a:r>
              <a:rPr lang="en-US" dirty="0" smtClean="0"/>
              <a:t>10. Quizzes (2/4)</a:t>
            </a:r>
          </a:p>
        </p:txBody>
      </p:sp>
      <p:sp>
        <p:nvSpPr>
          <p:cNvPr id="5" name="Slide Number Placeholder 4"/>
          <p:cNvSpPr>
            <a:spLocks noGrp="1"/>
          </p:cNvSpPr>
          <p:nvPr>
            <p:ph type="sldNum" sz="quarter" idx="12"/>
          </p:nvPr>
        </p:nvSpPr>
        <p:spPr/>
        <p:txBody>
          <a:bodyPr/>
          <a:lstStyle/>
          <a:p>
            <a:pPr>
              <a:defRPr/>
            </a:pPr>
            <a:r>
              <a:rPr dirty="0" smtClean="0"/>
              <a:t>Week6 </a:t>
            </a:r>
            <a:r>
              <a:rPr lang="en-SG" dirty="0" smtClean="0"/>
              <a:t>–</a:t>
            </a:r>
            <a:r>
              <a:rPr dirty="0" smtClean="0"/>
              <a:t> </a:t>
            </a:r>
            <a:fld id="{142D3637-33BE-40BB-9277-E7760FEB4F8D}" type="slidenum">
              <a:rPr smtClean="0"/>
              <a:pPr>
                <a:defRPr/>
              </a:pPr>
              <a:t>44</a:t>
            </a:fld>
            <a:r>
              <a:rPr dirty="0" smtClean="0"/>
              <a:t> </a:t>
            </a:r>
            <a:endParaRPr dirty="0"/>
          </a:p>
        </p:txBody>
      </p:sp>
      <p:sp>
        <p:nvSpPr>
          <p:cNvPr id="40963" name="Content Placeholder 2"/>
          <p:cNvSpPr>
            <a:spLocks noGrp="1"/>
          </p:cNvSpPr>
          <p:nvPr>
            <p:ph sz="quarter" idx="1"/>
          </p:nvPr>
        </p:nvSpPr>
        <p:spPr>
          <a:xfrm>
            <a:off x="457199" y="1230489"/>
            <a:ext cx="8466463" cy="807631"/>
          </a:xfrm>
        </p:spPr>
        <p:txBody>
          <a:bodyPr/>
          <a:lstStyle/>
          <a:p>
            <a:pPr>
              <a:spcBef>
                <a:spcPts val="600"/>
              </a:spcBef>
            </a:pPr>
            <a:r>
              <a:rPr lang="en-US" sz="2000" dirty="0" smtClean="0">
                <a:solidFill>
                  <a:schemeClr val="tx1"/>
                </a:solidFill>
              </a:rPr>
              <a:t>Complete this </a:t>
            </a:r>
            <a:r>
              <a:rPr lang="en-US" sz="2000" dirty="0" smtClean="0"/>
              <a:t>Week6_MaxAve_Incomplete.c</a:t>
            </a:r>
            <a:r>
              <a:rPr lang="en-US" sz="2000" dirty="0" smtClean="0">
                <a:solidFill>
                  <a:schemeClr val="tx1"/>
                </a:solidFill>
              </a:rPr>
              <a:t> program that computes the maximum and average of 3 integers in a single function.</a:t>
            </a:r>
          </a:p>
        </p:txBody>
      </p:sp>
      <p:sp>
        <p:nvSpPr>
          <p:cNvPr id="10" name="Text Box 4"/>
          <p:cNvSpPr txBox="1">
            <a:spLocks noChangeArrowheads="1"/>
          </p:cNvSpPr>
          <p:nvPr/>
        </p:nvSpPr>
        <p:spPr bwMode="auto">
          <a:xfrm>
            <a:off x="152400" y="6400800"/>
            <a:ext cx="304800" cy="201613"/>
          </a:xfrm>
          <a:prstGeom prst="rect">
            <a:avLst/>
          </a:prstGeom>
          <a:noFill/>
          <a:ln w="9525">
            <a:noFill/>
            <a:miter lim="800000"/>
            <a:headEnd/>
            <a:tailEnd/>
          </a:ln>
        </p:spPr>
        <p:txBody>
          <a:bodyPr lIns="9144" tIns="9144" rIns="9144" bIns="9144">
            <a:spAutoFit/>
          </a:bodyPr>
          <a:lstStyle/>
          <a:p>
            <a:pPr algn="ctr">
              <a:spcBef>
                <a:spcPct val="50000"/>
              </a:spcBef>
            </a:pPr>
            <a:r>
              <a:rPr lang="en-US" sz="1200" dirty="0">
                <a:sym typeface="Wingdings 2" pitchFamily="18" charset="2"/>
              </a:rPr>
              <a:t></a:t>
            </a:r>
          </a:p>
        </p:txBody>
      </p:sp>
      <p:sp>
        <p:nvSpPr>
          <p:cNvPr id="16" name="TextBox 15"/>
          <p:cNvSpPr txBox="1"/>
          <p:nvPr/>
        </p:nvSpPr>
        <p:spPr>
          <a:xfrm>
            <a:off x="998083" y="1903994"/>
            <a:ext cx="1855286" cy="369332"/>
          </a:xfrm>
          <a:prstGeom prst="rect">
            <a:avLst/>
          </a:prstGeom>
          <a:noFill/>
          <a:ln>
            <a:noFill/>
          </a:ln>
        </p:spPr>
        <p:txBody>
          <a:bodyPr wrap="square" rtlCol="0">
            <a:spAutoFit/>
          </a:bodyPr>
          <a:lstStyle/>
          <a:p>
            <a:r>
              <a:rPr lang="en-US" i="1" dirty="0" smtClean="0"/>
              <a:t>(continued…)</a:t>
            </a:r>
            <a:endParaRPr lang="en-SG" i="1" dirty="0"/>
          </a:p>
        </p:txBody>
      </p:sp>
    </p:spTree>
  </p:cSld>
  <p:clrMapOvr>
    <a:masterClrMapping/>
  </p:clrMapOvr>
  <p:transition>
    <p:fade/>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6"/>
          <p:cNvSpPr txBox="1"/>
          <p:nvPr/>
        </p:nvSpPr>
        <p:spPr>
          <a:xfrm>
            <a:off x="3122023" y="2354497"/>
            <a:ext cx="2899954" cy="2954655"/>
          </a:xfrm>
          <a:prstGeom prst="rect">
            <a:avLst/>
          </a:prstGeom>
          <a:solidFill>
            <a:srgbClr val="CCFFFF"/>
          </a:solidFill>
        </p:spPr>
        <p:style>
          <a:lnRef idx="2">
            <a:schemeClr val="accent6"/>
          </a:lnRef>
          <a:fillRef idx="1">
            <a:schemeClr val="lt1"/>
          </a:fillRef>
          <a:effectRef idx="0">
            <a:schemeClr val="accent6"/>
          </a:effectRef>
          <a:fontRef idx="minor">
            <a:schemeClr val="dk1"/>
          </a:fontRef>
        </p:style>
        <p:txBody>
          <a:bodyPr wrap="square" rtlCol="0">
            <a:spAutoFit/>
          </a:bodyPr>
          <a:lstStyle/>
          <a:p>
            <a:pPr marL="0" indent="0">
              <a:spcBef>
                <a:spcPts val="300"/>
              </a:spcBef>
              <a:buNone/>
              <a:tabLst>
                <a:tab pos="182563" algn="l"/>
                <a:tab pos="352425" algn="l"/>
                <a:tab pos="534988" algn="l"/>
              </a:tabLst>
            </a:pPr>
            <a:r>
              <a:rPr lang="en-US" sz="1200" b="1" dirty="0" err="1" smtClean="0">
                <a:solidFill>
                  <a:srgbClr val="0000FF"/>
                </a:solidFill>
                <a:latin typeface="Courier New" pitchFamily="49" charset="0"/>
                <a:cs typeface="Courier New" pitchFamily="49" charset="0"/>
              </a:rPr>
              <a:t>int</a:t>
            </a:r>
            <a:r>
              <a:rPr lang="en-US" sz="1200" b="1" dirty="0" smtClean="0">
                <a:latin typeface="Courier New" pitchFamily="49" charset="0"/>
                <a:cs typeface="Courier New" pitchFamily="49" charset="0"/>
              </a:rPr>
              <a:t> main(</a:t>
            </a:r>
            <a:r>
              <a:rPr lang="en-US" sz="1200" b="1" dirty="0" smtClean="0">
                <a:solidFill>
                  <a:srgbClr val="0000FF"/>
                </a:solidFill>
                <a:latin typeface="Courier New" pitchFamily="49" charset="0"/>
                <a:cs typeface="Courier New" pitchFamily="49" charset="0"/>
              </a:rPr>
              <a:t>void</a:t>
            </a:r>
            <a:r>
              <a:rPr lang="en-US" sz="1200" b="1" dirty="0" smtClean="0">
                <a:latin typeface="Courier New" pitchFamily="49" charset="0"/>
                <a:cs typeface="Courier New" pitchFamily="49" charset="0"/>
              </a:rPr>
              <a:t>) {</a:t>
            </a:r>
          </a:p>
          <a:p>
            <a:pPr marL="0" indent="0">
              <a:spcBef>
                <a:spcPts val="300"/>
              </a:spcBef>
              <a:buNone/>
              <a:tabLst>
                <a:tab pos="182563" algn="l"/>
                <a:tab pos="352425" algn="l"/>
                <a:tab pos="534988" algn="l"/>
              </a:tabLst>
            </a:pPr>
            <a:r>
              <a:rPr lang="en-US" sz="1200" b="1" dirty="0" smtClean="0">
                <a:latin typeface="Courier New" pitchFamily="49" charset="0"/>
                <a:cs typeface="Courier New" pitchFamily="49" charset="0"/>
              </a:rPr>
              <a:t>	</a:t>
            </a:r>
            <a:r>
              <a:rPr lang="en-US" sz="1200" b="1" dirty="0" err="1" smtClean="0">
                <a:solidFill>
                  <a:srgbClr val="0000FF"/>
                </a:solidFill>
                <a:latin typeface="Courier New" pitchFamily="49" charset="0"/>
                <a:cs typeface="Courier New" pitchFamily="49" charset="0"/>
              </a:rPr>
              <a:t>int</a:t>
            </a:r>
            <a:r>
              <a:rPr lang="en-US" sz="1200" b="1" dirty="0" smtClean="0">
                <a:latin typeface="Courier New" pitchFamily="49" charset="0"/>
                <a:cs typeface="Courier New" pitchFamily="49" charset="0"/>
              </a:rPr>
              <a:t> num1, num2;</a:t>
            </a:r>
          </a:p>
          <a:p>
            <a:pPr marL="0" indent="0">
              <a:spcBef>
                <a:spcPts val="300"/>
              </a:spcBef>
              <a:buNone/>
              <a:tabLst>
                <a:tab pos="182563" algn="l"/>
                <a:tab pos="352425" algn="l"/>
                <a:tab pos="534988" algn="l"/>
              </a:tabLst>
            </a:pPr>
            <a:r>
              <a:rPr lang="en-US" sz="1200" b="1" dirty="0" smtClean="0">
                <a:latin typeface="Courier New" pitchFamily="49" charset="0"/>
                <a:cs typeface="Courier New" pitchFamily="49" charset="0"/>
              </a:rPr>
              <a:t>	</a:t>
            </a:r>
            <a:r>
              <a:rPr lang="en-US" sz="1200" b="1" dirty="0" err="1" smtClean="0">
                <a:latin typeface="Courier New" pitchFamily="49" charset="0"/>
                <a:cs typeface="Courier New" pitchFamily="49" charset="0"/>
              </a:rPr>
              <a:t>read_inputs</a:t>
            </a:r>
            <a:r>
              <a:rPr lang="en-US" sz="1200" b="1" dirty="0" smtClean="0">
                <a:latin typeface="Courier New" pitchFamily="49" charset="0"/>
                <a:cs typeface="Courier New" pitchFamily="49" charset="0"/>
              </a:rPr>
              <a:t>(&amp;num1, &amp;num2);</a:t>
            </a:r>
          </a:p>
          <a:p>
            <a:pPr marL="0" indent="0">
              <a:spcBef>
                <a:spcPts val="300"/>
              </a:spcBef>
              <a:buNone/>
              <a:tabLst>
                <a:tab pos="182563" algn="l"/>
                <a:tab pos="352425" algn="l"/>
                <a:tab pos="534988" algn="l"/>
              </a:tabLst>
            </a:pPr>
            <a:r>
              <a:rPr lang="en-US" sz="1200" b="1" dirty="0" smtClean="0">
                <a:latin typeface="Courier New" pitchFamily="49" charset="0"/>
                <a:cs typeface="Courier New" pitchFamily="49" charset="0"/>
              </a:rPr>
              <a:t>	</a:t>
            </a:r>
            <a:r>
              <a:rPr lang="en-US" sz="1200" b="1" dirty="0" err="1" smtClean="0">
                <a:latin typeface="Courier New" pitchFamily="49" charset="0"/>
                <a:cs typeface="Courier New" pitchFamily="49" charset="0"/>
              </a:rPr>
              <a:t>printf</a:t>
            </a:r>
            <a:r>
              <a:rPr lang="en-US" sz="1200" b="1" dirty="0" smtClean="0">
                <a:latin typeface="Courier New" pitchFamily="49" charset="0"/>
                <a:cs typeface="Courier New" pitchFamily="49" charset="0"/>
              </a:rPr>
              <a:t>(</a:t>
            </a:r>
            <a:r>
              <a:rPr lang="en-US" sz="1200" b="1" dirty="0" smtClean="0">
                <a:solidFill>
                  <a:srgbClr val="006600"/>
                </a:solidFill>
                <a:latin typeface="Courier New" pitchFamily="49" charset="0"/>
                <a:cs typeface="Courier New" pitchFamily="49" charset="0"/>
              </a:rPr>
              <a:t>"Values: </a:t>
            </a:r>
            <a:r>
              <a:rPr lang="en-US" sz="1200" b="1" dirty="0" smtClean="0">
                <a:solidFill>
                  <a:srgbClr val="FF0000"/>
                </a:solidFill>
                <a:latin typeface="Courier New" pitchFamily="49" charset="0"/>
                <a:cs typeface="Courier New" pitchFamily="49" charset="0"/>
              </a:rPr>
              <a:t>%d</a:t>
            </a:r>
            <a:r>
              <a:rPr lang="en-US" sz="1200" b="1" dirty="0" smtClean="0">
                <a:latin typeface="Courier New" pitchFamily="49" charset="0"/>
                <a:cs typeface="Courier New" pitchFamily="49" charset="0"/>
              </a:rPr>
              <a:t> </a:t>
            </a:r>
            <a:r>
              <a:rPr lang="en-US" sz="1200" b="1" dirty="0" smtClean="0">
                <a:solidFill>
                  <a:srgbClr val="006600"/>
                </a:solidFill>
                <a:latin typeface="Courier New" pitchFamily="49" charset="0"/>
                <a:cs typeface="Courier New" pitchFamily="49" charset="0"/>
              </a:rPr>
              <a:t>&amp;</a:t>
            </a:r>
            <a:r>
              <a:rPr lang="en-US" sz="1200" b="1" dirty="0" smtClean="0">
                <a:latin typeface="Courier New" pitchFamily="49" charset="0"/>
                <a:cs typeface="Courier New" pitchFamily="49" charset="0"/>
              </a:rPr>
              <a:t> </a:t>
            </a:r>
            <a:r>
              <a:rPr lang="en-US" sz="1200" b="1" dirty="0" smtClean="0">
                <a:solidFill>
                  <a:srgbClr val="FF0000"/>
                </a:solidFill>
                <a:latin typeface="Courier New" pitchFamily="49" charset="0"/>
                <a:cs typeface="Courier New" pitchFamily="49" charset="0"/>
              </a:rPr>
              <a:t>%d\n</a:t>
            </a:r>
            <a:r>
              <a:rPr lang="en-US" sz="1200" b="1" dirty="0" smtClean="0">
                <a:solidFill>
                  <a:srgbClr val="006600"/>
                </a:solidFill>
                <a:latin typeface="Courier New" pitchFamily="49" charset="0"/>
                <a:cs typeface="Courier New" pitchFamily="49" charset="0"/>
              </a:rPr>
              <a:t>"</a:t>
            </a:r>
            <a:r>
              <a:rPr lang="en-US" sz="1200" b="1" dirty="0" smtClean="0">
                <a:latin typeface="Courier New" pitchFamily="49" charset="0"/>
                <a:cs typeface="Courier New" pitchFamily="49" charset="0"/>
              </a:rPr>
              <a:t>,</a:t>
            </a:r>
          </a:p>
          <a:p>
            <a:pPr marL="0" indent="0">
              <a:spcBef>
                <a:spcPts val="300"/>
              </a:spcBef>
              <a:buNone/>
              <a:tabLst>
                <a:tab pos="182563" algn="l"/>
                <a:tab pos="352425" algn="l"/>
                <a:tab pos="534988" algn="l"/>
              </a:tabLst>
            </a:pPr>
            <a:r>
              <a:rPr lang="en-US" sz="1200" b="1" dirty="0" smtClean="0">
                <a:latin typeface="Courier New" pitchFamily="49" charset="0"/>
                <a:cs typeface="Courier New" pitchFamily="49" charset="0"/>
              </a:rPr>
              <a:t>	       num1, num2);</a:t>
            </a:r>
          </a:p>
          <a:p>
            <a:pPr marL="0" indent="0">
              <a:spcBef>
                <a:spcPts val="300"/>
              </a:spcBef>
              <a:buNone/>
              <a:tabLst>
                <a:tab pos="182563" algn="l"/>
                <a:tab pos="352425" algn="l"/>
                <a:tab pos="534988" algn="l"/>
              </a:tabLst>
            </a:pPr>
            <a:r>
              <a:rPr lang="en-US" sz="1200" b="1" dirty="0" smtClean="0">
                <a:latin typeface="Courier New" pitchFamily="49" charset="0"/>
                <a:cs typeface="Courier New" pitchFamily="49" charset="0"/>
              </a:rPr>
              <a:t>	</a:t>
            </a:r>
            <a:r>
              <a:rPr lang="en-US" sz="1200" b="1" dirty="0" smtClean="0">
                <a:solidFill>
                  <a:srgbClr val="0000FF"/>
                </a:solidFill>
                <a:latin typeface="Courier New" pitchFamily="49" charset="0"/>
                <a:cs typeface="Courier New" pitchFamily="49" charset="0"/>
              </a:rPr>
              <a:t>return </a:t>
            </a:r>
            <a:r>
              <a:rPr lang="en-US" sz="1200" b="1" dirty="0" smtClean="0">
                <a:solidFill>
                  <a:srgbClr val="006600"/>
                </a:solidFill>
                <a:latin typeface="Courier New" pitchFamily="49" charset="0"/>
                <a:cs typeface="Courier New" pitchFamily="49" charset="0"/>
              </a:rPr>
              <a:t>0</a:t>
            </a:r>
            <a:r>
              <a:rPr lang="en-US" sz="1200" b="1" dirty="0" smtClean="0">
                <a:latin typeface="Courier New" pitchFamily="49" charset="0"/>
                <a:cs typeface="Courier New" pitchFamily="49" charset="0"/>
              </a:rPr>
              <a:t>;</a:t>
            </a:r>
          </a:p>
          <a:p>
            <a:pPr marL="0" indent="0">
              <a:spcBef>
                <a:spcPts val="300"/>
              </a:spcBef>
              <a:buNone/>
              <a:tabLst>
                <a:tab pos="182563" algn="l"/>
                <a:tab pos="352425" algn="l"/>
                <a:tab pos="534988" algn="l"/>
              </a:tabLst>
            </a:pPr>
            <a:r>
              <a:rPr lang="en-US" sz="1200" b="1" dirty="0" smtClean="0">
                <a:latin typeface="Courier New" pitchFamily="49" charset="0"/>
                <a:cs typeface="Courier New" pitchFamily="49" charset="0"/>
              </a:rPr>
              <a:t>}</a:t>
            </a:r>
          </a:p>
          <a:p>
            <a:pPr marL="0" indent="0">
              <a:spcBef>
                <a:spcPts val="300"/>
              </a:spcBef>
              <a:buNone/>
              <a:tabLst>
                <a:tab pos="182563" algn="l"/>
                <a:tab pos="352425" algn="l"/>
                <a:tab pos="534988" algn="l"/>
              </a:tabLst>
            </a:pPr>
            <a:endParaRPr lang="en-US" sz="1200" b="1" dirty="0" smtClean="0">
              <a:latin typeface="Courier New" pitchFamily="49" charset="0"/>
              <a:cs typeface="Courier New" pitchFamily="49" charset="0"/>
            </a:endParaRPr>
          </a:p>
          <a:p>
            <a:pPr marL="0" indent="0">
              <a:spcBef>
                <a:spcPts val="300"/>
              </a:spcBef>
              <a:buNone/>
              <a:tabLst>
                <a:tab pos="182563" algn="l"/>
                <a:tab pos="352425" algn="l"/>
                <a:tab pos="534988" algn="l"/>
              </a:tabLst>
            </a:pPr>
            <a:r>
              <a:rPr lang="en-US" sz="1200" b="1" dirty="0" smtClean="0">
                <a:solidFill>
                  <a:srgbClr val="0000FF"/>
                </a:solidFill>
                <a:latin typeface="Courier New" pitchFamily="49" charset="0"/>
                <a:cs typeface="Courier New" pitchFamily="49" charset="0"/>
              </a:rPr>
              <a:t>void </a:t>
            </a:r>
            <a:r>
              <a:rPr lang="en-US" sz="1200" b="1" dirty="0" err="1" smtClean="0">
                <a:latin typeface="Courier New" pitchFamily="49" charset="0"/>
                <a:cs typeface="Courier New" pitchFamily="49" charset="0"/>
              </a:rPr>
              <a:t>read_inputs</a:t>
            </a:r>
            <a:r>
              <a:rPr lang="en-US" sz="1200" b="1" dirty="0" smtClean="0">
                <a:latin typeface="Courier New" pitchFamily="49" charset="0"/>
                <a:cs typeface="Courier New" pitchFamily="49" charset="0"/>
              </a:rPr>
              <a:t>(</a:t>
            </a:r>
            <a:r>
              <a:rPr lang="en-US" sz="1200" b="1" dirty="0" err="1" smtClean="0">
                <a:solidFill>
                  <a:srgbClr val="0000FF"/>
                </a:solidFill>
                <a:latin typeface="Courier New" pitchFamily="49" charset="0"/>
                <a:cs typeface="Courier New" pitchFamily="49" charset="0"/>
              </a:rPr>
              <a:t>int</a:t>
            </a:r>
            <a:r>
              <a:rPr lang="en-US" sz="1200" b="1" dirty="0" smtClean="0">
                <a:latin typeface="Courier New" pitchFamily="49" charset="0"/>
                <a:cs typeface="Courier New" pitchFamily="49" charset="0"/>
              </a:rPr>
              <a:t> *n1, </a:t>
            </a:r>
          </a:p>
          <a:p>
            <a:pPr marL="0" indent="0">
              <a:spcBef>
                <a:spcPts val="300"/>
              </a:spcBef>
              <a:buNone/>
              <a:tabLst>
                <a:tab pos="182563" algn="l"/>
                <a:tab pos="352425" algn="l"/>
                <a:tab pos="534988" algn="l"/>
              </a:tabLst>
            </a:pPr>
            <a:r>
              <a:rPr lang="en-US" sz="1200" b="1" dirty="0" smtClean="0">
                <a:solidFill>
                  <a:srgbClr val="0000FF"/>
                </a:solidFill>
                <a:latin typeface="Courier New" pitchFamily="49" charset="0"/>
                <a:cs typeface="Courier New" pitchFamily="49" charset="0"/>
              </a:rPr>
              <a:t>                 </a:t>
            </a:r>
            <a:r>
              <a:rPr lang="en-US" sz="1200" b="1" dirty="0" err="1" smtClean="0">
                <a:solidFill>
                  <a:srgbClr val="0000FF"/>
                </a:solidFill>
                <a:latin typeface="Courier New" pitchFamily="49" charset="0"/>
                <a:cs typeface="Courier New" pitchFamily="49" charset="0"/>
              </a:rPr>
              <a:t>int</a:t>
            </a:r>
            <a:r>
              <a:rPr lang="en-US" sz="1200" b="1" dirty="0" smtClean="0">
                <a:latin typeface="Courier New" pitchFamily="49" charset="0"/>
                <a:cs typeface="Courier New" pitchFamily="49" charset="0"/>
              </a:rPr>
              <a:t> *n2) {</a:t>
            </a:r>
          </a:p>
          <a:p>
            <a:pPr marL="0" indent="0">
              <a:spcBef>
                <a:spcPts val="300"/>
              </a:spcBef>
              <a:buNone/>
              <a:tabLst>
                <a:tab pos="182563" algn="l"/>
                <a:tab pos="352425" algn="l"/>
                <a:tab pos="534988" algn="l"/>
              </a:tabLst>
            </a:pPr>
            <a:r>
              <a:rPr lang="en-US" sz="1200" b="1" dirty="0" smtClean="0">
                <a:latin typeface="Courier New" pitchFamily="49" charset="0"/>
                <a:cs typeface="Courier New" pitchFamily="49" charset="0"/>
              </a:rPr>
              <a:t>	</a:t>
            </a:r>
            <a:r>
              <a:rPr lang="en-US" sz="1200" b="1" dirty="0" err="1" smtClean="0">
                <a:latin typeface="Courier New" pitchFamily="49" charset="0"/>
                <a:cs typeface="Courier New" pitchFamily="49" charset="0"/>
              </a:rPr>
              <a:t>printf</a:t>
            </a:r>
            <a:r>
              <a:rPr lang="en-US" sz="1200" b="1" dirty="0" smtClean="0">
                <a:latin typeface="Courier New" pitchFamily="49" charset="0"/>
                <a:cs typeface="Courier New" pitchFamily="49" charset="0"/>
              </a:rPr>
              <a:t>(</a:t>
            </a:r>
            <a:r>
              <a:rPr lang="en-US" sz="1200" b="1" dirty="0" smtClean="0">
                <a:solidFill>
                  <a:srgbClr val="006600"/>
                </a:solidFill>
                <a:latin typeface="Courier New" pitchFamily="49" charset="0"/>
                <a:cs typeface="Courier New" pitchFamily="49" charset="0"/>
              </a:rPr>
              <a:t>"Enter 2 values: "</a:t>
            </a:r>
            <a:r>
              <a:rPr lang="en-US" sz="1200" b="1" dirty="0" smtClean="0">
                <a:latin typeface="Courier New" pitchFamily="49" charset="0"/>
                <a:cs typeface="Courier New" pitchFamily="49" charset="0"/>
              </a:rPr>
              <a:t>);</a:t>
            </a:r>
          </a:p>
          <a:p>
            <a:pPr marL="0" indent="0">
              <a:spcBef>
                <a:spcPts val="300"/>
              </a:spcBef>
              <a:buNone/>
              <a:tabLst>
                <a:tab pos="182563" algn="l"/>
                <a:tab pos="352425" algn="l"/>
                <a:tab pos="534988" algn="l"/>
              </a:tabLst>
            </a:pPr>
            <a:r>
              <a:rPr lang="en-US" sz="1200" b="1" dirty="0" smtClean="0">
                <a:latin typeface="Courier New" pitchFamily="49" charset="0"/>
                <a:cs typeface="Courier New" pitchFamily="49" charset="0"/>
              </a:rPr>
              <a:t>	</a:t>
            </a:r>
            <a:r>
              <a:rPr lang="en-US" sz="1200" b="1" dirty="0" err="1" smtClean="0">
                <a:latin typeface="Courier New" pitchFamily="49" charset="0"/>
                <a:cs typeface="Courier New" pitchFamily="49" charset="0"/>
              </a:rPr>
              <a:t>scanf</a:t>
            </a:r>
            <a:r>
              <a:rPr lang="en-US" sz="1200" b="1" dirty="0" smtClean="0">
                <a:latin typeface="Courier New" pitchFamily="49" charset="0"/>
                <a:cs typeface="Courier New" pitchFamily="49" charset="0"/>
              </a:rPr>
              <a:t>(</a:t>
            </a:r>
            <a:r>
              <a:rPr lang="en-US" sz="1200" b="1" dirty="0" smtClean="0">
                <a:solidFill>
                  <a:srgbClr val="006600"/>
                </a:solidFill>
                <a:latin typeface="Courier New" pitchFamily="49" charset="0"/>
                <a:cs typeface="Courier New" pitchFamily="49" charset="0"/>
              </a:rPr>
              <a:t>"</a:t>
            </a:r>
            <a:r>
              <a:rPr lang="en-US" sz="1200" b="1" dirty="0" smtClean="0">
                <a:solidFill>
                  <a:srgbClr val="FF0000"/>
                </a:solidFill>
                <a:latin typeface="Courier New" pitchFamily="49" charset="0"/>
                <a:cs typeface="Courier New" pitchFamily="49" charset="0"/>
              </a:rPr>
              <a:t>%d %d</a:t>
            </a:r>
            <a:r>
              <a:rPr lang="en-US" sz="1200" b="1" dirty="0" smtClean="0">
                <a:solidFill>
                  <a:srgbClr val="006600"/>
                </a:solidFill>
                <a:latin typeface="Courier New" pitchFamily="49" charset="0"/>
                <a:cs typeface="Courier New" pitchFamily="49" charset="0"/>
              </a:rPr>
              <a:t>"</a:t>
            </a:r>
            <a:r>
              <a:rPr lang="en-US" sz="1200" b="1" dirty="0" smtClean="0">
                <a:latin typeface="Courier New" pitchFamily="49" charset="0"/>
                <a:cs typeface="Courier New" pitchFamily="49" charset="0"/>
              </a:rPr>
              <a:t>, n1, n2);</a:t>
            </a:r>
          </a:p>
          <a:p>
            <a:pPr marL="0" indent="0">
              <a:spcBef>
                <a:spcPts val="300"/>
              </a:spcBef>
              <a:buNone/>
              <a:tabLst>
                <a:tab pos="182563" algn="l"/>
                <a:tab pos="352425" algn="l"/>
                <a:tab pos="534988" algn="l"/>
              </a:tabLst>
            </a:pPr>
            <a:r>
              <a:rPr lang="en-US" sz="1200" b="1" dirty="0" smtClean="0">
                <a:latin typeface="Courier New" pitchFamily="49" charset="0"/>
                <a:cs typeface="Courier New" pitchFamily="49" charset="0"/>
              </a:rPr>
              <a:t>}</a:t>
            </a:r>
          </a:p>
        </p:txBody>
      </p:sp>
      <p:sp>
        <p:nvSpPr>
          <p:cNvPr id="40962" name="Title 1"/>
          <p:cNvSpPr>
            <a:spLocks noGrp="1"/>
          </p:cNvSpPr>
          <p:nvPr>
            <p:ph type="title"/>
          </p:nvPr>
        </p:nvSpPr>
        <p:spPr/>
        <p:txBody>
          <a:bodyPr/>
          <a:lstStyle/>
          <a:p>
            <a:r>
              <a:rPr lang="en-US" dirty="0" smtClean="0"/>
              <a:t>10. Quizzes (3/4)</a:t>
            </a:r>
          </a:p>
        </p:txBody>
      </p:sp>
      <p:sp>
        <p:nvSpPr>
          <p:cNvPr id="5" name="Slide Number Placeholder 4"/>
          <p:cNvSpPr>
            <a:spLocks noGrp="1"/>
          </p:cNvSpPr>
          <p:nvPr>
            <p:ph type="sldNum" sz="quarter" idx="12"/>
          </p:nvPr>
        </p:nvSpPr>
        <p:spPr/>
        <p:txBody>
          <a:bodyPr/>
          <a:lstStyle/>
          <a:p>
            <a:pPr>
              <a:defRPr/>
            </a:pPr>
            <a:r>
              <a:rPr dirty="0" smtClean="0"/>
              <a:t>Week6 </a:t>
            </a:r>
            <a:r>
              <a:rPr lang="en-SG" dirty="0" smtClean="0"/>
              <a:t>–</a:t>
            </a:r>
            <a:r>
              <a:rPr dirty="0" smtClean="0"/>
              <a:t> </a:t>
            </a:r>
            <a:fld id="{142D3637-33BE-40BB-9277-E7760FEB4F8D}" type="slidenum">
              <a:rPr smtClean="0"/>
              <a:pPr>
                <a:defRPr/>
              </a:pPr>
              <a:t>45</a:t>
            </a:fld>
            <a:r>
              <a:rPr dirty="0" smtClean="0"/>
              <a:t> </a:t>
            </a:r>
            <a:endParaRPr dirty="0"/>
          </a:p>
        </p:txBody>
      </p:sp>
      <p:sp>
        <p:nvSpPr>
          <p:cNvPr id="40963" name="Content Placeholder 2"/>
          <p:cNvSpPr>
            <a:spLocks noGrp="1"/>
          </p:cNvSpPr>
          <p:nvPr>
            <p:ph sz="quarter" idx="1"/>
          </p:nvPr>
        </p:nvSpPr>
        <p:spPr>
          <a:xfrm>
            <a:off x="457199" y="1230490"/>
            <a:ext cx="8455447" cy="653394"/>
          </a:xfrm>
        </p:spPr>
        <p:txBody>
          <a:bodyPr>
            <a:normAutofit lnSpcReduction="10000"/>
          </a:bodyPr>
          <a:lstStyle/>
          <a:p>
            <a:pPr>
              <a:spcBef>
                <a:spcPts val="600"/>
              </a:spcBef>
            </a:pPr>
            <a:r>
              <a:rPr lang="en-US" sz="2000" dirty="0" smtClean="0">
                <a:solidFill>
                  <a:schemeClr val="tx1"/>
                </a:solidFill>
              </a:rPr>
              <a:t>Which of the following is the correct way to read 2 integers through a function?</a:t>
            </a:r>
          </a:p>
        </p:txBody>
      </p:sp>
      <p:sp>
        <p:nvSpPr>
          <p:cNvPr id="10" name="Text Box 4"/>
          <p:cNvSpPr txBox="1">
            <a:spLocks noChangeArrowheads="1"/>
          </p:cNvSpPr>
          <p:nvPr/>
        </p:nvSpPr>
        <p:spPr bwMode="auto">
          <a:xfrm>
            <a:off x="152400" y="6400800"/>
            <a:ext cx="304800" cy="201613"/>
          </a:xfrm>
          <a:prstGeom prst="rect">
            <a:avLst/>
          </a:prstGeom>
          <a:noFill/>
          <a:ln w="9525">
            <a:noFill/>
            <a:miter lim="800000"/>
            <a:headEnd/>
            <a:tailEnd/>
          </a:ln>
        </p:spPr>
        <p:txBody>
          <a:bodyPr lIns="9144" tIns="9144" rIns="9144" bIns="9144">
            <a:spAutoFit/>
          </a:bodyPr>
          <a:lstStyle/>
          <a:p>
            <a:pPr algn="ctr">
              <a:spcBef>
                <a:spcPct val="50000"/>
              </a:spcBef>
            </a:pPr>
            <a:r>
              <a:rPr lang="en-US" sz="1200" dirty="0">
                <a:sym typeface="Wingdings 2" pitchFamily="18" charset="2"/>
              </a:rPr>
              <a:t></a:t>
            </a:r>
          </a:p>
        </p:txBody>
      </p:sp>
      <p:sp>
        <p:nvSpPr>
          <p:cNvPr id="15" name="TextBox 14"/>
          <p:cNvSpPr txBox="1"/>
          <p:nvPr/>
        </p:nvSpPr>
        <p:spPr>
          <a:xfrm>
            <a:off x="248194" y="2354497"/>
            <a:ext cx="2899953" cy="2954655"/>
          </a:xfrm>
          <a:prstGeom prst="rect">
            <a:avLst/>
          </a:prstGeom>
          <a:solidFill>
            <a:srgbClr val="FFFF99"/>
          </a:solidFill>
        </p:spPr>
        <p:style>
          <a:lnRef idx="2">
            <a:schemeClr val="accent6"/>
          </a:lnRef>
          <a:fillRef idx="1">
            <a:schemeClr val="lt1"/>
          </a:fillRef>
          <a:effectRef idx="0">
            <a:schemeClr val="accent6"/>
          </a:effectRef>
          <a:fontRef idx="minor">
            <a:schemeClr val="dk1"/>
          </a:fontRef>
        </p:style>
        <p:txBody>
          <a:bodyPr wrap="square" rtlCol="0">
            <a:spAutoFit/>
          </a:bodyPr>
          <a:lstStyle/>
          <a:p>
            <a:pPr marL="0" indent="0">
              <a:spcBef>
                <a:spcPts val="300"/>
              </a:spcBef>
              <a:buNone/>
              <a:tabLst>
                <a:tab pos="182563" algn="l"/>
                <a:tab pos="352425" algn="l"/>
                <a:tab pos="534988" algn="l"/>
              </a:tabLst>
            </a:pPr>
            <a:r>
              <a:rPr lang="en-US" sz="1200" b="1" dirty="0" err="1" smtClean="0">
                <a:solidFill>
                  <a:srgbClr val="0000FF"/>
                </a:solidFill>
                <a:latin typeface="Courier New" pitchFamily="49" charset="0"/>
                <a:cs typeface="Courier New" pitchFamily="49" charset="0"/>
              </a:rPr>
              <a:t>int</a:t>
            </a:r>
            <a:r>
              <a:rPr lang="en-US" sz="1200" b="1" dirty="0" smtClean="0">
                <a:latin typeface="Courier New" pitchFamily="49" charset="0"/>
                <a:cs typeface="Courier New" pitchFamily="49" charset="0"/>
              </a:rPr>
              <a:t> main(</a:t>
            </a:r>
            <a:r>
              <a:rPr lang="en-US" sz="1200" b="1" dirty="0" smtClean="0">
                <a:solidFill>
                  <a:srgbClr val="0000FF"/>
                </a:solidFill>
                <a:latin typeface="Courier New" pitchFamily="49" charset="0"/>
                <a:cs typeface="Courier New" pitchFamily="49" charset="0"/>
              </a:rPr>
              <a:t>void</a:t>
            </a:r>
            <a:r>
              <a:rPr lang="en-US" sz="1200" b="1" dirty="0" smtClean="0">
                <a:latin typeface="Courier New" pitchFamily="49" charset="0"/>
                <a:cs typeface="Courier New" pitchFamily="49" charset="0"/>
              </a:rPr>
              <a:t>) {</a:t>
            </a:r>
          </a:p>
          <a:p>
            <a:pPr marL="0" indent="0">
              <a:spcBef>
                <a:spcPts val="300"/>
              </a:spcBef>
              <a:buNone/>
              <a:tabLst>
                <a:tab pos="182563" algn="l"/>
                <a:tab pos="352425" algn="l"/>
                <a:tab pos="534988" algn="l"/>
              </a:tabLst>
            </a:pPr>
            <a:r>
              <a:rPr lang="en-US" sz="1200" b="1" dirty="0" smtClean="0">
                <a:latin typeface="Courier New" pitchFamily="49" charset="0"/>
                <a:cs typeface="Courier New" pitchFamily="49" charset="0"/>
              </a:rPr>
              <a:t>	</a:t>
            </a:r>
            <a:r>
              <a:rPr lang="en-US" sz="1200" b="1" dirty="0" err="1" smtClean="0">
                <a:solidFill>
                  <a:srgbClr val="0000FF"/>
                </a:solidFill>
                <a:latin typeface="Courier New" pitchFamily="49" charset="0"/>
                <a:cs typeface="Courier New" pitchFamily="49" charset="0"/>
              </a:rPr>
              <a:t>int</a:t>
            </a:r>
            <a:r>
              <a:rPr lang="en-US" sz="1200" b="1" dirty="0" smtClean="0">
                <a:latin typeface="Courier New" pitchFamily="49" charset="0"/>
                <a:cs typeface="Courier New" pitchFamily="49" charset="0"/>
              </a:rPr>
              <a:t> num1, num2;</a:t>
            </a:r>
          </a:p>
          <a:p>
            <a:pPr marL="0" indent="0">
              <a:spcBef>
                <a:spcPts val="300"/>
              </a:spcBef>
              <a:buNone/>
              <a:tabLst>
                <a:tab pos="182563" algn="l"/>
                <a:tab pos="352425" algn="l"/>
                <a:tab pos="534988" algn="l"/>
              </a:tabLst>
            </a:pPr>
            <a:r>
              <a:rPr lang="en-US" sz="1200" b="1" dirty="0" smtClean="0">
                <a:latin typeface="Courier New" pitchFamily="49" charset="0"/>
                <a:cs typeface="Courier New" pitchFamily="49" charset="0"/>
              </a:rPr>
              <a:t>	</a:t>
            </a:r>
            <a:r>
              <a:rPr lang="en-US" sz="1200" b="1" dirty="0" err="1" smtClean="0">
                <a:latin typeface="Courier New" pitchFamily="49" charset="0"/>
                <a:cs typeface="Courier New" pitchFamily="49" charset="0"/>
              </a:rPr>
              <a:t>read_inputs</a:t>
            </a:r>
            <a:r>
              <a:rPr lang="en-US" sz="1200" b="1" dirty="0" smtClean="0">
                <a:latin typeface="Courier New" pitchFamily="49" charset="0"/>
                <a:cs typeface="Courier New" pitchFamily="49" charset="0"/>
              </a:rPr>
              <a:t>(num1, num2);</a:t>
            </a:r>
          </a:p>
          <a:p>
            <a:pPr marL="0" indent="0">
              <a:spcBef>
                <a:spcPts val="300"/>
              </a:spcBef>
              <a:buNone/>
              <a:tabLst>
                <a:tab pos="182563" algn="l"/>
                <a:tab pos="352425" algn="l"/>
                <a:tab pos="534988" algn="l"/>
              </a:tabLst>
            </a:pPr>
            <a:r>
              <a:rPr lang="en-US" sz="1200" b="1" dirty="0" smtClean="0">
                <a:latin typeface="Courier New" pitchFamily="49" charset="0"/>
                <a:cs typeface="Courier New" pitchFamily="49" charset="0"/>
              </a:rPr>
              <a:t>	</a:t>
            </a:r>
            <a:r>
              <a:rPr lang="en-US" sz="1200" b="1" dirty="0" err="1" smtClean="0">
                <a:latin typeface="Courier New" pitchFamily="49" charset="0"/>
                <a:cs typeface="Courier New" pitchFamily="49" charset="0"/>
              </a:rPr>
              <a:t>printf</a:t>
            </a:r>
            <a:r>
              <a:rPr lang="en-US" sz="1200" b="1" dirty="0" smtClean="0">
                <a:latin typeface="Courier New" pitchFamily="49" charset="0"/>
                <a:cs typeface="Courier New" pitchFamily="49" charset="0"/>
              </a:rPr>
              <a:t>(</a:t>
            </a:r>
            <a:r>
              <a:rPr lang="en-US" sz="1200" b="1" dirty="0" smtClean="0">
                <a:solidFill>
                  <a:srgbClr val="006600"/>
                </a:solidFill>
                <a:latin typeface="Courier New" pitchFamily="49" charset="0"/>
                <a:cs typeface="Courier New" pitchFamily="49" charset="0"/>
              </a:rPr>
              <a:t>"Values: </a:t>
            </a:r>
            <a:r>
              <a:rPr lang="en-US" sz="1200" b="1" dirty="0" smtClean="0">
                <a:solidFill>
                  <a:srgbClr val="FF0000"/>
                </a:solidFill>
                <a:latin typeface="Courier New" pitchFamily="49" charset="0"/>
                <a:cs typeface="Courier New" pitchFamily="49" charset="0"/>
              </a:rPr>
              <a:t>%d</a:t>
            </a:r>
            <a:r>
              <a:rPr lang="en-US" sz="1200" b="1" dirty="0" smtClean="0">
                <a:latin typeface="Courier New" pitchFamily="49" charset="0"/>
                <a:cs typeface="Courier New" pitchFamily="49" charset="0"/>
              </a:rPr>
              <a:t> </a:t>
            </a:r>
            <a:r>
              <a:rPr lang="en-US" sz="1200" b="1" dirty="0" smtClean="0">
                <a:solidFill>
                  <a:srgbClr val="006600"/>
                </a:solidFill>
                <a:latin typeface="Courier New" pitchFamily="49" charset="0"/>
                <a:cs typeface="Courier New" pitchFamily="49" charset="0"/>
              </a:rPr>
              <a:t>&amp;</a:t>
            </a:r>
            <a:r>
              <a:rPr lang="en-US" sz="1200" b="1" dirty="0" smtClean="0">
                <a:latin typeface="Courier New" pitchFamily="49" charset="0"/>
                <a:cs typeface="Courier New" pitchFamily="49" charset="0"/>
              </a:rPr>
              <a:t> </a:t>
            </a:r>
            <a:r>
              <a:rPr lang="en-US" sz="1200" b="1" dirty="0" smtClean="0">
                <a:solidFill>
                  <a:srgbClr val="FF0000"/>
                </a:solidFill>
                <a:latin typeface="Courier New" pitchFamily="49" charset="0"/>
                <a:cs typeface="Courier New" pitchFamily="49" charset="0"/>
              </a:rPr>
              <a:t>%d\n</a:t>
            </a:r>
            <a:r>
              <a:rPr lang="en-US" sz="1200" b="1" dirty="0" smtClean="0">
                <a:solidFill>
                  <a:srgbClr val="006600"/>
                </a:solidFill>
                <a:latin typeface="Courier New" pitchFamily="49" charset="0"/>
                <a:cs typeface="Courier New" pitchFamily="49" charset="0"/>
              </a:rPr>
              <a:t>"</a:t>
            </a:r>
            <a:r>
              <a:rPr lang="en-US" sz="1200" b="1" dirty="0" smtClean="0">
                <a:latin typeface="Courier New" pitchFamily="49" charset="0"/>
                <a:cs typeface="Courier New" pitchFamily="49" charset="0"/>
              </a:rPr>
              <a:t>,</a:t>
            </a:r>
          </a:p>
          <a:p>
            <a:pPr marL="0" indent="0">
              <a:spcBef>
                <a:spcPts val="300"/>
              </a:spcBef>
              <a:buNone/>
              <a:tabLst>
                <a:tab pos="182563" algn="l"/>
                <a:tab pos="352425" algn="l"/>
                <a:tab pos="534988" algn="l"/>
              </a:tabLst>
            </a:pPr>
            <a:r>
              <a:rPr lang="en-US" sz="1200" b="1" dirty="0" smtClean="0">
                <a:latin typeface="Courier New" pitchFamily="49" charset="0"/>
                <a:cs typeface="Courier New" pitchFamily="49" charset="0"/>
              </a:rPr>
              <a:t>	       num1, num2);</a:t>
            </a:r>
          </a:p>
          <a:p>
            <a:pPr marL="0" indent="0">
              <a:spcBef>
                <a:spcPts val="300"/>
              </a:spcBef>
              <a:buNone/>
              <a:tabLst>
                <a:tab pos="182563" algn="l"/>
                <a:tab pos="352425" algn="l"/>
                <a:tab pos="534988" algn="l"/>
              </a:tabLst>
            </a:pPr>
            <a:r>
              <a:rPr lang="en-US" sz="1200" b="1" dirty="0" smtClean="0">
                <a:latin typeface="Courier New" pitchFamily="49" charset="0"/>
                <a:cs typeface="Courier New" pitchFamily="49" charset="0"/>
              </a:rPr>
              <a:t>	</a:t>
            </a:r>
            <a:r>
              <a:rPr lang="en-US" sz="1200" b="1" dirty="0" smtClean="0">
                <a:solidFill>
                  <a:srgbClr val="0000FF"/>
                </a:solidFill>
                <a:latin typeface="Courier New" pitchFamily="49" charset="0"/>
                <a:cs typeface="Courier New" pitchFamily="49" charset="0"/>
              </a:rPr>
              <a:t>return </a:t>
            </a:r>
            <a:r>
              <a:rPr lang="en-US" sz="1200" b="1" dirty="0" smtClean="0">
                <a:solidFill>
                  <a:srgbClr val="006600"/>
                </a:solidFill>
                <a:latin typeface="Courier New" pitchFamily="49" charset="0"/>
                <a:cs typeface="Courier New" pitchFamily="49" charset="0"/>
              </a:rPr>
              <a:t>0</a:t>
            </a:r>
            <a:r>
              <a:rPr lang="en-US" sz="1200" b="1" dirty="0" smtClean="0">
                <a:latin typeface="Courier New" pitchFamily="49" charset="0"/>
                <a:cs typeface="Courier New" pitchFamily="49" charset="0"/>
              </a:rPr>
              <a:t>;</a:t>
            </a:r>
          </a:p>
          <a:p>
            <a:pPr marL="0" indent="0">
              <a:spcBef>
                <a:spcPts val="300"/>
              </a:spcBef>
              <a:buNone/>
              <a:tabLst>
                <a:tab pos="182563" algn="l"/>
                <a:tab pos="352425" algn="l"/>
                <a:tab pos="534988" algn="l"/>
              </a:tabLst>
            </a:pPr>
            <a:r>
              <a:rPr lang="en-US" sz="1200" b="1" dirty="0" smtClean="0">
                <a:latin typeface="Courier New" pitchFamily="49" charset="0"/>
                <a:cs typeface="Courier New" pitchFamily="49" charset="0"/>
              </a:rPr>
              <a:t>}</a:t>
            </a:r>
          </a:p>
          <a:p>
            <a:pPr marL="0" indent="0">
              <a:spcBef>
                <a:spcPts val="300"/>
              </a:spcBef>
              <a:buNone/>
              <a:tabLst>
                <a:tab pos="182563" algn="l"/>
                <a:tab pos="352425" algn="l"/>
                <a:tab pos="534988" algn="l"/>
              </a:tabLst>
            </a:pPr>
            <a:endParaRPr lang="en-US" sz="1200" b="1" dirty="0" smtClean="0">
              <a:latin typeface="Courier New" pitchFamily="49" charset="0"/>
              <a:cs typeface="Courier New" pitchFamily="49" charset="0"/>
            </a:endParaRPr>
          </a:p>
          <a:p>
            <a:pPr marL="0" indent="0">
              <a:spcBef>
                <a:spcPts val="300"/>
              </a:spcBef>
              <a:buNone/>
              <a:tabLst>
                <a:tab pos="182563" algn="l"/>
                <a:tab pos="352425" algn="l"/>
                <a:tab pos="534988" algn="l"/>
              </a:tabLst>
            </a:pPr>
            <a:r>
              <a:rPr lang="en-US" sz="1200" b="1" dirty="0" smtClean="0">
                <a:solidFill>
                  <a:srgbClr val="0000FF"/>
                </a:solidFill>
                <a:latin typeface="Courier New" pitchFamily="49" charset="0"/>
                <a:cs typeface="Courier New" pitchFamily="49" charset="0"/>
              </a:rPr>
              <a:t>void </a:t>
            </a:r>
            <a:r>
              <a:rPr lang="en-US" sz="1200" b="1" dirty="0" err="1" smtClean="0">
                <a:latin typeface="Courier New" pitchFamily="49" charset="0"/>
                <a:cs typeface="Courier New" pitchFamily="49" charset="0"/>
              </a:rPr>
              <a:t>read_inputs</a:t>
            </a:r>
            <a:r>
              <a:rPr lang="en-US" sz="1200" b="1" dirty="0" smtClean="0">
                <a:latin typeface="Courier New" pitchFamily="49" charset="0"/>
                <a:cs typeface="Courier New" pitchFamily="49" charset="0"/>
              </a:rPr>
              <a:t>(</a:t>
            </a:r>
            <a:r>
              <a:rPr lang="en-US" sz="1200" b="1" dirty="0" err="1" smtClean="0">
                <a:solidFill>
                  <a:srgbClr val="0000FF"/>
                </a:solidFill>
                <a:latin typeface="Courier New" pitchFamily="49" charset="0"/>
                <a:cs typeface="Courier New" pitchFamily="49" charset="0"/>
              </a:rPr>
              <a:t>int</a:t>
            </a:r>
            <a:r>
              <a:rPr lang="en-US" sz="1200" b="1" dirty="0" smtClean="0">
                <a:latin typeface="Courier New" pitchFamily="49" charset="0"/>
                <a:cs typeface="Courier New" pitchFamily="49" charset="0"/>
              </a:rPr>
              <a:t> n1, </a:t>
            </a:r>
          </a:p>
          <a:p>
            <a:pPr marL="0" indent="0">
              <a:spcBef>
                <a:spcPts val="300"/>
              </a:spcBef>
              <a:buNone/>
              <a:tabLst>
                <a:tab pos="182563" algn="l"/>
                <a:tab pos="352425" algn="l"/>
                <a:tab pos="534988" algn="l"/>
              </a:tabLst>
            </a:pPr>
            <a:r>
              <a:rPr lang="en-US" sz="1200" b="1" dirty="0" smtClean="0">
                <a:solidFill>
                  <a:srgbClr val="0000FF"/>
                </a:solidFill>
                <a:latin typeface="Courier New" pitchFamily="49" charset="0"/>
                <a:cs typeface="Courier New" pitchFamily="49" charset="0"/>
              </a:rPr>
              <a:t>                 </a:t>
            </a:r>
            <a:r>
              <a:rPr lang="en-US" sz="1200" b="1" dirty="0" err="1" smtClean="0">
                <a:solidFill>
                  <a:srgbClr val="0000FF"/>
                </a:solidFill>
                <a:latin typeface="Courier New" pitchFamily="49" charset="0"/>
                <a:cs typeface="Courier New" pitchFamily="49" charset="0"/>
              </a:rPr>
              <a:t>int</a:t>
            </a:r>
            <a:r>
              <a:rPr lang="en-US" sz="1200" b="1" dirty="0" smtClean="0">
                <a:latin typeface="Courier New" pitchFamily="49" charset="0"/>
                <a:cs typeface="Courier New" pitchFamily="49" charset="0"/>
              </a:rPr>
              <a:t> n2) {</a:t>
            </a:r>
          </a:p>
          <a:p>
            <a:pPr marL="0" indent="0">
              <a:spcBef>
                <a:spcPts val="300"/>
              </a:spcBef>
              <a:buNone/>
              <a:tabLst>
                <a:tab pos="182563" algn="l"/>
                <a:tab pos="352425" algn="l"/>
                <a:tab pos="534988" algn="l"/>
              </a:tabLst>
            </a:pPr>
            <a:r>
              <a:rPr lang="en-US" sz="1200" b="1" dirty="0" smtClean="0">
                <a:latin typeface="Courier New" pitchFamily="49" charset="0"/>
                <a:cs typeface="Courier New" pitchFamily="49" charset="0"/>
              </a:rPr>
              <a:t>	</a:t>
            </a:r>
            <a:r>
              <a:rPr lang="en-US" sz="1200" b="1" dirty="0" err="1" smtClean="0">
                <a:latin typeface="Courier New" pitchFamily="49" charset="0"/>
                <a:cs typeface="Courier New" pitchFamily="49" charset="0"/>
              </a:rPr>
              <a:t>printf</a:t>
            </a:r>
            <a:r>
              <a:rPr lang="en-US" sz="1200" b="1" dirty="0" smtClean="0">
                <a:latin typeface="Courier New" pitchFamily="49" charset="0"/>
                <a:cs typeface="Courier New" pitchFamily="49" charset="0"/>
              </a:rPr>
              <a:t>(</a:t>
            </a:r>
            <a:r>
              <a:rPr lang="en-US" sz="1200" b="1" dirty="0" smtClean="0">
                <a:solidFill>
                  <a:srgbClr val="006600"/>
                </a:solidFill>
                <a:latin typeface="Courier New" pitchFamily="49" charset="0"/>
                <a:cs typeface="Courier New" pitchFamily="49" charset="0"/>
              </a:rPr>
              <a:t>"Enter 2 values: "</a:t>
            </a:r>
            <a:r>
              <a:rPr lang="en-US" sz="1200" b="1" dirty="0" smtClean="0">
                <a:latin typeface="Courier New" pitchFamily="49" charset="0"/>
                <a:cs typeface="Courier New" pitchFamily="49" charset="0"/>
              </a:rPr>
              <a:t>);</a:t>
            </a:r>
          </a:p>
          <a:p>
            <a:pPr marL="0" indent="0">
              <a:spcBef>
                <a:spcPts val="300"/>
              </a:spcBef>
              <a:buNone/>
              <a:tabLst>
                <a:tab pos="182563" algn="l"/>
                <a:tab pos="352425" algn="l"/>
                <a:tab pos="534988" algn="l"/>
              </a:tabLst>
            </a:pPr>
            <a:r>
              <a:rPr lang="en-US" sz="1200" b="1" dirty="0" smtClean="0">
                <a:latin typeface="Courier New" pitchFamily="49" charset="0"/>
                <a:cs typeface="Courier New" pitchFamily="49" charset="0"/>
              </a:rPr>
              <a:t>	</a:t>
            </a:r>
            <a:r>
              <a:rPr lang="en-US" sz="1200" b="1" dirty="0" err="1" smtClean="0">
                <a:latin typeface="Courier New" pitchFamily="49" charset="0"/>
                <a:cs typeface="Courier New" pitchFamily="49" charset="0"/>
              </a:rPr>
              <a:t>scanf</a:t>
            </a:r>
            <a:r>
              <a:rPr lang="en-US" sz="1200" b="1" dirty="0" smtClean="0">
                <a:latin typeface="Courier New" pitchFamily="49" charset="0"/>
                <a:cs typeface="Courier New" pitchFamily="49" charset="0"/>
              </a:rPr>
              <a:t>(</a:t>
            </a:r>
            <a:r>
              <a:rPr lang="en-US" sz="1200" b="1" dirty="0" smtClean="0">
                <a:solidFill>
                  <a:srgbClr val="006600"/>
                </a:solidFill>
                <a:latin typeface="Courier New" pitchFamily="49" charset="0"/>
                <a:cs typeface="Courier New" pitchFamily="49" charset="0"/>
              </a:rPr>
              <a:t>"</a:t>
            </a:r>
            <a:r>
              <a:rPr lang="en-US" sz="1200" b="1" dirty="0" smtClean="0">
                <a:solidFill>
                  <a:srgbClr val="FF0000"/>
                </a:solidFill>
                <a:latin typeface="Courier New" pitchFamily="49" charset="0"/>
                <a:cs typeface="Courier New" pitchFamily="49" charset="0"/>
              </a:rPr>
              <a:t>%d %d</a:t>
            </a:r>
            <a:r>
              <a:rPr lang="en-US" sz="1200" b="1" dirty="0" smtClean="0">
                <a:solidFill>
                  <a:srgbClr val="006600"/>
                </a:solidFill>
                <a:latin typeface="Courier New" pitchFamily="49" charset="0"/>
                <a:cs typeface="Courier New" pitchFamily="49" charset="0"/>
              </a:rPr>
              <a:t>"</a:t>
            </a:r>
            <a:r>
              <a:rPr lang="en-US" sz="1200" b="1" dirty="0" smtClean="0">
                <a:latin typeface="Courier New" pitchFamily="49" charset="0"/>
                <a:cs typeface="Courier New" pitchFamily="49" charset="0"/>
              </a:rPr>
              <a:t>, &amp;n1, &amp;n2);</a:t>
            </a:r>
          </a:p>
          <a:p>
            <a:pPr marL="0" indent="0">
              <a:spcBef>
                <a:spcPts val="300"/>
              </a:spcBef>
              <a:buNone/>
              <a:tabLst>
                <a:tab pos="182563" algn="l"/>
                <a:tab pos="352425" algn="l"/>
                <a:tab pos="534988" algn="l"/>
              </a:tabLst>
            </a:pPr>
            <a:r>
              <a:rPr lang="en-US" sz="1200" b="1" dirty="0" smtClean="0">
                <a:latin typeface="Courier New" pitchFamily="49" charset="0"/>
                <a:cs typeface="Courier New" pitchFamily="49" charset="0"/>
              </a:rPr>
              <a:t>}</a:t>
            </a:r>
          </a:p>
        </p:txBody>
      </p:sp>
      <p:sp>
        <p:nvSpPr>
          <p:cNvPr id="18" name="TextBox 17"/>
          <p:cNvSpPr txBox="1"/>
          <p:nvPr/>
        </p:nvSpPr>
        <p:spPr>
          <a:xfrm>
            <a:off x="6008914" y="2354497"/>
            <a:ext cx="2913017" cy="2954655"/>
          </a:xfrm>
          <a:prstGeom prst="rect">
            <a:avLst/>
          </a:prstGeom>
          <a:solidFill>
            <a:srgbClr val="FFCCFF"/>
          </a:solidFill>
        </p:spPr>
        <p:style>
          <a:lnRef idx="2">
            <a:schemeClr val="accent6"/>
          </a:lnRef>
          <a:fillRef idx="1">
            <a:schemeClr val="lt1"/>
          </a:fillRef>
          <a:effectRef idx="0">
            <a:schemeClr val="accent6"/>
          </a:effectRef>
          <a:fontRef idx="minor">
            <a:schemeClr val="dk1"/>
          </a:fontRef>
        </p:style>
        <p:txBody>
          <a:bodyPr wrap="square" rtlCol="0">
            <a:spAutoFit/>
          </a:bodyPr>
          <a:lstStyle/>
          <a:p>
            <a:pPr marL="0" indent="0">
              <a:spcBef>
                <a:spcPts val="300"/>
              </a:spcBef>
              <a:buNone/>
              <a:tabLst>
                <a:tab pos="182563" algn="l"/>
                <a:tab pos="352425" algn="l"/>
                <a:tab pos="534988" algn="l"/>
              </a:tabLst>
            </a:pPr>
            <a:r>
              <a:rPr lang="en-US" sz="1200" b="1" dirty="0" err="1" smtClean="0">
                <a:solidFill>
                  <a:srgbClr val="0000FF"/>
                </a:solidFill>
                <a:latin typeface="Courier New" pitchFamily="49" charset="0"/>
                <a:cs typeface="Courier New" pitchFamily="49" charset="0"/>
              </a:rPr>
              <a:t>int</a:t>
            </a:r>
            <a:r>
              <a:rPr lang="en-US" sz="1200" b="1" dirty="0" smtClean="0">
                <a:latin typeface="Courier New" pitchFamily="49" charset="0"/>
                <a:cs typeface="Courier New" pitchFamily="49" charset="0"/>
              </a:rPr>
              <a:t> main(</a:t>
            </a:r>
            <a:r>
              <a:rPr lang="en-US" sz="1200" b="1" dirty="0" smtClean="0">
                <a:solidFill>
                  <a:srgbClr val="0000FF"/>
                </a:solidFill>
                <a:latin typeface="Courier New" pitchFamily="49" charset="0"/>
                <a:cs typeface="Courier New" pitchFamily="49" charset="0"/>
              </a:rPr>
              <a:t>void</a:t>
            </a:r>
            <a:r>
              <a:rPr lang="en-US" sz="1200" b="1" dirty="0" smtClean="0">
                <a:latin typeface="Courier New" pitchFamily="49" charset="0"/>
                <a:cs typeface="Courier New" pitchFamily="49" charset="0"/>
              </a:rPr>
              <a:t>) {</a:t>
            </a:r>
          </a:p>
          <a:p>
            <a:pPr marL="0" indent="0">
              <a:spcBef>
                <a:spcPts val="300"/>
              </a:spcBef>
              <a:buNone/>
              <a:tabLst>
                <a:tab pos="182563" algn="l"/>
                <a:tab pos="352425" algn="l"/>
                <a:tab pos="534988" algn="l"/>
              </a:tabLst>
            </a:pPr>
            <a:r>
              <a:rPr lang="en-US" sz="1200" b="1" dirty="0" smtClean="0">
                <a:latin typeface="Courier New" pitchFamily="49" charset="0"/>
                <a:cs typeface="Courier New" pitchFamily="49" charset="0"/>
              </a:rPr>
              <a:t>	</a:t>
            </a:r>
            <a:r>
              <a:rPr lang="en-US" sz="1200" b="1" dirty="0" err="1" smtClean="0">
                <a:solidFill>
                  <a:srgbClr val="0000FF"/>
                </a:solidFill>
                <a:latin typeface="Courier New" pitchFamily="49" charset="0"/>
                <a:cs typeface="Courier New" pitchFamily="49" charset="0"/>
              </a:rPr>
              <a:t>int</a:t>
            </a:r>
            <a:r>
              <a:rPr lang="en-US" sz="1200" b="1" dirty="0" smtClean="0">
                <a:latin typeface="Courier New" pitchFamily="49" charset="0"/>
                <a:cs typeface="Courier New" pitchFamily="49" charset="0"/>
              </a:rPr>
              <a:t> num1, num2;</a:t>
            </a:r>
          </a:p>
          <a:p>
            <a:pPr marL="0" indent="0">
              <a:spcBef>
                <a:spcPts val="300"/>
              </a:spcBef>
              <a:buNone/>
              <a:tabLst>
                <a:tab pos="182563" algn="l"/>
                <a:tab pos="352425" algn="l"/>
                <a:tab pos="534988" algn="l"/>
              </a:tabLst>
            </a:pPr>
            <a:r>
              <a:rPr lang="en-US" sz="1200" b="1" dirty="0" smtClean="0">
                <a:latin typeface="Courier New" pitchFamily="49" charset="0"/>
                <a:cs typeface="Courier New" pitchFamily="49" charset="0"/>
              </a:rPr>
              <a:t>	</a:t>
            </a:r>
            <a:r>
              <a:rPr lang="en-US" sz="1200" b="1" dirty="0" err="1" smtClean="0">
                <a:latin typeface="Courier New" pitchFamily="49" charset="0"/>
                <a:cs typeface="Courier New" pitchFamily="49" charset="0"/>
              </a:rPr>
              <a:t>read_inputs</a:t>
            </a:r>
            <a:r>
              <a:rPr lang="en-US" sz="1200" b="1" dirty="0" smtClean="0">
                <a:latin typeface="Courier New" pitchFamily="49" charset="0"/>
                <a:cs typeface="Courier New" pitchFamily="49" charset="0"/>
              </a:rPr>
              <a:t>(&amp;num1, &amp;num2);</a:t>
            </a:r>
          </a:p>
          <a:p>
            <a:pPr marL="0" indent="0">
              <a:spcBef>
                <a:spcPts val="300"/>
              </a:spcBef>
              <a:buNone/>
              <a:tabLst>
                <a:tab pos="182563" algn="l"/>
                <a:tab pos="352425" algn="l"/>
                <a:tab pos="534988" algn="l"/>
              </a:tabLst>
            </a:pPr>
            <a:r>
              <a:rPr lang="en-US" sz="1200" b="1" dirty="0" smtClean="0">
                <a:latin typeface="Courier New" pitchFamily="49" charset="0"/>
                <a:cs typeface="Courier New" pitchFamily="49" charset="0"/>
              </a:rPr>
              <a:t>	</a:t>
            </a:r>
            <a:r>
              <a:rPr lang="en-US" sz="1200" b="1" dirty="0" err="1" smtClean="0">
                <a:latin typeface="Courier New" pitchFamily="49" charset="0"/>
                <a:cs typeface="Courier New" pitchFamily="49" charset="0"/>
              </a:rPr>
              <a:t>printf</a:t>
            </a:r>
            <a:r>
              <a:rPr lang="en-US" sz="1200" b="1" dirty="0" smtClean="0">
                <a:latin typeface="Courier New" pitchFamily="49" charset="0"/>
                <a:cs typeface="Courier New" pitchFamily="49" charset="0"/>
              </a:rPr>
              <a:t>(</a:t>
            </a:r>
            <a:r>
              <a:rPr lang="en-US" sz="1200" b="1" dirty="0" smtClean="0">
                <a:solidFill>
                  <a:srgbClr val="006600"/>
                </a:solidFill>
                <a:latin typeface="Courier New" pitchFamily="49" charset="0"/>
                <a:cs typeface="Courier New" pitchFamily="49" charset="0"/>
              </a:rPr>
              <a:t>"Values: </a:t>
            </a:r>
            <a:r>
              <a:rPr lang="en-US" sz="1200" b="1" dirty="0" smtClean="0">
                <a:solidFill>
                  <a:srgbClr val="FF0000"/>
                </a:solidFill>
                <a:latin typeface="Courier New" pitchFamily="49" charset="0"/>
                <a:cs typeface="Courier New" pitchFamily="49" charset="0"/>
              </a:rPr>
              <a:t>%d</a:t>
            </a:r>
            <a:r>
              <a:rPr lang="en-US" sz="1200" b="1" dirty="0" smtClean="0">
                <a:latin typeface="Courier New" pitchFamily="49" charset="0"/>
                <a:cs typeface="Courier New" pitchFamily="49" charset="0"/>
              </a:rPr>
              <a:t> </a:t>
            </a:r>
            <a:r>
              <a:rPr lang="en-US" sz="1200" b="1" dirty="0" smtClean="0">
                <a:solidFill>
                  <a:srgbClr val="006600"/>
                </a:solidFill>
                <a:latin typeface="Courier New" pitchFamily="49" charset="0"/>
                <a:cs typeface="Courier New" pitchFamily="49" charset="0"/>
              </a:rPr>
              <a:t>&amp;</a:t>
            </a:r>
            <a:r>
              <a:rPr lang="en-US" sz="1200" b="1" dirty="0" smtClean="0">
                <a:latin typeface="Courier New" pitchFamily="49" charset="0"/>
                <a:cs typeface="Courier New" pitchFamily="49" charset="0"/>
              </a:rPr>
              <a:t> </a:t>
            </a:r>
            <a:r>
              <a:rPr lang="en-US" sz="1200" b="1" dirty="0" smtClean="0">
                <a:solidFill>
                  <a:srgbClr val="FF0000"/>
                </a:solidFill>
                <a:latin typeface="Courier New" pitchFamily="49" charset="0"/>
                <a:cs typeface="Courier New" pitchFamily="49" charset="0"/>
              </a:rPr>
              <a:t>%d\n</a:t>
            </a:r>
            <a:r>
              <a:rPr lang="en-US" sz="1200" b="1" dirty="0" smtClean="0">
                <a:solidFill>
                  <a:srgbClr val="006600"/>
                </a:solidFill>
                <a:latin typeface="Courier New" pitchFamily="49" charset="0"/>
                <a:cs typeface="Courier New" pitchFamily="49" charset="0"/>
              </a:rPr>
              <a:t>"</a:t>
            </a:r>
            <a:r>
              <a:rPr lang="en-US" sz="1200" b="1" dirty="0" smtClean="0">
                <a:latin typeface="Courier New" pitchFamily="49" charset="0"/>
                <a:cs typeface="Courier New" pitchFamily="49" charset="0"/>
              </a:rPr>
              <a:t>,</a:t>
            </a:r>
          </a:p>
          <a:p>
            <a:pPr marL="0" indent="0">
              <a:spcBef>
                <a:spcPts val="300"/>
              </a:spcBef>
              <a:buNone/>
              <a:tabLst>
                <a:tab pos="182563" algn="l"/>
                <a:tab pos="352425" algn="l"/>
                <a:tab pos="534988" algn="l"/>
              </a:tabLst>
            </a:pPr>
            <a:r>
              <a:rPr lang="en-US" sz="1200" b="1" dirty="0" smtClean="0">
                <a:latin typeface="Courier New" pitchFamily="49" charset="0"/>
                <a:cs typeface="Courier New" pitchFamily="49" charset="0"/>
              </a:rPr>
              <a:t>	       num1, num2);</a:t>
            </a:r>
          </a:p>
          <a:p>
            <a:pPr marL="0" indent="0">
              <a:spcBef>
                <a:spcPts val="300"/>
              </a:spcBef>
              <a:buNone/>
              <a:tabLst>
                <a:tab pos="182563" algn="l"/>
                <a:tab pos="352425" algn="l"/>
                <a:tab pos="534988" algn="l"/>
              </a:tabLst>
            </a:pPr>
            <a:r>
              <a:rPr lang="en-US" sz="1200" b="1" dirty="0" smtClean="0">
                <a:latin typeface="Courier New" pitchFamily="49" charset="0"/>
                <a:cs typeface="Courier New" pitchFamily="49" charset="0"/>
              </a:rPr>
              <a:t>	</a:t>
            </a:r>
            <a:r>
              <a:rPr lang="en-US" sz="1200" b="1" dirty="0" smtClean="0">
                <a:solidFill>
                  <a:srgbClr val="0000FF"/>
                </a:solidFill>
                <a:latin typeface="Courier New" pitchFamily="49" charset="0"/>
                <a:cs typeface="Courier New" pitchFamily="49" charset="0"/>
              </a:rPr>
              <a:t>return </a:t>
            </a:r>
            <a:r>
              <a:rPr lang="en-US" sz="1200" b="1" dirty="0" smtClean="0">
                <a:solidFill>
                  <a:srgbClr val="006600"/>
                </a:solidFill>
                <a:latin typeface="Courier New" pitchFamily="49" charset="0"/>
                <a:cs typeface="Courier New" pitchFamily="49" charset="0"/>
              </a:rPr>
              <a:t>0</a:t>
            </a:r>
            <a:r>
              <a:rPr lang="en-US" sz="1200" b="1" dirty="0" smtClean="0">
                <a:latin typeface="Courier New" pitchFamily="49" charset="0"/>
                <a:cs typeface="Courier New" pitchFamily="49" charset="0"/>
              </a:rPr>
              <a:t>;</a:t>
            </a:r>
          </a:p>
          <a:p>
            <a:pPr marL="0" indent="0">
              <a:spcBef>
                <a:spcPts val="300"/>
              </a:spcBef>
              <a:buNone/>
              <a:tabLst>
                <a:tab pos="182563" algn="l"/>
                <a:tab pos="352425" algn="l"/>
                <a:tab pos="534988" algn="l"/>
              </a:tabLst>
            </a:pPr>
            <a:r>
              <a:rPr lang="en-US" sz="1200" b="1" dirty="0" smtClean="0">
                <a:latin typeface="Courier New" pitchFamily="49" charset="0"/>
                <a:cs typeface="Courier New" pitchFamily="49" charset="0"/>
              </a:rPr>
              <a:t>}</a:t>
            </a:r>
          </a:p>
          <a:p>
            <a:pPr marL="0" indent="0">
              <a:spcBef>
                <a:spcPts val="300"/>
              </a:spcBef>
              <a:buNone/>
              <a:tabLst>
                <a:tab pos="182563" algn="l"/>
                <a:tab pos="352425" algn="l"/>
                <a:tab pos="534988" algn="l"/>
              </a:tabLst>
            </a:pPr>
            <a:endParaRPr lang="en-US" sz="1200" b="1" dirty="0" smtClean="0">
              <a:latin typeface="Courier New" pitchFamily="49" charset="0"/>
              <a:cs typeface="Courier New" pitchFamily="49" charset="0"/>
            </a:endParaRPr>
          </a:p>
          <a:p>
            <a:pPr marL="0" indent="0">
              <a:spcBef>
                <a:spcPts val="300"/>
              </a:spcBef>
              <a:buNone/>
              <a:tabLst>
                <a:tab pos="182563" algn="l"/>
                <a:tab pos="352425" algn="l"/>
                <a:tab pos="534988" algn="l"/>
              </a:tabLst>
            </a:pPr>
            <a:r>
              <a:rPr lang="en-US" sz="1200" b="1" dirty="0" smtClean="0">
                <a:solidFill>
                  <a:srgbClr val="0000FF"/>
                </a:solidFill>
                <a:latin typeface="Courier New" pitchFamily="49" charset="0"/>
                <a:cs typeface="Courier New" pitchFamily="49" charset="0"/>
              </a:rPr>
              <a:t>void </a:t>
            </a:r>
            <a:r>
              <a:rPr lang="en-US" sz="1200" b="1" dirty="0" err="1" smtClean="0">
                <a:latin typeface="Courier New" pitchFamily="49" charset="0"/>
                <a:cs typeface="Courier New" pitchFamily="49" charset="0"/>
              </a:rPr>
              <a:t>read_inputs</a:t>
            </a:r>
            <a:r>
              <a:rPr lang="en-US" sz="1200" b="1" dirty="0" smtClean="0">
                <a:latin typeface="Courier New" pitchFamily="49" charset="0"/>
                <a:cs typeface="Courier New" pitchFamily="49" charset="0"/>
              </a:rPr>
              <a:t>(</a:t>
            </a:r>
            <a:r>
              <a:rPr lang="en-US" sz="1200" b="1" dirty="0" err="1" smtClean="0">
                <a:solidFill>
                  <a:srgbClr val="0000FF"/>
                </a:solidFill>
                <a:latin typeface="Courier New" pitchFamily="49" charset="0"/>
                <a:cs typeface="Courier New" pitchFamily="49" charset="0"/>
              </a:rPr>
              <a:t>int</a:t>
            </a:r>
            <a:r>
              <a:rPr lang="en-US" sz="1200" b="1" dirty="0" smtClean="0">
                <a:latin typeface="Courier New" pitchFamily="49" charset="0"/>
                <a:cs typeface="Courier New" pitchFamily="49" charset="0"/>
              </a:rPr>
              <a:t> *n1, </a:t>
            </a:r>
          </a:p>
          <a:p>
            <a:pPr marL="0" indent="0">
              <a:spcBef>
                <a:spcPts val="300"/>
              </a:spcBef>
              <a:buNone/>
              <a:tabLst>
                <a:tab pos="182563" algn="l"/>
                <a:tab pos="352425" algn="l"/>
                <a:tab pos="534988" algn="l"/>
              </a:tabLst>
            </a:pPr>
            <a:r>
              <a:rPr lang="en-US" sz="1200" b="1" dirty="0" smtClean="0">
                <a:solidFill>
                  <a:srgbClr val="0000FF"/>
                </a:solidFill>
                <a:latin typeface="Courier New" pitchFamily="49" charset="0"/>
                <a:cs typeface="Courier New" pitchFamily="49" charset="0"/>
              </a:rPr>
              <a:t>                 </a:t>
            </a:r>
            <a:r>
              <a:rPr lang="en-US" sz="1200" b="1" dirty="0" err="1" smtClean="0">
                <a:solidFill>
                  <a:srgbClr val="0000FF"/>
                </a:solidFill>
                <a:latin typeface="Courier New" pitchFamily="49" charset="0"/>
                <a:cs typeface="Courier New" pitchFamily="49" charset="0"/>
              </a:rPr>
              <a:t>int</a:t>
            </a:r>
            <a:r>
              <a:rPr lang="en-US" sz="1200" b="1" dirty="0" smtClean="0">
                <a:latin typeface="Courier New" pitchFamily="49" charset="0"/>
                <a:cs typeface="Courier New" pitchFamily="49" charset="0"/>
              </a:rPr>
              <a:t> *n2) {</a:t>
            </a:r>
          </a:p>
          <a:p>
            <a:pPr marL="0" indent="0">
              <a:spcBef>
                <a:spcPts val="300"/>
              </a:spcBef>
              <a:buNone/>
              <a:tabLst>
                <a:tab pos="182563" algn="l"/>
                <a:tab pos="352425" algn="l"/>
                <a:tab pos="534988" algn="l"/>
              </a:tabLst>
            </a:pPr>
            <a:r>
              <a:rPr lang="en-US" sz="1200" b="1" dirty="0" smtClean="0">
                <a:latin typeface="Courier New" pitchFamily="49" charset="0"/>
                <a:cs typeface="Courier New" pitchFamily="49" charset="0"/>
              </a:rPr>
              <a:t>	</a:t>
            </a:r>
            <a:r>
              <a:rPr lang="en-US" sz="1200" b="1" dirty="0" err="1" smtClean="0">
                <a:latin typeface="Courier New" pitchFamily="49" charset="0"/>
                <a:cs typeface="Courier New" pitchFamily="49" charset="0"/>
              </a:rPr>
              <a:t>printf</a:t>
            </a:r>
            <a:r>
              <a:rPr lang="en-US" sz="1200" b="1" dirty="0" smtClean="0">
                <a:latin typeface="Courier New" pitchFamily="49" charset="0"/>
                <a:cs typeface="Courier New" pitchFamily="49" charset="0"/>
              </a:rPr>
              <a:t>(</a:t>
            </a:r>
            <a:r>
              <a:rPr lang="en-US" sz="1200" b="1" dirty="0" smtClean="0">
                <a:solidFill>
                  <a:srgbClr val="006600"/>
                </a:solidFill>
                <a:latin typeface="Courier New" pitchFamily="49" charset="0"/>
                <a:cs typeface="Courier New" pitchFamily="49" charset="0"/>
              </a:rPr>
              <a:t>"Enter 2 values: "</a:t>
            </a:r>
            <a:r>
              <a:rPr lang="en-US" sz="1200" b="1" dirty="0" smtClean="0">
                <a:latin typeface="Courier New" pitchFamily="49" charset="0"/>
                <a:cs typeface="Courier New" pitchFamily="49" charset="0"/>
              </a:rPr>
              <a:t>);</a:t>
            </a:r>
          </a:p>
          <a:p>
            <a:pPr marL="0" indent="0">
              <a:spcBef>
                <a:spcPts val="300"/>
              </a:spcBef>
              <a:buNone/>
              <a:tabLst>
                <a:tab pos="182563" algn="l"/>
                <a:tab pos="352425" algn="l"/>
                <a:tab pos="534988" algn="l"/>
              </a:tabLst>
            </a:pPr>
            <a:r>
              <a:rPr lang="en-US" sz="1200" b="1" dirty="0" smtClean="0">
                <a:latin typeface="Courier New" pitchFamily="49" charset="0"/>
                <a:cs typeface="Courier New" pitchFamily="49" charset="0"/>
              </a:rPr>
              <a:t>	</a:t>
            </a:r>
            <a:r>
              <a:rPr lang="en-US" sz="1200" b="1" dirty="0" err="1" smtClean="0">
                <a:latin typeface="Courier New" pitchFamily="49" charset="0"/>
                <a:cs typeface="Courier New" pitchFamily="49" charset="0"/>
              </a:rPr>
              <a:t>scanf</a:t>
            </a:r>
            <a:r>
              <a:rPr lang="en-US" sz="1200" b="1" dirty="0" smtClean="0">
                <a:latin typeface="Courier New" pitchFamily="49" charset="0"/>
                <a:cs typeface="Courier New" pitchFamily="49" charset="0"/>
              </a:rPr>
              <a:t>(</a:t>
            </a:r>
            <a:r>
              <a:rPr lang="en-US" sz="1200" b="1" dirty="0" smtClean="0">
                <a:solidFill>
                  <a:srgbClr val="006600"/>
                </a:solidFill>
                <a:latin typeface="Courier New" pitchFamily="49" charset="0"/>
                <a:cs typeface="Courier New" pitchFamily="49" charset="0"/>
              </a:rPr>
              <a:t>"</a:t>
            </a:r>
            <a:r>
              <a:rPr lang="en-US" sz="1200" b="1" dirty="0" smtClean="0">
                <a:solidFill>
                  <a:srgbClr val="FF0000"/>
                </a:solidFill>
                <a:latin typeface="Courier New" pitchFamily="49" charset="0"/>
                <a:cs typeface="Courier New" pitchFamily="49" charset="0"/>
              </a:rPr>
              <a:t>%d %d</a:t>
            </a:r>
            <a:r>
              <a:rPr lang="en-US" sz="1200" b="1" dirty="0" smtClean="0">
                <a:solidFill>
                  <a:srgbClr val="006600"/>
                </a:solidFill>
                <a:latin typeface="Courier New" pitchFamily="49" charset="0"/>
                <a:cs typeface="Courier New" pitchFamily="49" charset="0"/>
              </a:rPr>
              <a:t>"</a:t>
            </a:r>
            <a:r>
              <a:rPr lang="en-US" sz="1200" b="1" dirty="0" smtClean="0">
                <a:latin typeface="Courier New" pitchFamily="49" charset="0"/>
                <a:cs typeface="Courier New" pitchFamily="49" charset="0"/>
              </a:rPr>
              <a:t>, &amp;n1, &amp;n2);</a:t>
            </a:r>
          </a:p>
          <a:p>
            <a:pPr marL="0" indent="0">
              <a:spcBef>
                <a:spcPts val="300"/>
              </a:spcBef>
              <a:buNone/>
              <a:tabLst>
                <a:tab pos="182563" algn="l"/>
                <a:tab pos="352425" algn="l"/>
                <a:tab pos="534988" algn="l"/>
              </a:tabLst>
            </a:pPr>
            <a:r>
              <a:rPr lang="en-US" sz="1200" b="1" dirty="0" smtClean="0">
                <a:latin typeface="Courier New" pitchFamily="49" charset="0"/>
                <a:cs typeface="Courier New" pitchFamily="49" charset="0"/>
              </a:rPr>
              <a:t>}</a:t>
            </a:r>
          </a:p>
        </p:txBody>
      </p:sp>
      <p:grpSp>
        <p:nvGrpSpPr>
          <p:cNvPr id="22" name="Group 21"/>
          <p:cNvGrpSpPr/>
          <p:nvPr/>
        </p:nvGrpSpPr>
        <p:grpSpPr>
          <a:xfrm>
            <a:off x="165463" y="2811662"/>
            <a:ext cx="8817428" cy="2229395"/>
            <a:chOff x="165463" y="2547257"/>
            <a:chExt cx="8817428" cy="2229395"/>
          </a:xfrm>
        </p:grpSpPr>
        <p:sp>
          <p:nvSpPr>
            <p:cNvPr id="19" name="Rounded Rectangle 18"/>
            <p:cNvSpPr/>
            <p:nvPr/>
          </p:nvSpPr>
          <p:spPr bwMode="auto">
            <a:xfrm>
              <a:off x="169817" y="2547257"/>
              <a:ext cx="8804366" cy="248194"/>
            </a:xfrm>
            <a:prstGeom prst="roundRect">
              <a:avLst/>
            </a:prstGeom>
            <a:noFill/>
            <a:ln w="19050" cap="sq" cmpd="sng" algn="ctr">
              <a:solidFill>
                <a:srgbClr val="7030A0"/>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SG" sz="1800" b="0" i="0" u="none" strike="noStrike" cap="none" normalizeH="0" baseline="0" smtClean="0">
                <a:ln>
                  <a:noFill/>
                </a:ln>
                <a:solidFill>
                  <a:schemeClr val="tx1"/>
                </a:solidFill>
                <a:effectLst/>
                <a:latin typeface="Arial" charset="0"/>
                <a:cs typeface="Arial" charset="0"/>
              </a:endParaRPr>
            </a:p>
          </p:txBody>
        </p:sp>
        <p:sp>
          <p:nvSpPr>
            <p:cNvPr id="20" name="Rounded Rectangle 19"/>
            <p:cNvSpPr/>
            <p:nvPr/>
          </p:nvSpPr>
          <p:spPr bwMode="auto">
            <a:xfrm>
              <a:off x="178525" y="3849188"/>
              <a:ext cx="8804366" cy="474618"/>
            </a:xfrm>
            <a:prstGeom prst="roundRect">
              <a:avLst/>
            </a:prstGeom>
            <a:noFill/>
            <a:ln w="19050" cap="sq" cmpd="sng" algn="ctr">
              <a:solidFill>
                <a:srgbClr val="FF6600"/>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SG" sz="1800" b="0" i="0" u="none" strike="noStrike" cap="none" normalizeH="0" baseline="0" smtClean="0">
                <a:ln>
                  <a:noFill/>
                </a:ln>
                <a:solidFill>
                  <a:schemeClr val="tx1"/>
                </a:solidFill>
                <a:effectLst/>
                <a:latin typeface="Arial" charset="0"/>
                <a:cs typeface="Arial" charset="0"/>
              </a:endParaRPr>
            </a:p>
          </p:txBody>
        </p:sp>
        <p:sp>
          <p:nvSpPr>
            <p:cNvPr id="21" name="Rounded Rectangle 20"/>
            <p:cNvSpPr/>
            <p:nvPr/>
          </p:nvSpPr>
          <p:spPr bwMode="auto">
            <a:xfrm>
              <a:off x="165463" y="4528458"/>
              <a:ext cx="8804366" cy="248194"/>
            </a:xfrm>
            <a:prstGeom prst="roundRect">
              <a:avLst/>
            </a:prstGeom>
            <a:noFill/>
            <a:ln w="19050" cap="sq" cmpd="sng" algn="ctr">
              <a:solidFill>
                <a:srgbClr val="7030A0"/>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SG" sz="1800" b="0" i="0" u="none" strike="noStrike" cap="none" normalizeH="0" baseline="0" smtClean="0">
                <a:ln>
                  <a:noFill/>
                </a:ln>
                <a:solidFill>
                  <a:schemeClr val="tx1"/>
                </a:solidFill>
                <a:effectLst/>
                <a:latin typeface="Arial" charset="0"/>
                <a:cs typeface="Arial" charset="0"/>
              </a:endParaRPr>
            </a:p>
          </p:txBody>
        </p:sp>
      </p:grpSp>
      <p:sp>
        <p:nvSpPr>
          <p:cNvPr id="25" name="TextBox 24"/>
          <p:cNvSpPr txBox="1"/>
          <p:nvPr/>
        </p:nvSpPr>
        <p:spPr>
          <a:xfrm>
            <a:off x="1329105" y="1916935"/>
            <a:ext cx="738130" cy="369332"/>
          </a:xfrm>
          <a:prstGeom prst="rect">
            <a:avLst/>
          </a:prstGeom>
          <a:noFill/>
        </p:spPr>
        <p:txBody>
          <a:bodyPr wrap="square" rtlCol="0">
            <a:spAutoFit/>
          </a:bodyPr>
          <a:lstStyle/>
          <a:p>
            <a:pPr algn="ctr"/>
            <a:r>
              <a:rPr lang="en-US" dirty="0" smtClean="0"/>
              <a:t>(A)</a:t>
            </a:r>
            <a:endParaRPr lang="en-SG" dirty="0"/>
          </a:p>
        </p:txBody>
      </p:sp>
      <p:sp>
        <p:nvSpPr>
          <p:cNvPr id="26" name="Rectangle 25"/>
          <p:cNvSpPr/>
          <p:nvPr/>
        </p:nvSpPr>
        <p:spPr>
          <a:xfrm>
            <a:off x="4325779" y="1916935"/>
            <a:ext cx="492443" cy="369332"/>
          </a:xfrm>
          <a:prstGeom prst="rect">
            <a:avLst/>
          </a:prstGeom>
        </p:spPr>
        <p:txBody>
          <a:bodyPr wrap="none">
            <a:spAutoFit/>
          </a:bodyPr>
          <a:lstStyle/>
          <a:p>
            <a:pPr algn="ctr"/>
            <a:r>
              <a:rPr lang="en-US" dirty="0" smtClean="0"/>
              <a:t>(B)</a:t>
            </a:r>
            <a:endParaRPr lang="en-SG" dirty="0"/>
          </a:p>
        </p:txBody>
      </p:sp>
      <p:sp>
        <p:nvSpPr>
          <p:cNvPr id="27" name="Rectangle 26"/>
          <p:cNvSpPr/>
          <p:nvPr/>
        </p:nvSpPr>
        <p:spPr>
          <a:xfrm>
            <a:off x="7212789" y="1916935"/>
            <a:ext cx="505267" cy="369332"/>
          </a:xfrm>
          <a:prstGeom prst="rect">
            <a:avLst/>
          </a:prstGeom>
        </p:spPr>
        <p:txBody>
          <a:bodyPr wrap="none">
            <a:spAutoFit/>
          </a:bodyPr>
          <a:lstStyle/>
          <a:p>
            <a:pPr algn="ctr"/>
            <a:r>
              <a:rPr lang="en-US" dirty="0" smtClean="0"/>
              <a:t>(C)</a:t>
            </a:r>
            <a:endParaRPr lang="en-SG"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dissolve">
                                      <p:cBhvr>
                                        <p:cTn id="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p:cNvSpPr>
            <a:spLocks noGrp="1"/>
          </p:cNvSpPr>
          <p:nvPr>
            <p:ph type="title"/>
          </p:nvPr>
        </p:nvSpPr>
        <p:spPr/>
        <p:txBody>
          <a:bodyPr/>
          <a:lstStyle/>
          <a:p>
            <a:r>
              <a:rPr lang="en-US" dirty="0" smtClean="0"/>
              <a:t>10. Quizzes (4/4)</a:t>
            </a:r>
          </a:p>
        </p:txBody>
      </p:sp>
      <p:sp>
        <p:nvSpPr>
          <p:cNvPr id="5" name="Slide Number Placeholder 4"/>
          <p:cNvSpPr>
            <a:spLocks noGrp="1"/>
          </p:cNvSpPr>
          <p:nvPr>
            <p:ph type="sldNum" sz="quarter" idx="12"/>
          </p:nvPr>
        </p:nvSpPr>
        <p:spPr/>
        <p:txBody>
          <a:bodyPr/>
          <a:lstStyle/>
          <a:p>
            <a:pPr>
              <a:defRPr/>
            </a:pPr>
            <a:r>
              <a:rPr dirty="0" smtClean="0"/>
              <a:t>Week6 </a:t>
            </a:r>
            <a:r>
              <a:rPr lang="en-SG" dirty="0" smtClean="0"/>
              <a:t>–</a:t>
            </a:r>
            <a:r>
              <a:rPr dirty="0" smtClean="0"/>
              <a:t> </a:t>
            </a:r>
            <a:fld id="{142D3637-33BE-40BB-9277-E7760FEB4F8D}" type="slidenum">
              <a:rPr smtClean="0"/>
              <a:pPr>
                <a:defRPr/>
              </a:pPr>
              <a:t>46</a:t>
            </a:fld>
            <a:r>
              <a:rPr dirty="0" smtClean="0"/>
              <a:t> </a:t>
            </a:r>
            <a:endParaRPr dirty="0"/>
          </a:p>
        </p:txBody>
      </p:sp>
      <p:sp>
        <p:nvSpPr>
          <p:cNvPr id="40963" name="Content Placeholder 2"/>
          <p:cNvSpPr>
            <a:spLocks noGrp="1"/>
          </p:cNvSpPr>
          <p:nvPr>
            <p:ph sz="quarter" idx="1"/>
          </p:nvPr>
        </p:nvSpPr>
        <p:spPr>
          <a:xfrm>
            <a:off x="457199" y="1230490"/>
            <a:ext cx="8455447" cy="653394"/>
          </a:xfrm>
        </p:spPr>
        <p:txBody>
          <a:bodyPr/>
          <a:lstStyle/>
          <a:p>
            <a:pPr>
              <a:spcBef>
                <a:spcPts val="600"/>
              </a:spcBef>
            </a:pPr>
            <a:r>
              <a:rPr lang="en-US" sz="2000" dirty="0" smtClean="0">
                <a:solidFill>
                  <a:schemeClr val="tx1"/>
                </a:solidFill>
              </a:rPr>
              <a:t>Both are correct, but which is preferred and why?</a:t>
            </a:r>
          </a:p>
        </p:txBody>
      </p:sp>
      <p:sp>
        <p:nvSpPr>
          <p:cNvPr id="10" name="Text Box 4"/>
          <p:cNvSpPr txBox="1">
            <a:spLocks noChangeArrowheads="1"/>
          </p:cNvSpPr>
          <p:nvPr/>
        </p:nvSpPr>
        <p:spPr bwMode="auto">
          <a:xfrm>
            <a:off x="152400" y="6400800"/>
            <a:ext cx="304800" cy="201613"/>
          </a:xfrm>
          <a:prstGeom prst="rect">
            <a:avLst/>
          </a:prstGeom>
          <a:noFill/>
          <a:ln w="9525">
            <a:noFill/>
            <a:miter lim="800000"/>
            <a:headEnd/>
            <a:tailEnd/>
          </a:ln>
        </p:spPr>
        <p:txBody>
          <a:bodyPr lIns="9144" tIns="9144" rIns="9144" bIns="9144">
            <a:spAutoFit/>
          </a:bodyPr>
          <a:lstStyle/>
          <a:p>
            <a:pPr algn="ctr">
              <a:spcBef>
                <a:spcPct val="50000"/>
              </a:spcBef>
            </a:pPr>
            <a:r>
              <a:rPr lang="en-US" sz="1200" dirty="0">
                <a:sym typeface="Wingdings 2" pitchFamily="18" charset="2"/>
              </a:rPr>
              <a:t></a:t>
            </a:r>
          </a:p>
        </p:txBody>
      </p:sp>
      <p:sp>
        <p:nvSpPr>
          <p:cNvPr id="15" name="TextBox 14"/>
          <p:cNvSpPr txBox="1"/>
          <p:nvPr/>
        </p:nvSpPr>
        <p:spPr>
          <a:xfrm>
            <a:off x="940225" y="1702819"/>
            <a:ext cx="4766512" cy="2339102"/>
          </a:xfrm>
          <a:prstGeom prst="rect">
            <a:avLst/>
          </a:prstGeom>
          <a:solidFill>
            <a:srgbClr val="FFFF99"/>
          </a:solidFill>
        </p:spPr>
        <p:style>
          <a:lnRef idx="2">
            <a:schemeClr val="accent6"/>
          </a:lnRef>
          <a:fillRef idx="1">
            <a:schemeClr val="lt1"/>
          </a:fillRef>
          <a:effectRef idx="0">
            <a:schemeClr val="accent6"/>
          </a:effectRef>
          <a:fontRef idx="minor">
            <a:schemeClr val="dk1"/>
          </a:fontRef>
        </p:style>
        <p:txBody>
          <a:bodyPr wrap="square" rtlCol="0">
            <a:spAutoFit/>
          </a:bodyPr>
          <a:lstStyle/>
          <a:p>
            <a:pPr marL="0" indent="0">
              <a:spcBef>
                <a:spcPts val="300"/>
              </a:spcBef>
              <a:buNone/>
              <a:tabLst>
                <a:tab pos="182563" algn="l"/>
                <a:tab pos="352425" algn="l"/>
                <a:tab pos="534988" algn="l"/>
              </a:tabLst>
            </a:pPr>
            <a:r>
              <a:rPr lang="en-US" sz="1400" b="1" dirty="0" err="1" smtClean="0">
                <a:solidFill>
                  <a:srgbClr val="0000FF"/>
                </a:solidFill>
                <a:latin typeface="Courier New" pitchFamily="49" charset="0"/>
                <a:cs typeface="Courier New" pitchFamily="49" charset="0"/>
              </a:rPr>
              <a:t>int</a:t>
            </a:r>
            <a:r>
              <a:rPr lang="en-US" sz="1400" b="1" dirty="0" smtClean="0">
                <a:latin typeface="Courier New" pitchFamily="49" charset="0"/>
                <a:cs typeface="Courier New" pitchFamily="49" charset="0"/>
              </a:rPr>
              <a:t> main(</a:t>
            </a:r>
            <a:r>
              <a:rPr lang="en-US" sz="1400" b="1" dirty="0" smtClean="0">
                <a:solidFill>
                  <a:srgbClr val="0000FF"/>
                </a:solidFill>
                <a:latin typeface="Courier New" pitchFamily="49" charset="0"/>
                <a:cs typeface="Courier New" pitchFamily="49" charset="0"/>
              </a:rPr>
              <a:t>void</a:t>
            </a:r>
            <a:r>
              <a:rPr lang="en-US" sz="1400" b="1" dirty="0" smtClean="0">
                <a:latin typeface="Courier New" pitchFamily="49" charset="0"/>
                <a:cs typeface="Courier New" pitchFamily="49" charset="0"/>
              </a:rPr>
              <a:t>) {</a:t>
            </a:r>
          </a:p>
          <a:p>
            <a:pPr marL="0" indent="0">
              <a:spcBef>
                <a:spcPts val="300"/>
              </a:spcBef>
              <a:buNone/>
              <a:tabLst>
                <a:tab pos="182563" algn="l"/>
                <a:tab pos="352425" algn="l"/>
                <a:tab pos="534988" algn="l"/>
              </a:tabLst>
            </a:pPr>
            <a:r>
              <a:rPr lang="en-US" sz="1400" b="1" dirty="0" smtClean="0">
                <a:latin typeface="Courier New" pitchFamily="49" charset="0"/>
                <a:cs typeface="Courier New" pitchFamily="49" charset="0"/>
              </a:rPr>
              <a:t>	</a:t>
            </a:r>
            <a:r>
              <a:rPr lang="en-US" sz="1400" b="1" dirty="0" err="1" smtClean="0">
                <a:solidFill>
                  <a:srgbClr val="0000FF"/>
                </a:solidFill>
                <a:latin typeface="Courier New" pitchFamily="49" charset="0"/>
                <a:cs typeface="Courier New" pitchFamily="49" charset="0"/>
              </a:rPr>
              <a:t>int</a:t>
            </a:r>
            <a:r>
              <a:rPr lang="en-US" sz="1400" b="1" dirty="0" smtClean="0">
                <a:latin typeface="Courier New" pitchFamily="49" charset="0"/>
                <a:cs typeface="Courier New" pitchFamily="49" charset="0"/>
              </a:rPr>
              <a:t> num1 = </a:t>
            </a:r>
            <a:r>
              <a:rPr lang="en-US" sz="1400" b="1" dirty="0" smtClean="0">
                <a:solidFill>
                  <a:srgbClr val="006600"/>
                </a:solidFill>
                <a:latin typeface="Courier New" pitchFamily="49" charset="0"/>
                <a:cs typeface="Courier New" pitchFamily="49" charset="0"/>
              </a:rPr>
              <a:t>1</a:t>
            </a:r>
            <a:r>
              <a:rPr lang="en-US" sz="1400" b="1" dirty="0" smtClean="0">
                <a:latin typeface="Courier New" pitchFamily="49" charset="0"/>
                <a:cs typeface="Courier New" pitchFamily="49" charset="0"/>
              </a:rPr>
              <a:t>, num2 = </a:t>
            </a:r>
            <a:r>
              <a:rPr lang="en-US" sz="1400" b="1" dirty="0" smtClean="0">
                <a:solidFill>
                  <a:srgbClr val="006600"/>
                </a:solidFill>
                <a:latin typeface="Courier New" pitchFamily="49" charset="0"/>
                <a:cs typeface="Courier New" pitchFamily="49" charset="0"/>
              </a:rPr>
              <a:t>2</a:t>
            </a:r>
            <a:r>
              <a:rPr lang="en-US" sz="1400" b="1" dirty="0" smtClean="0">
                <a:latin typeface="Courier New" pitchFamily="49" charset="0"/>
                <a:cs typeface="Courier New" pitchFamily="49" charset="0"/>
              </a:rPr>
              <a:t>;</a:t>
            </a:r>
          </a:p>
          <a:p>
            <a:pPr marL="0" indent="0">
              <a:spcBef>
                <a:spcPts val="300"/>
              </a:spcBef>
              <a:buNone/>
              <a:tabLst>
                <a:tab pos="182563" algn="l"/>
                <a:tab pos="352425" algn="l"/>
                <a:tab pos="534988" algn="l"/>
              </a:tabLst>
            </a:pPr>
            <a:r>
              <a:rPr lang="en-US" sz="1400" b="1" dirty="0" smtClean="0">
                <a:latin typeface="Courier New" pitchFamily="49" charset="0"/>
                <a:cs typeface="Courier New" pitchFamily="49" charset="0"/>
              </a:rPr>
              <a:t>	</a:t>
            </a:r>
            <a:r>
              <a:rPr lang="en-US" sz="1400" b="1" dirty="0" err="1" smtClean="0">
                <a:latin typeface="Courier New" pitchFamily="49" charset="0"/>
                <a:cs typeface="Courier New" pitchFamily="49" charset="0"/>
              </a:rPr>
              <a:t>print_values</a:t>
            </a:r>
            <a:r>
              <a:rPr lang="en-US" sz="1400" b="1" dirty="0" smtClean="0">
                <a:latin typeface="Courier New" pitchFamily="49" charset="0"/>
                <a:cs typeface="Courier New" pitchFamily="49" charset="0"/>
              </a:rPr>
              <a:t>(num1, num2);</a:t>
            </a:r>
          </a:p>
          <a:p>
            <a:pPr marL="0" indent="0">
              <a:spcBef>
                <a:spcPts val="300"/>
              </a:spcBef>
              <a:buNone/>
              <a:tabLst>
                <a:tab pos="182563" algn="l"/>
                <a:tab pos="352425" algn="l"/>
                <a:tab pos="534988" algn="l"/>
              </a:tabLst>
            </a:pPr>
            <a:r>
              <a:rPr lang="en-US" sz="1400" b="1" dirty="0" smtClean="0">
                <a:latin typeface="Courier New" pitchFamily="49" charset="0"/>
                <a:cs typeface="Courier New" pitchFamily="49" charset="0"/>
              </a:rPr>
              <a:t>	</a:t>
            </a:r>
            <a:r>
              <a:rPr lang="en-US" sz="1400" b="1" dirty="0" smtClean="0">
                <a:solidFill>
                  <a:srgbClr val="0000FF"/>
                </a:solidFill>
                <a:latin typeface="Courier New" pitchFamily="49" charset="0"/>
                <a:cs typeface="Courier New" pitchFamily="49" charset="0"/>
              </a:rPr>
              <a:t>return </a:t>
            </a:r>
            <a:r>
              <a:rPr lang="en-US" sz="1400" b="1" dirty="0" smtClean="0">
                <a:solidFill>
                  <a:srgbClr val="006600"/>
                </a:solidFill>
                <a:latin typeface="Courier New" pitchFamily="49" charset="0"/>
                <a:cs typeface="Courier New" pitchFamily="49" charset="0"/>
              </a:rPr>
              <a:t>0</a:t>
            </a:r>
            <a:r>
              <a:rPr lang="en-US" sz="1400" b="1" dirty="0" smtClean="0">
                <a:latin typeface="Courier New" pitchFamily="49" charset="0"/>
                <a:cs typeface="Courier New" pitchFamily="49" charset="0"/>
              </a:rPr>
              <a:t>;</a:t>
            </a:r>
          </a:p>
          <a:p>
            <a:pPr marL="0" indent="0">
              <a:spcBef>
                <a:spcPts val="300"/>
              </a:spcBef>
              <a:buNone/>
              <a:tabLst>
                <a:tab pos="182563" algn="l"/>
                <a:tab pos="352425" algn="l"/>
                <a:tab pos="534988" algn="l"/>
              </a:tabLst>
            </a:pPr>
            <a:r>
              <a:rPr lang="en-US" sz="1400" b="1" dirty="0" smtClean="0">
                <a:latin typeface="Courier New" pitchFamily="49" charset="0"/>
                <a:cs typeface="Courier New" pitchFamily="49" charset="0"/>
              </a:rPr>
              <a:t>}</a:t>
            </a:r>
          </a:p>
          <a:p>
            <a:pPr marL="0" indent="0">
              <a:spcBef>
                <a:spcPts val="300"/>
              </a:spcBef>
              <a:buNone/>
              <a:tabLst>
                <a:tab pos="182563" algn="l"/>
                <a:tab pos="352425" algn="l"/>
                <a:tab pos="534988" algn="l"/>
              </a:tabLst>
            </a:pPr>
            <a:endParaRPr lang="en-US" sz="1400" b="1" dirty="0" smtClean="0">
              <a:latin typeface="Courier New" pitchFamily="49" charset="0"/>
              <a:cs typeface="Courier New" pitchFamily="49" charset="0"/>
            </a:endParaRPr>
          </a:p>
          <a:p>
            <a:pPr marL="0" indent="0">
              <a:spcBef>
                <a:spcPts val="300"/>
              </a:spcBef>
              <a:buNone/>
              <a:tabLst>
                <a:tab pos="182563" algn="l"/>
                <a:tab pos="352425" algn="l"/>
                <a:tab pos="534988" algn="l"/>
              </a:tabLst>
            </a:pPr>
            <a:r>
              <a:rPr lang="en-US" sz="1400" b="1" dirty="0" smtClean="0">
                <a:solidFill>
                  <a:srgbClr val="0000FF"/>
                </a:solidFill>
                <a:latin typeface="Courier New" pitchFamily="49" charset="0"/>
                <a:cs typeface="Courier New" pitchFamily="49" charset="0"/>
              </a:rPr>
              <a:t>void </a:t>
            </a:r>
            <a:r>
              <a:rPr lang="en-US" sz="1400" b="1" dirty="0" err="1" smtClean="0">
                <a:latin typeface="Courier New" pitchFamily="49" charset="0"/>
                <a:cs typeface="Courier New" pitchFamily="49" charset="0"/>
              </a:rPr>
              <a:t>print_values</a:t>
            </a:r>
            <a:r>
              <a:rPr lang="en-US" sz="1400" b="1" dirty="0" smtClean="0">
                <a:latin typeface="Courier New" pitchFamily="49" charset="0"/>
                <a:cs typeface="Courier New" pitchFamily="49" charset="0"/>
              </a:rPr>
              <a:t>(</a:t>
            </a:r>
            <a:r>
              <a:rPr lang="en-US" sz="1400" b="1" dirty="0" err="1" smtClean="0">
                <a:solidFill>
                  <a:srgbClr val="0000FF"/>
                </a:solidFill>
                <a:latin typeface="Courier New" pitchFamily="49" charset="0"/>
                <a:cs typeface="Courier New" pitchFamily="49" charset="0"/>
              </a:rPr>
              <a:t>int</a:t>
            </a:r>
            <a:r>
              <a:rPr lang="en-US" sz="1400" b="1" dirty="0" smtClean="0">
                <a:latin typeface="Courier New" pitchFamily="49" charset="0"/>
                <a:cs typeface="Courier New" pitchFamily="49" charset="0"/>
              </a:rPr>
              <a:t> n1, </a:t>
            </a:r>
            <a:r>
              <a:rPr lang="en-US" sz="1400" b="1" dirty="0" err="1" smtClean="0">
                <a:solidFill>
                  <a:srgbClr val="0000FF"/>
                </a:solidFill>
                <a:latin typeface="Courier New" pitchFamily="49" charset="0"/>
                <a:cs typeface="Courier New" pitchFamily="49" charset="0"/>
              </a:rPr>
              <a:t>int</a:t>
            </a:r>
            <a:r>
              <a:rPr lang="en-US" sz="1400" b="1" dirty="0" smtClean="0">
                <a:latin typeface="Courier New" pitchFamily="49" charset="0"/>
                <a:cs typeface="Courier New" pitchFamily="49" charset="0"/>
              </a:rPr>
              <a:t> n2) {</a:t>
            </a:r>
          </a:p>
          <a:p>
            <a:pPr marL="0" indent="0">
              <a:spcBef>
                <a:spcPts val="300"/>
              </a:spcBef>
              <a:buNone/>
              <a:tabLst>
                <a:tab pos="182563" algn="l"/>
                <a:tab pos="352425" algn="l"/>
                <a:tab pos="534988" algn="l"/>
              </a:tabLst>
            </a:pPr>
            <a:r>
              <a:rPr lang="en-US" sz="1400" b="1" dirty="0" smtClean="0">
                <a:latin typeface="Courier New" pitchFamily="49" charset="0"/>
                <a:cs typeface="Courier New" pitchFamily="49" charset="0"/>
              </a:rPr>
              <a:t>	</a:t>
            </a:r>
            <a:r>
              <a:rPr lang="en-US" sz="1400" b="1" dirty="0" err="1" smtClean="0">
                <a:latin typeface="Courier New" pitchFamily="49" charset="0"/>
                <a:cs typeface="Courier New" pitchFamily="49" charset="0"/>
              </a:rPr>
              <a:t>printf</a:t>
            </a:r>
            <a:r>
              <a:rPr lang="en-US" sz="1400" b="1" dirty="0" smtClean="0">
                <a:latin typeface="Courier New" pitchFamily="49" charset="0"/>
                <a:cs typeface="Courier New" pitchFamily="49" charset="0"/>
              </a:rPr>
              <a:t>(</a:t>
            </a:r>
            <a:r>
              <a:rPr lang="en-US" sz="1400" b="1" dirty="0" smtClean="0">
                <a:solidFill>
                  <a:srgbClr val="006600"/>
                </a:solidFill>
                <a:latin typeface="Courier New" pitchFamily="49" charset="0"/>
                <a:cs typeface="Courier New" pitchFamily="49" charset="0"/>
              </a:rPr>
              <a:t>"Values: </a:t>
            </a:r>
            <a:r>
              <a:rPr lang="en-US" sz="1400" b="1" dirty="0" smtClean="0">
                <a:solidFill>
                  <a:srgbClr val="FF0000"/>
                </a:solidFill>
                <a:latin typeface="Courier New" pitchFamily="49" charset="0"/>
                <a:cs typeface="Courier New" pitchFamily="49" charset="0"/>
              </a:rPr>
              <a:t>%d </a:t>
            </a:r>
            <a:r>
              <a:rPr lang="en-US" sz="1400" b="1" dirty="0" smtClean="0">
                <a:solidFill>
                  <a:srgbClr val="006600"/>
                </a:solidFill>
                <a:latin typeface="Courier New" pitchFamily="49" charset="0"/>
                <a:cs typeface="Courier New" pitchFamily="49" charset="0"/>
              </a:rPr>
              <a:t>and</a:t>
            </a:r>
            <a:r>
              <a:rPr lang="en-US" sz="1400" b="1" dirty="0" smtClean="0">
                <a:solidFill>
                  <a:srgbClr val="FF0000"/>
                </a:solidFill>
                <a:latin typeface="Courier New" pitchFamily="49" charset="0"/>
                <a:cs typeface="Courier New" pitchFamily="49" charset="0"/>
              </a:rPr>
              <a:t> %d</a:t>
            </a:r>
            <a:r>
              <a:rPr lang="en-US" sz="1400" b="1" dirty="0" smtClean="0">
                <a:solidFill>
                  <a:srgbClr val="006600"/>
                </a:solidFill>
                <a:latin typeface="Courier New" pitchFamily="49" charset="0"/>
                <a:cs typeface="Courier New" pitchFamily="49" charset="0"/>
              </a:rPr>
              <a:t>"</a:t>
            </a:r>
            <a:r>
              <a:rPr lang="en-US" sz="1400" b="1" dirty="0" smtClean="0">
                <a:latin typeface="Courier New" pitchFamily="49" charset="0"/>
                <a:cs typeface="Courier New" pitchFamily="49" charset="0"/>
              </a:rPr>
              <a:t>, n1, n2);</a:t>
            </a:r>
          </a:p>
          <a:p>
            <a:pPr marL="0" indent="0">
              <a:spcBef>
                <a:spcPts val="300"/>
              </a:spcBef>
              <a:buNone/>
              <a:tabLst>
                <a:tab pos="182563" algn="l"/>
                <a:tab pos="352425" algn="l"/>
                <a:tab pos="534988" algn="l"/>
              </a:tabLst>
            </a:pPr>
            <a:r>
              <a:rPr lang="en-US" sz="1400" b="1" dirty="0" smtClean="0">
                <a:latin typeface="Courier New" pitchFamily="49" charset="0"/>
                <a:cs typeface="Courier New" pitchFamily="49" charset="0"/>
              </a:rPr>
              <a:t>}</a:t>
            </a:r>
          </a:p>
        </p:txBody>
      </p:sp>
      <p:sp>
        <p:nvSpPr>
          <p:cNvPr id="25" name="TextBox 24"/>
          <p:cNvSpPr txBox="1"/>
          <p:nvPr/>
        </p:nvSpPr>
        <p:spPr>
          <a:xfrm>
            <a:off x="319489" y="1762699"/>
            <a:ext cx="738130" cy="369332"/>
          </a:xfrm>
          <a:prstGeom prst="rect">
            <a:avLst/>
          </a:prstGeom>
          <a:noFill/>
        </p:spPr>
        <p:txBody>
          <a:bodyPr wrap="square" rtlCol="0">
            <a:spAutoFit/>
          </a:bodyPr>
          <a:lstStyle/>
          <a:p>
            <a:pPr algn="ctr"/>
            <a:r>
              <a:rPr lang="en-US" dirty="0" smtClean="0"/>
              <a:t>(A)</a:t>
            </a:r>
            <a:endParaRPr lang="en-SG" dirty="0"/>
          </a:p>
        </p:txBody>
      </p:sp>
      <p:sp>
        <p:nvSpPr>
          <p:cNvPr id="26" name="Rectangle 25"/>
          <p:cNvSpPr/>
          <p:nvPr/>
        </p:nvSpPr>
        <p:spPr>
          <a:xfrm>
            <a:off x="356123" y="5012674"/>
            <a:ext cx="664863" cy="369332"/>
          </a:xfrm>
          <a:prstGeom prst="rect">
            <a:avLst/>
          </a:prstGeom>
        </p:spPr>
        <p:txBody>
          <a:bodyPr wrap="square">
            <a:spAutoFit/>
          </a:bodyPr>
          <a:lstStyle/>
          <a:p>
            <a:pPr algn="ctr"/>
            <a:r>
              <a:rPr lang="en-US" dirty="0" smtClean="0"/>
              <a:t>(B)</a:t>
            </a:r>
            <a:endParaRPr lang="en-SG" dirty="0"/>
          </a:p>
        </p:txBody>
      </p:sp>
      <p:sp>
        <p:nvSpPr>
          <p:cNvPr id="22" name="TextBox 21"/>
          <p:cNvSpPr txBox="1"/>
          <p:nvPr/>
        </p:nvSpPr>
        <p:spPr>
          <a:xfrm>
            <a:off x="940225" y="4092323"/>
            <a:ext cx="4766307" cy="2339102"/>
          </a:xfrm>
          <a:prstGeom prst="rect">
            <a:avLst/>
          </a:prstGeom>
          <a:solidFill>
            <a:srgbClr val="CCFFCC"/>
          </a:solidFill>
        </p:spPr>
        <p:style>
          <a:lnRef idx="2">
            <a:schemeClr val="accent6"/>
          </a:lnRef>
          <a:fillRef idx="1">
            <a:schemeClr val="lt1"/>
          </a:fillRef>
          <a:effectRef idx="0">
            <a:schemeClr val="accent6"/>
          </a:effectRef>
          <a:fontRef idx="minor">
            <a:schemeClr val="dk1"/>
          </a:fontRef>
        </p:style>
        <p:txBody>
          <a:bodyPr wrap="square" rtlCol="0">
            <a:spAutoFit/>
          </a:bodyPr>
          <a:lstStyle/>
          <a:p>
            <a:pPr marL="0" indent="0">
              <a:spcBef>
                <a:spcPts val="300"/>
              </a:spcBef>
              <a:buNone/>
              <a:tabLst>
                <a:tab pos="182563" algn="l"/>
                <a:tab pos="352425" algn="l"/>
                <a:tab pos="534988" algn="l"/>
              </a:tabLst>
            </a:pPr>
            <a:r>
              <a:rPr lang="en-US" sz="1400" b="1" dirty="0" err="1" smtClean="0">
                <a:solidFill>
                  <a:srgbClr val="0000FF"/>
                </a:solidFill>
                <a:latin typeface="Courier New" pitchFamily="49" charset="0"/>
                <a:cs typeface="Courier New" pitchFamily="49" charset="0"/>
              </a:rPr>
              <a:t>int</a:t>
            </a:r>
            <a:r>
              <a:rPr lang="en-US" sz="1400" b="1" dirty="0" smtClean="0">
                <a:latin typeface="Courier New" pitchFamily="49" charset="0"/>
                <a:cs typeface="Courier New" pitchFamily="49" charset="0"/>
              </a:rPr>
              <a:t> main(</a:t>
            </a:r>
            <a:r>
              <a:rPr lang="en-US" sz="1400" b="1" dirty="0" smtClean="0">
                <a:solidFill>
                  <a:srgbClr val="0000FF"/>
                </a:solidFill>
                <a:latin typeface="Courier New" pitchFamily="49" charset="0"/>
                <a:cs typeface="Courier New" pitchFamily="49" charset="0"/>
              </a:rPr>
              <a:t>void</a:t>
            </a:r>
            <a:r>
              <a:rPr lang="en-US" sz="1400" b="1" dirty="0" smtClean="0">
                <a:latin typeface="Courier New" pitchFamily="49" charset="0"/>
                <a:cs typeface="Courier New" pitchFamily="49" charset="0"/>
              </a:rPr>
              <a:t>) {</a:t>
            </a:r>
          </a:p>
          <a:p>
            <a:pPr marL="0" indent="0">
              <a:spcBef>
                <a:spcPts val="300"/>
              </a:spcBef>
              <a:buNone/>
              <a:tabLst>
                <a:tab pos="182563" algn="l"/>
                <a:tab pos="352425" algn="l"/>
                <a:tab pos="534988" algn="l"/>
              </a:tabLst>
            </a:pPr>
            <a:r>
              <a:rPr lang="en-US" sz="1400" b="1" dirty="0" smtClean="0">
                <a:latin typeface="Courier New" pitchFamily="49" charset="0"/>
                <a:cs typeface="Courier New" pitchFamily="49" charset="0"/>
              </a:rPr>
              <a:t>	</a:t>
            </a:r>
            <a:r>
              <a:rPr lang="en-US" sz="1400" b="1" dirty="0" err="1" smtClean="0">
                <a:solidFill>
                  <a:srgbClr val="0000FF"/>
                </a:solidFill>
                <a:latin typeface="Courier New" pitchFamily="49" charset="0"/>
                <a:cs typeface="Courier New" pitchFamily="49" charset="0"/>
              </a:rPr>
              <a:t>int</a:t>
            </a:r>
            <a:r>
              <a:rPr lang="en-US" sz="1400" b="1" dirty="0" smtClean="0">
                <a:latin typeface="Courier New" pitchFamily="49" charset="0"/>
                <a:cs typeface="Courier New" pitchFamily="49" charset="0"/>
              </a:rPr>
              <a:t> num1 = </a:t>
            </a:r>
            <a:r>
              <a:rPr lang="en-US" sz="1400" b="1" dirty="0" smtClean="0">
                <a:solidFill>
                  <a:srgbClr val="006600"/>
                </a:solidFill>
                <a:latin typeface="Courier New" pitchFamily="49" charset="0"/>
                <a:cs typeface="Courier New" pitchFamily="49" charset="0"/>
              </a:rPr>
              <a:t>1</a:t>
            </a:r>
            <a:r>
              <a:rPr lang="en-US" sz="1400" b="1" dirty="0" smtClean="0">
                <a:latin typeface="Courier New" pitchFamily="49" charset="0"/>
                <a:cs typeface="Courier New" pitchFamily="49" charset="0"/>
              </a:rPr>
              <a:t>, num2 = </a:t>
            </a:r>
            <a:r>
              <a:rPr lang="en-US" sz="1400" b="1" dirty="0" smtClean="0">
                <a:solidFill>
                  <a:srgbClr val="006600"/>
                </a:solidFill>
                <a:latin typeface="Courier New" pitchFamily="49" charset="0"/>
                <a:cs typeface="Courier New" pitchFamily="49" charset="0"/>
              </a:rPr>
              <a:t>2</a:t>
            </a:r>
            <a:r>
              <a:rPr lang="en-US" sz="1400" b="1" dirty="0" smtClean="0">
                <a:latin typeface="Courier New" pitchFamily="49" charset="0"/>
                <a:cs typeface="Courier New" pitchFamily="49" charset="0"/>
              </a:rPr>
              <a:t>;</a:t>
            </a:r>
          </a:p>
          <a:p>
            <a:pPr marL="0" indent="0">
              <a:spcBef>
                <a:spcPts val="300"/>
              </a:spcBef>
              <a:buNone/>
              <a:tabLst>
                <a:tab pos="182563" algn="l"/>
                <a:tab pos="352425" algn="l"/>
                <a:tab pos="534988" algn="l"/>
              </a:tabLst>
            </a:pPr>
            <a:r>
              <a:rPr lang="en-US" sz="1400" b="1" dirty="0" smtClean="0">
                <a:latin typeface="Courier New" pitchFamily="49" charset="0"/>
                <a:cs typeface="Courier New" pitchFamily="49" charset="0"/>
              </a:rPr>
              <a:t>	</a:t>
            </a:r>
            <a:r>
              <a:rPr lang="en-US" sz="1400" b="1" dirty="0" err="1" smtClean="0">
                <a:latin typeface="Courier New" pitchFamily="49" charset="0"/>
                <a:cs typeface="Courier New" pitchFamily="49" charset="0"/>
              </a:rPr>
              <a:t>print_values</a:t>
            </a:r>
            <a:r>
              <a:rPr lang="en-US" sz="1400" b="1" dirty="0" smtClean="0">
                <a:latin typeface="Courier New" pitchFamily="49" charset="0"/>
                <a:cs typeface="Courier New" pitchFamily="49" charset="0"/>
              </a:rPr>
              <a:t>(&amp;num1, &amp;num2);</a:t>
            </a:r>
          </a:p>
          <a:p>
            <a:pPr marL="0" indent="0">
              <a:spcBef>
                <a:spcPts val="300"/>
              </a:spcBef>
              <a:buNone/>
              <a:tabLst>
                <a:tab pos="182563" algn="l"/>
                <a:tab pos="352425" algn="l"/>
                <a:tab pos="534988" algn="l"/>
              </a:tabLst>
            </a:pPr>
            <a:r>
              <a:rPr lang="en-US" sz="1400" b="1" dirty="0" smtClean="0">
                <a:latin typeface="Courier New" pitchFamily="49" charset="0"/>
                <a:cs typeface="Courier New" pitchFamily="49" charset="0"/>
              </a:rPr>
              <a:t>	</a:t>
            </a:r>
            <a:r>
              <a:rPr lang="en-US" sz="1400" b="1" dirty="0" smtClean="0">
                <a:solidFill>
                  <a:srgbClr val="0000FF"/>
                </a:solidFill>
                <a:latin typeface="Courier New" pitchFamily="49" charset="0"/>
                <a:cs typeface="Courier New" pitchFamily="49" charset="0"/>
              </a:rPr>
              <a:t>return </a:t>
            </a:r>
            <a:r>
              <a:rPr lang="en-US" sz="1400" b="1" dirty="0" smtClean="0">
                <a:solidFill>
                  <a:srgbClr val="006600"/>
                </a:solidFill>
                <a:latin typeface="Courier New" pitchFamily="49" charset="0"/>
                <a:cs typeface="Courier New" pitchFamily="49" charset="0"/>
              </a:rPr>
              <a:t>0</a:t>
            </a:r>
            <a:r>
              <a:rPr lang="en-US" sz="1400" b="1" dirty="0" smtClean="0">
                <a:latin typeface="Courier New" pitchFamily="49" charset="0"/>
                <a:cs typeface="Courier New" pitchFamily="49" charset="0"/>
              </a:rPr>
              <a:t>;</a:t>
            </a:r>
          </a:p>
          <a:p>
            <a:pPr marL="0" indent="0">
              <a:spcBef>
                <a:spcPts val="300"/>
              </a:spcBef>
              <a:buNone/>
              <a:tabLst>
                <a:tab pos="182563" algn="l"/>
                <a:tab pos="352425" algn="l"/>
                <a:tab pos="534988" algn="l"/>
              </a:tabLst>
            </a:pPr>
            <a:r>
              <a:rPr lang="en-US" sz="1400" b="1" dirty="0" smtClean="0">
                <a:latin typeface="Courier New" pitchFamily="49" charset="0"/>
                <a:cs typeface="Courier New" pitchFamily="49" charset="0"/>
              </a:rPr>
              <a:t>}</a:t>
            </a:r>
          </a:p>
          <a:p>
            <a:pPr marL="0" indent="0">
              <a:spcBef>
                <a:spcPts val="300"/>
              </a:spcBef>
              <a:buNone/>
              <a:tabLst>
                <a:tab pos="182563" algn="l"/>
                <a:tab pos="352425" algn="l"/>
                <a:tab pos="534988" algn="l"/>
              </a:tabLst>
            </a:pPr>
            <a:endParaRPr lang="en-US" sz="1400" b="1" dirty="0" smtClean="0">
              <a:latin typeface="Courier New" pitchFamily="49" charset="0"/>
              <a:cs typeface="Courier New" pitchFamily="49" charset="0"/>
            </a:endParaRPr>
          </a:p>
          <a:p>
            <a:pPr marL="0" indent="0">
              <a:spcBef>
                <a:spcPts val="300"/>
              </a:spcBef>
              <a:buNone/>
              <a:tabLst>
                <a:tab pos="182563" algn="l"/>
                <a:tab pos="352425" algn="l"/>
                <a:tab pos="534988" algn="l"/>
              </a:tabLst>
            </a:pPr>
            <a:r>
              <a:rPr lang="en-US" sz="1400" b="1" dirty="0" smtClean="0">
                <a:solidFill>
                  <a:srgbClr val="0000FF"/>
                </a:solidFill>
                <a:latin typeface="Courier New" pitchFamily="49" charset="0"/>
                <a:cs typeface="Courier New" pitchFamily="49" charset="0"/>
              </a:rPr>
              <a:t>void </a:t>
            </a:r>
            <a:r>
              <a:rPr lang="en-US" sz="1400" b="1" dirty="0" err="1" smtClean="0">
                <a:latin typeface="Courier New" pitchFamily="49" charset="0"/>
                <a:cs typeface="Courier New" pitchFamily="49" charset="0"/>
              </a:rPr>
              <a:t>print_values</a:t>
            </a:r>
            <a:r>
              <a:rPr lang="en-US" sz="1400" b="1" dirty="0" smtClean="0">
                <a:latin typeface="Courier New" pitchFamily="49" charset="0"/>
                <a:cs typeface="Courier New" pitchFamily="49" charset="0"/>
              </a:rPr>
              <a:t>(</a:t>
            </a:r>
            <a:r>
              <a:rPr lang="en-US" sz="1400" b="1" dirty="0" err="1" smtClean="0">
                <a:solidFill>
                  <a:srgbClr val="0000FF"/>
                </a:solidFill>
                <a:latin typeface="Courier New" pitchFamily="49" charset="0"/>
                <a:cs typeface="Courier New" pitchFamily="49" charset="0"/>
              </a:rPr>
              <a:t>int</a:t>
            </a:r>
            <a:r>
              <a:rPr lang="en-US" sz="1400" b="1" dirty="0" smtClean="0">
                <a:latin typeface="Courier New" pitchFamily="49" charset="0"/>
                <a:cs typeface="Courier New" pitchFamily="49" charset="0"/>
              </a:rPr>
              <a:t> *n1, </a:t>
            </a:r>
            <a:r>
              <a:rPr lang="en-US" sz="1400" b="1" dirty="0" err="1" smtClean="0">
                <a:solidFill>
                  <a:srgbClr val="0000FF"/>
                </a:solidFill>
                <a:latin typeface="Courier New" pitchFamily="49" charset="0"/>
                <a:cs typeface="Courier New" pitchFamily="49" charset="0"/>
              </a:rPr>
              <a:t>int</a:t>
            </a:r>
            <a:r>
              <a:rPr lang="en-US" sz="1400" b="1" dirty="0" smtClean="0">
                <a:latin typeface="Courier New" pitchFamily="49" charset="0"/>
                <a:cs typeface="Courier New" pitchFamily="49" charset="0"/>
              </a:rPr>
              <a:t> *n2) {</a:t>
            </a:r>
          </a:p>
          <a:p>
            <a:pPr marL="0" indent="0">
              <a:spcBef>
                <a:spcPts val="300"/>
              </a:spcBef>
              <a:buNone/>
              <a:tabLst>
                <a:tab pos="182563" algn="l"/>
                <a:tab pos="352425" algn="l"/>
                <a:tab pos="534988" algn="l"/>
              </a:tabLst>
            </a:pPr>
            <a:r>
              <a:rPr lang="en-US" sz="1400" b="1" dirty="0" smtClean="0">
                <a:latin typeface="Courier New" pitchFamily="49" charset="0"/>
                <a:cs typeface="Courier New" pitchFamily="49" charset="0"/>
              </a:rPr>
              <a:t>	</a:t>
            </a:r>
            <a:r>
              <a:rPr lang="en-US" sz="1400" b="1" dirty="0" err="1" smtClean="0">
                <a:latin typeface="Courier New" pitchFamily="49" charset="0"/>
                <a:cs typeface="Courier New" pitchFamily="49" charset="0"/>
              </a:rPr>
              <a:t>printf</a:t>
            </a:r>
            <a:r>
              <a:rPr lang="en-US" sz="1400" b="1" dirty="0" smtClean="0">
                <a:latin typeface="Courier New" pitchFamily="49" charset="0"/>
                <a:cs typeface="Courier New" pitchFamily="49" charset="0"/>
              </a:rPr>
              <a:t>(</a:t>
            </a:r>
            <a:r>
              <a:rPr lang="en-US" sz="1400" b="1" dirty="0" smtClean="0">
                <a:solidFill>
                  <a:srgbClr val="006600"/>
                </a:solidFill>
                <a:latin typeface="Courier New" pitchFamily="49" charset="0"/>
                <a:cs typeface="Courier New" pitchFamily="49" charset="0"/>
              </a:rPr>
              <a:t>"Values: </a:t>
            </a:r>
            <a:r>
              <a:rPr lang="en-US" sz="1400" b="1" dirty="0" smtClean="0">
                <a:solidFill>
                  <a:srgbClr val="FF0000"/>
                </a:solidFill>
                <a:latin typeface="Courier New" pitchFamily="49" charset="0"/>
                <a:cs typeface="Courier New" pitchFamily="49" charset="0"/>
              </a:rPr>
              <a:t>%d </a:t>
            </a:r>
            <a:r>
              <a:rPr lang="en-US" sz="1400" b="1" dirty="0" smtClean="0">
                <a:solidFill>
                  <a:srgbClr val="006600"/>
                </a:solidFill>
                <a:latin typeface="Courier New" pitchFamily="49" charset="0"/>
                <a:cs typeface="Courier New" pitchFamily="49" charset="0"/>
              </a:rPr>
              <a:t>and</a:t>
            </a:r>
            <a:r>
              <a:rPr lang="en-US" sz="1400" b="1" dirty="0" smtClean="0">
                <a:solidFill>
                  <a:srgbClr val="FF0000"/>
                </a:solidFill>
                <a:latin typeface="Courier New" pitchFamily="49" charset="0"/>
                <a:cs typeface="Courier New" pitchFamily="49" charset="0"/>
              </a:rPr>
              <a:t> %d</a:t>
            </a:r>
            <a:r>
              <a:rPr lang="en-US" sz="1400" b="1" dirty="0" smtClean="0">
                <a:solidFill>
                  <a:srgbClr val="006600"/>
                </a:solidFill>
                <a:latin typeface="Courier New" pitchFamily="49" charset="0"/>
                <a:cs typeface="Courier New" pitchFamily="49" charset="0"/>
              </a:rPr>
              <a:t>"</a:t>
            </a:r>
            <a:r>
              <a:rPr lang="en-US" sz="1400" b="1" dirty="0" smtClean="0">
                <a:latin typeface="Courier New" pitchFamily="49" charset="0"/>
                <a:cs typeface="Courier New" pitchFamily="49" charset="0"/>
              </a:rPr>
              <a:t>, *n1, *n2);</a:t>
            </a:r>
          </a:p>
          <a:p>
            <a:pPr marL="0" indent="0">
              <a:spcBef>
                <a:spcPts val="300"/>
              </a:spcBef>
              <a:buNone/>
              <a:tabLst>
                <a:tab pos="182563" algn="l"/>
                <a:tab pos="352425" algn="l"/>
                <a:tab pos="534988" algn="l"/>
              </a:tabLst>
            </a:pPr>
            <a:r>
              <a:rPr lang="en-US" sz="1400" b="1" dirty="0" smtClean="0">
                <a:latin typeface="Courier New" pitchFamily="49" charset="0"/>
                <a:cs typeface="Courier New" pitchFamily="49" charset="0"/>
              </a:rPr>
              <a:t>}</a:t>
            </a:r>
          </a:p>
        </p:txBody>
      </p:sp>
    </p:spTree>
  </p:cSld>
  <p:clrMapOvr>
    <a:masterClrMapping/>
  </p:clrMapOvr>
  <p:transition>
    <p:fade/>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p:cNvSpPr>
            <a:spLocks noGrp="1"/>
          </p:cNvSpPr>
          <p:nvPr>
            <p:ph type="title"/>
          </p:nvPr>
        </p:nvSpPr>
        <p:spPr/>
        <p:txBody>
          <a:bodyPr/>
          <a:lstStyle/>
          <a:p>
            <a:r>
              <a:rPr lang="en-US" dirty="0" smtClean="0"/>
              <a:t>11. Ex #2: Volume, Surface Area (1/2)</a:t>
            </a:r>
          </a:p>
        </p:txBody>
      </p:sp>
      <p:sp>
        <p:nvSpPr>
          <p:cNvPr id="5" name="Slide Number Placeholder 4"/>
          <p:cNvSpPr>
            <a:spLocks noGrp="1"/>
          </p:cNvSpPr>
          <p:nvPr>
            <p:ph type="sldNum" sz="quarter" idx="12"/>
          </p:nvPr>
        </p:nvSpPr>
        <p:spPr/>
        <p:txBody>
          <a:bodyPr/>
          <a:lstStyle/>
          <a:p>
            <a:pPr>
              <a:defRPr/>
            </a:pPr>
            <a:r>
              <a:rPr smtClean="0"/>
              <a:t>Week6 - </a:t>
            </a:r>
            <a:fld id="{142D3637-33BE-40BB-9277-E7760FEB4F8D}" type="slidenum">
              <a:rPr smtClean="0"/>
              <a:pPr>
                <a:defRPr/>
              </a:pPr>
              <a:t>47</a:t>
            </a:fld>
            <a:endParaRPr/>
          </a:p>
        </p:txBody>
      </p:sp>
      <p:sp>
        <p:nvSpPr>
          <p:cNvPr id="40963" name="Content Placeholder 2"/>
          <p:cNvSpPr>
            <a:spLocks noGrp="1"/>
          </p:cNvSpPr>
          <p:nvPr>
            <p:ph sz="quarter" idx="1"/>
          </p:nvPr>
        </p:nvSpPr>
        <p:spPr>
          <a:xfrm>
            <a:off x="457200" y="1230489"/>
            <a:ext cx="8229600" cy="1467741"/>
          </a:xfrm>
        </p:spPr>
        <p:txBody>
          <a:bodyPr/>
          <a:lstStyle/>
          <a:p>
            <a:pPr>
              <a:spcBef>
                <a:spcPts val="600"/>
              </a:spcBef>
            </a:pPr>
            <a:r>
              <a:rPr lang="en-US" dirty="0" smtClean="0">
                <a:solidFill>
                  <a:schemeClr val="tx1"/>
                </a:solidFill>
              </a:rPr>
              <a:t>Write a program to read the length, width and depth (all integers) of a </a:t>
            </a:r>
            <a:r>
              <a:rPr lang="en-US" dirty="0" err="1" smtClean="0">
                <a:solidFill>
                  <a:schemeClr val="tx1"/>
                </a:solidFill>
              </a:rPr>
              <a:t>cuboid</a:t>
            </a:r>
            <a:r>
              <a:rPr lang="en-US" dirty="0" smtClean="0">
                <a:solidFill>
                  <a:schemeClr val="tx1"/>
                </a:solidFill>
              </a:rPr>
              <a:t> and compute (1) its volume, and (2) its surface area.</a:t>
            </a:r>
          </a:p>
        </p:txBody>
      </p:sp>
      <p:grpSp>
        <p:nvGrpSpPr>
          <p:cNvPr id="2" name="Group 11"/>
          <p:cNvGrpSpPr/>
          <p:nvPr/>
        </p:nvGrpSpPr>
        <p:grpSpPr>
          <a:xfrm>
            <a:off x="6458666" y="2379413"/>
            <a:ext cx="2452875" cy="1633788"/>
            <a:chOff x="4601992" y="4707467"/>
            <a:chExt cx="2585980" cy="1722445"/>
          </a:xfrm>
        </p:grpSpPr>
        <p:sp>
          <p:nvSpPr>
            <p:cNvPr id="8" name="Cube 7"/>
            <p:cNvSpPr/>
            <p:nvPr/>
          </p:nvSpPr>
          <p:spPr bwMode="auto">
            <a:xfrm>
              <a:off x="4978400" y="4707467"/>
              <a:ext cx="2156178" cy="1422400"/>
            </a:xfrm>
            <a:prstGeom prst="cube">
              <a:avLst>
                <a:gd name="adj" fmla="val 32937"/>
              </a:avLst>
            </a:prstGeom>
            <a:solidFill>
              <a:srgbClr val="FFCC66"/>
            </a:solidFill>
            <a:ln w="12700" cap="sq"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SG" sz="1800" b="0" i="0" u="none" strike="noStrike" cap="none" normalizeH="0" baseline="0" smtClean="0">
                <a:ln>
                  <a:noFill/>
                </a:ln>
                <a:solidFill>
                  <a:schemeClr val="tx1"/>
                </a:solidFill>
                <a:effectLst/>
                <a:latin typeface="Arial" charset="0"/>
                <a:cs typeface="Arial" charset="0"/>
              </a:endParaRPr>
            </a:p>
          </p:txBody>
        </p:sp>
        <p:sp>
          <p:nvSpPr>
            <p:cNvPr id="9" name="TextBox 8"/>
            <p:cNvSpPr txBox="1"/>
            <p:nvPr/>
          </p:nvSpPr>
          <p:spPr>
            <a:xfrm>
              <a:off x="5339645" y="6084712"/>
              <a:ext cx="1095022" cy="345200"/>
            </a:xfrm>
            <a:prstGeom prst="rect">
              <a:avLst/>
            </a:prstGeom>
            <a:noFill/>
          </p:spPr>
          <p:txBody>
            <a:bodyPr wrap="square" rtlCol="0">
              <a:spAutoFit/>
            </a:bodyPr>
            <a:lstStyle/>
            <a:p>
              <a:pPr algn="ctr"/>
              <a:r>
                <a:rPr lang="en-US" sz="1600" dirty="0" smtClean="0"/>
                <a:t>length</a:t>
              </a:r>
              <a:endParaRPr lang="en-SG" sz="1600" dirty="0"/>
            </a:p>
          </p:txBody>
        </p:sp>
        <p:sp>
          <p:nvSpPr>
            <p:cNvPr id="10" name="TextBox 9"/>
            <p:cNvSpPr txBox="1"/>
            <p:nvPr/>
          </p:nvSpPr>
          <p:spPr>
            <a:xfrm rot="18739448">
              <a:off x="6654245" y="5835190"/>
              <a:ext cx="722253" cy="345200"/>
            </a:xfrm>
            <a:prstGeom prst="rect">
              <a:avLst/>
            </a:prstGeom>
            <a:noFill/>
          </p:spPr>
          <p:txBody>
            <a:bodyPr wrap="square" rtlCol="0">
              <a:spAutoFit/>
            </a:bodyPr>
            <a:lstStyle/>
            <a:p>
              <a:pPr algn="ctr"/>
              <a:r>
                <a:rPr lang="en-US" sz="1600" dirty="0" smtClean="0"/>
                <a:t>width</a:t>
              </a:r>
              <a:endParaRPr lang="en-SG" sz="1600" dirty="0"/>
            </a:p>
          </p:txBody>
        </p:sp>
        <p:sp>
          <p:nvSpPr>
            <p:cNvPr id="11" name="TextBox 10"/>
            <p:cNvSpPr txBox="1"/>
            <p:nvPr/>
          </p:nvSpPr>
          <p:spPr>
            <a:xfrm rot="16200000">
              <a:off x="4357515" y="5506322"/>
              <a:ext cx="834154" cy="345200"/>
            </a:xfrm>
            <a:prstGeom prst="rect">
              <a:avLst/>
            </a:prstGeom>
            <a:noFill/>
          </p:spPr>
          <p:txBody>
            <a:bodyPr wrap="square" rtlCol="0">
              <a:spAutoFit/>
            </a:bodyPr>
            <a:lstStyle/>
            <a:p>
              <a:pPr algn="ctr"/>
              <a:r>
                <a:rPr lang="en-US" sz="1600" dirty="0" smtClean="0"/>
                <a:t>depth</a:t>
              </a:r>
              <a:endParaRPr lang="en-SG" sz="1600" dirty="0"/>
            </a:p>
          </p:txBody>
        </p:sp>
      </p:grpSp>
      <p:sp>
        <p:nvSpPr>
          <p:cNvPr id="13" name="Content Placeholder 2"/>
          <p:cNvSpPr txBox="1">
            <a:spLocks/>
          </p:cNvSpPr>
          <p:nvPr/>
        </p:nvSpPr>
        <p:spPr bwMode="auto">
          <a:xfrm>
            <a:off x="457200" y="2476500"/>
            <a:ext cx="6286500" cy="38227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marR="0" lvl="0" indent="-342900" algn="l" defTabSz="914400" rtl="0" eaLnBrk="0" fontAlgn="base" latinLnBrk="0" hangingPunct="0">
              <a:lnSpc>
                <a:spcPct val="100000"/>
              </a:lnSpc>
              <a:spcBef>
                <a:spcPts val="600"/>
              </a:spcBef>
              <a:spcAft>
                <a:spcPct val="0"/>
              </a:spcAft>
              <a:buClr>
                <a:schemeClr val="bg2"/>
              </a:buClr>
              <a:buSzPct val="75000"/>
              <a:buFont typeface="Wingdings" pitchFamily="2" charset="2"/>
              <a:buChar char="n"/>
              <a:tabLst/>
              <a:defRPr/>
            </a:pPr>
            <a:r>
              <a:rPr kumimoji="0" lang="en-US" sz="2400" b="0" i="0" u="none" strike="noStrike" kern="0" cap="none" spc="0" normalizeH="0" baseline="0" noProof="0" dirty="0" smtClean="0">
                <a:ln>
                  <a:noFill/>
                </a:ln>
                <a:solidFill>
                  <a:schemeClr val="tx1"/>
                </a:solidFill>
                <a:effectLst/>
                <a:uLnTx/>
                <a:uFillTx/>
                <a:latin typeface="+mn-lt"/>
                <a:ea typeface="+mn-ea"/>
                <a:cs typeface="+mn-cs"/>
              </a:rPr>
              <a:t>You are to write 2 versions and compare them:</a:t>
            </a:r>
          </a:p>
          <a:p>
            <a:pPr marL="742950" marR="0" lvl="1" indent="-285750" algn="l" defTabSz="914400" rtl="0" eaLnBrk="0" fontAlgn="base" latinLnBrk="0" hangingPunct="0">
              <a:lnSpc>
                <a:spcPct val="100000"/>
              </a:lnSpc>
              <a:spcBef>
                <a:spcPts val="600"/>
              </a:spcBef>
              <a:spcAft>
                <a:spcPct val="0"/>
              </a:spcAft>
              <a:buClr>
                <a:schemeClr val="accent2"/>
              </a:buClr>
              <a:buSzPct val="80000"/>
              <a:buFont typeface="Wingdings" pitchFamily="2" charset="2"/>
              <a:buChar char="¨"/>
              <a:tabLst/>
              <a:defRPr/>
            </a:pPr>
            <a:r>
              <a:rPr kumimoji="0" lang="en-US" sz="2000" b="0" i="0" u="none" strike="noStrike" kern="0" cap="none" spc="0" normalizeH="0" baseline="0" noProof="0" dirty="0" smtClean="0">
                <a:ln>
                  <a:noFill/>
                </a:ln>
                <a:solidFill>
                  <a:srgbClr val="0000FF"/>
                </a:solidFill>
                <a:effectLst/>
                <a:uLnTx/>
                <a:uFillTx/>
                <a:latin typeface="+mn-lt"/>
                <a:cs typeface="+mn-cs"/>
              </a:rPr>
              <a:t>Week6_Cuboid_v1.c</a:t>
            </a:r>
            <a:r>
              <a:rPr kumimoji="0" lang="en-US" sz="2000" b="0" i="0" u="none" strike="noStrike" kern="0" cap="none" spc="0" normalizeH="0" baseline="0" noProof="0" dirty="0" smtClean="0">
                <a:ln>
                  <a:noFill/>
                </a:ln>
                <a:solidFill>
                  <a:schemeClr val="tx1"/>
                </a:solidFill>
                <a:effectLst/>
                <a:uLnTx/>
                <a:uFillTx/>
                <a:latin typeface="+mn-lt"/>
                <a:cs typeface="+mn-cs"/>
              </a:rPr>
              <a:t>: Include 2 functions </a:t>
            </a:r>
            <a:r>
              <a:rPr kumimoji="0" lang="en-US" sz="2000" b="0" i="0" u="none" strike="noStrike" kern="0" cap="none" spc="0" normalizeH="0" baseline="0" noProof="0" dirty="0" smtClean="0">
                <a:ln>
                  <a:noFill/>
                </a:ln>
                <a:solidFill>
                  <a:srgbClr val="0000FF"/>
                </a:solidFill>
                <a:effectLst/>
                <a:uLnTx/>
                <a:uFillTx/>
                <a:latin typeface="+mn-lt"/>
                <a:cs typeface="+mn-cs"/>
              </a:rPr>
              <a:t>volume(…) </a:t>
            </a:r>
            <a:r>
              <a:rPr kumimoji="0" lang="en-US" sz="2000" b="0" i="0" u="none" strike="noStrike" kern="0" cap="none" spc="0" normalizeH="0" baseline="0" noProof="0" dirty="0" smtClean="0">
                <a:ln>
                  <a:noFill/>
                </a:ln>
                <a:solidFill>
                  <a:schemeClr val="tx1"/>
                </a:solidFill>
                <a:effectLst/>
                <a:uLnTx/>
                <a:uFillTx/>
                <a:latin typeface="+mn-lt"/>
                <a:cs typeface="+mn-cs"/>
              </a:rPr>
              <a:t>and </a:t>
            </a:r>
            <a:r>
              <a:rPr kumimoji="0" lang="en-US" sz="2000" b="0" i="0" u="none" strike="noStrike" kern="0" cap="none" spc="0" normalizeH="0" baseline="0" noProof="0" dirty="0" err="1" smtClean="0">
                <a:ln>
                  <a:noFill/>
                </a:ln>
                <a:solidFill>
                  <a:srgbClr val="0000FF"/>
                </a:solidFill>
                <a:effectLst/>
                <a:uLnTx/>
                <a:uFillTx/>
                <a:latin typeface="+mn-lt"/>
                <a:cs typeface="+mn-cs"/>
              </a:rPr>
              <a:t>surface_area</a:t>
            </a:r>
            <a:r>
              <a:rPr kumimoji="0" lang="en-US" sz="2000" b="0" i="0" u="none" strike="noStrike" kern="0" cap="none" spc="0" normalizeH="0" baseline="0" noProof="0" dirty="0" smtClean="0">
                <a:ln>
                  <a:noFill/>
                </a:ln>
                <a:solidFill>
                  <a:srgbClr val="0000FF"/>
                </a:solidFill>
                <a:effectLst/>
                <a:uLnTx/>
                <a:uFillTx/>
                <a:latin typeface="+mn-lt"/>
                <a:cs typeface="+mn-cs"/>
              </a:rPr>
              <a:t>(…) </a:t>
            </a:r>
            <a:r>
              <a:rPr kumimoji="0" lang="en-US" sz="2000" b="0" i="0" u="none" strike="noStrike" kern="0" cap="none" spc="0" normalizeH="0" baseline="0" noProof="0" dirty="0" smtClean="0">
                <a:ln>
                  <a:noFill/>
                </a:ln>
                <a:solidFill>
                  <a:schemeClr val="tx1"/>
                </a:solidFill>
                <a:effectLst/>
                <a:uLnTx/>
                <a:uFillTx/>
                <a:latin typeface="+mn-lt"/>
                <a:cs typeface="+mn-cs"/>
              </a:rPr>
              <a:t>to compute the volume and surface area of the </a:t>
            </a:r>
            <a:r>
              <a:rPr kumimoji="0" lang="en-US" sz="2000" b="0" i="0" u="none" strike="noStrike" kern="0" cap="none" spc="0" normalizeH="0" baseline="0" noProof="0" dirty="0" err="1" smtClean="0">
                <a:ln>
                  <a:noFill/>
                </a:ln>
                <a:solidFill>
                  <a:schemeClr val="tx1"/>
                </a:solidFill>
                <a:effectLst/>
                <a:uLnTx/>
                <a:uFillTx/>
                <a:latin typeface="+mn-lt"/>
                <a:cs typeface="+mn-cs"/>
              </a:rPr>
              <a:t>cuboid</a:t>
            </a:r>
            <a:r>
              <a:rPr kumimoji="0" lang="en-US" sz="2000" b="0" i="0" u="none" strike="noStrike" kern="0" cap="none" spc="0" normalizeH="0" baseline="0" noProof="0" dirty="0" smtClean="0">
                <a:ln>
                  <a:noFill/>
                </a:ln>
                <a:solidFill>
                  <a:schemeClr val="tx1"/>
                </a:solidFill>
                <a:effectLst/>
                <a:uLnTx/>
                <a:uFillTx/>
                <a:latin typeface="+mn-lt"/>
                <a:cs typeface="+mn-cs"/>
              </a:rPr>
              <a:t> separately.</a:t>
            </a:r>
          </a:p>
          <a:p>
            <a:pPr marL="742950" marR="0" lvl="1" indent="-285750" algn="l" defTabSz="914400" rtl="0" eaLnBrk="0" fontAlgn="base" latinLnBrk="0" hangingPunct="0">
              <a:lnSpc>
                <a:spcPct val="100000"/>
              </a:lnSpc>
              <a:spcBef>
                <a:spcPts val="600"/>
              </a:spcBef>
              <a:spcAft>
                <a:spcPct val="0"/>
              </a:spcAft>
              <a:buClr>
                <a:schemeClr val="accent2"/>
              </a:buClr>
              <a:buSzPct val="80000"/>
              <a:buFont typeface="Wingdings" pitchFamily="2" charset="2"/>
              <a:buChar char="¨"/>
              <a:tabLst/>
              <a:defRPr/>
            </a:pPr>
            <a:r>
              <a:rPr kumimoji="0" lang="en-US" sz="2000" b="0" i="0" u="none" strike="noStrike" kern="0" cap="none" spc="0" normalizeH="0" baseline="0" noProof="0" dirty="0" smtClean="0">
                <a:ln>
                  <a:noFill/>
                </a:ln>
                <a:solidFill>
                  <a:srgbClr val="0000FF"/>
                </a:solidFill>
                <a:effectLst/>
                <a:uLnTx/>
                <a:uFillTx/>
                <a:latin typeface="+mn-lt"/>
                <a:cs typeface="+mn-cs"/>
              </a:rPr>
              <a:t>Week6_Cuboid_v2.c</a:t>
            </a:r>
            <a:r>
              <a:rPr kumimoji="0" lang="en-US" sz="2000" b="0" i="0" u="none" strike="noStrike" kern="0" cap="none" spc="0" normalizeH="0" baseline="0" noProof="0" dirty="0" smtClean="0">
                <a:ln>
                  <a:noFill/>
                </a:ln>
                <a:solidFill>
                  <a:schemeClr val="tx1"/>
                </a:solidFill>
                <a:effectLst/>
                <a:uLnTx/>
                <a:uFillTx/>
                <a:latin typeface="+mn-lt"/>
                <a:cs typeface="+mn-cs"/>
              </a:rPr>
              <a:t>: Include</a:t>
            </a:r>
            <a:r>
              <a:rPr kumimoji="0" lang="en-US" sz="2000" b="0" i="0" u="none" strike="noStrike" kern="0" cap="none" spc="0" normalizeH="0" noProof="0" dirty="0" smtClean="0">
                <a:ln>
                  <a:noFill/>
                </a:ln>
                <a:solidFill>
                  <a:schemeClr val="tx1"/>
                </a:solidFill>
                <a:effectLst/>
                <a:uLnTx/>
                <a:uFillTx/>
                <a:latin typeface="+mn-lt"/>
                <a:cs typeface="+mn-cs"/>
              </a:rPr>
              <a:t> </a:t>
            </a:r>
            <a:r>
              <a:rPr kumimoji="0" lang="en-US" sz="2000" b="0" i="0" u="none" strike="noStrike" kern="0" cap="none" spc="0" normalizeH="0" baseline="0" noProof="0" dirty="0" smtClean="0">
                <a:ln>
                  <a:noFill/>
                </a:ln>
                <a:solidFill>
                  <a:schemeClr val="tx1"/>
                </a:solidFill>
                <a:effectLst/>
                <a:uLnTx/>
                <a:uFillTx/>
                <a:latin typeface="+mn-lt"/>
                <a:cs typeface="+mn-cs"/>
              </a:rPr>
              <a:t>a single function </a:t>
            </a:r>
            <a:r>
              <a:rPr kumimoji="0" lang="en-US" sz="2000" b="0" i="0" u="none" strike="noStrike" kern="0" cap="none" spc="0" normalizeH="0" baseline="0" noProof="0" dirty="0" err="1" smtClean="0">
                <a:ln>
                  <a:noFill/>
                </a:ln>
                <a:solidFill>
                  <a:srgbClr val="0000FF"/>
                </a:solidFill>
                <a:effectLst/>
                <a:uLnTx/>
                <a:uFillTx/>
                <a:latin typeface="+mn-lt"/>
                <a:cs typeface="+mn-cs"/>
              </a:rPr>
              <a:t>volume_and_surface_area</a:t>
            </a:r>
            <a:r>
              <a:rPr kumimoji="0" lang="en-US" sz="2000" b="0" i="0" u="none" strike="noStrike" kern="0" cap="none" spc="0" normalizeH="0" baseline="0" noProof="0" dirty="0" smtClean="0">
                <a:ln>
                  <a:noFill/>
                </a:ln>
                <a:solidFill>
                  <a:srgbClr val="0000FF"/>
                </a:solidFill>
                <a:effectLst/>
                <a:uLnTx/>
                <a:uFillTx/>
                <a:latin typeface="+mn-lt"/>
                <a:cs typeface="+mn-cs"/>
              </a:rPr>
              <a:t>(…) </a:t>
            </a:r>
            <a:r>
              <a:rPr kumimoji="0" lang="en-US" sz="2000" b="0" i="0" u="none" strike="noStrike" kern="0" cap="none" spc="0" normalizeH="0" baseline="0" noProof="0" dirty="0" smtClean="0">
                <a:ln>
                  <a:noFill/>
                </a:ln>
                <a:solidFill>
                  <a:schemeClr val="tx1"/>
                </a:solidFill>
                <a:effectLst/>
                <a:uLnTx/>
                <a:uFillTx/>
                <a:latin typeface="+mn-lt"/>
                <a:cs typeface="+mn-cs"/>
              </a:rPr>
              <a:t>to compute both the volume and surface area of the </a:t>
            </a:r>
            <a:r>
              <a:rPr kumimoji="0" lang="en-US" sz="2000" b="0" i="0" u="none" strike="noStrike" kern="0" cap="none" spc="0" normalizeH="0" baseline="0" noProof="0" dirty="0" err="1" smtClean="0">
                <a:ln>
                  <a:noFill/>
                </a:ln>
                <a:solidFill>
                  <a:schemeClr val="tx1"/>
                </a:solidFill>
                <a:effectLst/>
                <a:uLnTx/>
                <a:uFillTx/>
                <a:latin typeface="+mn-lt"/>
                <a:cs typeface="+mn-cs"/>
              </a:rPr>
              <a:t>cuboid</a:t>
            </a:r>
            <a:r>
              <a:rPr kumimoji="0" lang="en-US" sz="2000" b="0" i="0" u="none" strike="noStrike" kern="0" cap="none" spc="0" normalizeH="0" baseline="0" noProof="0" dirty="0" smtClean="0">
                <a:ln>
                  <a:noFill/>
                </a:ln>
                <a:solidFill>
                  <a:schemeClr val="tx1"/>
                </a:solidFill>
                <a:effectLst/>
                <a:uLnTx/>
                <a:uFillTx/>
                <a:latin typeface="+mn-lt"/>
                <a:cs typeface="+mn-cs"/>
              </a:rPr>
              <a:t>.</a:t>
            </a:r>
          </a:p>
          <a:p>
            <a:pPr marL="742950" marR="0" lvl="1" indent="-285750" algn="l" defTabSz="914400" rtl="0" eaLnBrk="0" fontAlgn="base" latinLnBrk="0" hangingPunct="0">
              <a:lnSpc>
                <a:spcPct val="100000"/>
              </a:lnSpc>
              <a:spcBef>
                <a:spcPts val="600"/>
              </a:spcBef>
              <a:spcAft>
                <a:spcPct val="0"/>
              </a:spcAft>
              <a:buClr>
                <a:schemeClr val="accent2"/>
              </a:buClr>
              <a:buSzPct val="80000"/>
              <a:buFont typeface="Wingdings" pitchFamily="2" charset="2"/>
              <a:buChar char="¨"/>
              <a:tabLst/>
              <a:defRPr/>
            </a:pPr>
            <a:r>
              <a:rPr lang="en-US" sz="2000" kern="0" dirty="0" smtClean="0">
                <a:latin typeface="+mn-lt"/>
                <a:cs typeface="+mn-cs"/>
              </a:rPr>
              <a:t>There should be </a:t>
            </a:r>
            <a:r>
              <a:rPr lang="en-US" sz="2000" u="sng" kern="0" dirty="0" smtClean="0">
                <a:latin typeface="+mn-lt"/>
                <a:cs typeface="+mn-cs"/>
              </a:rPr>
              <a:t>no </a:t>
            </a:r>
            <a:r>
              <a:rPr lang="en-US" sz="2000" u="sng" kern="0" dirty="0" err="1" smtClean="0">
                <a:latin typeface="+mn-lt"/>
                <a:cs typeface="+mn-cs"/>
              </a:rPr>
              <a:t>printf</a:t>
            </a:r>
            <a:r>
              <a:rPr lang="en-US" sz="2000" u="sng" kern="0" dirty="0" smtClean="0">
                <a:latin typeface="+mn-lt"/>
                <a:cs typeface="+mn-cs"/>
              </a:rPr>
              <a:t>() statement </a:t>
            </a:r>
            <a:r>
              <a:rPr lang="en-US" sz="2000" kern="0" dirty="0" smtClean="0">
                <a:latin typeface="+mn-lt"/>
                <a:cs typeface="+mn-cs"/>
              </a:rPr>
              <a:t>in your functions (apart from the main() function).</a:t>
            </a:r>
            <a:endParaRPr kumimoji="0" lang="en-US" sz="2000" b="0" i="0" u="none" strike="noStrike" kern="0" cap="none" spc="0" normalizeH="0" baseline="0" noProof="0" dirty="0" smtClean="0">
              <a:ln>
                <a:noFill/>
              </a:ln>
              <a:solidFill>
                <a:schemeClr val="tx1"/>
              </a:solidFill>
              <a:effectLst/>
              <a:uLnTx/>
              <a:uFillTx/>
              <a:latin typeface="+mn-lt"/>
              <a:cs typeface="+mn-cs"/>
            </a:endParaRPr>
          </a:p>
        </p:txBody>
      </p:sp>
    </p:spTree>
  </p:cSld>
  <p:clrMapOvr>
    <a:masterClrMapping/>
  </p:clrMapOvr>
  <p:transition>
    <p:fade/>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p:cNvSpPr>
            <a:spLocks noGrp="1"/>
          </p:cNvSpPr>
          <p:nvPr>
            <p:ph type="title"/>
          </p:nvPr>
        </p:nvSpPr>
        <p:spPr/>
        <p:txBody>
          <a:bodyPr/>
          <a:lstStyle/>
          <a:p>
            <a:r>
              <a:rPr lang="en-US" dirty="0" smtClean="0"/>
              <a:t>11. Ex #2: Volume, Surface Area (2/2)</a:t>
            </a:r>
          </a:p>
        </p:txBody>
      </p:sp>
      <p:sp>
        <p:nvSpPr>
          <p:cNvPr id="5" name="Slide Number Placeholder 4"/>
          <p:cNvSpPr>
            <a:spLocks noGrp="1"/>
          </p:cNvSpPr>
          <p:nvPr>
            <p:ph type="sldNum" sz="quarter" idx="12"/>
          </p:nvPr>
        </p:nvSpPr>
        <p:spPr/>
        <p:txBody>
          <a:bodyPr/>
          <a:lstStyle/>
          <a:p>
            <a:pPr>
              <a:defRPr/>
            </a:pPr>
            <a:r>
              <a:rPr smtClean="0"/>
              <a:t>Week6 - </a:t>
            </a:r>
            <a:fld id="{142D3637-33BE-40BB-9277-E7760FEB4F8D}" type="slidenum">
              <a:rPr smtClean="0"/>
              <a:pPr>
                <a:defRPr/>
              </a:pPr>
              <a:t>48</a:t>
            </a:fld>
            <a:endParaRPr/>
          </a:p>
        </p:txBody>
      </p:sp>
      <p:sp>
        <p:nvSpPr>
          <p:cNvPr id="40963" name="Content Placeholder 2"/>
          <p:cNvSpPr>
            <a:spLocks noGrp="1"/>
          </p:cNvSpPr>
          <p:nvPr>
            <p:ph sz="quarter" idx="1"/>
          </p:nvPr>
        </p:nvSpPr>
        <p:spPr>
          <a:xfrm>
            <a:off x="457200" y="1230489"/>
            <a:ext cx="8229600" cy="547511"/>
          </a:xfrm>
        </p:spPr>
        <p:txBody>
          <a:bodyPr/>
          <a:lstStyle/>
          <a:p>
            <a:pPr>
              <a:spcBef>
                <a:spcPts val="600"/>
              </a:spcBef>
            </a:pPr>
            <a:r>
              <a:rPr lang="en-US" dirty="0" smtClean="0">
                <a:solidFill>
                  <a:schemeClr val="tx1"/>
                </a:solidFill>
              </a:rPr>
              <a:t>Sample runs</a:t>
            </a:r>
          </a:p>
        </p:txBody>
      </p:sp>
      <p:sp>
        <p:nvSpPr>
          <p:cNvPr id="6" name="TextBox 5"/>
          <p:cNvSpPr txBox="1"/>
          <p:nvPr/>
        </p:nvSpPr>
        <p:spPr>
          <a:xfrm>
            <a:off x="1055714" y="1850990"/>
            <a:ext cx="7218856" cy="1015663"/>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defRPr/>
            </a:pPr>
            <a:r>
              <a:rPr lang="en-US" sz="2000" b="1" dirty="0" smtClean="0">
                <a:latin typeface="Courier New" pitchFamily="49" charset="0"/>
                <a:cs typeface="Courier New" pitchFamily="49" charset="0"/>
              </a:rPr>
              <a:t>Enter length, width and depth: </a:t>
            </a:r>
            <a:r>
              <a:rPr lang="en-US" sz="2000" b="1" dirty="0" smtClean="0">
                <a:solidFill>
                  <a:srgbClr val="0000FF"/>
                </a:solidFill>
                <a:latin typeface="Courier New" pitchFamily="49" charset="0"/>
                <a:cs typeface="Courier New" pitchFamily="49" charset="0"/>
              </a:rPr>
              <a:t>6 3 10</a:t>
            </a:r>
            <a:endParaRPr lang="en-US" sz="2000" b="1" dirty="0">
              <a:solidFill>
                <a:srgbClr val="0000FF"/>
              </a:solidFill>
              <a:latin typeface="Courier New" pitchFamily="49" charset="0"/>
              <a:cs typeface="Courier New" pitchFamily="49" charset="0"/>
            </a:endParaRPr>
          </a:p>
          <a:p>
            <a:pPr>
              <a:defRPr/>
            </a:pPr>
            <a:r>
              <a:rPr lang="en-US" sz="2000" b="1" dirty="0" smtClean="0">
                <a:latin typeface="Courier New" pitchFamily="49" charset="0"/>
                <a:cs typeface="Courier New" pitchFamily="49" charset="0"/>
              </a:rPr>
              <a:t>Volume = 180</a:t>
            </a:r>
          </a:p>
          <a:p>
            <a:pPr>
              <a:defRPr/>
            </a:pPr>
            <a:r>
              <a:rPr lang="en-US" sz="2000" b="1" dirty="0" smtClean="0">
                <a:latin typeface="Courier New" pitchFamily="49" charset="0"/>
                <a:cs typeface="Courier New" pitchFamily="49" charset="0"/>
              </a:rPr>
              <a:t>Surface area = 216</a:t>
            </a:r>
          </a:p>
        </p:txBody>
      </p:sp>
      <p:sp>
        <p:nvSpPr>
          <p:cNvPr id="7" name="TextBox 6"/>
          <p:cNvSpPr txBox="1"/>
          <p:nvPr/>
        </p:nvSpPr>
        <p:spPr>
          <a:xfrm>
            <a:off x="1043222" y="3217593"/>
            <a:ext cx="7218856" cy="1015663"/>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defRPr/>
            </a:pPr>
            <a:r>
              <a:rPr lang="en-US" sz="2000" b="1" dirty="0" smtClean="0">
                <a:latin typeface="Courier New" pitchFamily="49" charset="0"/>
                <a:cs typeface="Courier New" pitchFamily="49" charset="0"/>
              </a:rPr>
              <a:t>Enter length, width and depth: </a:t>
            </a:r>
            <a:r>
              <a:rPr lang="en-US" sz="2000" b="1" dirty="0" smtClean="0">
                <a:solidFill>
                  <a:srgbClr val="0000FF"/>
                </a:solidFill>
                <a:latin typeface="Courier New" pitchFamily="49" charset="0"/>
                <a:cs typeface="Courier New" pitchFamily="49" charset="0"/>
              </a:rPr>
              <a:t>15 14 12</a:t>
            </a:r>
            <a:endParaRPr lang="en-US" sz="2000" b="1" dirty="0">
              <a:solidFill>
                <a:srgbClr val="0000FF"/>
              </a:solidFill>
              <a:latin typeface="Courier New" pitchFamily="49" charset="0"/>
              <a:cs typeface="Courier New" pitchFamily="49" charset="0"/>
            </a:endParaRPr>
          </a:p>
          <a:p>
            <a:pPr>
              <a:defRPr/>
            </a:pPr>
            <a:r>
              <a:rPr lang="en-US" sz="2000" b="1" dirty="0" smtClean="0">
                <a:latin typeface="Courier New" pitchFamily="49" charset="0"/>
                <a:cs typeface="Courier New" pitchFamily="49" charset="0"/>
              </a:rPr>
              <a:t>Volume = 2520</a:t>
            </a:r>
          </a:p>
          <a:p>
            <a:pPr>
              <a:defRPr/>
            </a:pPr>
            <a:r>
              <a:rPr lang="en-US" sz="2000" b="1" dirty="0" smtClean="0">
                <a:latin typeface="Courier New" pitchFamily="49" charset="0"/>
                <a:cs typeface="Courier New" pitchFamily="49" charset="0"/>
              </a:rPr>
              <a:t>Surface area = 1116</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dissolve">
                                      <p:cBhvr>
                                        <p:cTn id="1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p:cNvSpPr>
            <a:spLocks noGrp="1"/>
          </p:cNvSpPr>
          <p:nvPr>
            <p:ph type="title"/>
          </p:nvPr>
        </p:nvSpPr>
        <p:spPr/>
        <p:txBody>
          <a:bodyPr>
            <a:normAutofit fontScale="90000"/>
          </a:bodyPr>
          <a:lstStyle/>
          <a:p>
            <a:r>
              <a:rPr lang="en-US" sz="3200" dirty="0" smtClean="0"/>
              <a:t>12. Ex #3: Triangle </a:t>
            </a:r>
            <a:r>
              <a:rPr lang="en-US" sz="3200" dirty="0" err="1" smtClean="0"/>
              <a:t>Centroid</a:t>
            </a:r>
            <a:r>
              <a:rPr lang="en-US" sz="3200" dirty="0" smtClean="0"/>
              <a:t> (Take-home) (1/2)</a:t>
            </a:r>
          </a:p>
        </p:txBody>
      </p:sp>
      <p:sp>
        <p:nvSpPr>
          <p:cNvPr id="5" name="Slide Number Placeholder 4"/>
          <p:cNvSpPr>
            <a:spLocks noGrp="1"/>
          </p:cNvSpPr>
          <p:nvPr>
            <p:ph type="sldNum" sz="quarter" idx="12"/>
          </p:nvPr>
        </p:nvSpPr>
        <p:spPr/>
        <p:txBody>
          <a:bodyPr/>
          <a:lstStyle/>
          <a:p>
            <a:pPr>
              <a:defRPr/>
            </a:pPr>
            <a:r>
              <a:rPr smtClean="0"/>
              <a:t>Week6 - </a:t>
            </a:r>
            <a:fld id="{142D3637-33BE-40BB-9277-E7760FEB4F8D}" type="slidenum">
              <a:rPr smtClean="0"/>
              <a:pPr>
                <a:defRPr/>
              </a:pPr>
              <a:t>49</a:t>
            </a:fld>
            <a:endParaRPr/>
          </a:p>
        </p:txBody>
      </p:sp>
      <p:sp>
        <p:nvSpPr>
          <p:cNvPr id="40963" name="Content Placeholder 2"/>
          <p:cNvSpPr>
            <a:spLocks noGrp="1"/>
          </p:cNvSpPr>
          <p:nvPr>
            <p:ph sz="quarter" idx="1"/>
          </p:nvPr>
        </p:nvSpPr>
        <p:spPr>
          <a:xfrm>
            <a:off x="457200" y="1230489"/>
            <a:ext cx="5219700" cy="2084211"/>
          </a:xfrm>
        </p:spPr>
        <p:txBody>
          <a:bodyPr/>
          <a:lstStyle/>
          <a:p>
            <a:pPr>
              <a:spcBef>
                <a:spcPts val="600"/>
              </a:spcBef>
            </a:pPr>
            <a:r>
              <a:rPr lang="en-US" sz="2000" dirty="0" smtClean="0">
                <a:solidFill>
                  <a:schemeClr val="tx1"/>
                </a:solidFill>
              </a:rPr>
              <a:t>In a triangle, a </a:t>
            </a:r>
            <a:r>
              <a:rPr lang="en-US" sz="2000" dirty="0" smtClean="0"/>
              <a:t>median</a:t>
            </a:r>
            <a:r>
              <a:rPr lang="en-US" sz="2000" dirty="0" smtClean="0">
                <a:solidFill>
                  <a:schemeClr val="tx1"/>
                </a:solidFill>
              </a:rPr>
              <a:t> is a line that connects a vertex to the midpoint of its opposite side. (</a:t>
            </a:r>
            <a:r>
              <a:rPr lang="en-US" sz="2000" dirty="0" err="1" smtClean="0">
                <a:solidFill>
                  <a:schemeClr val="tx1"/>
                </a:solidFill>
              </a:rPr>
              <a:t>eg</a:t>
            </a:r>
            <a:r>
              <a:rPr lang="en-US" sz="2000" dirty="0" smtClean="0">
                <a:solidFill>
                  <a:schemeClr val="tx1"/>
                </a:solidFill>
              </a:rPr>
              <a:t>: blue dotted lines)</a:t>
            </a:r>
          </a:p>
          <a:p>
            <a:pPr>
              <a:spcBef>
                <a:spcPts val="600"/>
              </a:spcBef>
            </a:pPr>
            <a:r>
              <a:rPr lang="en-US" sz="2000" dirty="0" smtClean="0">
                <a:solidFill>
                  <a:schemeClr val="tx1"/>
                </a:solidFill>
              </a:rPr>
              <a:t>The intersection of the 3 medians is called the </a:t>
            </a:r>
            <a:r>
              <a:rPr lang="en-US" sz="2000" dirty="0" err="1" smtClean="0"/>
              <a:t>centroid</a:t>
            </a:r>
            <a:r>
              <a:rPr lang="en-US" sz="2000" dirty="0" smtClean="0">
                <a:solidFill>
                  <a:schemeClr val="tx1"/>
                </a:solidFill>
              </a:rPr>
              <a:t>. (</a:t>
            </a:r>
            <a:r>
              <a:rPr lang="en-US" sz="2000" dirty="0" err="1" smtClean="0">
                <a:solidFill>
                  <a:schemeClr val="tx1"/>
                </a:solidFill>
              </a:rPr>
              <a:t>eg</a:t>
            </a:r>
            <a:r>
              <a:rPr lang="en-US" sz="2000" dirty="0" smtClean="0">
                <a:solidFill>
                  <a:schemeClr val="tx1"/>
                </a:solidFill>
              </a:rPr>
              <a:t>: point </a:t>
            </a:r>
            <a:r>
              <a:rPr lang="en-US" sz="2000" i="1" dirty="0" smtClean="0">
                <a:solidFill>
                  <a:schemeClr val="tx1"/>
                </a:solidFill>
              </a:rPr>
              <a:t>G</a:t>
            </a:r>
            <a:r>
              <a:rPr lang="en-US" sz="2000" dirty="0" smtClean="0">
                <a:solidFill>
                  <a:schemeClr val="tx1"/>
                </a:solidFill>
              </a:rPr>
              <a:t>)</a:t>
            </a:r>
          </a:p>
        </p:txBody>
      </p:sp>
      <p:grpSp>
        <p:nvGrpSpPr>
          <p:cNvPr id="22" name="Group 21"/>
          <p:cNvGrpSpPr/>
          <p:nvPr/>
        </p:nvGrpSpPr>
        <p:grpSpPr>
          <a:xfrm>
            <a:off x="4711700" y="1155700"/>
            <a:ext cx="4152901" cy="2284035"/>
            <a:chOff x="3291668" y="2603500"/>
            <a:chExt cx="4504841" cy="2477597"/>
          </a:xfrm>
        </p:grpSpPr>
        <p:sp>
          <p:nvSpPr>
            <p:cNvPr id="8" name="Isosceles Triangle 7"/>
            <p:cNvSpPr/>
            <p:nvPr/>
          </p:nvSpPr>
          <p:spPr bwMode="auto">
            <a:xfrm>
              <a:off x="3873500" y="2946400"/>
              <a:ext cx="3403600" cy="1765300"/>
            </a:xfrm>
            <a:prstGeom prst="triangle">
              <a:avLst>
                <a:gd name="adj" fmla="val 23529"/>
              </a:avLst>
            </a:prstGeom>
            <a:solidFill>
              <a:srgbClr val="FFFF99"/>
            </a:solidFill>
            <a:ln w="28575" cap="sq"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SG" sz="1800" b="0" i="0" u="none" strike="noStrike" cap="none" normalizeH="0" baseline="0" smtClean="0">
                <a:ln>
                  <a:noFill/>
                </a:ln>
                <a:solidFill>
                  <a:schemeClr val="tx1"/>
                </a:solidFill>
                <a:effectLst/>
                <a:latin typeface="Arial" charset="0"/>
                <a:cs typeface="Arial" charset="0"/>
              </a:endParaRPr>
            </a:p>
          </p:txBody>
        </p:sp>
        <p:cxnSp>
          <p:nvCxnSpPr>
            <p:cNvPr id="10" name="Straight Connector 9"/>
            <p:cNvCxnSpPr>
              <a:stCxn id="8" idx="0"/>
            </p:cNvCxnSpPr>
            <p:nvPr/>
          </p:nvCxnSpPr>
          <p:spPr bwMode="auto">
            <a:xfrm>
              <a:off x="4674333" y="2946400"/>
              <a:ext cx="875567" cy="1752600"/>
            </a:xfrm>
            <a:prstGeom prst="line">
              <a:avLst/>
            </a:prstGeom>
            <a:solidFill>
              <a:schemeClr val="accent1"/>
            </a:solidFill>
            <a:ln w="19050" cap="sq" cmpd="sng" algn="ctr">
              <a:solidFill>
                <a:srgbClr val="0000FF"/>
              </a:solidFill>
              <a:prstDash val="dash"/>
              <a:round/>
              <a:headEnd type="none" w="sm" len="sm"/>
              <a:tailEnd type="none" w="sm" len="sm"/>
            </a:ln>
            <a:effectLst/>
          </p:spPr>
        </p:cxnSp>
        <p:cxnSp>
          <p:nvCxnSpPr>
            <p:cNvPr id="12" name="Straight Connector 11"/>
            <p:cNvCxnSpPr>
              <a:stCxn id="8" idx="2"/>
              <a:endCxn id="8" idx="5"/>
            </p:cNvCxnSpPr>
            <p:nvPr/>
          </p:nvCxnSpPr>
          <p:spPr bwMode="auto">
            <a:xfrm flipV="1">
              <a:off x="3873500" y="3829050"/>
              <a:ext cx="2102217" cy="882650"/>
            </a:xfrm>
            <a:prstGeom prst="line">
              <a:avLst/>
            </a:prstGeom>
            <a:solidFill>
              <a:schemeClr val="accent1"/>
            </a:solidFill>
            <a:ln w="19050" cap="sq" cmpd="sng" algn="ctr">
              <a:solidFill>
                <a:srgbClr val="0000FF"/>
              </a:solidFill>
              <a:prstDash val="dash"/>
              <a:round/>
              <a:headEnd type="none" w="sm" len="sm"/>
              <a:tailEnd type="none" w="sm" len="sm"/>
            </a:ln>
            <a:effectLst/>
          </p:spPr>
        </p:cxnSp>
        <p:cxnSp>
          <p:nvCxnSpPr>
            <p:cNvPr id="14" name="Straight Connector 13"/>
            <p:cNvCxnSpPr>
              <a:stCxn id="8" idx="4"/>
              <a:endCxn id="8" idx="1"/>
            </p:cNvCxnSpPr>
            <p:nvPr/>
          </p:nvCxnSpPr>
          <p:spPr bwMode="auto">
            <a:xfrm flipH="1" flipV="1">
              <a:off x="4273917" y="3829050"/>
              <a:ext cx="3003183" cy="882650"/>
            </a:xfrm>
            <a:prstGeom prst="line">
              <a:avLst/>
            </a:prstGeom>
            <a:solidFill>
              <a:schemeClr val="accent1"/>
            </a:solidFill>
            <a:ln w="19050" cap="sq" cmpd="sng" algn="ctr">
              <a:solidFill>
                <a:srgbClr val="0000FF"/>
              </a:solidFill>
              <a:prstDash val="dash"/>
              <a:round/>
              <a:headEnd type="none" w="sm" len="sm"/>
              <a:tailEnd type="none" w="sm" len="sm"/>
            </a:ln>
            <a:effectLst/>
          </p:spPr>
        </p:cxnSp>
        <p:sp>
          <p:nvSpPr>
            <p:cNvPr id="17" name="TextBox 16"/>
            <p:cNvSpPr txBox="1"/>
            <p:nvPr/>
          </p:nvSpPr>
          <p:spPr>
            <a:xfrm>
              <a:off x="4152900" y="2603500"/>
              <a:ext cx="1168400" cy="338554"/>
            </a:xfrm>
            <a:prstGeom prst="rect">
              <a:avLst/>
            </a:prstGeom>
            <a:noFill/>
          </p:spPr>
          <p:txBody>
            <a:bodyPr wrap="square" rtlCol="0">
              <a:spAutoFit/>
            </a:bodyPr>
            <a:lstStyle/>
            <a:p>
              <a:pPr algn="ctr"/>
              <a:r>
                <a:rPr lang="en-US" sz="1600" i="1" dirty="0" smtClean="0"/>
                <a:t>P</a:t>
              </a:r>
              <a:r>
                <a:rPr lang="en-US" sz="1600" dirty="0" smtClean="0"/>
                <a:t> (</a:t>
              </a:r>
              <a:r>
                <a:rPr lang="en-US" sz="1600" i="1" dirty="0" smtClean="0"/>
                <a:t>x</a:t>
              </a:r>
              <a:r>
                <a:rPr lang="en-US" sz="1600" baseline="-25000" dirty="0" smtClean="0"/>
                <a:t>1</a:t>
              </a:r>
              <a:r>
                <a:rPr lang="en-US" sz="1600" dirty="0" smtClean="0"/>
                <a:t>, </a:t>
              </a:r>
              <a:r>
                <a:rPr lang="en-US" sz="1600" i="1" dirty="0" smtClean="0"/>
                <a:t>y</a:t>
              </a:r>
              <a:r>
                <a:rPr lang="en-US" sz="1600" baseline="-25000" dirty="0" smtClean="0"/>
                <a:t>1</a:t>
              </a:r>
              <a:r>
                <a:rPr lang="en-US" sz="1600" dirty="0" smtClean="0"/>
                <a:t>)</a:t>
              </a:r>
              <a:endParaRPr lang="en-SG" sz="1600" dirty="0"/>
            </a:p>
          </p:txBody>
        </p:sp>
        <p:sp>
          <p:nvSpPr>
            <p:cNvPr id="18" name="TextBox 17"/>
            <p:cNvSpPr txBox="1"/>
            <p:nvPr/>
          </p:nvSpPr>
          <p:spPr>
            <a:xfrm>
              <a:off x="3291668" y="4713852"/>
              <a:ext cx="1113295" cy="367245"/>
            </a:xfrm>
            <a:prstGeom prst="rect">
              <a:avLst/>
            </a:prstGeom>
            <a:noFill/>
          </p:spPr>
          <p:txBody>
            <a:bodyPr wrap="square" rtlCol="0">
              <a:spAutoFit/>
            </a:bodyPr>
            <a:lstStyle/>
            <a:p>
              <a:pPr algn="ctr"/>
              <a:r>
                <a:rPr lang="en-US" sz="1600" i="1" dirty="0" smtClean="0"/>
                <a:t>Q</a:t>
              </a:r>
              <a:r>
                <a:rPr lang="en-US" sz="1600" dirty="0" smtClean="0"/>
                <a:t> (</a:t>
              </a:r>
              <a:r>
                <a:rPr lang="en-US" sz="1600" i="1" dirty="0" smtClean="0"/>
                <a:t>x</a:t>
              </a:r>
              <a:r>
                <a:rPr lang="en-US" sz="1600" baseline="-25000" dirty="0" smtClean="0"/>
                <a:t>2</a:t>
              </a:r>
              <a:r>
                <a:rPr lang="en-US" sz="1600" dirty="0" smtClean="0"/>
                <a:t>, </a:t>
              </a:r>
              <a:r>
                <a:rPr lang="en-US" sz="1600" i="1" dirty="0" smtClean="0"/>
                <a:t>y</a:t>
              </a:r>
              <a:r>
                <a:rPr lang="en-US" sz="1600" baseline="-25000" dirty="0" smtClean="0"/>
                <a:t>2</a:t>
              </a:r>
              <a:r>
                <a:rPr lang="en-US" sz="1600" dirty="0" smtClean="0"/>
                <a:t>)</a:t>
              </a:r>
              <a:endParaRPr lang="en-SG" sz="1600" dirty="0"/>
            </a:p>
          </p:txBody>
        </p:sp>
        <p:sp>
          <p:nvSpPr>
            <p:cNvPr id="19" name="TextBox 18"/>
            <p:cNvSpPr txBox="1"/>
            <p:nvPr/>
          </p:nvSpPr>
          <p:spPr>
            <a:xfrm>
              <a:off x="6708183" y="4699000"/>
              <a:ext cx="1088326" cy="367245"/>
            </a:xfrm>
            <a:prstGeom prst="rect">
              <a:avLst/>
            </a:prstGeom>
            <a:noFill/>
          </p:spPr>
          <p:txBody>
            <a:bodyPr wrap="square" rtlCol="0">
              <a:spAutoFit/>
            </a:bodyPr>
            <a:lstStyle/>
            <a:p>
              <a:pPr algn="ctr"/>
              <a:r>
                <a:rPr lang="en-US" sz="1600" i="1" dirty="0" smtClean="0"/>
                <a:t>R</a:t>
              </a:r>
              <a:r>
                <a:rPr lang="en-US" sz="1600" dirty="0" smtClean="0"/>
                <a:t> (</a:t>
              </a:r>
              <a:r>
                <a:rPr lang="en-US" sz="1600" i="1" dirty="0" smtClean="0"/>
                <a:t>x</a:t>
              </a:r>
              <a:r>
                <a:rPr lang="en-US" sz="1600" baseline="-25000" dirty="0" smtClean="0"/>
                <a:t>3</a:t>
              </a:r>
              <a:r>
                <a:rPr lang="en-US" sz="1600" dirty="0" smtClean="0"/>
                <a:t>, </a:t>
              </a:r>
              <a:r>
                <a:rPr lang="en-US" sz="1600" i="1" dirty="0" smtClean="0"/>
                <a:t>y</a:t>
              </a:r>
              <a:r>
                <a:rPr lang="en-US" sz="1600" baseline="-25000" dirty="0" smtClean="0"/>
                <a:t>3</a:t>
              </a:r>
              <a:r>
                <a:rPr lang="en-US" sz="1600" dirty="0" smtClean="0"/>
                <a:t>)</a:t>
              </a:r>
              <a:endParaRPr lang="en-SG" sz="1600" dirty="0"/>
            </a:p>
          </p:txBody>
        </p:sp>
        <p:sp>
          <p:nvSpPr>
            <p:cNvPr id="20" name="TextBox 19"/>
            <p:cNvSpPr txBox="1"/>
            <p:nvPr/>
          </p:nvSpPr>
          <p:spPr>
            <a:xfrm>
              <a:off x="5143500" y="3733800"/>
              <a:ext cx="520700" cy="342900"/>
            </a:xfrm>
            <a:prstGeom prst="rect">
              <a:avLst/>
            </a:prstGeom>
            <a:noFill/>
          </p:spPr>
          <p:txBody>
            <a:bodyPr wrap="square" rtlCol="0">
              <a:spAutoFit/>
            </a:bodyPr>
            <a:lstStyle/>
            <a:p>
              <a:pPr algn="ctr"/>
              <a:r>
                <a:rPr lang="en-US" sz="1600" i="1" dirty="0" smtClean="0">
                  <a:solidFill>
                    <a:srgbClr val="FF0000"/>
                  </a:solidFill>
                </a:rPr>
                <a:t>G</a:t>
              </a:r>
              <a:endParaRPr lang="en-SG" sz="1600" dirty="0">
                <a:solidFill>
                  <a:srgbClr val="FF0000"/>
                </a:solidFill>
              </a:endParaRPr>
            </a:p>
          </p:txBody>
        </p:sp>
        <p:sp>
          <p:nvSpPr>
            <p:cNvPr id="21" name="Oval 20"/>
            <p:cNvSpPr/>
            <p:nvPr/>
          </p:nvSpPr>
          <p:spPr bwMode="auto">
            <a:xfrm>
              <a:off x="5194300" y="4076700"/>
              <a:ext cx="114300" cy="101600"/>
            </a:xfrm>
            <a:prstGeom prst="ellipse">
              <a:avLst/>
            </a:prstGeom>
            <a:solidFill>
              <a:srgbClr val="FF0000"/>
            </a:solidFill>
            <a:ln w="12700" cap="sq" cmpd="sng" algn="ctr">
              <a:solidFill>
                <a:srgbClr val="FF0000"/>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SG" sz="1800" b="0" i="0" u="none" strike="noStrike" cap="none" normalizeH="0" baseline="0" smtClean="0">
                <a:ln>
                  <a:noFill/>
                </a:ln>
                <a:solidFill>
                  <a:schemeClr val="tx1"/>
                </a:solidFill>
                <a:effectLst/>
                <a:latin typeface="Arial" charset="0"/>
                <a:cs typeface="Arial" charset="0"/>
              </a:endParaRPr>
            </a:p>
          </p:txBody>
        </p:sp>
      </p:grpSp>
      <p:sp>
        <p:nvSpPr>
          <p:cNvPr id="23" name="Content Placeholder 2"/>
          <p:cNvSpPr txBox="1">
            <a:spLocks/>
          </p:cNvSpPr>
          <p:nvPr/>
        </p:nvSpPr>
        <p:spPr bwMode="auto">
          <a:xfrm>
            <a:off x="457200" y="3677265"/>
            <a:ext cx="8153400" cy="270150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marR="0" lvl="0" indent="-342900" algn="l" defTabSz="914400" rtl="0" eaLnBrk="0" fontAlgn="base" latinLnBrk="0" hangingPunct="0">
              <a:lnSpc>
                <a:spcPct val="100000"/>
              </a:lnSpc>
              <a:spcBef>
                <a:spcPts val="600"/>
              </a:spcBef>
              <a:spcAft>
                <a:spcPct val="0"/>
              </a:spcAft>
              <a:buClr>
                <a:schemeClr val="bg2"/>
              </a:buClr>
              <a:buSzPct val="75000"/>
              <a:buFont typeface="Wingdings" pitchFamily="2" charset="2"/>
              <a:buChar char="n"/>
              <a:tabLst/>
              <a:defRPr/>
            </a:pPr>
            <a:r>
              <a:rPr kumimoji="0" lang="en-US" sz="2000" b="0" i="0" u="none" strike="noStrike" kern="0" cap="none" spc="0" normalizeH="0" baseline="0" noProof="0" dirty="0" smtClean="0">
                <a:ln>
                  <a:noFill/>
                </a:ln>
                <a:solidFill>
                  <a:schemeClr val="tx1"/>
                </a:solidFill>
                <a:effectLst/>
                <a:uLnTx/>
                <a:uFillTx/>
                <a:latin typeface="+mn-lt"/>
                <a:ea typeface="+mn-ea"/>
                <a:cs typeface="+mn-cs"/>
              </a:rPr>
              <a:t>Write a program</a:t>
            </a:r>
            <a:r>
              <a:rPr kumimoji="0" lang="en-US" sz="2000" b="0" i="0" u="none" strike="noStrike" kern="0" cap="none" spc="0" normalizeH="0" noProof="0" dirty="0" smtClean="0">
                <a:ln>
                  <a:noFill/>
                </a:ln>
                <a:solidFill>
                  <a:schemeClr val="tx1"/>
                </a:solidFill>
                <a:effectLst/>
                <a:uLnTx/>
                <a:uFillTx/>
                <a:latin typeface="+mn-lt"/>
                <a:ea typeface="+mn-ea"/>
                <a:cs typeface="+mn-cs"/>
              </a:rPr>
              <a:t> </a:t>
            </a:r>
            <a:r>
              <a:rPr kumimoji="0" lang="en-US" sz="2000" b="0" i="0" u="none" strike="noStrike" kern="0" cap="none" spc="0" normalizeH="0" noProof="0" dirty="0" smtClean="0">
                <a:ln>
                  <a:noFill/>
                </a:ln>
                <a:solidFill>
                  <a:srgbClr val="0000FF"/>
                </a:solidFill>
                <a:effectLst/>
                <a:uLnTx/>
                <a:uFillTx/>
                <a:latin typeface="+mn-lt"/>
                <a:ea typeface="+mn-ea"/>
                <a:cs typeface="+mn-cs"/>
              </a:rPr>
              <a:t>Week6_Centroid.c </a:t>
            </a:r>
            <a:r>
              <a:rPr kumimoji="0" lang="en-US" sz="2000" b="0" i="0" u="none" strike="noStrike" kern="0" cap="none" spc="0" normalizeH="0" noProof="0" dirty="0" smtClean="0">
                <a:ln>
                  <a:noFill/>
                </a:ln>
                <a:solidFill>
                  <a:schemeClr val="tx1"/>
                </a:solidFill>
                <a:effectLst/>
                <a:uLnTx/>
                <a:uFillTx/>
                <a:latin typeface="+mn-lt"/>
                <a:ea typeface="+mn-ea"/>
                <a:cs typeface="+mn-cs"/>
              </a:rPr>
              <a:t>to read in the coordinates (of type float) of 3 vertices of a triangle and compute the coordinates of its </a:t>
            </a:r>
            <a:r>
              <a:rPr kumimoji="0" lang="en-US" sz="2000" b="0" i="0" u="none" strike="noStrike" kern="0" cap="none" spc="0" normalizeH="0" noProof="0" dirty="0" err="1" smtClean="0">
                <a:ln>
                  <a:noFill/>
                </a:ln>
                <a:solidFill>
                  <a:schemeClr val="tx1"/>
                </a:solidFill>
                <a:effectLst/>
                <a:uLnTx/>
                <a:uFillTx/>
                <a:latin typeface="+mn-lt"/>
                <a:ea typeface="+mn-ea"/>
                <a:cs typeface="+mn-cs"/>
              </a:rPr>
              <a:t>centroid</a:t>
            </a:r>
            <a:r>
              <a:rPr kumimoji="0" lang="en-US" sz="2000" b="0" i="0" u="none" strike="noStrike" kern="0" cap="none" spc="0" normalizeH="0" noProof="0" dirty="0" smtClean="0">
                <a:ln>
                  <a:noFill/>
                </a:ln>
                <a:solidFill>
                  <a:schemeClr val="tx1"/>
                </a:solidFill>
                <a:effectLst/>
                <a:uLnTx/>
                <a:uFillTx/>
                <a:latin typeface="+mn-lt"/>
                <a:ea typeface="+mn-ea"/>
                <a:cs typeface="+mn-cs"/>
              </a:rPr>
              <a:t>.</a:t>
            </a:r>
          </a:p>
          <a:p>
            <a:pPr marL="342900" marR="0" lvl="0" indent="-342900" algn="l" defTabSz="914400" rtl="0" eaLnBrk="0" fontAlgn="base" latinLnBrk="0" hangingPunct="0">
              <a:lnSpc>
                <a:spcPct val="100000"/>
              </a:lnSpc>
              <a:spcBef>
                <a:spcPts val="600"/>
              </a:spcBef>
              <a:spcAft>
                <a:spcPct val="0"/>
              </a:spcAft>
              <a:buClr>
                <a:schemeClr val="bg2"/>
              </a:buClr>
              <a:buSzPct val="75000"/>
              <a:buFont typeface="Wingdings" pitchFamily="2" charset="2"/>
              <a:buChar char="n"/>
              <a:tabLst/>
              <a:defRPr/>
            </a:pPr>
            <a:r>
              <a:rPr lang="en-US" sz="2000" kern="0" dirty="0" smtClean="0">
                <a:latin typeface="+mn-lt"/>
                <a:cs typeface="+mn-cs"/>
              </a:rPr>
              <a:t>Your program should have a function </a:t>
            </a:r>
            <a:r>
              <a:rPr lang="en-US" sz="2000" kern="0" dirty="0" err="1" smtClean="0">
                <a:solidFill>
                  <a:srgbClr val="0000FF"/>
                </a:solidFill>
                <a:latin typeface="+mn-lt"/>
                <a:cs typeface="+mn-cs"/>
              </a:rPr>
              <a:t>centroid</a:t>
            </a:r>
            <a:r>
              <a:rPr lang="en-US" sz="2000" kern="0" dirty="0" smtClean="0">
                <a:solidFill>
                  <a:srgbClr val="0000FF"/>
                </a:solidFill>
                <a:latin typeface="+mn-lt"/>
                <a:cs typeface="+mn-cs"/>
              </a:rPr>
              <a:t>(…)</a:t>
            </a:r>
            <a:r>
              <a:rPr lang="en-US" sz="2000" kern="0" dirty="0" smtClean="0">
                <a:latin typeface="+mn-lt"/>
                <a:cs typeface="+mn-cs"/>
              </a:rPr>
              <a:t>.</a:t>
            </a:r>
          </a:p>
          <a:p>
            <a:pPr marL="800100" lvl="1" indent="-342900" eaLnBrk="0" hangingPunct="0">
              <a:spcBef>
                <a:spcPts val="0"/>
              </a:spcBef>
              <a:buClr>
                <a:schemeClr val="bg2"/>
              </a:buClr>
              <a:buSzPct val="75000"/>
              <a:buFont typeface="Wingdings" pitchFamily="2" charset="2"/>
              <a:buChar char="n"/>
            </a:pPr>
            <a:r>
              <a:rPr kumimoji="0" lang="en-US" b="0" i="0" u="none" strike="noStrike" kern="0" cap="none" spc="0" normalizeH="0" baseline="0" noProof="0" dirty="0" smtClean="0">
                <a:ln>
                  <a:noFill/>
                </a:ln>
                <a:solidFill>
                  <a:schemeClr val="tx1"/>
                </a:solidFill>
                <a:effectLst/>
                <a:uLnTx/>
                <a:uFillTx/>
                <a:latin typeface="+mn-lt"/>
                <a:ea typeface="+mn-ea"/>
                <a:cs typeface="+mn-cs"/>
              </a:rPr>
              <a:t>There should be </a:t>
            </a:r>
            <a:r>
              <a:rPr kumimoji="0" lang="en-US" b="0" i="0" u="sng" strike="noStrike" kern="0" cap="none" spc="0" normalizeH="0" baseline="0" noProof="0" dirty="0" smtClean="0">
                <a:ln>
                  <a:noFill/>
                </a:ln>
                <a:solidFill>
                  <a:schemeClr val="tx1"/>
                </a:solidFill>
                <a:effectLst/>
                <a:uLnTx/>
                <a:uFillTx/>
                <a:latin typeface="+mn-lt"/>
                <a:ea typeface="+mn-ea"/>
                <a:cs typeface="+mn-cs"/>
              </a:rPr>
              <a:t>no </a:t>
            </a:r>
            <a:r>
              <a:rPr kumimoji="0" lang="en-US" b="0" i="0" u="sng" strike="noStrike" kern="0" cap="none" spc="0" normalizeH="0" baseline="0" noProof="0" dirty="0" err="1" smtClean="0">
                <a:ln>
                  <a:noFill/>
                </a:ln>
                <a:solidFill>
                  <a:schemeClr val="tx1"/>
                </a:solidFill>
                <a:effectLst/>
                <a:uLnTx/>
                <a:uFillTx/>
                <a:latin typeface="+mn-lt"/>
                <a:ea typeface="+mn-ea"/>
                <a:cs typeface="+mn-cs"/>
              </a:rPr>
              <a:t>printf</a:t>
            </a:r>
            <a:r>
              <a:rPr kumimoji="0" lang="en-US" b="0" i="0" u="sng" strike="noStrike" kern="0" cap="none" spc="0" normalizeH="0" baseline="0" noProof="0" dirty="0" smtClean="0">
                <a:ln>
                  <a:noFill/>
                </a:ln>
                <a:solidFill>
                  <a:schemeClr val="tx1"/>
                </a:solidFill>
                <a:effectLst/>
                <a:uLnTx/>
                <a:uFillTx/>
                <a:latin typeface="+mn-lt"/>
                <a:ea typeface="+mn-ea"/>
                <a:cs typeface="+mn-cs"/>
              </a:rPr>
              <a:t>() statement </a:t>
            </a:r>
            <a:r>
              <a:rPr kumimoji="0" lang="en-US" b="0" i="0" u="none" strike="noStrike" kern="0" cap="none" spc="0" normalizeH="0" baseline="0" noProof="0" dirty="0" smtClean="0">
                <a:ln>
                  <a:noFill/>
                </a:ln>
                <a:solidFill>
                  <a:schemeClr val="tx1"/>
                </a:solidFill>
                <a:effectLst/>
                <a:uLnTx/>
                <a:uFillTx/>
                <a:latin typeface="+mn-lt"/>
                <a:ea typeface="+mn-ea"/>
                <a:cs typeface="+mn-cs"/>
              </a:rPr>
              <a:t>in this </a:t>
            </a:r>
            <a:r>
              <a:rPr kumimoji="0" lang="en-US" b="0" i="0" u="none" strike="noStrike" kern="0" cap="none" spc="0" normalizeH="0" baseline="0" noProof="0" dirty="0" err="1" smtClean="0">
                <a:ln>
                  <a:noFill/>
                </a:ln>
                <a:solidFill>
                  <a:schemeClr val="tx1"/>
                </a:solidFill>
                <a:effectLst/>
                <a:uLnTx/>
                <a:uFillTx/>
                <a:latin typeface="+mn-lt"/>
                <a:ea typeface="+mn-ea"/>
                <a:cs typeface="+mn-cs"/>
              </a:rPr>
              <a:t>centroid</a:t>
            </a:r>
            <a:r>
              <a:rPr kumimoji="0" lang="en-US" b="0" i="0" u="none" strike="noStrike" kern="0" cap="none" spc="0" normalizeH="0" baseline="0" noProof="0" dirty="0" smtClean="0">
                <a:ln>
                  <a:noFill/>
                </a:ln>
                <a:solidFill>
                  <a:schemeClr val="tx1"/>
                </a:solidFill>
                <a:effectLst/>
                <a:uLnTx/>
                <a:uFillTx/>
                <a:latin typeface="+mn-lt"/>
                <a:ea typeface="+mn-ea"/>
                <a:cs typeface="+mn-cs"/>
              </a:rPr>
              <a:t>() function.</a:t>
            </a:r>
          </a:p>
          <a:p>
            <a:pPr marL="342900" indent="-342900" eaLnBrk="0" hangingPunct="0">
              <a:spcBef>
                <a:spcPts val="600"/>
              </a:spcBef>
              <a:buClr>
                <a:schemeClr val="bg2"/>
              </a:buClr>
              <a:buSzPct val="75000"/>
              <a:buFont typeface="Wingdings" pitchFamily="2" charset="2"/>
              <a:buChar char="n"/>
            </a:pPr>
            <a:r>
              <a:rPr lang="en-US" sz="2000" dirty="0" smtClean="0"/>
              <a:t>This is your </a:t>
            </a:r>
            <a:r>
              <a:rPr lang="en-US" sz="2000" dirty="0" smtClean="0">
                <a:solidFill>
                  <a:srgbClr val="C00000"/>
                </a:solidFill>
              </a:rPr>
              <a:t>take-home exercise</a:t>
            </a:r>
            <a:r>
              <a:rPr lang="en-US" sz="2000" dirty="0" smtClean="0"/>
              <a:t>.</a:t>
            </a:r>
          </a:p>
          <a:p>
            <a:pPr marL="342900" indent="-342900" eaLnBrk="0" hangingPunct="0">
              <a:spcBef>
                <a:spcPts val="600"/>
              </a:spcBef>
              <a:buClr>
                <a:schemeClr val="bg2"/>
              </a:buClr>
              <a:buSzPct val="75000"/>
              <a:buFont typeface="Wingdings" pitchFamily="2" charset="2"/>
              <a:buChar char="n"/>
            </a:pPr>
            <a:r>
              <a:rPr lang="en-US" sz="2000" dirty="0" smtClean="0">
                <a:solidFill>
                  <a:srgbClr val="C00000"/>
                </a:solidFill>
              </a:rPr>
              <a:t>This exercise is mounted on </a:t>
            </a:r>
            <a:r>
              <a:rPr lang="en-US" sz="2000" dirty="0" err="1" smtClean="0">
                <a:solidFill>
                  <a:srgbClr val="C00000"/>
                </a:solidFill>
              </a:rPr>
              <a:t>CodeCrunch</a:t>
            </a:r>
            <a:r>
              <a:rPr lang="en-US" sz="2000" dirty="0" smtClean="0">
                <a:solidFill>
                  <a:srgbClr val="C00000"/>
                </a:solidFill>
              </a:rPr>
              <a:t>.</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dissolve">
                                      <p:cBhvr>
                                        <p:cTn id="7" dur="5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dissolve">
                                      <p:cBhvr>
                                        <p:cTn id="12"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p:cNvSpPr>
            <a:spLocks noGrp="1"/>
          </p:cNvSpPr>
          <p:nvPr>
            <p:ph type="title"/>
          </p:nvPr>
        </p:nvSpPr>
        <p:spPr/>
        <p:txBody>
          <a:bodyPr>
            <a:normAutofit fontScale="90000"/>
          </a:bodyPr>
          <a:lstStyle/>
          <a:p>
            <a:r>
              <a:rPr lang="en-US" sz="3200" dirty="0" smtClean="0"/>
              <a:t>12. Ex #3: Triangle </a:t>
            </a:r>
            <a:r>
              <a:rPr lang="en-US" sz="3200" dirty="0" err="1" smtClean="0"/>
              <a:t>Centroid</a:t>
            </a:r>
            <a:r>
              <a:rPr lang="en-US" sz="3200" dirty="0" smtClean="0"/>
              <a:t> (Take-home) (2/2)</a:t>
            </a:r>
          </a:p>
        </p:txBody>
      </p:sp>
      <p:sp>
        <p:nvSpPr>
          <p:cNvPr id="5" name="Slide Number Placeholder 4"/>
          <p:cNvSpPr>
            <a:spLocks noGrp="1"/>
          </p:cNvSpPr>
          <p:nvPr>
            <p:ph type="sldNum" sz="quarter" idx="12"/>
          </p:nvPr>
        </p:nvSpPr>
        <p:spPr/>
        <p:txBody>
          <a:bodyPr/>
          <a:lstStyle/>
          <a:p>
            <a:pPr>
              <a:defRPr/>
            </a:pPr>
            <a:r>
              <a:rPr smtClean="0"/>
              <a:t>Week6 - </a:t>
            </a:r>
            <a:fld id="{142D3637-33BE-40BB-9277-E7760FEB4F8D}" type="slidenum">
              <a:rPr smtClean="0"/>
              <a:pPr>
                <a:defRPr/>
              </a:pPr>
              <a:t>50</a:t>
            </a:fld>
            <a:endParaRPr/>
          </a:p>
        </p:txBody>
      </p:sp>
      <p:sp>
        <p:nvSpPr>
          <p:cNvPr id="40963" name="Content Placeholder 2"/>
          <p:cNvSpPr>
            <a:spLocks noGrp="1"/>
          </p:cNvSpPr>
          <p:nvPr>
            <p:ph sz="quarter" idx="1"/>
          </p:nvPr>
        </p:nvSpPr>
        <p:spPr>
          <a:xfrm>
            <a:off x="457200" y="1230489"/>
            <a:ext cx="8229600" cy="547511"/>
          </a:xfrm>
        </p:spPr>
        <p:txBody>
          <a:bodyPr/>
          <a:lstStyle/>
          <a:p>
            <a:pPr>
              <a:spcBef>
                <a:spcPts val="600"/>
              </a:spcBef>
            </a:pPr>
            <a:r>
              <a:rPr lang="en-US" dirty="0" smtClean="0">
                <a:solidFill>
                  <a:schemeClr val="tx1"/>
                </a:solidFill>
              </a:rPr>
              <a:t>Sample runs</a:t>
            </a:r>
          </a:p>
        </p:txBody>
      </p:sp>
      <p:sp>
        <p:nvSpPr>
          <p:cNvPr id="6" name="TextBox 5"/>
          <p:cNvSpPr txBox="1"/>
          <p:nvPr/>
        </p:nvSpPr>
        <p:spPr>
          <a:xfrm>
            <a:off x="1055714" y="1850990"/>
            <a:ext cx="7218856" cy="1323439"/>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defRPr/>
            </a:pPr>
            <a:r>
              <a:rPr lang="en-US" sz="2000" b="1" dirty="0" smtClean="0">
                <a:latin typeface="Courier New" pitchFamily="49" charset="0"/>
                <a:cs typeface="Courier New" pitchFamily="49" charset="0"/>
              </a:rPr>
              <a:t>Coordinates of 1st vertex: </a:t>
            </a:r>
            <a:r>
              <a:rPr lang="en-US" sz="2000" b="1" dirty="0" smtClean="0">
                <a:solidFill>
                  <a:srgbClr val="0000FF"/>
                </a:solidFill>
                <a:latin typeface="Courier New" pitchFamily="49" charset="0"/>
                <a:cs typeface="Courier New" pitchFamily="49" charset="0"/>
              </a:rPr>
              <a:t>0 0</a:t>
            </a:r>
          </a:p>
          <a:p>
            <a:pPr>
              <a:defRPr/>
            </a:pPr>
            <a:r>
              <a:rPr lang="en-US" sz="2000" b="1" dirty="0" smtClean="0">
                <a:latin typeface="Courier New" pitchFamily="49" charset="0"/>
                <a:cs typeface="Courier New" pitchFamily="49" charset="0"/>
              </a:rPr>
              <a:t>Coordinates of 2nd vertex: </a:t>
            </a:r>
            <a:r>
              <a:rPr lang="en-US" sz="2000" b="1" dirty="0" smtClean="0">
                <a:solidFill>
                  <a:srgbClr val="0000FF"/>
                </a:solidFill>
                <a:latin typeface="Courier New" pitchFamily="49" charset="0"/>
                <a:cs typeface="Courier New" pitchFamily="49" charset="0"/>
              </a:rPr>
              <a:t>0 1</a:t>
            </a:r>
          </a:p>
          <a:p>
            <a:pPr>
              <a:defRPr/>
            </a:pPr>
            <a:r>
              <a:rPr lang="en-US" sz="2000" b="1" dirty="0" smtClean="0">
                <a:latin typeface="Courier New" pitchFamily="49" charset="0"/>
                <a:cs typeface="Courier New" pitchFamily="49" charset="0"/>
              </a:rPr>
              <a:t>Coordinates of 3rd vertex: </a:t>
            </a:r>
            <a:r>
              <a:rPr lang="en-US" sz="2000" b="1" dirty="0" smtClean="0">
                <a:solidFill>
                  <a:srgbClr val="0000FF"/>
                </a:solidFill>
                <a:latin typeface="Courier New" pitchFamily="49" charset="0"/>
                <a:cs typeface="Courier New" pitchFamily="49" charset="0"/>
              </a:rPr>
              <a:t>1 1</a:t>
            </a:r>
            <a:endParaRPr lang="en-US" sz="2000" b="1" dirty="0">
              <a:solidFill>
                <a:srgbClr val="0000FF"/>
              </a:solidFill>
              <a:latin typeface="Courier New" pitchFamily="49" charset="0"/>
              <a:cs typeface="Courier New" pitchFamily="49" charset="0"/>
            </a:endParaRPr>
          </a:p>
          <a:p>
            <a:pPr>
              <a:defRPr/>
            </a:pPr>
            <a:r>
              <a:rPr lang="en-US" sz="2000" b="1" dirty="0" smtClean="0">
                <a:latin typeface="Courier New" pitchFamily="49" charset="0"/>
                <a:cs typeface="Courier New" pitchFamily="49" charset="0"/>
              </a:rPr>
              <a:t>Coordinates of </a:t>
            </a:r>
            <a:r>
              <a:rPr lang="en-US" sz="2000" b="1" dirty="0" err="1" smtClean="0">
                <a:latin typeface="Courier New" pitchFamily="49" charset="0"/>
                <a:cs typeface="Courier New" pitchFamily="49" charset="0"/>
              </a:rPr>
              <a:t>centroid</a:t>
            </a:r>
            <a:r>
              <a:rPr lang="en-US" sz="2000" b="1" dirty="0" smtClean="0">
                <a:latin typeface="Courier New" pitchFamily="49" charset="0"/>
                <a:cs typeface="Courier New" pitchFamily="49" charset="0"/>
              </a:rPr>
              <a:t> = (0.33, 0.67)</a:t>
            </a:r>
          </a:p>
        </p:txBody>
      </p:sp>
      <p:sp>
        <p:nvSpPr>
          <p:cNvPr id="8" name="TextBox 7"/>
          <p:cNvSpPr txBox="1"/>
          <p:nvPr/>
        </p:nvSpPr>
        <p:spPr>
          <a:xfrm>
            <a:off x="1051360" y="3401116"/>
            <a:ext cx="7218856" cy="1323439"/>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defRPr/>
            </a:pPr>
            <a:r>
              <a:rPr lang="en-US" sz="2000" b="1" dirty="0" smtClean="0">
                <a:latin typeface="Courier New" pitchFamily="49" charset="0"/>
                <a:cs typeface="Courier New" pitchFamily="49" charset="0"/>
              </a:rPr>
              <a:t>Coordinates of 1st vertex: </a:t>
            </a:r>
            <a:r>
              <a:rPr lang="en-US" sz="2000" b="1" dirty="0" smtClean="0">
                <a:solidFill>
                  <a:srgbClr val="0000FF"/>
                </a:solidFill>
                <a:latin typeface="Courier New" pitchFamily="49" charset="0"/>
                <a:cs typeface="Courier New" pitchFamily="49" charset="0"/>
              </a:rPr>
              <a:t>4.8 12.7</a:t>
            </a:r>
          </a:p>
          <a:p>
            <a:pPr>
              <a:defRPr/>
            </a:pPr>
            <a:r>
              <a:rPr lang="en-US" sz="2000" b="1" dirty="0" smtClean="0">
                <a:latin typeface="Courier New" pitchFamily="49" charset="0"/>
                <a:cs typeface="Courier New" pitchFamily="49" charset="0"/>
              </a:rPr>
              <a:t>Coordinates of 2nd vertex: </a:t>
            </a:r>
            <a:r>
              <a:rPr lang="en-US" sz="2000" b="1" dirty="0" smtClean="0">
                <a:solidFill>
                  <a:srgbClr val="0000FF"/>
                </a:solidFill>
                <a:latin typeface="Courier New" pitchFamily="49" charset="0"/>
                <a:cs typeface="Courier New" pitchFamily="49" charset="0"/>
              </a:rPr>
              <a:t>-12.3 8.2</a:t>
            </a:r>
          </a:p>
          <a:p>
            <a:pPr>
              <a:defRPr/>
            </a:pPr>
            <a:r>
              <a:rPr lang="en-US" sz="2000" b="1" dirty="0" smtClean="0">
                <a:latin typeface="Courier New" pitchFamily="49" charset="0"/>
                <a:cs typeface="Courier New" pitchFamily="49" charset="0"/>
              </a:rPr>
              <a:t>Coordinates of 3rd vertex: </a:t>
            </a:r>
            <a:r>
              <a:rPr lang="en-US" sz="2000" b="1" dirty="0" smtClean="0">
                <a:solidFill>
                  <a:srgbClr val="0000FF"/>
                </a:solidFill>
                <a:latin typeface="Courier New" pitchFamily="49" charset="0"/>
                <a:cs typeface="Courier New" pitchFamily="49" charset="0"/>
              </a:rPr>
              <a:t>-5.6 15.3</a:t>
            </a:r>
            <a:endParaRPr lang="en-US" sz="2000" b="1" dirty="0">
              <a:solidFill>
                <a:srgbClr val="0000FF"/>
              </a:solidFill>
              <a:latin typeface="Courier New" pitchFamily="49" charset="0"/>
              <a:cs typeface="Courier New" pitchFamily="49" charset="0"/>
            </a:endParaRPr>
          </a:p>
          <a:p>
            <a:pPr>
              <a:defRPr/>
            </a:pPr>
            <a:r>
              <a:rPr lang="en-US" sz="2000" b="1" dirty="0" smtClean="0">
                <a:latin typeface="Courier New" pitchFamily="49" charset="0"/>
                <a:cs typeface="Courier New" pitchFamily="49" charset="0"/>
              </a:rPr>
              <a:t>Coordinates of </a:t>
            </a:r>
            <a:r>
              <a:rPr lang="en-US" sz="2000" b="1" dirty="0" err="1" smtClean="0">
                <a:latin typeface="Courier New" pitchFamily="49" charset="0"/>
                <a:cs typeface="Courier New" pitchFamily="49" charset="0"/>
              </a:rPr>
              <a:t>centroid</a:t>
            </a:r>
            <a:r>
              <a:rPr lang="en-US" sz="2000" b="1" dirty="0" smtClean="0">
                <a:latin typeface="Courier New" pitchFamily="49" charset="0"/>
                <a:cs typeface="Courier New" pitchFamily="49" charset="0"/>
              </a:rPr>
              <a:t> = (-4.37, 12.07)</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dissolve">
                                      <p:cBhvr>
                                        <p:cTn id="1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a:xfrm>
            <a:off x="533400" y="457200"/>
            <a:ext cx="8153400" cy="685800"/>
          </a:xfrm>
        </p:spPr>
        <p:txBody>
          <a:bodyPr/>
          <a:lstStyle/>
          <a:p>
            <a:pPr eaLnBrk="1" hangingPunct="1"/>
            <a:r>
              <a:rPr lang="en-GB" dirty="0" smtClean="0"/>
              <a:t>Summary for Today</a:t>
            </a:r>
          </a:p>
        </p:txBody>
      </p:sp>
      <p:sp>
        <p:nvSpPr>
          <p:cNvPr id="9" name="Slide Number Placeholder 8"/>
          <p:cNvSpPr>
            <a:spLocks noGrp="1"/>
          </p:cNvSpPr>
          <p:nvPr>
            <p:ph type="sldNum" sz="quarter" idx="12"/>
          </p:nvPr>
        </p:nvSpPr>
        <p:spPr/>
        <p:txBody>
          <a:bodyPr/>
          <a:lstStyle/>
          <a:p>
            <a:pPr>
              <a:defRPr/>
            </a:pPr>
            <a:r>
              <a:rPr dirty="0" smtClean="0"/>
              <a:t>Week6 </a:t>
            </a:r>
            <a:r>
              <a:rPr dirty="0"/>
              <a:t>- </a:t>
            </a:r>
            <a:fld id="{6366FA7B-506D-4BFF-BA92-D42EAF5B2088}" type="slidenum">
              <a:rPr/>
              <a:pPr>
                <a:defRPr/>
              </a:pPr>
              <a:t>51</a:t>
            </a:fld>
            <a:endParaRPr dirty="0"/>
          </a:p>
        </p:txBody>
      </p:sp>
      <p:sp>
        <p:nvSpPr>
          <p:cNvPr id="65539" name="Rectangle 7"/>
          <p:cNvSpPr>
            <a:spLocks noChangeArrowheads="1"/>
          </p:cNvSpPr>
          <p:nvPr/>
        </p:nvSpPr>
        <p:spPr bwMode="auto">
          <a:xfrm>
            <a:off x="4038600" y="1981200"/>
            <a:ext cx="4495800" cy="4191000"/>
          </a:xfrm>
          <a:prstGeom prst="rect">
            <a:avLst/>
          </a:prstGeom>
          <a:noFill/>
          <a:ln w="9525">
            <a:noFill/>
            <a:miter lim="800000"/>
            <a:headEnd/>
            <a:tailEnd/>
          </a:ln>
        </p:spPr>
        <p:txBody>
          <a:bodyPr/>
          <a:lstStyle/>
          <a:p>
            <a:pPr marL="342900" indent="-342900">
              <a:spcBef>
                <a:spcPct val="20000"/>
              </a:spcBef>
              <a:spcAft>
                <a:spcPct val="40000"/>
              </a:spcAft>
              <a:buClr>
                <a:schemeClr val="bg2"/>
              </a:buClr>
              <a:buSzPct val="75000"/>
              <a:buFont typeface="Wingdings" pitchFamily="2" charset="2"/>
              <a:buChar char="n"/>
            </a:pPr>
            <a:endParaRPr lang="en-US" sz="2800" b="1" baseline="30000">
              <a:solidFill>
                <a:srgbClr val="800000"/>
              </a:solidFill>
            </a:endParaRPr>
          </a:p>
        </p:txBody>
      </p:sp>
      <p:sp>
        <p:nvSpPr>
          <p:cNvPr id="386056" name="Rectangle 8"/>
          <p:cNvSpPr>
            <a:spLocks noChangeArrowheads="1"/>
          </p:cNvSpPr>
          <p:nvPr/>
        </p:nvSpPr>
        <p:spPr bwMode="auto">
          <a:xfrm>
            <a:off x="762000" y="1447800"/>
            <a:ext cx="8001000" cy="4724400"/>
          </a:xfrm>
          <a:prstGeom prst="rect">
            <a:avLst/>
          </a:prstGeom>
          <a:noFill/>
          <a:ln w="9525">
            <a:noFill/>
            <a:miter lim="800000"/>
            <a:headEnd/>
            <a:tailEnd/>
          </a:ln>
        </p:spPr>
        <p:txBody>
          <a:bodyPr/>
          <a:lstStyle/>
          <a:p>
            <a:pPr marL="342900" indent="-342900">
              <a:spcBef>
                <a:spcPct val="20000"/>
              </a:spcBef>
              <a:spcAft>
                <a:spcPct val="20000"/>
              </a:spcAft>
              <a:buClr>
                <a:schemeClr val="bg2"/>
              </a:buClr>
              <a:buSzPct val="75000"/>
              <a:buFont typeface="Wingdings" pitchFamily="2" charset="2"/>
              <a:buChar char="n"/>
            </a:pPr>
            <a:r>
              <a:rPr lang="en-US" sz="2800" dirty="0"/>
              <a:t>Today’s most important </a:t>
            </a:r>
            <a:r>
              <a:rPr lang="en-US" sz="2800" dirty="0" smtClean="0"/>
              <a:t>lesson</a:t>
            </a:r>
            <a:endParaRPr lang="en-US" sz="2800" dirty="0"/>
          </a:p>
          <a:p>
            <a:pPr marL="800100" lvl="1" indent="-342900">
              <a:spcBef>
                <a:spcPct val="20000"/>
              </a:spcBef>
              <a:spcAft>
                <a:spcPct val="20000"/>
              </a:spcAft>
              <a:buClr>
                <a:schemeClr val="bg2"/>
              </a:buClr>
              <a:buSzPct val="75000"/>
              <a:buFont typeface="Wingdings" pitchFamily="2" charset="2"/>
              <a:buChar char="q"/>
            </a:pPr>
            <a:r>
              <a:rPr lang="en-US" sz="2400" dirty="0">
                <a:solidFill>
                  <a:schemeClr val="tx2"/>
                </a:solidFill>
              </a:rPr>
              <a:t>Functions that </a:t>
            </a:r>
            <a:r>
              <a:rPr lang="en-US" sz="2400" dirty="0">
                <a:solidFill>
                  <a:srgbClr val="0000FF"/>
                </a:solidFill>
              </a:rPr>
              <a:t>“return” more than one </a:t>
            </a:r>
            <a:r>
              <a:rPr lang="en-US" sz="2400" dirty="0" smtClean="0">
                <a:solidFill>
                  <a:srgbClr val="0000FF"/>
                </a:solidFill>
              </a:rPr>
              <a:t>value</a:t>
            </a:r>
            <a:r>
              <a:rPr lang="en-US" sz="2400" dirty="0" smtClean="0">
                <a:solidFill>
                  <a:schemeClr val="tx2"/>
                </a:solidFill>
              </a:rPr>
              <a:t>, through </a:t>
            </a:r>
            <a:r>
              <a:rPr lang="en-US" sz="2400" dirty="0" smtClean="0">
                <a:solidFill>
                  <a:srgbClr val="0000FF"/>
                </a:solidFill>
              </a:rPr>
              <a:t>passing the addresses </a:t>
            </a:r>
            <a:r>
              <a:rPr lang="en-US" sz="2400" dirty="0" smtClean="0">
                <a:solidFill>
                  <a:schemeClr val="tx2"/>
                </a:solidFill>
              </a:rPr>
              <a:t>of variables into the functions</a:t>
            </a:r>
            <a:endParaRPr lang="en-US" sz="2400" dirty="0">
              <a:solidFill>
                <a:schemeClr val="tx2"/>
              </a:solidFill>
            </a:endParaRPr>
          </a:p>
        </p:txBody>
      </p:sp>
    </p:spTree>
  </p:cSld>
  <p:clrMapOvr>
    <a:masterClrMapping/>
  </p:clrMapOvr>
  <p:transition>
    <p:fade/>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a:xfrm>
            <a:off x="1173163" y="2824163"/>
            <a:ext cx="6751637" cy="1143000"/>
          </a:xfrm>
        </p:spPr>
        <p:txBody>
          <a:bodyPr/>
          <a:lstStyle/>
          <a:p>
            <a:pPr algn="ctr" eaLnBrk="1" hangingPunct="1"/>
            <a:r>
              <a:rPr lang="en-GB" smtClean="0">
                <a:solidFill>
                  <a:srgbClr val="9933FF"/>
                </a:solidFill>
                <a:latin typeface="Garamond" pitchFamily="18" charset="0"/>
              </a:rPr>
              <a:t>End of File</a:t>
            </a:r>
          </a:p>
        </p:txBody>
      </p:sp>
      <p:sp>
        <p:nvSpPr>
          <p:cNvPr id="7" name="Slide Number Placeholder 6"/>
          <p:cNvSpPr>
            <a:spLocks noGrp="1"/>
          </p:cNvSpPr>
          <p:nvPr>
            <p:ph type="sldNum" sz="quarter" idx="12"/>
          </p:nvPr>
        </p:nvSpPr>
        <p:spPr/>
        <p:txBody>
          <a:bodyPr/>
          <a:lstStyle/>
          <a:p>
            <a:pPr>
              <a:defRPr/>
            </a:pPr>
            <a:r>
              <a:rPr dirty="0" smtClean="0"/>
              <a:t>Week6 </a:t>
            </a:r>
            <a:r>
              <a:rPr dirty="0"/>
              <a:t>- </a:t>
            </a:r>
            <a:fld id="{BE735BCC-8B6D-4897-A1C2-D5D83261A07F}" type="slidenum">
              <a:rPr/>
              <a:pPr>
                <a:defRPr/>
              </a:pPr>
              <a:t>52</a:t>
            </a:fld>
            <a:endParaRPr dirty="0"/>
          </a:p>
        </p:txBody>
      </p:sp>
    </p:spTree>
  </p:cSld>
  <p:clrMapOvr>
    <a:masterClrMapping/>
  </p:clrMapOvr>
  <p:transition>
    <p:fade/>
  </p:transition>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Origin</Template>
  <TotalTime>11269</TotalTime>
  <Words>4460</Words>
  <Application>Microsoft Office PowerPoint</Application>
  <PresentationFormat>On-screen Show (4:3)</PresentationFormat>
  <Paragraphs>881</Paragraphs>
  <Slides>52</Slides>
  <Notes>52</Notes>
  <HiddenSlides>0</HiddenSlides>
  <MMClips>0</MMClips>
  <ScaleCrop>false</ScaleCrop>
  <HeadingPairs>
    <vt:vector size="4" baseType="variant">
      <vt:variant>
        <vt:lpstr>Theme</vt:lpstr>
      </vt:variant>
      <vt:variant>
        <vt:i4>1</vt:i4>
      </vt:variant>
      <vt:variant>
        <vt:lpstr>Slide Titles</vt:lpstr>
      </vt:variant>
      <vt:variant>
        <vt:i4>52</vt:i4>
      </vt:variant>
    </vt:vector>
  </HeadingPairs>
  <TitlesOfParts>
    <vt:vector size="53" baseType="lpstr">
      <vt:lpstr>Origin</vt:lpstr>
      <vt:lpstr>CSE 115 Nova Ahmed</vt:lpstr>
      <vt:lpstr>Week 6: Modular Programming – More about Functions</vt:lpstr>
      <vt:lpstr>1. Week 5 Exercise #4: Prime Number</vt:lpstr>
      <vt:lpstr>2. Testing and Debugging (1/8)</vt:lpstr>
      <vt:lpstr>2. Testing and Debugging (2/8)</vt:lpstr>
      <vt:lpstr>2. Testing and Debugging (3/8)</vt:lpstr>
      <vt:lpstr>2. Testing and Debugging (4/8)</vt:lpstr>
      <vt:lpstr>2. Testing and Debugging (5/8)</vt:lpstr>
      <vt:lpstr>2. Testing and Debugging (6/8)</vt:lpstr>
      <vt:lpstr>2. Testing and Debugging (7/8)</vt:lpstr>
      <vt:lpstr>2. Testing and Debugging (8/8)</vt:lpstr>
      <vt:lpstr>2.1 Using the gdb Debugger (1/2)</vt:lpstr>
      <vt:lpstr>2.1 Using the gdb Debugger (2/2)</vt:lpstr>
      <vt:lpstr>2.2 Famous Programming Errors</vt:lpstr>
      <vt:lpstr>3. Functions: Revisit (1/3)</vt:lpstr>
      <vt:lpstr>3. Functions: Revisit (2/3)</vt:lpstr>
      <vt:lpstr>3. Functions: Revisit (3/3)</vt:lpstr>
      <vt:lpstr>4. Pointer Variables (1/2)</vt:lpstr>
      <vt:lpstr>4. Pointer Variables (2/2)</vt:lpstr>
      <vt:lpstr>4.1 Pointer Variables: Demo #1 (1/2)</vt:lpstr>
      <vt:lpstr>4.1 Pointer Variables: Demo #1 (2/2)</vt:lpstr>
      <vt:lpstr>4.2 Pointer Variables: Common Mistake</vt:lpstr>
      <vt:lpstr>5. Functions with &amp;parameters (1/6)</vt:lpstr>
      <vt:lpstr>5. Functions with &amp;parameters (2/6)</vt:lpstr>
      <vt:lpstr>5. Functions with &amp;parameters (3/6)</vt:lpstr>
      <vt:lpstr>5. Functions with &amp;parameters (4/6)</vt:lpstr>
      <vt:lpstr>5. Functions with &amp;parameters (5/6)</vt:lpstr>
      <vt:lpstr>5. Functions with &amp;parameters (6/6)</vt:lpstr>
      <vt:lpstr>6. Exercise #1</vt:lpstr>
      <vt:lpstr>7. Warning! Global Variables</vt:lpstr>
      <vt:lpstr>8. Modularization and Interfaces (1/3)</vt:lpstr>
      <vt:lpstr>8. Modularization and Interfaces (2/3)</vt:lpstr>
      <vt:lpstr>8. Modularization and Interfaces (3/3)</vt:lpstr>
      <vt:lpstr>9. Separate Compilation </vt:lpstr>
      <vt:lpstr>9.1 Separate Compilation, Case 1 </vt:lpstr>
      <vt:lpstr>9.1 Demo #2: Separate Module</vt:lpstr>
      <vt:lpstr>9.1 Demo #2: Main Module</vt:lpstr>
      <vt:lpstr>9.1 Demo #2: Compilation and Linking</vt:lpstr>
      <vt:lpstr>9.2 Separate Compilation, Case 2 </vt:lpstr>
      <vt:lpstr>9.2 Demo #3: Compilation and Linking</vt:lpstr>
      <vt:lpstr>9.3 Notes (1/2)</vt:lpstr>
      <vt:lpstr>9.3 Notes (2/2)</vt:lpstr>
      <vt:lpstr>10. Quizzes (1/4)</vt:lpstr>
      <vt:lpstr>10. Quizzes (2/4)</vt:lpstr>
      <vt:lpstr>10. Quizzes (3/4)</vt:lpstr>
      <vt:lpstr>10. Quizzes (4/4)</vt:lpstr>
      <vt:lpstr>11. Ex #2: Volume, Surface Area (1/2)</vt:lpstr>
      <vt:lpstr>11. Ex #2: Volume, Surface Area (2/2)</vt:lpstr>
      <vt:lpstr>12. Ex #3: Triangle Centroid (Take-home) (1/2)</vt:lpstr>
      <vt:lpstr>12. Ex #3: Triangle Centroid (Take-home) (2/2)</vt:lpstr>
      <vt:lpstr>Summary for Today</vt:lpstr>
      <vt:lpstr>End of File</vt:lpstr>
    </vt:vector>
  </TitlesOfParts>
  <Company>SoC, NUS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CS1010: Programming Methodology</dc:title>
  <dc:subject>Week 6</dc:subject>
  <dc:creator>Aaron Tan</dc:creator>
  <cp:lastModifiedBy>Nova Ahmed</cp:lastModifiedBy>
  <cp:revision>1151</cp:revision>
  <dcterms:created xsi:type="dcterms:W3CDTF">1998-09-05T15:03:32Z</dcterms:created>
  <dcterms:modified xsi:type="dcterms:W3CDTF">2014-07-12T02:17:02Z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Type">
    <vt:i4>1</vt:i4>
  </property>
  <property fmtid="{D5CDD505-2E9C-101B-9397-08002B2CF9AE}" pid="3" name="GraphicType">
    <vt:i4>1</vt:i4>
  </property>
  <property fmtid="{D5CDD505-2E9C-101B-9397-08002B2CF9AE}" pid="4" name="Compression">
    <vt:i4>100</vt:i4>
  </property>
  <property fmtid="{D5CDD505-2E9C-101B-9397-08002B2CF9AE}" pid="5" name="ScreenSize">
    <vt:i4>3</vt:i4>
  </property>
  <property fmtid="{D5CDD505-2E9C-101B-9397-08002B2CF9AE}" pid="6" name="ScreenUsage">
    <vt:i4>3</vt:i4>
  </property>
  <property fmtid="{D5CDD505-2E9C-101B-9397-08002B2CF9AE}" pid="7" name="MailAddress">
    <vt:lpwstr>tantc@comp.nus.edu.sg</vt:lpwstr>
  </property>
  <property fmtid="{D5CDD505-2E9C-101B-9397-08002B2CF9AE}" pid="8" name="HomePage">
    <vt:lpwstr>http://www.comp.nus.edu.sg/~tantc</vt:lpwstr>
  </property>
  <property fmtid="{D5CDD505-2E9C-101B-9397-08002B2CF9AE}" pid="9" name="Other">
    <vt:lpwstr/>
  </property>
  <property fmtid="{D5CDD505-2E9C-101B-9397-08002B2CF9AE}" pid="10" name="DownloadOriginal">
    <vt:bool>false</vt:bool>
  </property>
  <property fmtid="{D5CDD505-2E9C-101B-9397-08002B2CF9AE}" pid="11" name="DownloadIEButton">
    <vt:bool>false</vt:bool>
  </property>
  <property fmtid="{D5CDD505-2E9C-101B-9397-08002B2CF9AE}" pid="12" name="UseBrowserColor">
    <vt:bool>true</vt:bool>
  </property>
  <property fmtid="{D5CDD505-2E9C-101B-9397-08002B2CF9AE}" pid="13" name="BackColor">
    <vt:i4>15132390</vt:i4>
  </property>
  <property fmtid="{D5CDD505-2E9C-101B-9397-08002B2CF9AE}" pid="14" name="TextColor">
    <vt:i4>0</vt:i4>
  </property>
  <property fmtid="{D5CDD505-2E9C-101B-9397-08002B2CF9AE}" pid="15" name="LinkColor">
    <vt:i4>16711782</vt:i4>
  </property>
  <property fmtid="{D5CDD505-2E9C-101B-9397-08002B2CF9AE}" pid="16" name="VisitedColor">
    <vt:i4>10040268</vt:i4>
  </property>
  <property fmtid="{D5CDD505-2E9C-101B-9397-08002B2CF9AE}" pid="17" name="TransparentButton">
    <vt:i4>0</vt:i4>
  </property>
  <property fmtid="{D5CDD505-2E9C-101B-9397-08002B2CF9AE}" pid="18" name="ButtonType">
    <vt:i4>3</vt:i4>
  </property>
  <property fmtid="{D5CDD505-2E9C-101B-9397-08002B2CF9AE}" pid="19" name="ShowNotes">
    <vt:bool>false</vt:bool>
  </property>
  <property fmtid="{D5CDD505-2E9C-101B-9397-08002B2CF9AE}" pid="20" name="NavBtnPos">
    <vt:i4>1</vt:i4>
  </property>
  <property fmtid="{D5CDD505-2E9C-101B-9397-08002B2CF9AE}" pid="21" name="OutputDir">
    <vt:lpwstr>C:\My Documents</vt:lpwstr>
  </property>
</Properties>
</file>