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77" r:id="rId3"/>
    <p:sldId id="278" r:id="rId4"/>
    <p:sldId id="262" r:id="rId5"/>
    <p:sldId id="263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301" r:id="rId25"/>
    <p:sldId id="302" r:id="rId26"/>
    <p:sldId id="298" r:id="rId27"/>
    <p:sldId id="299" r:id="rId28"/>
    <p:sldId id="30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4E0159-42FF-E65A-8E4D-D784988C25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96018-5CC2-59DE-2953-7738B9834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8FED0-F494-4C8F-803A-297D5BD08D3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6F1A6-4EBD-D971-0F49-66EB5F0FDB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C8F35-1B39-1C84-0B7A-25A637B3F2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219B2-123C-4C18-A5D8-EB8782F74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474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CD510-D800-49E6-BF08-298A1FE48E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FE62-91E1-4730-A536-75C928C6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541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923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03D7-70F1-1C6F-A3B7-A8287EE25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7E7C8-C452-803C-5FAC-14BDD1D43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9D17-AB94-0B7D-C590-1F7E5184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70ED-970E-4212-BB35-C22C1D195CBC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647B-4FB4-82CC-07BE-EFD93BF4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B835-5F31-3FC0-10FA-FAC19E81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3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16F1-8C26-C670-B7DC-8010AD39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DE1A-A059-2960-24A5-D405837C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42EED-1E92-359C-10FA-4E5D3C3F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B735-82A6-4413-A653-62CE81350112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4E15-03A2-851D-88BC-2445BB77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4FD2-0C66-774A-A375-1089C665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2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120E-FC2F-A46F-4B09-23117B46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62F9-9511-E32B-4BD7-47E0A71A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9156-0A2A-DB75-C8EA-248EA3DE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75B7-2148-4A9D-995D-56145ABEAE97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3A95-056A-D033-22AF-CDDBE987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57329-594F-D458-6A9C-F07B09A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5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A64B-29CB-8665-CEC5-DF412D2F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CDFC-7ECF-8F07-A1A5-1C0C8B38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D181D-A96E-0D94-2062-16DE2854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00174-4A25-E989-7ACA-5C0B639C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A078-0F96-4814-AF41-4D8FAE7F8A6C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3BD85-5B63-139B-2CE7-19610007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ABD13-EDE6-69F9-8590-026CFFF1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6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F3A3-B693-9109-7927-708691AA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C4F7D-CCD8-33A2-D7D0-35E5380D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AD8A8-2AB0-25CD-201F-ED952A4CD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13444-B5AF-C486-4E0A-7F2108ACD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42FB4-090B-A58C-DF43-EA43DA1F1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08DE3-3255-6046-EE31-0C14E353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CFAE0-6AEA-4322-8961-61818A5C4CC4}" type="datetime1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5004F-5259-2B42-1938-FA9CAA92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354AB-D64D-E84A-BA76-66DBB6E4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9BCC-F36B-F141-B6AC-0F246614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B0912-EE39-228C-9255-704DBA8C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CC14-615A-40E5-878F-B7968E69ACA9}" type="datetime1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CFC76-DAA8-A15C-4AC4-93D29998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AFFAA-E646-0DDF-64A0-A28BAC9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0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BE16B-802E-3074-11D1-8DE9C32B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3215-DB23-4892-8F9A-91431A502CD2}" type="datetime1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70A2E-3D38-5D1E-AF19-F063247E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31207-BFA9-21E9-A865-318F13D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0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05C-FA05-25DE-15F4-805A8CF0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B131-EC7F-BFD9-E7B6-AB3137F4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959E2-E99B-EDA1-628E-184C643D5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0DFE-327E-11B6-BD8C-0F41386E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BCFA-E3E0-4FF4-BACA-FCF5C255E5DE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662-BCB8-828C-9BDF-DD1D1A56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0129B-382F-9101-9ED5-631C3B88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4D93-D5ED-C785-80CB-7CF60D10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9CBA7-CE7D-C187-B782-CA09C95AF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639DC-D960-C20C-EDEF-4E282D5F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0A177-05FD-4F3A-55CF-3EEB7E4E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C14-2B3B-4EE3-949A-779D533E8478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9E7E-8ECE-4DE4-A26C-C2CAB097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EDC0-BC10-677B-FFB3-DD53581A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7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9DC3-0DF6-0743-E644-4A7AC542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E063F-D43E-FD0C-D76B-188F3B72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1BACC-50F2-51B8-0376-B959E5C6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C18E-A90B-4B22-BF53-42EC149F08BB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CC8EC-0CE8-F103-3FD7-ED00AEDD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0F038-A502-BA4A-633C-2C8924FA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4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0902E-7688-3814-1155-474461F4B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2A82-7CD6-0470-0AF6-CCA98D9EF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BDE9E-FAFF-63E1-22C0-33E9AE7F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4F7D-5048-4108-88DC-972512EB713E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5A15-7E8B-01A9-927C-5655A070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3DFA-2B27-BC65-59BF-B29EA1A3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CAD65-4AD5-02F3-7FA3-E760BBE7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EE9E-8A03-0343-4D11-0133E5C0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0B93-A586-42A5-0F99-907C96847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7581B-AB8F-4D43-BDE7-8F5E2E8E8856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0782-3D97-A485-DC22-453A9166F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4F32-3929-476D-213C-0F9E358D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rawio.com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115A1-643A-7BF3-3A4B-2A7AF1AE9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 fontScale="90000"/>
          </a:bodyPr>
          <a:lstStyle/>
          <a:p>
            <a:pPr algn="l"/>
            <a:br>
              <a:rPr lang="en-US" sz="5200" b="1" dirty="0"/>
            </a:br>
            <a:r>
              <a:rPr lang="en-US" sz="5200" b="1" dirty="0"/>
              <a:t>Lecture 1: Introduction to Engineering Drawing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1FF77-E09E-52C0-CD84-03CBD6D9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b="1" i="1" dirty="0"/>
              <a:t>Dr. Jilan Samiuddin (JSA)</a:t>
            </a:r>
          </a:p>
          <a:p>
            <a:pPr algn="l"/>
            <a:r>
              <a:rPr lang="en-US" dirty="0"/>
              <a:t>Assistant Professor</a:t>
            </a:r>
          </a:p>
          <a:p>
            <a:pPr algn="l"/>
            <a:r>
              <a:rPr lang="en-US" dirty="0"/>
              <a:t>North South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C301A-7024-8616-AFF2-7263B1346FFF}"/>
              </a:ext>
            </a:extLst>
          </p:cNvPr>
          <p:cNvSpPr txBox="1"/>
          <p:nvPr/>
        </p:nvSpPr>
        <p:spPr>
          <a:xfrm>
            <a:off x="952227" y="1199214"/>
            <a:ext cx="3006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EEE154 Engineering Drawing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CA6BF-0DE8-9E57-6E92-74A6BC63A17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392975" y="260715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4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AF7D2-52DD-129E-DA62-E86E69039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r>
              <a:rPr lang="en-US" b="1" i="0" dirty="0">
                <a:solidFill>
                  <a:srgbClr val="404040"/>
                </a:solidFill>
                <a:effectLst/>
              </a:rPr>
              <a:t>Class Information</a:t>
            </a:r>
            <a:endParaRPr lang="en-US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A8FFCC-CB1A-7AFD-1E29-764FC879F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59314" cy="4530725"/>
          </a:xfrm>
        </p:spPr>
        <p:txBody>
          <a:bodyPr>
            <a:normAutofit/>
          </a:bodyPr>
          <a:lstStyle/>
          <a:p>
            <a:pPr marL="457200" algn="just">
              <a:lnSpc>
                <a:spcPct val="100000"/>
              </a:lnSpc>
            </a:pPr>
            <a:r>
              <a:rPr lang="en-US" b="1" i="0" dirty="0">
                <a:solidFill>
                  <a:srgbClr val="404040"/>
                </a:solidFill>
                <a:effectLst/>
                <a:latin typeface="+mj-lt"/>
              </a:rPr>
              <a:t>Course Name</a:t>
            </a:r>
            <a:r>
              <a:rPr lang="en-US" i="0" dirty="0">
                <a:solidFill>
                  <a:srgbClr val="404040"/>
                </a:solidFill>
                <a:effectLst/>
                <a:latin typeface="+mj-lt"/>
              </a:rPr>
              <a:t>: Engineering Drawing</a:t>
            </a:r>
          </a:p>
          <a:p>
            <a:pPr marL="457200" algn="just">
              <a:lnSpc>
                <a:spcPct val="100000"/>
              </a:lnSpc>
            </a:pPr>
            <a:r>
              <a:rPr lang="en-US" b="1" i="0" dirty="0">
                <a:solidFill>
                  <a:srgbClr val="404040"/>
                </a:solidFill>
                <a:effectLst/>
                <a:latin typeface="+mj-lt"/>
              </a:rPr>
              <a:t>Course Code</a:t>
            </a:r>
            <a:r>
              <a:rPr lang="en-US" i="0" dirty="0">
                <a:solidFill>
                  <a:srgbClr val="404040"/>
                </a:solidFill>
                <a:effectLst/>
                <a:latin typeface="+mj-lt"/>
              </a:rPr>
              <a:t>: EEE154</a:t>
            </a:r>
          </a:p>
          <a:p>
            <a:pPr marL="457200" algn="just">
              <a:lnSpc>
                <a:spcPct val="100000"/>
              </a:lnSpc>
            </a:pPr>
            <a:r>
              <a:rPr lang="en-US" b="1" i="0" dirty="0">
                <a:solidFill>
                  <a:srgbClr val="404040"/>
                </a:solidFill>
                <a:effectLst/>
                <a:latin typeface="+mj-lt"/>
              </a:rPr>
              <a:t>Credit Hours</a:t>
            </a:r>
            <a:r>
              <a:rPr lang="en-US" i="0" dirty="0">
                <a:solidFill>
                  <a:srgbClr val="404040"/>
                </a:solidFill>
                <a:effectLst/>
                <a:latin typeface="+mj-lt"/>
              </a:rPr>
              <a:t>: 1</a:t>
            </a:r>
          </a:p>
          <a:p>
            <a:pPr marL="457200" algn="just">
              <a:lnSpc>
                <a:spcPct val="100000"/>
              </a:lnSpc>
            </a:pPr>
            <a:r>
              <a:rPr lang="en-US" b="1" i="0" dirty="0">
                <a:solidFill>
                  <a:srgbClr val="404040"/>
                </a:solidFill>
                <a:effectLst/>
                <a:latin typeface="+mj-lt"/>
              </a:rPr>
              <a:t>Pre-requisites</a:t>
            </a:r>
            <a:r>
              <a:rPr lang="en-US" i="0" dirty="0">
                <a:solidFill>
                  <a:srgbClr val="404040"/>
                </a:solidFill>
                <a:effectLst/>
                <a:latin typeface="+mj-lt"/>
              </a:rPr>
              <a:t>:	None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9A77C0-7299-E288-8330-26271E0F6E1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79C25-5251-03F7-1CF7-B17B7E87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5CCFC7-D2D0-E752-7425-7AF4E2E2CB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899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ACF04-777D-8FB7-345C-D25FDCD10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9CCD7-79A8-8F71-B1B0-DB878FBEC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r>
              <a:rPr lang="en-US" b="1" i="0" dirty="0">
                <a:solidFill>
                  <a:srgbClr val="404040"/>
                </a:solidFill>
                <a:effectLst/>
              </a:rPr>
              <a:t>Instructor Information</a:t>
            </a:r>
            <a:endParaRPr lang="en-US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400E5E-8BC6-7E7A-5B1C-7D61C7553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59314" cy="4530725"/>
          </a:xfrm>
        </p:spPr>
        <p:txBody>
          <a:bodyPr>
            <a:normAutofit/>
          </a:bodyPr>
          <a:lstStyle/>
          <a:p>
            <a:pPr marL="457200" algn="just">
              <a:lnSpc>
                <a:spcPct val="100000"/>
              </a:lnSpc>
            </a:pPr>
            <a:r>
              <a:rPr lang="en-US" b="1" i="0" dirty="0">
                <a:solidFill>
                  <a:srgbClr val="404040"/>
                </a:solidFill>
                <a:effectLst/>
                <a:latin typeface="+mj-lt"/>
              </a:rPr>
              <a:t>Instructor Name: Dr. Jilan Samiuddin (JSA)</a:t>
            </a:r>
          </a:p>
          <a:p>
            <a:pPr marL="457200" algn="just">
              <a:lnSpc>
                <a:spcPct val="100000"/>
              </a:lnSpc>
            </a:pPr>
            <a:r>
              <a:rPr lang="en-US" b="1" i="0" dirty="0">
                <a:solidFill>
                  <a:srgbClr val="404040"/>
                </a:solidFill>
                <a:effectLst/>
                <a:latin typeface="+mj-lt"/>
              </a:rPr>
              <a:t>Position: Assistant Professor, ECE</a:t>
            </a:r>
          </a:p>
          <a:p>
            <a:pPr marL="457200" algn="just">
              <a:lnSpc>
                <a:spcPct val="100000"/>
              </a:lnSpc>
            </a:pPr>
            <a:r>
              <a:rPr lang="en-US" b="1" i="0" dirty="0">
                <a:solidFill>
                  <a:srgbClr val="404040"/>
                </a:solidFill>
                <a:effectLst/>
                <a:latin typeface="+mj-lt"/>
              </a:rPr>
              <a:t>Email: j</a:t>
            </a:r>
            <a:r>
              <a:rPr lang="en-US" b="1" dirty="0">
                <a:solidFill>
                  <a:srgbClr val="404040"/>
                </a:solidFill>
                <a:latin typeface="+mj-lt"/>
              </a:rPr>
              <a:t>ilan.samiuddin@northsouth.edu</a:t>
            </a:r>
            <a:endParaRPr lang="en-US" b="1" i="0" dirty="0">
              <a:solidFill>
                <a:srgbClr val="404040"/>
              </a:solidFill>
              <a:effectLst/>
              <a:latin typeface="+mj-lt"/>
            </a:endParaRPr>
          </a:p>
          <a:p>
            <a:pPr marL="457200" algn="just">
              <a:lnSpc>
                <a:spcPct val="100000"/>
              </a:lnSpc>
            </a:pPr>
            <a:r>
              <a:rPr lang="en-US" b="1" i="0" dirty="0">
                <a:solidFill>
                  <a:srgbClr val="404040"/>
                </a:solidFill>
                <a:effectLst/>
                <a:latin typeface="+mj-lt"/>
              </a:rPr>
              <a:t>Office: SAC 911</a:t>
            </a:r>
          </a:p>
          <a:p>
            <a:pPr marL="457200" algn="just">
              <a:lnSpc>
                <a:spcPct val="100000"/>
              </a:lnSpc>
            </a:pPr>
            <a:r>
              <a:rPr lang="en-US" b="1" dirty="0">
                <a:solidFill>
                  <a:srgbClr val="404040"/>
                </a:solidFill>
                <a:latin typeface="+mj-lt"/>
              </a:rPr>
              <a:t>Office hours: Already posted in Canvas</a:t>
            </a:r>
            <a:endParaRPr lang="en-US" b="1" i="0" dirty="0">
              <a:solidFill>
                <a:srgbClr val="404040"/>
              </a:solidFill>
              <a:effectLst/>
              <a:latin typeface="+mj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D7A5F8-18C8-2917-45F6-19A592833CA3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43C069-63FD-0567-06F4-8D17C279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A255F6-E8D6-E169-0DC2-C3255650A41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715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BEA8B-FC54-1899-6701-4AB627A29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79F20-218C-F1EE-2D4A-B5143AA9B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r>
              <a:rPr lang="en-US" b="1" i="0" dirty="0">
                <a:solidFill>
                  <a:srgbClr val="404040"/>
                </a:solidFill>
                <a:effectLst/>
              </a:rPr>
              <a:t>Tentative Marks Distribution</a:t>
            </a:r>
            <a:endParaRPr lang="en-US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0C0F72-5E03-F2C6-E1CC-6A4419E8D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59314" cy="4530725"/>
          </a:xfrm>
        </p:spPr>
        <p:txBody>
          <a:bodyPr>
            <a:normAutofit/>
          </a:bodyPr>
          <a:lstStyle/>
          <a:p>
            <a:pPr marL="457200" algn="just">
              <a:lnSpc>
                <a:spcPct val="100000"/>
              </a:lnSpc>
            </a:pPr>
            <a:r>
              <a:rPr lang="en-US" i="0" dirty="0">
                <a:solidFill>
                  <a:srgbClr val="404040"/>
                </a:solidFill>
                <a:effectLst/>
                <a:latin typeface="+mj-lt"/>
              </a:rPr>
              <a:t>Attendance: 5%</a:t>
            </a:r>
          </a:p>
          <a:p>
            <a:pPr marL="457200" algn="just">
              <a:lnSpc>
                <a:spcPct val="100000"/>
              </a:lnSpc>
            </a:pPr>
            <a:r>
              <a:rPr lang="en-US" i="0" dirty="0">
                <a:solidFill>
                  <a:srgbClr val="404040"/>
                </a:solidFill>
                <a:effectLst/>
                <a:latin typeface="+mj-lt"/>
              </a:rPr>
              <a:t>Class Performance: 5%</a:t>
            </a:r>
          </a:p>
          <a:p>
            <a:pPr marL="457200" algn="just">
              <a:lnSpc>
                <a:spcPct val="100000"/>
              </a:lnSpc>
            </a:pPr>
            <a:r>
              <a:rPr lang="en-US" i="0" dirty="0">
                <a:solidFill>
                  <a:srgbClr val="404040"/>
                </a:solidFill>
                <a:effectLst/>
                <a:latin typeface="+mj-lt"/>
              </a:rPr>
              <a:t>Quizzes/Class Tests: 20% (1 out of 2)</a:t>
            </a:r>
          </a:p>
          <a:p>
            <a:pPr marL="457200" algn="just">
              <a:lnSpc>
                <a:spcPct val="100000"/>
              </a:lnSpc>
            </a:pPr>
            <a:r>
              <a:rPr lang="en-US" i="0" dirty="0">
                <a:solidFill>
                  <a:srgbClr val="404040"/>
                </a:solidFill>
                <a:effectLst/>
                <a:latin typeface="+mj-lt"/>
              </a:rPr>
              <a:t>Midterm:	30%</a:t>
            </a:r>
          </a:p>
          <a:p>
            <a:pPr marL="457200" algn="just">
              <a:lnSpc>
                <a:spcPct val="100000"/>
              </a:lnSpc>
            </a:pPr>
            <a:r>
              <a:rPr lang="en-US" i="0" dirty="0">
                <a:solidFill>
                  <a:srgbClr val="404040"/>
                </a:solidFill>
                <a:effectLst/>
                <a:latin typeface="+mj-lt"/>
              </a:rPr>
              <a:t>Final Exam: 40%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1EE1E9-2F57-73A1-0DDA-0D49805F2B0E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8B6D70-70F3-042B-E79B-1F40CE7C8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6240A5-26A8-2703-38B2-EB0AEF0EF0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567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2DA95-36BE-DE70-368E-E199BD9FB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04FD7-C18C-E910-D43A-8687C2409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r>
              <a:rPr lang="en-US" b="1" i="0" dirty="0">
                <a:solidFill>
                  <a:srgbClr val="404040"/>
                </a:solidFill>
                <a:effectLst/>
              </a:rPr>
              <a:t>Class Rules</a:t>
            </a:r>
            <a:endParaRPr lang="en-US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FE7522D-5010-0948-DBC5-134AC3E27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5"/>
            <a:ext cx="11040256" cy="4530725"/>
          </a:xfrm>
        </p:spPr>
        <p:txBody>
          <a:bodyPr>
            <a:normAutofit fontScale="62500" lnSpcReduction="20000"/>
          </a:bodyPr>
          <a:lstStyle/>
          <a:p>
            <a:pPr marL="457200" algn="just">
              <a:lnSpc>
                <a:spcPct val="100000"/>
              </a:lnSpc>
            </a:pPr>
            <a:r>
              <a:rPr lang="en-US" dirty="0">
                <a:solidFill>
                  <a:srgbClr val="404040"/>
                </a:solidFill>
              </a:rPr>
              <a:t>General Conduct</a:t>
            </a:r>
          </a:p>
          <a:p>
            <a:pPr marL="914400" lvl="1" algn="just">
              <a:lnSpc>
                <a:spcPct val="100000"/>
              </a:lnSpc>
            </a:pPr>
            <a:r>
              <a:rPr lang="en-US" b="1" i="1" dirty="0">
                <a:solidFill>
                  <a:srgbClr val="404040"/>
                </a:solidFill>
              </a:rPr>
              <a:t>Punctuality</a:t>
            </a:r>
            <a:r>
              <a:rPr lang="en-US" dirty="0">
                <a:solidFill>
                  <a:srgbClr val="404040"/>
                </a:solidFill>
              </a:rPr>
              <a:t>: Arrive on time and stay for the entire class session.</a:t>
            </a:r>
          </a:p>
          <a:p>
            <a:pPr marL="914400" lvl="1" algn="just">
              <a:lnSpc>
                <a:spcPct val="100000"/>
              </a:lnSpc>
            </a:pPr>
            <a:r>
              <a:rPr lang="en-US" b="1" i="1" dirty="0">
                <a:solidFill>
                  <a:srgbClr val="404040"/>
                </a:solidFill>
              </a:rPr>
              <a:t>Respect</a:t>
            </a:r>
            <a:r>
              <a:rPr lang="en-US" dirty="0">
                <a:solidFill>
                  <a:srgbClr val="404040"/>
                </a:solidFill>
              </a:rPr>
              <a:t>: Treat instructors &amp; classmates with respect and courtesy.</a:t>
            </a:r>
          </a:p>
          <a:p>
            <a:pPr marL="914400" lvl="1" algn="just">
              <a:lnSpc>
                <a:spcPct val="100000"/>
              </a:lnSpc>
            </a:pPr>
            <a:r>
              <a:rPr lang="en-US" b="1" i="1" dirty="0">
                <a:solidFill>
                  <a:srgbClr val="404040"/>
                </a:solidFill>
              </a:rPr>
              <a:t>Participation</a:t>
            </a:r>
            <a:r>
              <a:rPr lang="en-US" dirty="0">
                <a:solidFill>
                  <a:srgbClr val="404040"/>
                </a:solidFill>
              </a:rPr>
              <a:t>: Engage actively in discussions and group activities when required.</a:t>
            </a:r>
          </a:p>
          <a:p>
            <a:pPr marL="914400" lvl="1" algn="just">
              <a:lnSpc>
                <a:spcPct val="100000"/>
              </a:lnSpc>
            </a:pPr>
            <a:r>
              <a:rPr lang="en-US" b="1" i="1" dirty="0">
                <a:solidFill>
                  <a:srgbClr val="404040"/>
                </a:solidFill>
              </a:rPr>
              <a:t>No Disruptions</a:t>
            </a:r>
            <a:r>
              <a:rPr lang="en-US" dirty="0">
                <a:solidFill>
                  <a:srgbClr val="404040"/>
                </a:solidFill>
              </a:rPr>
              <a:t>: Avoid talking out of turn or engaging in off-topic activities.</a:t>
            </a:r>
          </a:p>
          <a:p>
            <a:pPr marL="914400" lvl="1" algn="just">
              <a:lnSpc>
                <a:spcPct val="100000"/>
              </a:lnSpc>
            </a:pPr>
            <a:r>
              <a:rPr lang="en-US" b="1" i="1" dirty="0">
                <a:solidFill>
                  <a:srgbClr val="404040"/>
                </a:solidFill>
              </a:rPr>
              <a:t>Phone Use</a:t>
            </a:r>
            <a:r>
              <a:rPr lang="en-US" dirty="0">
                <a:solidFill>
                  <a:srgbClr val="404040"/>
                </a:solidFill>
              </a:rPr>
              <a:t>: Keep mobiles in silent mode or turn off during class.</a:t>
            </a:r>
          </a:p>
          <a:p>
            <a:pPr marL="914400" lvl="1" algn="just">
              <a:lnSpc>
                <a:spcPct val="100000"/>
              </a:lnSpc>
            </a:pPr>
            <a:r>
              <a:rPr lang="en-US" b="1" i="1" dirty="0">
                <a:solidFill>
                  <a:srgbClr val="404040"/>
                </a:solidFill>
              </a:rPr>
              <a:t>Recording</a:t>
            </a:r>
            <a:r>
              <a:rPr lang="en-US" dirty="0">
                <a:solidFill>
                  <a:srgbClr val="404040"/>
                </a:solidFill>
              </a:rPr>
              <a:t>: Do not record lectures without the instructor’s permission.</a:t>
            </a:r>
          </a:p>
          <a:p>
            <a:pPr marL="457200" algn="just">
              <a:lnSpc>
                <a:spcPct val="100000"/>
              </a:lnSpc>
            </a:pPr>
            <a:r>
              <a:rPr lang="en-US" dirty="0">
                <a:solidFill>
                  <a:srgbClr val="404040"/>
                </a:solidFill>
              </a:rPr>
              <a:t>Academic Integrity</a:t>
            </a:r>
          </a:p>
          <a:p>
            <a:pPr marL="914400" lvl="1" algn="just">
              <a:lnSpc>
                <a:spcPct val="100000"/>
              </a:lnSpc>
            </a:pPr>
            <a:r>
              <a:rPr lang="en-US" dirty="0">
                <a:solidFill>
                  <a:srgbClr val="404040"/>
                </a:solidFill>
              </a:rPr>
              <a:t>Any kind of cheating is strictly prohibited</a:t>
            </a:r>
          </a:p>
          <a:p>
            <a:pPr marL="457200" algn="just">
              <a:lnSpc>
                <a:spcPct val="100000"/>
              </a:lnSpc>
            </a:pPr>
            <a:r>
              <a:rPr lang="en-US" dirty="0">
                <a:solidFill>
                  <a:srgbClr val="404040"/>
                </a:solidFill>
              </a:rPr>
              <a:t>Communication</a:t>
            </a:r>
          </a:p>
          <a:p>
            <a:pPr marL="914400" lvl="1" algn="just">
              <a:lnSpc>
                <a:spcPct val="100000"/>
              </a:lnSpc>
            </a:pPr>
            <a:r>
              <a:rPr lang="en-US" b="1" i="1" dirty="0">
                <a:solidFill>
                  <a:srgbClr val="404040"/>
                </a:solidFill>
              </a:rPr>
              <a:t>Office Hours</a:t>
            </a:r>
            <a:r>
              <a:rPr lang="en-US" dirty="0">
                <a:solidFill>
                  <a:srgbClr val="404040"/>
                </a:solidFill>
              </a:rPr>
              <a:t>: Attend during posted times or schedule appointments in advance.</a:t>
            </a:r>
          </a:p>
          <a:p>
            <a:pPr marL="457200" algn="just">
              <a:lnSpc>
                <a:spcPct val="100000"/>
              </a:lnSpc>
            </a:pPr>
            <a:r>
              <a:rPr lang="en-US" b="1" dirty="0">
                <a:solidFill>
                  <a:srgbClr val="404040"/>
                </a:solidFill>
              </a:rPr>
              <a:t>No makeup Quizzes</a:t>
            </a:r>
          </a:p>
          <a:p>
            <a:pPr marL="457200" algn="just">
              <a:lnSpc>
                <a:spcPct val="100000"/>
              </a:lnSpc>
            </a:pPr>
            <a:r>
              <a:rPr lang="en-US" dirty="0">
                <a:solidFill>
                  <a:srgbClr val="404040"/>
                </a:solidFill>
              </a:rPr>
              <a:t>You are responsible for ensuring your attendance</a:t>
            </a:r>
          </a:p>
          <a:p>
            <a:pPr marL="914400" lvl="1" algn="just">
              <a:lnSpc>
                <a:spcPct val="100000"/>
              </a:lnSpc>
            </a:pPr>
            <a:r>
              <a:rPr lang="en-US" dirty="0">
                <a:solidFill>
                  <a:srgbClr val="404040"/>
                </a:solidFill>
              </a:rPr>
              <a:t>If an attendance is not registered, it must be </a:t>
            </a:r>
            <a:r>
              <a:rPr lang="en-US" b="1" u="sng" dirty="0">
                <a:solidFill>
                  <a:srgbClr val="404040"/>
                </a:solidFill>
              </a:rPr>
              <a:t>rectified within the same day in-person</a:t>
            </a:r>
          </a:p>
          <a:p>
            <a:pPr marL="457200" algn="just">
              <a:lnSpc>
                <a:spcPct val="100000"/>
              </a:lnSpc>
            </a:pPr>
            <a:r>
              <a:rPr lang="en-US" b="1" u="sng" dirty="0">
                <a:solidFill>
                  <a:srgbClr val="404040"/>
                </a:solidFill>
              </a:rPr>
              <a:t>Personal laptops are not allowed during Quizzes or Exams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4033A81-BF94-B446-E35E-9803F680F982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39F242-C31C-F2F4-56F9-C3FD45BA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9C0F3E-C2BB-4902-201D-26DADB40F9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246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307EA-7965-6BFB-94B3-08671D09E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FACCB-9036-3FC0-3FEF-2FF2C127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r>
              <a:rPr lang="en-US" b="1" i="0" dirty="0">
                <a:solidFill>
                  <a:srgbClr val="404040"/>
                </a:solidFill>
                <a:effectLst/>
              </a:rPr>
              <a:t>Course Objectives</a:t>
            </a:r>
            <a:endParaRPr lang="en-US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5F8FC34-DE4B-C1C6-FCCB-442C06EC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5"/>
            <a:ext cx="11040256" cy="4530725"/>
          </a:xfrm>
        </p:spPr>
        <p:txBody>
          <a:bodyPr>
            <a:normAutofit/>
          </a:bodyPr>
          <a:lstStyle/>
          <a:p>
            <a:pPr marL="457200" algn="just">
              <a:lnSpc>
                <a:spcPct val="100000"/>
              </a:lnSpc>
            </a:pPr>
            <a:r>
              <a:rPr lang="en-US" sz="3500" i="0" dirty="0">
                <a:solidFill>
                  <a:srgbClr val="404040"/>
                </a:solidFill>
                <a:effectLst/>
                <a:latin typeface="+mj-lt"/>
              </a:rPr>
              <a:t>Define technical drawing and its purpose in engineering</a:t>
            </a:r>
          </a:p>
          <a:p>
            <a:pPr marL="457200" algn="just">
              <a:lnSpc>
                <a:spcPct val="100000"/>
              </a:lnSpc>
            </a:pPr>
            <a:r>
              <a:rPr lang="en-US" sz="3500" i="0" dirty="0">
                <a:solidFill>
                  <a:srgbClr val="404040"/>
                </a:solidFill>
                <a:effectLst/>
                <a:latin typeface="+mj-lt"/>
              </a:rPr>
              <a:t>Understand common terms: </a:t>
            </a:r>
            <a:r>
              <a:rPr lang="en-US" sz="3500" b="1" i="1" dirty="0">
                <a:solidFill>
                  <a:srgbClr val="404040"/>
                </a:solidFill>
                <a:effectLst/>
                <a:latin typeface="+mj-lt"/>
              </a:rPr>
              <a:t>projections</a:t>
            </a:r>
            <a:r>
              <a:rPr lang="en-US" sz="3500" i="0" dirty="0">
                <a:solidFill>
                  <a:srgbClr val="404040"/>
                </a:solidFill>
                <a:effectLst/>
                <a:latin typeface="+mj-lt"/>
              </a:rPr>
              <a:t>, </a:t>
            </a:r>
            <a:r>
              <a:rPr lang="en-US" sz="3500" b="1" i="1" dirty="0">
                <a:solidFill>
                  <a:srgbClr val="404040"/>
                </a:solidFill>
                <a:effectLst/>
                <a:latin typeface="+mj-lt"/>
              </a:rPr>
              <a:t>part drawings</a:t>
            </a:r>
            <a:r>
              <a:rPr lang="en-US" sz="3500" i="0" dirty="0">
                <a:solidFill>
                  <a:srgbClr val="404040"/>
                </a:solidFill>
                <a:effectLst/>
                <a:latin typeface="+mj-lt"/>
              </a:rPr>
              <a:t>, and </a:t>
            </a:r>
            <a:r>
              <a:rPr lang="en-US" sz="3500" b="1" i="1" dirty="0">
                <a:solidFill>
                  <a:srgbClr val="404040"/>
                </a:solidFill>
                <a:effectLst/>
                <a:latin typeface="+mj-lt"/>
              </a:rPr>
              <a:t>graphical conventions</a:t>
            </a:r>
          </a:p>
          <a:p>
            <a:pPr marL="457200" algn="just">
              <a:lnSpc>
                <a:spcPct val="100000"/>
              </a:lnSpc>
            </a:pPr>
            <a:r>
              <a:rPr lang="en-US" sz="3500" dirty="0">
                <a:solidFill>
                  <a:srgbClr val="404040"/>
                </a:solidFill>
                <a:effectLst/>
                <a:latin typeface="+mj-lt"/>
              </a:rPr>
              <a:t>Get acquainted with the following software:</a:t>
            </a:r>
          </a:p>
          <a:p>
            <a:pPr marL="1200150" lvl="1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3100" dirty="0">
                <a:solidFill>
                  <a:srgbClr val="404040"/>
                </a:solidFill>
                <a:latin typeface="+mj-lt"/>
              </a:rPr>
              <a:t>DrawIO</a:t>
            </a:r>
          </a:p>
          <a:p>
            <a:pPr marL="1200150" lvl="1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3100" dirty="0">
                <a:solidFill>
                  <a:srgbClr val="404040"/>
                </a:solidFill>
                <a:effectLst/>
                <a:latin typeface="+mj-lt"/>
              </a:rPr>
              <a:t>AutoCAD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7FA10B-1EEC-B107-662A-370C5A44613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85D08-B7F3-EE77-A8FF-A69BDCE1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B0C38C-CFCA-5272-2185-6D519EA8A1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093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CC0CB-E1E6-D20F-F279-63BA99105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26C14-0D93-1C69-DC6A-A9821FB15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r>
              <a:rPr lang="en-US" b="1" i="0" dirty="0">
                <a:solidFill>
                  <a:srgbClr val="404040"/>
                </a:solidFill>
                <a:effectLst/>
              </a:rPr>
              <a:t>Technical Drawing</a:t>
            </a:r>
            <a:endParaRPr lang="en-US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BAFB659-6599-7CC9-882C-3595E43D7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5"/>
            <a:ext cx="11040256" cy="4530725"/>
          </a:xfrm>
        </p:spPr>
        <p:txBody>
          <a:bodyPr>
            <a:normAutofit/>
          </a:bodyPr>
          <a:lstStyle/>
          <a:p>
            <a:pPr marL="457200" algn="just">
              <a:lnSpc>
                <a:spcPct val="100000"/>
              </a:lnSpc>
            </a:pPr>
            <a:r>
              <a:rPr lang="en-US" sz="3500" b="1" i="0" u="sng" dirty="0">
                <a:solidFill>
                  <a:srgbClr val="404040"/>
                </a:solidFill>
                <a:effectLst/>
                <a:latin typeface="+mj-lt"/>
              </a:rPr>
              <a:t>Definition</a:t>
            </a:r>
            <a:r>
              <a:rPr lang="en-US" sz="3500" i="0" dirty="0">
                <a:solidFill>
                  <a:srgbClr val="404040"/>
                </a:solidFill>
                <a:effectLst/>
                <a:latin typeface="+mj-lt"/>
              </a:rPr>
              <a:t>: A detailed, standardized visual language for describing objects, dimensions, and specifications</a:t>
            </a:r>
          </a:p>
          <a:p>
            <a:pPr marL="457200" algn="just">
              <a:lnSpc>
                <a:spcPct val="100000"/>
              </a:lnSpc>
            </a:pPr>
            <a:r>
              <a:rPr lang="en-US" sz="3500" b="1" i="0" u="sng" dirty="0">
                <a:solidFill>
                  <a:srgbClr val="404040"/>
                </a:solidFill>
                <a:effectLst/>
                <a:latin typeface="+mj-lt"/>
              </a:rPr>
              <a:t>Purposes</a:t>
            </a:r>
            <a:r>
              <a:rPr lang="en-US" sz="3500" i="0" dirty="0">
                <a:solidFill>
                  <a:srgbClr val="404040"/>
                </a:solidFill>
                <a:effectLst/>
                <a:latin typeface="+mj-lt"/>
              </a:rPr>
              <a:t>: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3100" i="0" dirty="0">
                <a:solidFill>
                  <a:srgbClr val="404040"/>
                </a:solidFill>
                <a:effectLst/>
                <a:latin typeface="+mj-lt"/>
              </a:rPr>
              <a:t>Communication between engineers, manufacturers, and builders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3100" i="0" dirty="0">
                <a:solidFill>
                  <a:srgbClr val="404040"/>
                </a:solidFill>
                <a:effectLst/>
                <a:latin typeface="+mj-lt"/>
              </a:rPr>
              <a:t>Ensures precision, clarity, and reproducibility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90394F-FF8C-D1A1-DE90-EBEE67B2C45E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0FA79D-2C52-4A17-B71D-6A5EA12D1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7E2EDF-E74D-2BBA-9253-F74A9E262C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514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30349-782B-DC64-3D1C-20AB3CE9D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BE5E7-7656-A6B9-CCC3-981046934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</a:rPr>
              <a:t> Common Terms in Technical Drawing</a:t>
            </a:r>
            <a:endParaRPr lang="en-US" b="0" i="0" dirty="0">
              <a:solidFill>
                <a:srgbClr val="404040"/>
              </a:solidFill>
              <a:effectLst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672710A-948C-23F5-0E86-2142C2F0E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5"/>
            <a:ext cx="11040256" cy="4530725"/>
          </a:xfrm>
        </p:spPr>
        <p:txBody>
          <a:bodyPr>
            <a:normAutofit/>
          </a:bodyPr>
          <a:lstStyle/>
          <a:p>
            <a:pPr marL="457200" algn="just">
              <a:lnSpc>
                <a:spcPct val="100000"/>
              </a:lnSpc>
            </a:pPr>
            <a:r>
              <a:rPr lang="en-US" sz="3500" b="1" i="0" u="sng" dirty="0">
                <a:solidFill>
                  <a:srgbClr val="404040"/>
                </a:solidFill>
                <a:effectLst/>
                <a:latin typeface="+mj-lt"/>
              </a:rPr>
              <a:t>Projections</a:t>
            </a:r>
            <a:r>
              <a:rPr lang="en-US" sz="3500" i="0" dirty="0">
                <a:solidFill>
                  <a:srgbClr val="404040"/>
                </a:solidFill>
                <a:effectLst/>
                <a:latin typeface="+mj-lt"/>
              </a:rPr>
              <a:t>: Methods to represent 3D objects in 2D and vice versa (e.g., orthographic, isometric)</a:t>
            </a:r>
          </a:p>
          <a:p>
            <a:pPr marL="457200" algn="just">
              <a:lnSpc>
                <a:spcPct val="100000"/>
              </a:lnSpc>
            </a:pPr>
            <a:r>
              <a:rPr lang="en-US" sz="3500" b="1" i="0" u="sng" dirty="0">
                <a:solidFill>
                  <a:srgbClr val="404040"/>
                </a:solidFill>
                <a:effectLst/>
                <a:latin typeface="+mj-lt"/>
              </a:rPr>
              <a:t>Part Drawings</a:t>
            </a:r>
            <a:r>
              <a:rPr lang="en-US" sz="3500" i="0" dirty="0">
                <a:solidFill>
                  <a:srgbClr val="404040"/>
                </a:solidFill>
                <a:effectLst/>
                <a:latin typeface="+mj-lt"/>
              </a:rPr>
              <a:t>: Detailed views of individual components</a:t>
            </a:r>
          </a:p>
          <a:p>
            <a:pPr marL="457200" algn="just">
              <a:lnSpc>
                <a:spcPct val="100000"/>
              </a:lnSpc>
            </a:pPr>
            <a:r>
              <a:rPr lang="en-US" sz="3500" b="1" i="0" u="sng" dirty="0">
                <a:solidFill>
                  <a:srgbClr val="404040"/>
                </a:solidFill>
                <a:effectLst/>
                <a:latin typeface="+mj-lt"/>
              </a:rPr>
              <a:t>Assembly Drawings</a:t>
            </a:r>
            <a:r>
              <a:rPr lang="en-US" sz="3500" i="0" dirty="0">
                <a:solidFill>
                  <a:srgbClr val="404040"/>
                </a:solidFill>
                <a:effectLst/>
                <a:latin typeface="+mj-lt"/>
              </a:rPr>
              <a:t>: How parts fit together</a:t>
            </a:r>
          </a:p>
          <a:p>
            <a:pPr marL="457200" algn="just">
              <a:lnSpc>
                <a:spcPct val="100000"/>
              </a:lnSpc>
            </a:pPr>
            <a:r>
              <a:rPr lang="en-US" sz="3500" b="1" i="0" u="sng" dirty="0">
                <a:solidFill>
                  <a:srgbClr val="404040"/>
                </a:solidFill>
                <a:effectLst/>
                <a:latin typeface="+mj-lt"/>
              </a:rPr>
              <a:t>Graphical Conventions</a:t>
            </a:r>
            <a:r>
              <a:rPr lang="en-US" sz="3500" i="0" dirty="0">
                <a:solidFill>
                  <a:srgbClr val="404040"/>
                </a:solidFill>
                <a:effectLst/>
                <a:latin typeface="+mj-lt"/>
              </a:rPr>
              <a:t>: Standardized symbols, line types, and annotations</a:t>
            </a:r>
            <a:endParaRPr lang="en-US" sz="3100" i="0" dirty="0">
              <a:solidFill>
                <a:srgbClr val="404040"/>
              </a:solidFill>
              <a:effectLst/>
              <a:latin typeface="+mj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DD1DD4B-8557-DD93-1EEA-1D32AB9601E1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CED6F-1EDF-EB7C-6B0B-5BDEB57F3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376086-07FD-279D-BA19-B5E4DFA9BE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91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42C22-A504-6E14-0E2C-C93B4CB99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A7E5-57D8-E3F1-E6F2-3DB8D98C9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  <a:latin typeface="DeepSeek-CJK-patch"/>
              </a:rPr>
              <a:t>Projections</a:t>
            </a:r>
            <a:endParaRPr lang="en-US" b="0" i="0" dirty="0">
              <a:solidFill>
                <a:srgbClr val="404040"/>
              </a:solidFill>
              <a:effectLst/>
              <a:latin typeface="DeepSeek-CJK-patch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9CFC57-749D-1EE7-1095-BE9E504CF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6"/>
            <a:ext cx="11040256" cy="2289174"/>
          </a:xfrm>
        </p:spPr>
        <p:txBody>
          <a:bodyPr>
            <a:normAutofit fontScale="77500" lnSpcReduction="20000"/>
          </a:bodyPr>
          <a:lstStyle/>
          <a:p>
            <a:pPr marL="457200" algn="just">
              <a:lnSpc>
                <a:spcPct val="100000"/>
              </a:lnSpc>
            </a:pPr>
            <a:r>
              <a:rPr lang="en-US" sz="3500" i="0" dirty="0">
                <a:solidFill>
                  <a:srgbClr val="404040"/>
                </a:solidFill>
                <a:effectLst/>
                <a:latin typeface="+mj-lt"/>
              </a:rPr>
              <a:t>Types of Projections:</a:t>
            </a:r>
          </a:p>
          <a:p>
            <a:pPr marL="7429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3500" b="1" i="0" u="sng" dirty="0">
                <a:solidFill>
                  <a:srgbClr val="404040"/>
                </a:solidFill>
                <a:effectLst/>
                <a:latin typeface="+mj-lt"/>
              </a:rPr>
              <a:t>Orthographic</a:t>
            </a:r>
            <a:r>
              <a:rPr lang="en-US" sz="3500" i="0" dirty="0">
                <a:solidFill>
                  <a:srgbClr val="404040"/>
                </a:solidFill>
                <a:effectLst/>
                <a:latin typeface="+mj-lt"/>
              </a:rPr>
              <a:t> (Multiview): Front, top, side views (first-angle vs. third-angle projection)</a:t>
            </a:r>
          </a:p>
          <a:p>
            <a:pPr marL="7429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3500" b="1" i="0" u="sng" dirty="0">
                <a:solidFill>
                  <a:srgbClr val="404040"/>
                </a:solidFill>
                <a:effectLst/>
                <a:latin typeface="+mj-lt"/>
              </a:rPr>
              <a:t>Isometric</a:t>
            </a:r>
            <a:r>
              <a:rPr lang="en-US" sz="3500" i="0" dirty="0">
                <a:solidFill>
                  <a:srgbClr val="404040"/>
                </a:solidFill>
                <a:effectLst/>
                <a:latin typeface="+mj-lt"/>
              </a:rPr>
              <a:t>: 3D representation with equal axes (30° angles)</a:t>
            </a:r>
          </a:p>
          <a:p>
            <a:pPr marL="7429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3500" b="1" i="0" u="sng" dirty="0">
                <a:solidFill>
                  <a:srgbClr val="404040"/>
                </a:solidFill>
                <a:effectLst/>
                <a:latin typeface="+mj-lt"/>
              </a:rPr>
              <a:t>Perspective</a:t>
            </a:r>
            <a:r>
              <a:rPr lang="en-US" sz="3500" i="0" dirty="0">
                <a:solidFill>
                  <a:srgbClr val="404040"/>
                </a:solidFill>
                <a:effectLst/>
                <a:latin typeface="+mj-lt"/>
              </a:rPr>
              <a:t>: Realistic 3D view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30D16A-E954-9D52-6B76-779D5AA511E0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0D76A8-64D9-4423-BD3E-2F4E36EAC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9A2F64-DF36-5A48-8D51-31944231C2A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026" name="Picture 2" descr="Orthographic projection | 3D Modeling, Drafting &amp; Visualization | Britannica">
            <a:extLst>
              <a:ext uri="{FF2B5EF4-FFF2-40B4-BE49-F238E27FC236}">
                <a16:creationId xmlns:a16="http://schemas.microsoft.com/office/drawing/2014/main" id="{79BAD768-3299-1275-C1C6-4272C7EEE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895" y="4028855"/>
            <a:ext cx="4497049" cy="2692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ifference between orthogonal map and isometric map - Game Development  Stack Exchange">
            <a:extLst>
              <a:ext uri="{FF2B5EF4-FFF2-40B4-BE49-F238E27FC236}">
                <a16:creationId xmlns:a16="http://schemas.microsoft.com/office/drawing/2014/main" id="{525D4812-2875-4564-B61F-E290C432F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362" y="4423315"/>
            <a:ext cx="4444186" cy="1761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562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64218-B06C-C012-2B9F-A7A23B177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565DA-DBC5-6B42-1A1F-E4A4CAE52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</a:rPr>
              <a:t>Part Drawings</a:t>
            </a:r>
            <a:endParaRPr lang="en-US" b="0" i="0" dirty="0">
              <a:solidFill>
                <a:srgbClr val="404040"/>
              </a:solidFill>
              <a:effectLst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D926935-ECFE-8B79-4FDC-56A4A20BF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6"/>
            <a:ext cx="11040256" cy="2289174"/>
          </a:xfrm>
        </p:spPr>
        <p:txBody>
          <a:bodyPr>
            <a:normAutofit fontScale="92500" lnSpcReduction="20000"/>
          </a:bodyPr>
          <a:lstStyle/>
          <a:p>
            <a:pPr marL="457200" algn="just">
              <a:lnSpc>
                <a:spcPct val="100000"/>
              </a:lnSpc>
            </a:pPr>
            <a:r>
              <a:rPr lang="en-US" sz="3500" i="0" dirty="0">
                <a:solidFill>
                  <a:srgbClr val="404040"/>
                </a:solidFill>
                <a:effectLst/>
                <a:latin typeface="+mj-lt"/>
              </a:rPr>
              <a:t>Key elements: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3100" i="0" dirty="0">
                <a:solidFill>
                  <a:srgbClr val="404040"/>
                </a:solidFill>
                <a:effectLst/>
                <a:latin typeface="+mj-lt"/>
              </a:rPr>
              <a:t>Dimensions (tolerances, units)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3100" i="0" dirty="0">
                <a:solidFill>
                  <a:srgbClr val="404040"/>
                </a:solidFill>
                <a:effectLst/>
                <a:latin typeface="+mj-lt"/>
              </a:rPr>
              <a:t>Surface finish symbols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3100" i="0" dirty="0">
                <a:solidFill>
                  <a:srgbClr val="404040"/>
                </a:solidFill>
                <a:effectLst/>
                <a:latin typeface="+mj-lt"/>
              </a:rPr>
              <a:t>Material specifications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3100" i="0" dirty="0">
                <a:solidFill>
                  <a:srgbClr val="404040"/>
                </a:solidFill>
                <a:effectLst/>
                <a:latin typeface="+mj-lt"/>
              </a:rPr>
              <a:t>Title block (author, scale, date)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DB4CEA6-4665-10C4-4E86-0D0DD5C9DED2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D0EB8-7A44-0BDC-5F67-CBD776086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734F17-097E-3B67-EDEB-98D5B7890D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244A0EF-4089-3409-9570-06E4FB3C0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845" y="4248799"/>
            <a:ext cx="9138710" cy="2371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0424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FD4DA-BE8E-B5AD-48E0-A9A60F0E5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7296-3141-17F5-8AD7-A1CB4F17D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</a:rPr>
              <a:t>Assembly Drawings</a:t>
            </a:r>
            <a:endParaRPr lang="en-US" b="0" i="0" dirty="0">
              <a:solidFill>
                <a:srgbClr val="404040"/>
              </a:solidFill>
              <a:effectLst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993416E-3C8A-00C8-F09A-DA9DB2ED0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5"/>
            <a:ext cx="6850505" cy="4794665"/>
          </a:xfrm>
        </p:spPr>
        <p:txBody>
          <a:bodyPr>
            <a:normAutofit fontScale="85000" lnSpcReduction="10000"/>
          </a:bodyPr>
          <a:lstStyle/>
          <a:p>
            <a:pPr marL="457200" algn="just">
              <a:lnSpc>
                <a:spcPct val="100000"/>
              </a:lnSpc>
            </a:pPr>
            <a:r>
              <a:rPr lang="en-US" sz="3100" b="1" i="0" u="sng" dirty="0">
                <a:solidFill>
                  <a:srgbClr val="404040"/>
                </a:solidFill>
                <a:effectLst/>
                <a:latin typeface="+mj-lt"/>
              </a:rPr>
              <a:t>Definition</a:t>
            </a:r>
            <a:r>
              <a:rPr lang="en-US" sz="3100" i="0" dirty="0">
                <a:solidFill>
                  <a:srgbClr val="404040"/>
                </a:solidFill>
                <a:effectLst/>
                <a:latin typeface="+mj-lt"/>
              </a:rPr>
              <a:t>: Illustrates how multiple parts fit together in a product or system</a:t>
            </a:r>
          </a:p>
          <a:p>
            <a:pPr marL="457200" algn="just">
              <a:lnSpc>
                <a:spcPct val="100000"/>
              </a:lnSpc>
            </a:pPr>
            <a:r>
              <a:rPr lang="en-US" sz="3100" b="1" i="0" u="sng" dirty="0">
                <a:solidFill>
                  <a:srgbClr val="404040"/>
                </a:solidFill>
                <a:effectLst/>
                <a:latin typeface="+mj-lt"/>
              </a:rPr>
              <a:t>Purpose</a:t>
            </a:r>
            <a:r>
              <a:rPr lang="en-US" sz="3100" i="0" dirty="0">
                <a:solidFill>
                  <a:srgbClr val="404040"/>
                </a:solidFill>
                <a:effectLst/>
                <a:latin typeface="+mj-lt"/>
              </a:rPr>
              <a:t>: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Shows relationships between components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Guides assembly, maintenance, or disassembly</a:t>
            </a:r>
          </a:p>
          <a:p>
            <a:pPr marL="457200" algn="just">
              <a:lnSpc>
                <a:spcPct val="100000"/>
              </a:lnSpc>
            </a:pPr>
            <a:r>
              <a:rPr lang="en-US" sz="3100" b="1" i="0" u="sng" dirty="0">
                <a:solidFill>
                  <a:srgbClr val="404040"/>
                </a:solidFill>
                <a:effectLst/>
                <a:latin typeface="+mj-lt"/>
              </a:rPr>
              <a:t>Key Elements</a:t>
            </a:r>
            <a:r>
              <a:rPr lang="en-US" sz="3100" i="0" dirty="0">
                <a:solidFill>
                  <a:srgbClr val="404040"/>
                </a:solidFill>
                <a:effectLst/>
                <a:latin typeface="+mj-lt"/>
              </a:rPr>
              <a:t>: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b="1" i="0" dirty="0">
                <a:solidFill>
                  <a:srgbClr val="404040"/>
                </a:solidFill>
                <a:effectLst/>
                <a:latin typeface="+mj-lt"/>
              </a:rPr>
              <a:t>Exploded Views</a:t>
            </a: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: Separated parts aligned to show assembly order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b="1" i="0" dirty="0">
                <a:solidFill>
                  <a:srgbClr val="404040"/>
                </a:solidFill>
                <a:effectLst/>
                <a:latin typeface="+mj-lt"/>
              </a:rPr>
              <a:t>Bill of Materials</a:t>
            </a: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: List of parts with quantities and IDs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b="1" i="0" dirty="0">
                <a:solidFill>
                  <a:srgbClr val="404040"/>
                </a:solidFill>
                <a:effectLst/>
                <a:latin typeface="+mj-lt"/>
              </a:rPr>
              <a:t>Assembly Instructions</a:t>
            </a: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: Notes or arrows for critical steps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4C08ECF-91DF-A911-75D2-2A75EA8B5F1B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FD800-410C-54BB-0E38-841AF429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3B69DB-560E-7DFF-251B-676ED62374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3074" name="Picture 2" descr="Early Simple Machines Building Instruction | LEGO® Education">
            <a:extLst>
              <a:ext uri="{FF2B5EF4-FFF2-40B4-BE49-F238E27FC236}">
                <a16:creationId xmlns:a16="http://schemas.microsoft.com/office/drawing/2014/main" id="{A5E62632-3762-2F4D-108B-F4A8BA2F5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681" y="1825625"/>
            <a:ext cx="4309038" cy="4002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73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855BD-2A10-02BF-5CC0-21F5E3A90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E8F6D-116C-BBF0-A606-AD5322DCB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</a:rPr>
              <a:t>Graphical Conventions</a:t>
            </a:r>
            <a:endParaRPr lang="en-US" b="0" i="0" dirty="0">
              <a:solidFill>
                <a:srgbClr val="404040"/>
              </a:solidFill>
              <a:effectLst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D31E71F-1DFC-6387-941C-36FC5737F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6"/>
            <a:ext cx="11040256" cy="4687600"/>
          </a:xfrm>
        </p:spPr>
        <p:txBody>
          <a:bodyPr>
            <a:normAutofit lnSpcReduction="10000"/>
          </a:bodyPr>
          <a:lstStyle/>
          <a:p>
            <a:pPr marL="457200" algn="just">
              <a:lnSpc>
                <a:spcPct val="100000"/>
              </a:lnSpc>
            </a:pPr>
            <a:r>
              <a:rPr lang="en-US" sz="3100" i="0" dirty="0">
                <a:solidFill>
                  <a:srgbClr val="404040"/>
                </a:solidFill>
                <a:effectLst/>
                <a:latin typeface="+mj-lt"/>
              </a:rPr>
              <a:t>Standard Practices</a:t>
            </a:r>
          </a:p>
          <a:p>
            <a:pPr marL="7429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3100" i="0" dirty="0">
                <a:solidFill>
                  <a:srgbClr val="404040"/>
                </a:solidFill>
                <a:effectLst/>
                <a:latin typeface="+mj-lt"/>
              </a:rPr>
              <a:t>Line Types: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Continuous (visible edges)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Dashed (hidden features)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Centerlines (symmetry/axes)</a:t>
            </a:r>
          </a:p>
          <a:p>
            <a:pPr marL="7429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3100" i="0" dirty="0">
                <a:solidFill>
                  <a:srgbClr val="404040"/>
                </a:solidFill>
                <a:effectLst/>
                <a:latin typeface="+mj-lt"/>
              </a:rPr>
              <a:t>Symbols: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Surface finish, welding, electrical</a:t>
            </a:r>
          </a:p>
          <a:p>
            <a:pPr marL="7429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3100" i="0" dirty="0">
                <a:solidFill>
                  <a:srgbClr val="404040"/>
                </a:solidFill>
                <a:effectLst/>
                <a:latin typeface="+mj-lt"/>
              </a:rPr>
              <a:t>Annotations: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Dimensions, notes, leaders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1AABB6B-6ECF-A3D2-3728-61FCC8CD5A05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5174F-7962-2D19-74A6-7D8029A98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05E2EB-DC00-ECB5-B086-80EF5B3C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476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36232-7595-5EF4-AE78-76C3B69E3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CCE05-5A39-638B-56D1-4D75D0F65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dirty="0">
                <a:solidFill>
                  <a:srgbClr val="404040"/>
                </a:solidFill>
              </a:rPr>
              <a:t>d</a:t>
            </a:r>
            <a:r>
              <a:rPr lang="en-US" b="1" i="0" dirty="0">
                <a:solidFill>
                  <a:srgbClr val="404040"/>
                </a:solidFill>
                <a:effectLst/>
              </a:rPr>
              <a:t>raw.io: Your Tool for Engineering Diagrams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0BC184A-56E4-34B8-7BD8-7E89B06F2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6"/>
            <a:ext cx="11040256" cy="3030327"/>
          </a:xfrm>
        </p:spPr>
        <p:txBody>
          <a:bodyPr>
            <a:normAutofit fontScale="92500" lnSpcReduction="20000"/>
          </a:bodyPr>
          <a:lstStyle/>
          <a:p>
            <a:pPr marL="457200" algn="just">
              <a:lnSpc>
                <a:spcPct val="100000"/>
              </a:lnSpc>
            </a:pPr>
            <a:r>
              <a:rPr lang="en-US" sz="3100" i="0" dirty="0">
                <a:solidFill>
                  <a:srgbClr val="404040"/>
                </a:solidFill>
                <a:effectLst/>
                <a:latin typeface="+mj-lt"/>
              </a:rPr>
              <a:t>What is draw.io?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Free, web-based diagramming tool for technical and engineering drawings</a:t>
            </a:r>
          </a:p>
          <a:p>
            <a:pPr marL="457200" algn="just">
              <a:lnSpc>
                <a:spcPct val="100000"/>
              </a:lnSpc>
            </a:pPr>
            <a:r>
              <a:rPr lang="en-US" sz="3100" i="0" dirty="0">
                <a:solidFill>
                  <a:srgbClr val="404040"/>
                </a:solidFill>
                <a:effectLst/>
                <a:latin typeface="+mj-lt"/>
              </a:rPr>
              <a:t>Why Use draw.io?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Supports standardized symbols (electrical, logic, mechanical)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Collaborative (real-time sharing via Google Drive, OneDrive, etc.)</a:t>
            </a:r>
            <a:endParaRPr lang="en-US" sz="3100" i="0" dirty="0">
              <a:solidFill>
                <a:srgbClr val="404040"/>
              </a:solidFill>
              <a:effectLst/>
              <a:latin typeface="+mj-lt"/>
            </a:endParaRPr>
          </a:p>
          <a:p>
            <a:pPr marL="914400" lvl="1" algn="just">
              <a:lnSpc>
                <a:spcPct val="100000"/>
              </a:lnSpc>
            </a:pP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Export as PNG, PDF, or integrate into docs</a:t>
            </a:r>
          </a:p>
          <a:p>
            <a:pPr marL="457200" algn="just">
              <a:lnSpc>
                <a:spcPct val="100000"/>
              </a:lnSpc>
            </a:pPr>
            <a:r>
              <a:rPr lang="en-US" sz="2700" dirty="0">
                <a:solidFill>
                  <a:srgbClr val="404040"/>
                </a:solidFill>
                <a:latin typeface="+mj-lt"/>
              </a:rPr>
              <a:t>Let’s open </a:t>
            </a:r>
            <a:r>
              <a:rPr lang="en-US" sz="2700" b="1" i="1" dirty="0">
                <a:solidFill>
                  <a:srgbClr val="404040"/>
                </a:solidFill>
                <a:latin typeface="+mj-lt"/>
              </a:rPr>
              <a:t>draw.io</a:t>
            </a:r>
            <a:r>
              <a:rPr lang="en-US" sz="2700" dirty="0">
                <a:solidFill>
                  <a:srgbClr val="404040"/>
                </a:solidFill>
                <a:latin typeface="+mj-lt"/>
              </a:rPr>
              <a:t>!</a:t>
            </a:r>
            <a:endParaRPr lang="en-US" sz="2700" i="0" dirty="0">
              <a:solidFill>
                <a:srgbClr val="404040"/>
              </a:solidFill>
              <a:effectLst/>
              <a:latin typeface="+mj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889A30B-83E6-885E-D107-A90383AFDFE2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5DF137-CB9D-1886-7EA4-AA5713984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B46CFA-E6F0-5946-BEB7-AE8A967B064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4098" name="Picture 2" descr="Draw.io Logo PNG vector in SVG, PDF, AI ...">
            <a:extLst>
              <a:ext uri="{FF2B5EF4-FFF2-40B4-BE49-F238E27FC236}">
                <a16:creationId xmlns:a16="http://schemas.microsoft.com/office/drawing/2014/main" id="{BE496377-7186-7B8A-CC64-9D4E4EEF7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12" y="4873625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91C816-8BE0-01A6-B58B-126AEC62E39F}"/>
              </a:ext>
            </a:extLst>
          </p:cNvPr>
          <p:cNvSpPr txBox="1"/>
          <p:nvPr/>
        </p:nvSpPr>
        <p:spPr>
          <a:xfrm>
            <a:off x="6962932" y="5448925"/>
            <a:ext cx="2203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Download from </a:t>
            </a:r>
            <a:r>
              <a:rPr lang="en-US" dirty="0">
                <a:hlinkClick r:id="rId4"/>
              </a:rPr>
              <a:t>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313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CFE92-F2F6-780F-F9A4-970AEDCFF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4693E-9ED8-2357-8715-05220A7CE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</a:rPr>
              <a:t>Schematics: Blueprints of Functionality</a:t>
            </a:r>
            <a:endParaRPr lang="en-US" b="0" i="0" dirty="0">
              <a:solidFill>
                <a:srgbClr val="404040"/>
              </a:solidFill>
              <a:effectLst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D23695-CA0E-76BD-4BAB-3D981990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6"/>
            <a:ext cx="11040256" cy="4687600"/>
          </a:xfrm>
        </p:spPr>
        <p:txBody>
          <a:bodyPr>
            <a:normAutofit fontScale="92500" lnSpcReduction="20000"/>
          </a:bodyPr>
          <a:lstStyle/>
          <a:p>
            <a:pPr marL="457200" algn="just">
              <a:lnSpc>
                <a:spcPct val="100000"/>
              </a:lnSpc>
            </a:pPr>
            <a:r>
              <a:rPr lang="en-US" sz="3100" b="1" i="0" u="sng" dirty="0">
                <a:solidFill>
                  <a:srgbClr val="404040"/>
                </a:solidFill>
                <a:effectLst/>
                <a:latin typeface="+mj-lt"/>
              </a:rPr>
              <a:t>Definition</a:t>
            </a:r>
            <a:r>
              <a:rPr lang="en-US" sz="3100" i="0" dirty="0">
                <a:solidFill>
                  <a:srgbClr val="404040"/>
                </a:solidFill>
                <a:effectLst/>
                <a:latin typeface="+mj-lt"/>
              </a:rPr>
              <a:t>: 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A schematic is a symbolic diagram that represents a system’s functionality (not physical layout)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Uses standardized symbols to show components and connections.</a:t>
            </a:r>
          </a:p>
          <a:p>
            <a:pPr marL="457200" algn="just">
              <a:lnSpc>
                <a:spcPct val="100000"/>
              </a:lnSpc>
            </a:pPr>
            <a:r>
              <a:rPr lang="en-US" sz="3100" b="1" i="0" u="sng" dirty="0">
                <a:solidFill>
                  <a:srgbClr val="404040"/>
                </a:solidFill>
                <a:effectLst/>
                <a:latin typeface="+mj-lt"/>
              </a:rPr>
              <a:t>Purpose</a:t>
            </a:r>
            <a:r>
              <a:rPr lang="en-US" sz="3100" i="0" dirty="0">
                <a:solidFill>
                  <a:srgbClr val="404040"/>
                </a:solidFill>
                <a:effectLst/>
                <a:latin typeface="+mj-lt"/>
              </a:rPr>
              <a:t>: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Communicate how a system works (electrical flow, logic, fluid dynamics).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Critical for design, troubleshooting, and documentation.</a:t>
            </a:r>
          </a:p>
          <a:p>
            <a:pPr marL="457200" algn="just">
              <a:lnSpc>
                <a:spcPct val="100000"/>
              </a:lnSpc>
            </a:pPr>
            <a:r>
              <a:rPr lang="en-US" sz="3100" b="1" i="0" u="sng" dirty="0">
                <a:solidFill>
                  <a:srgbClr val="404040"/>
                </a:solidFill>
                <a:effectLst/>
                <a:latin typeface="+mj-lt"/>
              </a:rPr>
              <a:t>Key Elements</a:t>
            </a:r>
            <a:r>
              <a:rPr lang="en-US" sz="3100" i="0" dirty="0">
                <a:solidFill>
                  <a:srgbClr val="404040"/>
                </a:solidFill>
                <a:effectLst/>
                <a:latin typeface="+mj-lt"/>
              </a:rPr>
              <a:t>: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b="1" i="0" dirty="0">
                <a:solidFill>
                  <a:srgbClr val="404040"/>
                </a:solidFill>
                <a:effectLst/>
                <a:latin typeface="+mj-lt"/>
              </a:rPr>
              <a:t>Symbols</a:t>
            </a: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: Resistors, transistors, gates, valves (abstractions of real components).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b="1" i="0" dirty="0">
                <a:solidFill>
                  <a:srgbClr val="404040"/>
                </a:solidFill>
                <a:effectLst/>
                <a:latin typeface="+mj-lt"/>
              </a:rPr>
              <a:t>Connections</a:t>
            </a: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: Lines/wires showing flow or relationships.</a:t>
            </a:r>
          </a:p>
          <a:p>
            <a:pPr marL="914400" lvl="1" algn="just">
              <a:lnSpc>
                <a:spcPct val="100000"/>
              </a:lnSpc>
            </a:pPr>
            <a:r>
              <a:rPr lang="en-US" sz="2700" b="1" i="0" dirty="0">
                <a:solidFill>
                  <a:srgbClr val="404040"/>
                </a:solidFill>
                <a:effectLst/>
                <a:latin typeface="+mj-lt"/>
              </a:rPr>
              <a:t>Labels</a:t>
            </a:r>
            <a:r>
              <a:rPr lang="en-US" sz="2700" i="0" dirty="0">
                <a:solidFill>
                  <a:srgbClr val="404040"/>
                </a:solidFill>
                <a:effectLst/>
                <a:latin typeface="+mj-lt"/>
              </a:rPr>
              <a:t>: Values (e.g., 10kΩ), voltages, signal names.</a:t>
            </a:r>
            <a:endParaRPr lang="en-US" sz="2300" i="0" dirty="0">
              <a:solidFill>
                <a:srgbClr val="404040"/>
              </a:solidFill>
              <a:effectLst/>
              <a:latin typeface="+mj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FF791C-55C9-C6EA-7E87-CDDB57A32DE1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1D902-602E-2E4D-4682-F89F93DA0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7C8058-D07A-6FEC-A61F-66910E6820B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466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7ABAE-045F-CE12-6C7A-179A8DAB4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E42BC-44AC-9816-3E6C-CCE5B60EB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</a:rPr>
              <a:t>Schematic conventions in circuits</a:t>
            </a:r>
            <a:endParaRPr lang="en-US" b="0" i="0" dirty="0">
              <a:solidFill>
                <a:srgbClr val="404040"/>
              </a:solidFill>
              <a:effectLst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5C00685-F92F-F5DF-A98C-DB7B76409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6"/>
            <a:ext cx="11040256" cy="4687600"/>
          </a:xfrm>
        </p:spPr>
        <p:txBody>
          <a:bodyPr>
            <a:normAutofit/>
          </a:bodyPr>
          <a:lstStyle/>
          <a:p>
            <a:pPr marL="457200" algn="just">
              <a:lnSpc>
                <a:spcPct val="100000"/>
              </a:lnSpc>
            </a:pPr>
            <a:r>
              <a:rPr lang="en-US" sz="3100" i="0" dirty="0">
                <a:solidFill>
                  <a:srgbClr val="404040"/>
                </a:solidFill>
                <a:effectLst/>
                <a:latin typeface="+mj-lt"/>
              </a:rPr>
              <a:t>There are a variety of standards used by electrical engineers to define the appearance of many common circuit elements. </a:t>
            </a:r>
            <a:endParaRPr lang="en-US" sz="2300" i="0" dirty="0">
              <a:solidFill>
                <a:srgbClr val="404040"/>
              </a:solidFill>
              <a:effectLst/>
              <a:latin typeface="+mj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BBE117-8690-F6C5-2FF3-8E1E3AC60BC7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CDF34-D0C5-CD08-99C7-A5A69E69B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D6BB62-79CD-0F51-B446-7FD2D3318F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4E4853-30C2-319A-9341-0066CB3A4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468" y="2928486"/>
            <a:ext cx="8750750" cy="32196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69D3DD-04F6-DF67-C1FE-DFB526E71E7F}"/>
              </a:ext>
            </a:extLst>
          </p:cNvPr>
          <p:cNvSpPr txBox="1"/>
          <p:nvPr/>
        </p:nvSpPr>
        <p:spPr>
          <a:xfrm>
            <a:off x="3934917" y="6372623"/>
            <a:ext cx="516147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Credit</a:t>
            </a:r>
            <a:r>
              <a:rPr lang="en-US" sz="1500" dirty="0"/>
              <a:t>: Carnegie Mellon University (courses.ideate.cmu.edu)</a:t>
            </a:r>
          </a:p>
        </p:txBody>
      </p:sp>
    </p:spTree>
    <p:extLst>
      <p:ext uri="{BB962C8B-B14F-4D97-AF65-F5344CB8AC3E}">
        <p14:creationId xmlns:p14="http://schemas.microsoft.com/office/powerpoint/2010/main" val="1683136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563E5-258B-DC92-5BDD-98F460987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92994-F95E-FAAA-D3E9-84FBF6966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</a:rPr>
              <a:t>Wire crossing style</a:t>
            </a:r>
            <a:endParaRPr lang="en-US" b="0" i="0" dirty="0">
              <a:solidFill>
                <a:srgbClr val="404040"/>
              </a:solidFill>
              <a:effectLst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359C867-449F-EDD5-2246-9487F93CEC01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3F15F9-1CE1-DA80-859F-DF93A1154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B3BD80-8A77-0AB0-8642-C1848986EC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854EA9-3215-5B46-2A78-11DC729C5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154" y="2088263"/>
            <a:ext cx="5372945" cy="33057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3FE362-F3FB-3AF5-1752-ED8634D86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068" y="1910514"/>
            <a:ext cx="3997381" cy="303697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CD22925-0EF5-4A97-574C-7E1CE81CED09}"/>
              </a:ext>
            </a:extLst>
          </p:cNvPr>
          <p:cNvSpPr txBox="1"/>
          <p:nvPr/>
        </p:nvSpPr>
        <p:spPr>
          <a:xfrm>
            <a:off x="3934917" y="6372623"/>
            <a:ext cx="516147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Credit</a:t>
            </a:r>
            <a:r>
              <a:rPr lang="en-US" sz="1500" dirty="0"/>
              <a:t>: Carnegie Mellon University (courses.ideate.cmu.edu)</a:t>
            </a:r>
          </a:p>
        </p:txBody>
      </p:sp>
    </p:spTree>
    <p:extLst>
      <p:ext uri="{BB962C8B-B14F-4D97-AF65-F5344CB8AC3E}">
        <p14:creationId xmlns:p14="http://schemas.microsoft.com/office/powerpoint/2010/main" val="3935555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CC123-6B7F-A569-2DD8-BDAF1E2A7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05511-441F-00B9-60BA-4E62C954C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</a:rPr>
              <a:t>Wire crossing style: How</a:t>
            </a:r>
            <a:endParaRPr lang="en-US" b="0" i="0" dirty="0">
              <a:solidFill>
                <a:srgbClr val="404040"/>
              </a:solidFill>
              <a:effectLst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2EAF4F3-4D13-7663-0275-E63CEC70C940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E470D-6393-821B-3031-8267B7946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216DF9-258B-C684-4608-897221509C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945F2D-95BA-9BD8-38F6-7F1378AFC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572" y="1810873"/>
            <a:ext cx="9086855" cy="49106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230F37-97BC-AB3C-1B1E-DAAF331A66B2}"/>
              </a:ext>
            </a:extLst>
          </p:cNvPr>
          <p:cNvSpPr txBox="1"/>
          <p:nvPr/>
        </p:nvSpPr>
        <p:spPr>
          <a:xfrm>
            <a:off x="749508" y="6579799"/>
            <a:ext cx="35493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Credit</a:t>
            </a:r>
            <a:r>
              <a:rPr lang="en-US" sz="1000" dirty="0"/>
              <a:t>: Carnegie Mellon University (courses.ideate.cmu.edu)</a:t>
            </a:r>
          </a:p>
        </p:txBody>
      </p:sp>
    </p:spTree>
    <p:extLst>
      <p:ext uri="{BB962C8B-B14F-4D97-AF65-F5344CB8AC3E}">
        <p14:creationId xmlns:p14="http://schemas.microsoft.com/office/powerpoint/2010/main" val="1573043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631ED-4F91-4EDA-9C86-8A0DB31E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A142F-18D6-28F8-078F-1DF87B8D0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</a:rPr>
              <a:t>Some Do’s and Do Not Do’s</a:t>
            </a:r>
            <a:endParaRPr lang="en-US" b="0" i="0" dirty="0">
              <a:solidFill>
                <a:srgbClr val="404040"/>
              </a:solidFill>
              <a:effectLst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DC1E79-2A5D-B1EF-B52B-0032AB37C478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04EFC-8049-ED4D-6DCF-CE45026F3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66FE73-619D-1791-4EFE-B7C9A71F6F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2BB84B-0BE4-7C1C-3208-65011B733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997" y="1682288"/>
            <a:ext cx="7944017" cy="50391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580C5B-4212-3810-7D3D-96290E238FEE}"/>
              </a:ext>
            </a:extLst>
          </p:cNvPr>
          <p:cNvSpPr txBox="1"/>
          <p:nvPr/>
        </p:nvSpPr>
        <p:spPr>
          <a:xfrm>
            <a:off x="749508" y="6579799"/>
            <a:ext cx="35493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Credit</a:t>
            </a:r>
            <a:r>
              <a:rPr lang="en-US" sz="1000" dirty="0"/>
              <a:t>: Carnegie Mellon University (courses.ideate.cmu.edu)</a:t>
            </a:r>
          </a:p>
        </p:txBody>
      </p:sp>
    </p:spTree>
    <p:extLst>
      <p:ext uri="{BB962C8B-B14F-4D97-AF65-F5344CB8AC3E}">
        <p14:creationId xmlns:p14="http://schemas.microsoft.com/office/powerpoint/2010/main" val="899245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7116F-D3DC-6F22-0F77-9E10E8C96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486FB-425F-1DA5-206D-7C2AC7BFA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</a:rPr>
              <a:t>Some Do’s and Do Not Do’s (contd.)</a:t>
            </a:r>
            <a:endParaRPr lang="en-US" b="0" i="0" dirty="0">
              <a:solidFill>
                <a:srgbClr val="404040"/>
              </a:solidFill>
              <a:effectLst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FAA9DF6-E2A3-D0B6-91D4-638CFD0962F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61D8B2-4A2E-18C8-EFBC-164F5E41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4C746F-095B-45F1-8DC1-52E99C731F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2009C3-4B1E-C0D8-0A13-EF223A69A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502" y="1642778"/>
            <a:ext cx="5557239" cy="49775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570635-488A-47C2-5792-F64D1FB88E33}"/>
              </a:ext>
            </a:extLst>
          </p:cNvPr>
          <p:cNvSpPr txBox="1"/>
          <p:nvPr/>
        </p:nvSpPr>
        <p:spPr>
          <a:xfrm>
            <a:off x="8491928" y="4211353"/>
            <a:ext cx="35493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Credit</a:t>
            </a:r>
            <a:r>
              <a:rPr lang="en-US" sz="1000" dirty="0"/>
              <a:t>: Carnegie Mellon University (courses.ideate.cmu.edu)</a:t>
            </a:r>
          </a:p>
        </p:txBody>
      </p:sp>
    </p:spTree>
    <p:extLst>
      <p:ext uri="{BB962C8B-B14F-4D97-AF65-F5344CB8AC3E}">
        <p14:creationId xmlns:p14="http://schemas.microsoft.com/office/powerpoint/2010/main" val="3603125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8F187-DF04-B161-3BEE-F1A66D167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D207E-EC18-9DBB-E149-C2CB74466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</a:rPr>
              <a:t>Some Do’s and Do Not Do’s (contd.)</a:t>
            </a:r>
            <a:endParaRPr lang="en-US" b="0" i="0" dirty="0">
              <a:solidFill>
                <a:srgbClr val="404040"/>
              </a:solidFill>
              <a:effectLst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25880F-E27F-5B34-B7D8-E527B3E550E5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B680B5-3608-8D3C-FE78-1D88BD437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AAEF9E-E32A-6F60-FA06-42B023EBD77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CD3209-9949-6B37-8ACF-0C6809B10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464" y="1612251"/>
            <a:ext cx="5513136" cy="48493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976C88-B2C3-1AF3-EAC3-823623BB3BDB}"/>
              </a:ext>
            </a:extLst>
          </p:cNvPr>
          <p:cNvSpPr txBox="1"/>
          <p:nvPr/>
        </p:nvSpPr>
        <p:spPr>
          <a:xfrm>
            <a:off x="749508" y="6579799"/>
            <a:ext cx="35493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Credit</a:t>
            </a:r>
            <a:r>
              <a:rPr lang="en-US" sz="1000" dirty="0"/>
              <a:t>: Carnegie Mellon University (courses.ideate.cmu.edu)</a:t>
            </a:r>
          </a:p>
        </p:txBody>
      </p:sp>
    </p:spTree>
    <p:extLst>
      <p:ext uri="{BB962C8B-B14F-4D97-AF65-F5344CB8AC3E}">
        <p14:creationId xmlns:p14="http://schemas.microsoft.com/office/powerpoint/2010/main" val="1982682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EB4A6-8F18-110D-10CE-C872CEEC7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A1C6-02C3-D422-F689-31B22CB1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</a:rPr>
              <a:t>Some Do’s and Do Not Do’s (contd.)</a:t>
            </a:r>
            <a:endParaRPr lang="en-US" b="0" i="0" dirty="0">
              <a:solidFill>
                <a:srgbClr val="404040"/>
              </a:solidFill>
              <a:effectLst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4389CAE-2D72-6D38-EAD2-F48705ABCD4B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6BF0CC-BCEA-B79B-F22C-B49ADA74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B3C404-9459-62C9-0187-322A2143BA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08D87F-6FA9-2B28-5D9B-E48096D3D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119" y="1530100"/>
            <a:ext cx="6526405" cy="24090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9A0844-9094-D657-D977-5491CC0E1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341" y="4116661"/>
            <a:ext cx="6661317" cy="26645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D68E4B-4454-9277-55F3-A25D7D4FA37C}"/>
              </a:ext>
            </a:extLst>
          </p:cNvPr>
          <p:cNvSpPr txBox="1"/>
          <p:nvPr/>
        </p:nvSpPr>
        <p:spPr>
          <a:xfrm>
            <a:off x="0" y="6658077"/>
            <a:ext cx="35493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Credit</a:t>
            </a:r>
            <a:r>
              <a:rPr lang="en-US" sz="1000" dirty="0"/>
              <a:t>: Carnegie Mellon University (courses.ideate.cmu.edu)</a:t>
            </a:r>
          </a:p>
        </p:txBody>
      </p:sp>
    </p:spTree>
    <p:extLst>
      <p:ext uri="{BB962C8B-B14F-4D97-AF65-F5344CB8AC3E}">
        <p14:creationId xmlns:p14="http://schemas.microsoft.com/office/powerpoint/2010/main" val="3228220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8D805-DD31-C690-C2F6-602A0FA1E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2A5F-91BA-F099-1ED6-D8640C5EA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</a:rPr>
              <a:t>Some Do’s and Do Not Do’s (contd.)</a:t>
            </a:r>
            <a:endParaRPr lang="en-US" b="0" i="0" dirty="0">
              <a:solidFill>
                <a:srgbClr val="404040"/>
              </a:solidFill>
              <a:effectLst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86B1023-EA54-0CA2-D9E3-C4CA74645E36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9C4F0-7E49-EAEC-1311-A055B894B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C5E628-47BC-0EFE-91D9-74EA4FD572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0F6B40-45D2-D13E-FD9F-C5E52EDC8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119" y="1530100"/>
            <a:ext cx="6526405" cy="24090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2167FA-9EB7-4134-F9A5-CDDF37FC6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341" y="4116661"/>
            <a:ext cx="6661317" cy="26645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113090-9E69-266B-5871-C5BF694B053F}"/>
              </a:ext>
            </a:extLst>
          </p:cNvPr>
          <p:cNvSpPr txBox="1"/>
          <p:nvPr/>
        </p:nvSpPr>
        <p:spPr>
          <a:xfrm>
            <a:off x="0" y="6638481"/>
            <a:ext cx="35493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Credit</a:t>
            </a:r>
            <a:r>
              <a:rPr lang="en-US" sz="1000" dirty="0"/>
              <a:t>: Carnegie Mellon University (courses.ideate.cmu.edu)</a:t>
            </a:r>
          </a:p>
        </p:txBody>
      </p:sp>
    </p:spTree>
    <p:extLst>
      <p:ext uri="{BB962C8B-B14F-4D97-AF65-F5344CB8AC3E}">
        <p14:creationId xmlns:p14="http://schemas.microsoft.com/office/powerpoint/2010/main" val="2576984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21491-8111-1174-8049-7CC1B638B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EC46-30DA-A515-8CA3-B69C66457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</a:rPr>
              <a:t>Some Do’s and Do Not Do’s (contd.)</a:t>
            </a:r>
            <a:endParaRPr lang="en-US" b="0" i="0" dirty="0">
              <a:solidFill>
                <a:srgbClr val="404040"/>
              </a:solidFill>
              <a:effectLst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8978DD8-CD90-D8A3-A560-C89AEAC1B5D8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652932-C49A-451D-5D2F-CFBEC4CE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83F53A-10F9-0A3C-F570-96D06228CB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73FAD1-B575-F7FC-E82F-4C8DB6249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20" y="1831557"/>
            <a:ext cx="10446287" cy="41023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7A05E3-B11D-A7F3-7D02-703476FA8875}"/>
              </a:ext>
            </a:extLst>
          </p:cNvPr>
          <p:cNvSpPr txBox="1"/>
          <p:nvPr/>
        </p:nvSpPr>
        <p:spPr>
          <a:xfrm>
            <a:off x="749508" y="6579799"/>
            <a:ext cx="35493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Credit</a:t>
            </a:r>
            <a:r>
              <a:rPr lang="en-US" sz="1000" dirty="0"/>
              <a:t>: Carnegie Mellon University (courses.ideate.cmu.edu)</a:t>
            </a:r>
          </a:p>
        </p:txBody>
      </p:sp>
    </p:spTree>
    <p:extLst>
      <p:ext uri="{BB962C8B-B14F-4D97-AF65-F5344CB8AC3E}">
        <p14:creationId xmlns:p14="http://schemas.microsoft.com/office/powerpoint/2010/main" val="3792895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22F85-664E-7417-9AC5-EA1B495BE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917ED-B0BD-C8BE-15DC-94C3BFBD0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</a:rPr>
              <a:t>How to obtain circuit elements?</a:t>
            </a:r>
            <a:endParaRPr lang="en-US" b="0" i="0" dirty="0">
              <a:solidFill>
                <a:srgbClr val="404040"/>
              </a:solidFill>
              <a:effectLst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7E539C-3580-69B6-C1A3-247F0E13BD03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0EA73-ABE7-3661-0372-1F32C2129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5EDC7C-9019-3701-4695-75B0479D45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19A940-2E14-74E9-BB17-36857B6D8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25" y="2088263"/>
            <a:ext cx="1967063" cy="38388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DCAD43-A585-B3A9-3909-DBFF589BA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747" y="2657100"/>
            <a:ext cx="4927853" cy="24512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50D0D4-FF24-DBFB-E67C-6C91D0F0F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7578" y="1695193"/>
            <a:ext cx="1669627" cy="437504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86BE8338-8A72-D527-F309-454BF1B7132E}"/>
              </a:ext>
            </a:extLst>
          </p:cNvPr>
          <p:cNvSpPr/>
          <p:nvPr/>
        </p:nvSpPr>
        <p:spPr>
          <a:xfrm>
            <a:off x="8818605" y="3834500"/>
            <a:ext cx="580768" cy="25062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CA388FC-521B-F405-933A-F7B47C8460BD}"/>
              </a:ext>
            </a:extLst>
          </p:cNvPr>
          <p:cNvSpPr/>
          <p:nvPr/>
        </p:nvSpPr>
        <p:spPr>
          <a:xfrm>
            <a:off x="2945027" y="4035113"/>
            <a:ext cx="580768" cy="25062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495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C3C95-C7BB-3BED-79BF-B27BE9CE0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4E1F-2E53-325C-A294-F961B18FD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</a:rPr>
              <a:t>How to save into images?</a:t>
            </a:r>
            <a:endParaRPr lang="en-US" b="0" i="0" dirty="0">
              <a:solidFill>
                <a:srgbClr val="404040"/>
              </a:solidFill>
              <a:effectLst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5D54F1-7BFA-5B24-7DD0-435AD27B8615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4AAA8-511E-08BE-6CC3-12E60CC62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6754D1-811A-36AD-6395-6FE8D253C6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F0FA90-BBEA-2916-B305-E195ADDD9654}"/>
              </a:ext>
            </a:extLst>
          </p:cNvPr>
          <p:cNvSpPr txBox="1"/>
          <p:nvPr/>
        </p:nvSpPr>
        <p:spPr>
          <a:xfrm>
            <a:off x="361689" y="1449671"/>
            <a:ext cx="5446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Press Ctrl + A to select all the elements in the figure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EF6961-8682-1315-A7A3-09378D1D5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86" y="1760809"/>
            <a:ext cx="3335774" cy="29709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B90B083-30CC-10D8-DDD5-1F150B051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8184" y="3112602"/>
            <a:ext cx="3169436" cy="342631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9D57BB2-4A24-B344-D292-4FF8CB9B7FF5}"/>
              </a:ext>
            </a:extLst>
          </p:cNvPr>
          <p:cNvSpPr txBox="1"/>
          <p:nvPr/>
        </p:nvSpPr>
        <p:spPr>
          <a:xfrm>
            <a:off x="3702646" y="2743270"/>
            <a:ext cx="3740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Go to File &gt; Export as &gt; PNG/JPEG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378E901-ECDB-20C6-2326-FE6E71655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7776" y="2734638"/>
            <a:ext cx="2720216" cy="294876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E50F013-C4B2-E82A-9F4A-D4AADFB21C59}"/>
              </a:ext>
            </a:extLst>
          </p:cNvPr>
          <p:cNvSpPr txBox="1"/>
          <p:nvPr/>
        </p:nvSpPr>
        <p:spPr>
          <a:xfrm>
            <a:off x="7029800" y="2010177"/>
            <a:ext cx="5089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Select the following options and click on Export</a:t>
            </a:r>
            <a:br>
              <a:rPr lang="en-US" dirty="0"/>
            </a:br>
            <a:r>
              <a:rPr lang="en-US" dirty="0"/>
              <a:t>to save your file in the desired location</a:t>
            </a:r>
          </a:p>
        </p:txBody>
      </p:sp>
    </p:spTree>
    <p:extLst>
      <p:ext uri="{BB962C8B-B14F-4D97-AF65-F5344CB8AC3E}">
        <p14:creationId xmlns:p14="http://schemas.microsoft.com/office/powerpoint/2010/main" val="387639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624A8-08CD-05F3-48D7-3FD428490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7A83A-A004-B9D8-AFE7-124BC6D1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</a:rPr>
              <a:t>Exercise#1</a:t>
            </a:r>
            <a:endParaRPr lang="en-US" b="0" i="0" dirty="0">
              <a:solidFill>
                <a:srgbClr val="404040"/>
              </a:solidFill>
              <a:effectLst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C5401E-35AB-0810-9028-024F2BD066B9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E287FF-B367-055C-9C89-016600A4A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0F2658-E52F-8CEA-2E37-BB0E4E040A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Picture 5" descr="A diagram of a circuit&#10;&#10;AI-generated content may be incorrect.">
            <a:extLst>
              <a:ext uri="{FF2B5EF4-FFF2-40B4-BE49-F238E27FC236}">
                <a16:creationId xmlns:a16="http://schemas.microsoft.com/office/drawing/2014/main" id="{B7A48932-8E49-85EB-1C06-B29B03B6D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632" y="1934066"/>
            <a:ext cx="5043617" cy="417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185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BBA4B-F5A6-AD89-285D-4BEA9822F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DA4D7-C459-B69D-9061-067FBD1EC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</a:rPr>
              <a:t>Exercise#2</a:t>
            </a:r>
            <a:endParaRPr lang="en-US" b="0" i="0" dirty="0">
              <a:solidFill>
                <a:srgbClr val="404040"/>
              </a:solidFill>
              <a:effectLst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88C59C-D5A9-372D-8D06-128FA548F542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AD756D-D16B-B9E7-5190-EB79CB487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BC4D51-279A-9338-8F3B-F522AC2ABA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Picture 5" descr="A diagram of electrical wiring&#10;&#10;AI-generated content may be incorrect.">
            <a:extLst>
              <a:ext uri="{FF2B5EF4-FFF2-40B4-BE49-F238E27FC236}">
                <a16:creationId xmlns:a16="http://schemas.microsoft.com/office/drawing/2014/main" id="{FC174834-D957-6297-0261-751E6AD7C9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761" y="1934066"/>
            <a:ext cx="7176515" cy="433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0691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8B8CB-4B44-3556-C041-C0ABEC524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80D1-32A8-29CB-FA64-13C5C401C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404040"/>
                </a:solidFill>
                <a:effectLst/>
              </a:rPr>
              <a:t>Exercise#3</a:t>
            </a:r>
            <a:endParaRPr lang="en-US" b="0" i="0" dirty="0">
              <a:solidFill>
                <a:srgbClr val="404040"/>
              </a:solidFill>
              <a:effectLst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325B5D-7144-18C1-A701-984C0B7C8856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02142-4441-CC41-09BA-3BDDD89A3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8B4B67-DCAE-4475-1471-9FBB34F7C3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Picture 5" descr="A group of lines with arrows&#10;&#10;AI-generated content may be incorrect.">
            <a:extLst>
              <a:ext uri="{FF2B5EF4-FFF2-40B4-BE49-F238E27FC236}">
                <a16:creationId xmlns:a16="http://schemas.microsoft.com/office/drawing/2014/main" id="{A3A71E7B-1E1F-AB42-D368-BD3D3D432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197" y="2085340"/>
            <a:ext cx="8025714" cy="374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050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4748</TotalTime>
  <Words>1009</Words>
  <Application>Microsoft Office PowerPoint</Application>
  <PresentationFormat>Widescreen</PresentationFormat>
  <Paragraphs>159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DeepSeek-CJK-patch</vt:lpstr>
      <vt:lpstr>Office Theme</vt:lpstr>
      <vt:lpstr> Lecture 1: Introduction to Engineering Drawing</vt:lpstr>
      <vt:lpstr>Class Information</vt:lpstr>
      <vt:lpstr>Instructor Information</vt:lpstr>
      <vt:lpstr>Tentative Marks Distribution</vt:lpstr>
      <vt:lpstr>Class Rules</vt:lpstr>
      <vt:lpstr>Course Objectives</vt:lpstr>
      <vt:lpstr>Technical Drawing</vt:lpstr>
      <vt:lpstr> Common Terms in Technical Drawing</vt:lpstr>
      <vt:lpstr>Projections</vt:lpstr>
      <vt:lpstr>Part Drawings</vt:lpstr>
      <vt:lpstr>Assembly Drawings</vt:lpstr>
      <vt:lpstr>Graphical Conventions</vt:lpstr>
      <vt:lpstr>draw.io: Your Tool for Engineering Diagrams</vt:lpstr>
      <vt:lpstr>Schematics: Blueprints of Functionality</vt:lpstr>
      <vt:lpstr>Schematic conventions in circuits</vt:lpstr>
      <vt:lpstr>Wire crossing style</vt:lpstr>
      <vt:lpstr>Wire crossing style: How</vt:lpstr>
      <vt:lpstr>Some Do’s and Do Not Do’s</vt:lpstr>
      <vt:lpstr>Some Do’s and Do Not Do’s (contd.)</vt:lpstr>
      <vt:lpstr>Some Do’s and Do Not Do’s (contd.)</vt:lpstr>
      <vt:lpstr>Some Do’s and Do Not Do’s (contd.)</vt:lpstr>
      <vt:lpstr>Some Do’s and Do Not Do’s (contd.)</vt:lpstr>
      <vt:lpstr>Some Do’s and Do Not Do’s (contd.)</vt:lpstr>
      <vt:lpstr>How to obtain circuit elements?</vt:lpstr>
      <vt:lpstr>How to save into images?</vt:lpstr>
      <vt:lpstr>Exercise#1</vt:lpstr>
      <vt:lpstr>Exercise#2</vt:lpstr>
      <vt:lpstr>Exercise#3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Lecture 1: Introduction to Engineering Drawing</dc:title>
  <dc:creator>Jilan Samiuddin</dc:creator>
  <cp:lastModifiedBy>Jilan Samiuddin</cp:lastModifiedBy>
  <cp:revision>83</cp:revision>
  <dcterms:created xsi:type="dcterms:W3CDTF">2025-05-01T04:50:36Z</dcterms:created>
  <dcterms:modified xsi:type="dcterms:W3CDTF">2026-01-27T08:24:12Z</dcterms:modified>
</cp:coreProperties>
</file>